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320" r:id="rId3"/>
    <p:sldId id="358" r:id="rId4"/>
    <p:sldId id="321" r:id="rId5"/>
    <p:sldId id="372" r:id="rId6"/>
    <p:sldId id="322" r:id="rId7"/>
    <p:sldId id="359" r:id="rId8"/>
    <p:sldId id="360" r:id="rId9"/>
    <p:sldId id="354" r:id="rId10"/>
    <p:sldId id="357" r:id="rId11"/>
    <p:sldId id="355" r:id="rId12"/>
    <p:sldId id="356" r:id="rId13"/>
    <p:sldId id="257" r:id="rId14"/>
    <p:sldId id="258" r:id="rId15"/>
    <p:sldId id="310" r:id="rId16"/>
    <p:sldId id="311" r:id="rId17"/>
    <p:sldId id="319" r:id="rId18"/>
    <p:sldId id="312" r:id="rId19"/>
    <p:sldId id="260" r:id="rId20"/>
    <p:sldId id="261" r:id="rId21"/>
    <p:sldId id="313" r:id="rId22"/>
    <p:sldId id="314" r:id="rId23"/>
    <p:sldId id="315" r:id="rId24"/>
    <p:sldId id="325" r:id="rId25"/>
    <p:sldId id="326" r:id="rId26"/>
    <p:sldId id="327" r:id="rId27"/>
    <p:sldId id="328" r:id="rId28"/>
    <p:sldId id="329" r:id="rId29"/>
    <p:sldId id="330" r:id="rId30"/>
    <p:sldId id="331" r:id="rId31"/>
    <p:sldId id="332" r:id="rId32"/>
    <p:sldId id="350" r:id="rId33"/>
    <p:sldId id="288" r:id="rId34"/>
    <p:sldId id="366" r:id="rId35"/>
    <p:sldId id="367" r:id="rId36"/>
    <p:sldId id="368" r:id="rId37"/>
    <p:sldId id="289" r:id="rId38"/>
    <p:sldId id="362" r:id="rId39"/>
    <p:sldId id="363" r:id="rId40"/>
    <p:sldId id="364" r:id="rId41"/>
    <p:sldId id="370" r:id="rId42"/>
    <p:sldId id="371" r:id="rId43"/>
    <p:sldId id="352" r:id="rId44"/>
    <p:sldId id="342" r:id="rId46"/>
    <p:sldId id="343" r:id="rId47"/>
    <p:sldId id="344" r:id="rId48"/>
    <p:sldId id="345" r:id="rId49"/>
    <p:sldId id="346" r:id="rId50"/>
    <p:sldId id="347" r:id="rId51"/>
    <p:sldId id="349" r:id="rId52"/>
    <p:sldId id="348" r:id="rId53"/>
    <p:sldId id="304" r:id="rId54"/>
    <p:sldId id="306" r:id="rId5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p:restoredTop sz="84404" autoAdjust="0"/>
  </p:normalViewPr>
  <p:slideViewPr>
    <p:cSldViewPr showGuides="1">
      <p:cViewPr>
        <p:scale>
          <a:sx n="76" d="100"/>
          <a:sy n="76" d="100"/>
        </p:scale>
        <p:origin x="1648" y="5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4556-6DF1-4796-8645-06130898DF1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15D34C-AD18-41F6-90E5-04D37EAF19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http://mw.nmg.gov.cn/zt/bmxcjyhd/bmflfg/202204/t20220421_2042708.html</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15D34C-AD18-41F6-90E5-04D37EAF19E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gmw.cn/01wzb/2009-12/27/content_1029431.ht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一、</a:t>
            </a:r>
            <a:r>
              <a:rPr kumimoji="1" lang="en-US" altLang="zh-CN" dirty="0" smtClean="0"/>
              <a:t>《</a:t>
            </a:r>
            <a:r>
              <a:rPr kumimoji="1" lang="zh-CN" altLang="en-US" dirty="0"/>
              <a:t>保密法</a:t>
            </a:r>
            <a:r>
              <a:rPr kumimoji="1" lang="en-US" altLang="zh-CN" dirty="0"/>
              <a:t>》</a:t>
            </a:r>
            <a:endParaRPr kumimoji="1" lang="zh-CN" altLang="en-US" dirty="0"/>
          </a:p>
        </p:txBody>
      </p:sp>
      <p:sp>
        <p:nvSpPr>
          <p:cNvPr id="3" name="内容占位符 2"/>
          <p:cNvSpPr>
            <a:spLocks noGrp="1"/>
          </p:cNvSpPr>
          <p:nvPr>
            <p:ph idx="1"/>
          </p:nvPr>
        </p:nvSpPr>
        <p:spPr/>
        <p:txBody>
          <a:bodyPr/>
          <a:lstStyle/>
          <a:p>
            <a:r>
              <a:rPr lang="zh-CN" altLang="en-US" dirty="0"/>
              <a:t>第</a:t>
            </a:r>
            <a:r>
              <a:rPr lang="zh-CN" altLang="en-US" dirty="0"/>
              <a:t>二十三条 国家秘密的密级、保密期限和知悉范围，应当根据情况变化及时变更。国家秘密的密级、保密期限和知悉范围的变更，由原定密机关、单位决定，也可以由其上级机关决定。</a:t>
            </a:r>
            <a:endParaRPr lang="zh-CN" altLang="en-US" dirty="0"/>
          </a:p>
          <a:p>
            <a:r>
              <a:rPr lang="zh-CN" altLang="en-US" dirty="0"/>
              <a:t>国家秘密的密级、保密期限和知悉范围变更的，应当及时书面通知知悉范围内的机关、单位或者人员。</a:t>
            </a:r>
            <a:endParaRPr lang="zh-CN" altLang="en-US" dirty="0"/>
          </a:p>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《保密法》修订</a:t>
            </a:r>
            <a:r>
              <a:rPr lang="zh-CN" altLang="en-US"/>
              <a:t>对比</a:t>
            </a:r>
            <a:endParaRPr lang="zh-CN" altLang="en-US"/>
          </a:p>
        </p:txBody>
      </p:sp>
      <p:pic>
        <p:nvPicPr>
          <p:cNvPr id="4" name="内容占位符 3" descr="截屏2025-06-11 下午8.34.14"/>
          <p:cNvPicPr>
            <a:picLocks noChangeAspect="1"/>
          </p:cNvPicPr>
          <p:nvPr>
            <p:ph idx="1"/>
          </p:nvPr>
        </p:nvPicPr>
        <p:blipFill>
          <a:blip r:embed="rId1"/>
          <a:srcRect b="59596"/>
          <a:stretch>
            <a:fillRect/>
          </a:stretch>
        </p:blipFill>
        <p:spPr>
          <a:xfrm>
            <a:off x="1593850" y="1628775"/>
            <a:ext cx="5955665" cy="39509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释义</a:t>
            </a:r>
            <a:endParaRPr kumimoji="1" lang="zh-CN" altLang="en-US" dirty="0"/>
          </a:p>
        </p:txBody>
      </p:sp>
      <p:sp>
        <p:nvSpPr>
          <p:cNvPr id="3" name="内容占位符 2"/>
          <p:cNvSpPr>
            <a:spLocks noGrp="1"/>
          </p:cNvSpPr>
          <p:nvPr>
            <p:ph idx="1"/>
          </p:nvPr>
        </p:nvSpPr>
        <p:spPr>
          <a:xfrm>
            <a:off x="457200" y="1268760"/>
            <a:ext cx="8229600" cy="5760640"/>
          </a:xfrm>
        </p:spPr>
        <p:txBody>
          <a:bodyPr>
            <a:noAutofit/>
          </a:bodyPr>
          <a:lstStyle/>
          <a:p>
            <a:pPr fontAlgn="t">
              <a:lnSpc>
                <a:spcPct val="110000"/>
              </a:lnSpc>
            </a:pPr>
            <a:r>
              <a:rPr lang="zh-CN" altLang="en-US" sz="2400" dirty="0"/>
              <a:t>本条是关于国家秘密变更的规定。</a:t>
            </a:r>
            <a:endParaRPr lang="zh-CN" altLang="en-US" sz="2400" dirty="0"/>
          </a:p>
          <a:p>
            <a:pPr fontAlgn="t">
              <a:lnSpc>
                <a:spcPct val="110000"/>
              </a:lnSpc>
            </a:pPr>
            <a:r>
              <a:rPr lang="zh-CN" altLang="en-US" sz="2400" dirty="0"/>
              <a:t>第一款规定国家秘密变更的</a:t>
            </a:r>
            <a:r>
              <a:rPr lang="zh-CN" altLang="en-US" sz="2400" dirty="0">
                <a:solidFill>
                  <a:srgbClr val="FF0000"/>
                </a:solidFill>
              </a:rPr>
              <a:t>内容、条件和主体</a:t>
            </a:r>
            <a:r>
              <a:rPr lang="zh-CN" altLang="en-US" sz="2400" dirty="0"/>
              <a:t>。</a:t>
            </a:r>
            <a:endParaRPr lang="zh-CN" altLang="en-US" sz="2400" dirty="0"/>
          </a:p>
          <a:p>
            <a:pPr fontAlgn="t">
              <a:lnSpc>
                <a:spcPct val="110000"/>
              </a:lnSpc>
            </a:pPr>
            <a:r>
              <a:rPr lang="zh-CN" altLang="en-US" sz="2400" dirty="0"/>
              <a:t>国家秘密的变更</a:t>
            </a:r>
            <a:r>
              <a:rPr lang="zh-CN" altLang="en-US" sz="2400" dirty="0">
                <a:solidFill>
                  <a:srgbClr val="FF0000"/>
                </a:solidFill>
              </a:rPr>
              <a:t>内容</a:t>
            </a:r>
            <a:r>
              <a:rPr lang="zh-CN" altLang="en-US" sz="2400" dirty="0"/>
              <a:t>包括密级的降低或提高、保密期限的缩短或延长、知悉范围的缩小或扩大。三者既可以单独变更，也可以同时变更。</a:t>
            </a:r>
            <a:endParaRPr lang="zh-CN" altLang="en-US" sz="2400" dirty="0"/>
          </a:p>
          <a:p>
            <a:pPr fontAlgn="t">
              <a:lnSpc>
                <a:spcPct val="110000"/>
              </a:lnSpc>
            </a:pPr>
            <a:r>
              <a:rPr lang="zh-CN" altLang="en-US" sz="2400" dirty="0">
                <a:solidFill>
                  <a:srgbClr val="FF0000"/>
                </a:solidFill>
              </a:rPr>
              <a:t>本款所称“情况变化</a:t>
            </a:r>
            <a:r>
              <a:rPr lang="zh-CN" altLang="en-US" sz="2400" dirty="0"/>
              <a:t>”，是指该事项泄露后对国家安全和利益的损害程度已发生明显改变，或者定密时所依据的保密事项范围已作调整。</a:t>
            </a:r>
            <a:endParaRPr lang="zh-CN" altLang="en-US" sz="2400" dirty="0"/>
          </a:p>
          <a:p>
            <a:pPr fontAlgn="t">
              <a:lnSpc>
                <a:spcPct val="110000"/>
              </a:lnSpc>
            </a:pPr>
            <a:r>
              <a:rPr lang="zh-CN" altLang="en-US" sz="2400" dirty="0"/>
              <a:t>国家秘密变更的</a:t>
            </a:r>
            <a:r>
              <a:rPr lang="zh-CN" altLang="en-US" sz="2400" dirty="0">
                <a:solidFill>
                  <a:srgbClr val="FF0000"/>
                </a:solidFill>
              </a:rPr>
              <a:t>主体</a:t>
            </a:r>
            <a:r>
              <a:rPr lang="zh-CN" altLang="en-US" sz="2400" dirty="0"/>
              <a:t>既可以是原定密机关、单位，也可以是其上级机关。非本机关、本单位确定的国家秘密事项，需要变更的，可以向原定密机关、单位或其上级机关或有关保密行政管理部门提出建议，不得自行变更。</a:t>
            </a:r>
            <a:endParaRPr lang="zh-CN" altLang="en-US" sz="2400" dirty="0"/>
          </a:p>
          <a:p>
            <a:pPr>
              <a:lnSpc>
                <a:spcPct val="170000"/>
              </a:lnSpc>
            </a:pPr>
            <a:endParaRPr kumimoji="1" lang="zh-CN" alt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pPr fontAlgn="t">
              <a:lnSpc>
                <a:spcPct val="170000"/>
              </a:lnSpc>
            </a:pPr>
            <a:r>
              <a:rPr lang="zh-CN" altLang="en-US" dirty="0">
                <a:sym typeface="+mn-ea"/>
              </a:rPr>
              <a:t>第二款规定国家秘密变更的</a:t>
            </a:r>
            <a:r>
              <a:rPr lang="zh-CN" altLang="en-US" dirty="0">
                <a:solidFill>
                  <a:srgbClr val="FF0000"/>
                </a:solidFill>
                <a:sym typeface="+mn-ea"/>
              </a:rPr>
              <a:t>通知</a:t>
            </a:r>
            <a:r>
              <a:rPr lang="zh-CN" altLang="en-US" dirty="0">
                <a:sym typeface="+mn-ea"/>
              </a:rPr>
              <a:t>。国家秘密的密级、保密期限和知悉范围经定密责任人审核批准作出变更决定后，应当以书面形式通知知悉范围内的机关、单位和人员。接到通知的有关机关、单位和人员，应当在原国家秘密载体上做出国家秘密变更后的标志。</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二、</a:t>
            </a:r>
            <a:r>
              <a:rPr kumimoji="1" lang="en-US" altLang="zh-CN" dirty="0" smtClean="0"/>
              <a:t>《</a:t>
            </a:r>
            <a:r>
              <a:rPr kumimoji="1" lang="zh-CN" altLang="en-US" dirty="0"/>
              <a:t>保密法实施条例</a:t>
            </a:r>
            <a:r>
              <a:rPr kumimoji="1" lang="en-US" altLang="zh-CN" dirty="0"/>
              <a:t>》</a:t>
            </a:r>
            <a:endParaRPr kumimoji="1" lang="zh-CN" altLang="en-US" dirty="0"/>
          </a:p>
        </p:txBody>
      </p:sp>
      <p:sp>
        <p:nvSpPr>
          <p:cNvPr id="3" name="内容占位符 2"/>
          <p:cNvSpPr>
            <a:spLocks noGrp="1"/>
          </p:cNvSpPr>
          <p:nvPr>
            <p:ph idx="1"/>
          </p:nvPr>
        </p:nvSpPr>
        <p:spPr>
          <a:xfrm>
            <a:off x="457200" y="1600200"/>
            <a:ext cx="8229600" cy="4997152"/>
          </a:xfrm>
        </p:spPr>
        <p:txBody>
          <a:bodyPr>
            <a:normAutofit lnSpcReduction="10000"/>
          </a:bodyPr>
          <a:lstStyle/>
          <a:p>
            <a:r>
              <a:rPr kumimoji="1" lang="zh-CN" altLang="en-US" dirty="0"/>
              <a:t>第二十二条</a:t>
            </a:r>
            <a:r>
              <a:rPr kumimoji="1" lang="en-US" altLang="zh-CN" dirty="0"/>
              <a:t> </a:t>
            </a:r>
            <a:r>
              <a:rPr kumimoji="1" lang="zh-CN" altLang="en-US" dirty="0"/>
              <a:t>机关、单位对所确定的国家秘密，认为符合保密法有关解除或者变更规定的，应当及时解除或者变更。</a:t>
            </a:r>
            <a:endParaRPr kumimoji="1" lang="zh-CN" altLang="en-US" dirty="0"/>
          </a:p>
          <a:p>
            <a:r>
              <a:rPr kumimoji="1" lang="zh-CN" altLang="en-US" dirty="0"/>
              <a:t>机关、单位对不属于本机关、本单位确定的国家秘密，认为符合保密法有关解除或者变更规定的，可以向原定密机关、单位或者其上级机关、单位提出建议。</a:t>
            </a:r>
            <a:endParaRPr kumimoji="1" lang="zh-CN" altLang="en-US" dirty="0"/>
          </a:p>
          <a:p>
            <a:r>
              <a:rPr kumimoji="1" lang="zh-CN" altLang="en-US" dirty="0"/>
              <a:t>已经依法移交各级国家档案馆的属于国家秘密的档案，由原定密机关、单位按照国家有关规定进行解密审核。</a:t>
            </a:r>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6-11 下午8.35.44"/>
          <p:cNvPicPr>
            <a:picLocks noChangeAspect="1"/>
          </p:cNvPicPr>
          <p:nvPr>
            <p:ph idx="1"/>
          </p:nvPr>
        </p:nvPicPr>
        <p:blipFill>
          <a:blip r:embed="rId1"/>
          <a:stretch>
            <a:fillRect/>
          </a:stretch>
        </p:blipFill>
        <p:spPr>
          <a:xfrm>
            <a:off x="2215515" y="1600200"/>
            <a:ext cx="4711700" cy="4526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6-11 下午8.36.03"/>
          <p:cNvPicPr>
            <a:picLocks noChangeAspect="1"/>
          </p:cNvPicPr>
          <p:nvPr>
            <p:ph idx="1"/>
          </p:nvPr>
        </p:nvPicPr>
        <p:blipFill>
          <a:blip r:embed="rId1"/>
          <a:stretch>
            <a:fillRect/>
          </a:stretch>
        </p:blipFill>
        <p:spPr>
          <a:xfrm>
            <a:off x="699135" y="1600200"/>
            <a:ext cx="7745095" cy="4526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sym typeface="+mn-ea"/>
              </a:rPr>
              <a:t>国家秘密变更包括密级的降低或者提高、保密期限的缩短或者延长、知悉范围的调整，三者既可以单独变更，也可以同时变更机关、单位变更国家秘密的密级、保密期限或者知悉范围的，应当书面通知知悉范围内的机关、单位或者人员</a:t>
            </a:r>
            <a:r>
              <a:rPr lang="en-US" altLang="zh-CN">
                <a:sym typeface="+mn-ea"/>
              </a:rPr>
              <a:t>;</a:t>
            </a:r>
            <a:r>
              <a:rPr lang="zh-CN" altLang="en-US">
                <a:sym typeface="+mn-ea"/>
              </a:rPr>
              <a:t>对于需要延长保密期限的，应当在保密期限届满前作出变更决定并通知。</a:t>
            </a:r>
            <a:endParaRPr lang="zh-CN" altLang="en-US"/>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332740"/>
            <a:ext cx="8229600" cy="4525963"/>
          </a:xfrm>
        </p:spPr>
        <p:txBody>
          <a:bodyPr>
            <a:noAutofit/>
          </a:bodyPr>
          <a:p>
            <a:r>
              <a:rPr lang="zh-CN" altLang="en-US" sz="2300"/>
              <a:t>第一款规定国家秘密解除和变更制度。</a:t>
            </a:r>
            <a:endParaRPr lang="zh-CN" altLang="en-US" sz="2300"/>
          </a:p>
          <a:p>
            <a:r>
              <a:rPr lang="zh-CN" altLang="en-US" sz="2300"/>
              <a:t>解密意味着解除有关保密措施，知悉范围内的机关、单位和人员不再需要履行相关保密义务。</a:t>
            </a:r>
            <a:endParaRPr lang="zh-CN" altLang="en-US" sz="2300"/>
          </a:p>
          <a:p>
            <a:r>
              <a:rPr lang="zh-CN" altLang="en-US" sz="2300"/>
              <a:t>主要包括两种情形</a:t>
            </a:r>
            <a:r>
              <a:rPr lang="en-US" altLang="zh-CN" sz="2300"/>
              <a:t>:</a:t>
            </a:r>
            <a:r>
              <a:rPr lang="zh-CN" altLang="en-US" sz="2300"/>
              <a:t>一是自行解密，明确标注具体保密时限的国家秘密事项，保密时限已满，经原定密机关、单位审核未延长密期限的，自行解密中解密时间已到或者符合解密条件的，自行解密</a:t>
            </a:r>
            <a:r>
              <a:rPr lang="en-US" altLang="zh-CN" sz="2300"/>
              <a:t>;</a:t>
            </a:r>
            <a:r>
              <a:rPr lang="zh-CN" altLang="en-US" sz="2300"/>
              <a:t>保密事项范围中明确规定某类事项的保密期限为</a:t>
            </a:r>
            <a:r>
              <a:rPr lang="en-US" altLang="zh-CN" sz="2300"/>
              <a:t>“</a:t>
            </a:r>
            <a:r>
              <a:rPr lang="zh-CN" altLang="en-US" sz="2300"/>
              <a:t>长期</a:t>
            </a:r>
            <a:r>
              <a:rPr lang="en-US" altLang="zh-CN" sz="2300"/>
              <a:t>”</a:t>
            </a:r>
            <a:r>
              <a:rPr lang="zh-CN" altLang="en-US" sz="2300"/>
              <a:t>的原定密机关、单位认为需要解密的，应当提请规定保密事项范围的机关批准，不得擅自解密。</a:t>
            </a:r>
            <a:endParaRPr lang="zh-CN" altLang="en-US" sz="2300"/>
          </a:p>
          <a:p>
            <a:r>
              <a:rPr lang="zh-CN" altLang="en-US" sz="2300"/>
              <a:t>二是提前解密，在保密期限内因保密法律法规或者保密事项范围调整不再作为国家秘密的，定密时的形势条件发生变化，有关事项公开后不会损害国家安全和利益的，或者根据现行法律、法规和国家有关规定，有关事项应予公开、需要社会公众广泛知晓或者参与的，应当及时解密。</a:t>
            </a:r>
            <a:endParaRPr lang="zh-CN" altLang="en-US" sz="2300"/>
          </a:p>
          <a:p>
            <a:r>
              <a:rPr lang="zh-CN" altLang="en-US" sz="2300"/>
              <a:t>关于解除国家秘密还需注意的是，解密并不意味着可以公开。有的国家秘密事项解密后可能需要作为工作秘密进行管理。需要公开的，应当履行相关审查程序。</a:t>
            </a:r>
            <a:endParaRPr lang="zh-CN" altLang="en-US" sz="2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89585"/>
            <a:ext cx="8229600" cy="5636895"/>
          </a:xfrm>
        </p:spPr>
        <p:txBody>
          <a:bodyPr>
            <a:normAutofit fontScale="80000"/>
          </a:bodyPr>
          <a:p>
            <a:pPr>
              <a:lnSpc>
                <a:spcPct val="110000"/>
              </a:lnSpc>
            </a:pPr>
            <a:r>
              <a:rPr lang="zh-CN" altLang="en-US">
                <a:sym typeface="+mn-ea"/>
              </a:rPr>
              <a:t>关于</a:t>
            </a:r>
            <a:r>
              <a:rPr lang="zh-CN" altLang="en-US">
                <a:solidFill>
                  <a:srgbClr val="FF0000"/>
                </a:solidFill>
                <a:sym typeface="+mn-ea"/>
              </a:rPr>
              <a:t>派生事项的解除和变更</a:t>
            </a:r>
            <a:r>
              <a:rPr lang="zh-CN" altLang="en-US">
                <a:sym typeface="+mn-ea"/>
              </a:rPr>
              <a:t>，机关、单位所执行或者办理的定密事项没有变更或者解除的，派生国家秘密不得变更或者解除所执行或者办理的已定密事项</a:t>
            </a:r>
            <a:r>
              <a:rPr lang="en-US" altLang="zh-CN">
                <a:sym typeface="+mn-ea"/>
              </a:rPr>
              <a:t>。</a:t>
            </a:r>
            <a:endParaRPr lang="en-US" altLang="zh-CN">
              <a:sym typeface="+mn-ea"/>
            </a:endParaRPr>
          </a:p>
          <a:p>
            <a:pPr>
              <a:lnSpc>
                <a:spcPct val="110000"/>
              </a:lnSpc>
            </a:pPr>
            <a:r>
              <a:rPr lang="zh-CN" altLang="en-US">
                <a:sym typeface="+mn-ea"/>
              </a:rPr>
              <a:t>已经变更或者解除的，派生国家秘密</a:t>
            </a:r>
            <a:r>
              <a:rPr lang="zh-CN" altLang="en-US"/>
              <a:t>的密级、保密期限、知悉范围应当及时作出相应变更或者予以解密。</a:t>
            </a:r>
            <a:endParaRPr lang="zh-CN" altLang="en-US"/>
          </a:p>
          <a:p>
            <a:pPr>
              <a:lnSpc>
                <a:spcPct val="110000"/>
              </a:lnSpc>
            </a:pPr>
            <a:r>
              <a:rPr lang="zh-CN" altLang="en-US"/>
              <a:t>对已定密事项是否已经变更或者解除不明确的，可以向原定密机关单位请示或者函询，原定密机关、单位应当及时予以答复。</a:t>
            </a:r>
            <a:endParaRPr lang="zh-CN" altLang="en-US"/>
          </a:p>
          <a:p>
            <a:pPr>
              <a:lnSpc>
                <a:spcPct val="110000"/>
              </a:lnSpc>
            </a:pPr>
            <a:r>
              <a:rPr lang="zh-CN" altLang="en-US"/>
              <a:t>有权决定国家秘密解除或者变更的机关、单位，包括原定密机关、单位及其上级机关，上述机关、单位作出提前解密或者变更国家秘密的决定后，除正式公布的外，应当通知原知悉范围内的机关单位或者人员。</a:t>
            </a:r>
            <a:endParaRPr lang="zh-CN" altLang="en-US"/>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r>
              <a:rPr lang="zh-CN" altLang="en-US">
                <a:sym typeface="+mn-ea"/>
              </a:rPr>
              <a:t>第二款规定解除或者变更国家秘密的建议权。机关、单位认为不属于本机关、本单位确定的国家秘密应当解除或者变更的，可以向原定密机关、单位或者其上级机关、单位提出建议，由后者决定是否解除或者变更国家秘密。</a:t>
            </a:r>
            <a:endParaRPr lang="zh-CN" altLang="en-US"/>
          </a:p>
          <a:p>
            <a:r>
              <a:rPr lang="zh-CN" altLang="en-US">
                <a:sym typeface="+mn-ea"/>
              </a:rPr>
              <a:t>第三款规定档案解密审核制度。已经依法移交各级国家档案馆的属于国家秘密档案的解密工作，按照国家档案局和国家保密局有关规定执行。</a:t>
            </a:r>
            <a:endParaRPr lang="zh-CN" altLang="en-US"/>
          </a:p>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a:t>
            </a:r>
            <a:r>
              <a:rPr lang="zh-CN" altLang="en-US" dirty="0" smtClean="0"/>
              <a:t>国家秘密</a:t>
            </a:r>
            <a:r>
              <a:rPr lang="zh-CN" altLang="en-US" dirty="0" smtClean="0"/>
              <a:t>变更的</a:t>
            </a:r>
            <a:r>
              <a:rPr lang="zh-CN" altLang="en-US" dirty="0" smtClean="0"/>
              <a:t>概念</a:t>
            </a:r>
            <a:endParaRPr lang="zh-CN" altLang="en-US" dirty="0"/>
          </a:p>
        </p:txBody>
      </p:sp>
      <p:sp>
        <p:nvSpPr>
          <p:cNvPr id="3" name="内容占位符 2"/>
          <p:cNvSpPr>
            <a:spLocks noGrp="1"/>
          </p:cNvSpPr>
          <p:nvPr>
            <p:ph idx="1"/>
          </p:nvPr>
        </p:nvSpPr>
        <p:spPr>
          <a:xfrm>
            <a:off x="467995" y="1196975"/>
            <a:ext cx="8229600" cy="5717232"/>
          </a:xfrm>
        </p:spPr>
        <p:txBody>
          <a:bodyPr>
            <a:normAutofit fontScale="70000" lnSpcReduction="20000"/>
          </a:bodyPr>
          <a:lstStyle/>
          <a:p>
            <a:pPr>
              <a:lnSpc>
                <a:spcPct val="170000"/>
              </a:lnSpc>
            </a:pPr>
            <a:r>
              <a:rPr lang="zh-CN" altLang="en-US" dirty="0"/>
              <a:t>国家秘密的变更是指降低或提高秘密等级，缩短或延长保密期限。</a:t>
            </a:r>
            <a:endParaRPr lang="en-US" altLang="zh-CN" dirty="0"/>
          </a:p>
          <a:p>
            <a:pPr>
              <a:lnSpc>
                <a:spcPct val="170000"/>
              </a:lnSpc>
            </a:pPr>
            <a:r>
              <a:rPr lang="zh-CN" altLang="en-US" dirty="0">
                <a:solidFill>
                  <a:srgbClr val="FF0000"/>
                </a:solidFill>
              </a:rPr>
              <a:t>密级的变更</a:t>
            </a:r>
            <a:r>
              <a:rPr lang="zh-CN" altLang="en-US" dirty="0"/>
              <a:t>，是指降低秘密等级</a:t>
            </a:r>
            <a:r>
              <a:rPr lang="en-US" altLang="zh-CN" dirty="0"/>
              <a:t>(</a:t>
            </a:r>
            <a:r>
              <a:rPr lang="zh-CN" altLang="en-US" dirty="0"/>
              <a:t>降密</a:t>
            </a:r>
            <a:r>
              <a:rPr lang="en-US" altLang="zh-CN" dirty="0"/>
              <a:t>)</a:t>
            </a:r>
            <a:r>
              <a:rPr lang="zh-CN" altLang="en-US" dirty="0"/>
              <a:t>或提高秘密等级。两者相比较，降密的变更是大量的，提高秘密等级的变更是极个别的。</a:t>
            </a:r>
            <a:endParaRPr lang="en-US" altLang="zh-CN" dirty="0"/>
          </a:p>
          <a:p>
            <a:pPr>
              <a:lnSpc>
                <a:spcPct val="170000"/>
              </a:lnSpc>
            </a:pPr>
            <a:r>
              <a:rPr lang="zh-CN" altLang="en-US" dirty="0">
                <a:solidFill>
                  <a:srgbClr val="FF0000"/>
                </a:solidFill>
              </a:rPr>
              <a:t>保密期限的变更</a:t>
            </a:r>
            <a:r>
              <a:rPr lang="zh-CN" altLang="en-US" dirty="0"/>
              <a:t>包括</a:t>
            </a:r>
            <a:r>
              <a:rPr lang="zh-CN" altLang="en-US" dirty="0">
                <a:solidFill>
                  <a:srgbClr val="FF0000"/>
                </a:solidFill>
              </a:rPr>
              <a:t>缩短</a:t>
            </a:r>
            <a:r>
              <a:rPr lang="zh-CN" altLang="en-US" dirty="0"/>
              <a:t>保密期限和</a:t>
            </a:r>
            <a:r>
              <a:rPr lang="zh-CN" altLang="en-US" dirty="0">
                <a:solidFill>
                  <a:srgbClr val="FF0000"/>
                </a:solidFill>
              </a:rPr>
              <a:t>延长</a:t>
            </a:r>
            <a:r>
              <a:rPr lang="zh-CN" altLang="en-US" dirty="0"/>
              <a:t>保密期限。国家秘密事项的密级和保密期限的变更，可以单独变更，也可以同时变更。不变更密级也可以根据情况变更保密期限；不变更保密期限，也可以变更密级；</a:t>
            </a:r>
            <a:endParaRPr lang="en-US" altLang="zh-CN" dirty="0"/>
          </a:p>
          <a:p>
            <a:pPr>
              <a:lnSpc>
                <a:spcPct val="170000"/>
              </a:lnSpc>
            </a:pPr>
            <a:r>
              <a:rPr lang="zh-CN" altLang="en-US" dirty="0"/>
              <a:t>一般是变更密级同时也变更保密期限。</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五、</a:t>
            </a:r>
            <a:r>
              <a:rPr lang="zh-CN" altLang="en-US" dirty="0" smtClean="0"/>
              <a:t>国家</a:t>
            </a:r>
            <a:r>
              <a:rPr lang="zh-CN" altLang="en-US" dirty="0"/>
              <a:t>秘密变更的依据</a:t>
            </a:r>
            <a:endParaRPr lang="zh-CN" altLang="en-US" dirty="0"/>
          </a:p>
        </p:txBody>
      </p:sp>
      <p:sp>
        <p:nvSpPr>
          <p:cNvPr id="3" name="内容占位符 2"/>
          <p:cNvSpPr>
            <a:spLocks noGrp="1"/>
          </p:cNvSpPr>
          <p:nvPr>
            <p:ph idx="1"/>
          </p:nvPr>
        </p:nvSpPr>
        <p:spPr/>
        <p:txBody>
          <a:bodyPr>
            <a:normAutofit/>
          </a:bodyPr>
          <a:lstStyle/>
          <a:p>
            <a:r>
              <a:rPr lang="en-US" altLang="zh-CN" dirty="0"/>
              <a:t>《</a:t>
            </a:r>
            <a:r>
              <a:rPr lang="zh-CN" altLang="en-US" dirty="0"/>
              <a:t>中华人民共和国保守国家秘密法实施条例</a:t>
            </a:r>
            <a:r>
              <a:rPr lang="en-US" altLang="zh-CN" dirty="0" smtClean="0"/>
              <a:t>》</a:t>
            </a:r>
            <a:r>
              <a:rPr lang="zh-CN" altLang="en-US" dirty="0" smtClean="0"/>
              <a:t>第</a:t>
            </a:r>
            <a:r>
              <a:rPr lang="zh-CN" altLang="en-US" dirty="0" smtClean="0"/>
              <a:t>二十二条</a:t>
            </a:r>
            <a:endParaRPr lang="zh-CN" altLang="en-US" dirty="0" smtClean="0"/>
          </a:p>
          <a:p>
            <a:pPr marL="514350" indent="-514350">
              <a:buFont typeface="+mj-lt"/>
              <a:buAutoNum type="arabicPeriod"/>
            </a:pPr>
            <a:r>
              <a:rPr lang="zh-CN" altLang="en-US" dirty="0" smtClean="0"/>
              <a:t>国家</a:t>
            </a:r>
            <a:r>
              <a:rPr lang="zh-CN" altLang="en-US" dirty="0"/>
              <a:t>秘密事项确定时依据的保密事项范围已作调整</a:t>
            </a:r>
            <a:endParaRPr lang="en-US" altLang="zh-CN" dirty="0"/>
          </a:p>
          <a:p>
            <a:pPr marL="514350" indent="-514350">
              <a:buFont typeface="+mj-lt"/>
              <a:buAutoNum type="arabicPeriod"/>
            </a:pPr>
            <a:r>
              <a:rPr lang="zh-CN" altLang="en-US" dirty="0"/>
              <a:t>或者泄露会使国家安全和利益遭受损害的程度发生明显变化的</a:t>
            </a:r>
            <a:endParaRPr lang="en-US" altLang="zh-CN" dirty="0"/>
          </a:p>
          <a:p>
            <a:r>
              <a:rPr lang="zh-CN" altLang="en-US" dirty="0"/>
              <a:t>原定密机关、单位或者其上级机关应当及时变更密级或者保密期限。</a:t>
            </a:r>
            <a:endParaRPr lang="en-US" altLang="zh-CN" dirty="0"/>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840760"/>
          </a:xfrm>
        </p:spPr>
        <p:txBody>
          <a:bodyPr>
            <a:normAutofit fontScale="70000"/>
          </a:bodyPr>
          <a:lstStyle/>
          <a:p>
            <a:pPr>
              <a:lnSpc>
                <a:spcPct val="160000"/>
              </a:lnSpc>
            </a:pPr>
            <a:r>
              <a:rPr lang="zh-CN" altLang="en-US" sz="3095" dirty="0"/>
              <a:t>一是由于客观情况发生变化，原定为国家秘密的对国家安全和利益的关联程度发生变化，该事项公开或泄露后，对国家安全和利益的损害程度已发生明显变化的；</a:t>
            </a:r>
            <a:endParaRPr lang="zh-CN" altLang="en-US" sz="3095" dirty="0"/>
          </a:p>
          <a:p>
            <a:pPr>
              <a:lnSpc>
                <a:spcPct val="160000"/>
              </a:lnSpc>
            </a:pPr>
            <a:r>
              <a:rPr lang="zh-CN" altLang="en-US" sz="3095" dirty="0"/>
              <a:t>二是定密时所依据的国家秘密事项范围已作修订，或规定中关于该事项定密对所应的条款已作修订；</a:t>
            </a:r>
            <a:endParaRPr lang="zh-CN" altLang="en-US" sz="3095" dirty="0"/>
          </a:p>
          <a:p>
            <a:pPr>
              <a:lnSpc>
                <a:spcPct val="160000"/>
              </a:lnSpc>
            </a:pPr>
            <a:r>
              <a:rPr lang="zh-CN" altLang="en-US" sz="3095" dirty="0"/>
              <a:t>三是相关情况发生变化，需要对原定的保密期限进行变调整的；</a:t>
            </a:r>
            <a:endParaRPr lang="zh-CN" altLang="en-US" sz="3095" dirty="0"/>
          </a:p>
          <a:p>
            <a:pPr>
              <a:lnSpc>
                <a:spcPct val="160000"/>
              </a:lnSpc>
            </a:pPr>
            <a:r>
              <a:rPr lang="zh-CN" altLang="en-US" sz="3095" dirty="0"/>
              <a:t>四是因为工作的需要，原定的知悉范围需要扩大的。由于国家秘密事项一旦为知悉范围内的机关、单位的人员知悉，其知悉范围实际上是无法缩小的。所以，知悉范围的变更只能是一种情形，即扩大知悉范围。决定扩大知悉范围同样要坚持工作需要原则和最小化原则。</a:t>
            </a:r>
            <a:endParaRPr lang="zh-CN" altLang="en-US" sz="309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六、</a:t>
            </a:r>
            <a:r>
              <a:rPr lang="zh-CN" altLang="en-US" dirty="0" smtClean="0"/>
              <a:t>国家</a:t>
            </a:r>
            <a:r>
              <a:rPr lang="zh-CN" altLang="en-US" dirty="0"/>
              <a:t>秘密变更的意义</a:t>
            </a:r>
            <a:endParaRPr lang="zh-CN" altLang="en-US" dirty="0"/>
          </a:p>
        </p:txBody>
      </p:sp>
      <p:sp>
        <p:nvSpPr>
          <p:cNvPr id="3" name="内容占位符 2"/>
          <p:cNvSpPr>
            <a:spLocks noGrp="1"/>
          </p:cNvSpPr>
          <p:nvPr>
            <p:ph idx="1"/>
          </p:nvPr>
        </p:nvSpPr>
        <p:spPr>
          <a:xfrm>
            <a:off x="611560" y="1431867"/>
            <a:ext cx="8229600" cy="5309501"/>
          </a:xfrm>
        </p:spPr>
        <p:txBody>
          <a:bodyPr>
            <a:normAutofit fontScale="70000" lnSpcReduction="20000"/>
          </a:bodyPr>
          <a:lstStyle/>
          <a:p>
            <a:pPr>
              <a:lnSpc>
                <a:spcPct val="170000"/>
              </a:lnSpc>
            </a:pPr>
            <a:r>
              <a:rPr lang="zh-CN" altLang="en-US" dirty="0"/>
              <a:t>国家秘密的变更是定密工作的重要内容，根据实际情况的发展变化，对国家秘密事项实现</a:t>
            </a:r>
            <a:r>
              <a:rPr lang="zh-CN" altLang="en-US" dirty="0">
                <a:solidFill>
                  <a:srgbClr val="FF0000"/>
                </a:solidFill>
              </a:rPr>
              <a:t>动态管理</a:t>
            </a:r>
            <a:r>
              <a:rPr lang="zh-CN" altLang="en-US" dirty="0"/>
              <a:t>，对需要加强保密管理的进行提高密级、延长保密期限、缩小保密范围；对不需要放宽限制国家秘密事项及时降低密级、缩短保密期限和扩大知悉范围；对已丧失国家秘密基本属性和价值，不需要按照国家秘密管理的事项及时解密；对需要社会普遍遵循或执行的，及时予以公开。</a:t>
            </a:r>
            <a:endParaRPr lang="en-US" altLang="zh-CN" dirty="0"/>
          </a:p>
          <a:p>
            <a:pPr>
              <a:lnSpc>
                <a:spcPct val="170000"/>
              </a:lnSpc>
            </a:pPr>
            <a:r>
              <a:rPr lang="zh-CN" altLang="en-US" dirty="0"/>
              <a:t>这样既有利于节约保密资源，集中人力、物力、财力做好国家秘密的保护工作，也有利于信息资源的合理利用。真正做到“减少保密成本，该保的真正保住，该放的真正放开”。</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七、</a:t>
            </a:r>
            <a:r>
              <a:rPr lang="zh-CN" altLang="en-US" dirty="0" smtClean="0"/>
              <a:t>国家</a:t>
            </a:r>
            <a:r>
              <a:rPr lang="zh-CN" altLang="en-US" dirty="0"/>
              <a:t>秘密变更的内容</a:t>
            </a:r>
            <a:endParaRPr lang="zh-CN" altLang="en-US" dirty="0"/>
          </a:p>
        </p:txBody>
      </p:sp>
      <p:sp>
        <p:nvSpPr>
          <p:cNvPr id="3" name="内容占位符 2"/>
          <p:cNvSpPr>
            <a:spLocks noGrp="1"/>
          </p:cNvSpPr>
          <p:nvPr>
            <p:ph idx="1"/>
          </p:nvPr>
        </p:nvSpPr>
        <p:spPr/>
        <p:txBody>
          <a:bodyPr/>
          <a:lstStyle/>
          <a:p>
            <a:r>
              <a:rPr lang="zh-CN" altLang="en-US" dirty="0"/>
              <a:t>密级的变更</a:t>
            </a:r>
            <a:endParaRPr lang="en-US" altLang="zh-CN" dirty="0"/>
          </a:p>
          <a:p>
            <a:endParaRPr lang="en-US" altLang="zh-CN" dirty="0"/>
          </a:p>
          <a:p>
            <a:r>
              <a:rPr lang="zh-CN" altLang="en-US" dirty="0"/>
              <a:t>保密期限的变更</a:t>
            </a:r>
            <a:endParaRPr lang="en-US" altLang="zh-CN" dirty="0"/>
          </a:p>
          <a:p>
            <a:endParaRPr lang="en-US" altLang="zh-CN" dirty="0"/>
          </a:p>
          <a:p>
            <a:r>
              <a:rPr lang="zh-CN" altLang="en-US" dirty="0"/>
              <a:t>知悉范围的变更</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八、</a:t>
            </a:r>
            <a:r>
              <a:rPr lang="zh-CN" altLang="en-US" dirty="0" smtClean="0"/>
              <a:t>国家</a:t>
            </a:r>
            <a:r>
              <a:rPr lang="zh-CN" altLang="en-US" dirty="0"/>
              <a:t>秘密变更的主体</a:t>
            </a:r>
            <a:endParaRPr lang="zh-CN" altLang="en-US" dirty="0"/>
          </a:p>
        </p:txBody>
      </p:sp>
      <p:sp>
        <p:nvSpPr>
          <p:cNvPr id="3" name="内容占位符 2"/>
          <p:cNvSpPr>
            <a:spLocks noGrp="1"/>
          </p:cNvSpPr>
          <p:nvPr>
            <p:ph idx="1"/>
          </p:nvPr>
        </p:nvSpPr>
        <p:spPr/>
        <p:txBody>
          <a:bodyPr/>
          <a:lstStyle/>
          <a:p>
            <a:r>
              <a:rPr lang="zh-CN" altLang="en-US" dirty="0"/>
              <a:t>原定密机关和授权单位</a:t>
            </a:r>
            <a:endParaRPr lang="en-US" altLang="zh-CN" dirty="0"/>
          </a:p>
          <a:p>
            <a:pPr>
              <a:buNone/>
            </a:pPr>
            <a:endParaRPr lang="en-US" altLang="zh-CN" dirty="0"/>
          </a:p>
          <a:p>
            <a:r>
              <a:rPr lang="zh-CN" altLang="en-US" dirty="0"/>
              <a:t>定密主体的上级机关</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九、</a:t>
            </a:r>
            <a:r>
              <a:rPr lang="zh-CN" altLang="en-US" dirty="0" smtClean="0"/>
              <a:t>密级</a:t>
            </a:r>
            <a:r>
              <a:rPr lang="zh-CN" altLang="en-US" dirty="0"/>
              <a:t>变更流程</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a:t>
            </a:r>
            <a:r>
              <a:rPr lang="zh-CN" altLang="en-US" dirty="0"/>
              <a:t>保密法</a:t>
            </a:r>
            <a:r>
              <a:rPr lang="en-US" altLang="zh-CN" dirty="0"/>
              <a:t>》</a:t>
            </a:r>
            <a:r>
              <a:rPr lang="zh-CN" altLang="en-US" dirty="0"/>
              <a:t>规定</a:t>
            </a:r>
            <a:r>
              <a:rPr lang="en-US" altLang="zh-CN" dirty="0"/>
              <a:t>:</a:t>
            </a:r>
            <a:r>
              <a:rPr lang="zh-CN" altLang="en-US" dirty="0"/>
              <a:t>“国家秘密事项的密级和保密期限，应当根据情况变化及时变更。密级和保密期限的变更，由原确定密级和保密期限的机关、单位决定，也可以由其上级机关决定。”</a:t>
            </a:r>
            <a:endParaRPr lang="en-US" altLang="zh-CN" dirty="0"/>
          </a:p>
          <a:p>
            <a:r>
              <a:rPr lang="zh-CN" altLang="en-US" dirty="0"/>
              <a:t>其他机关、单位不得擅自变更。如果其他机关、单位认为需要变更，可以向原确定密级的机关、单位，或其上级机关或有关保密工作部门提出变更的建议。</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5043510"/>
          </a:xfrm>
        </p:spPr>
        <p:txBody>
          <a:bodyPr>
            <a:normAutofit fontScale="85000" lnSpcReduction="20000"/>
          </a:bodyPr>
          <a:lstStyle/>
          <a:p>
            <a:r>
              <a:rPr lang="zh-CN" altLang="en-US" dirty="0"/>
              <a:t> 在一般情况下，密级和保密期限的变更由机关、单位的</a:t>
            </a:r>
            <a:r>
              <a:rPr lang="zh-CN" altLang="en-US" dirty="0">
                <a:solidFill>
                  <a:srgbClr val="FF0000"/>
                </a:solidFill>
              </a:rPr>
              <a:t>承办人</a:t>
            </a:r>
            <a:r>
              <a:rPr lang="zh-CN" altLang="en-US" dirty="0"/>
              <a:t>员提出意见，报本机关、单位的主管领导人批准。</a:t>
            </a:r>
            <a:endParaRPr lang="en-US" altLang="zh-CN" dirty="0"/>
          </a:p>
          <a:p>
            <a:r>
              <a:rPr lang="zh-CN" altLang="en-US" dirty="0"/>
              <a:t>这方面工作量较大的机关、单位，可以由主管领导人授权本机关、单位的保密工作机构或者</a:t>
            </a:r>
            <a:r>
              <a:rPr lang="zh-CN" altLang="en-US" dirty="0">
                <a:solidFill>
                  <a:srgbClr val="FF0000"/>
                </a:solidFill>
              </a:rPr>
              <a:t>指定</a:t>
            </a:r>
            <a:r>
              <a:rPr lang="zh-CN" altLang="en-US" dirty="0"/>
              <a:t>负责人员办理批准前的审核工作，然后报送主管领导人签批。</a:t>
            </a:r>
            <a:endParaRPr lang="en-US" altLang="zh-CN" dirty="0"/>
          </a:p>
          <a:p>
            <a:r>
              <a:rPr lang="zh-CN" altLang="en-US" dirty="0"/>
              <a:t>密级和保密期限的变更工作情况及其结果都应该作详细的文字记载。</a:t>
            </a:r>
            <a:endParaRPr lang="en-US" altLang="zh-CN" dirty="0"/>
          </a:p>
          <a:p>
            <a:r>
              <a:rPr lang="zh-CN" altLang="en-US" dirty="0"/>
              <a:t>密级和保密期限一经变更，应及时通知有关机关、单位和人员。</a:t>
            </a:r>
            <a:endParaRPr lang="en-US" altLang="zh-CN" dirty="0"/>
          </a:p>
          <a:p>
            <a:r>
              <a:rPr lang="zh-CN" altLang="en-US" dirty="0"/>
              <a:t>国家秘密的密级和保密期限作出变更的决定后，应当对原定的密级和保密期限作出变更的标志。</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a:t>国家秘密事项的变更与确定国家秘密</a:t>
            </a:r>
            <a:r>
              <a:rPr lang="zh-CN" altLang="en-US" dirty="0">
                <a:solidFill>
                  <a:srgbClr val="FF0000"/>
                </a:solidFill>
              </a:rPr>
              <a:t>相同</a:t>
            </a:r>
            <a:r>
              <a:rPr lang="zh-CN" altLang="en-US" dirty="0"/>
              <a:t>，主要是由产生国家秘密事项的定密责任人负责。</a:t>
            </a:r>
            <a:endParaRPr lang="zh-CN" altLang="en-US" dirty="0"/>
          </a:p>
          <a:p>
            <a:r>
              <a:rPr lang="zh-CN" altLang="en-US" dirty="0"/>
              <a:t>定密责任人应当对本机关、本单位确定的国家秘密事项定期进行审查，以便对需要变更的国家秘密事项及时作出变更决定。</a:t>
            </a:r>
            <a:endParaRPr lang="zh-CN" altLang="en-US" dirty="0"/>
          </a:p>
          <a:p>
            <a:r>
              <a:rPr lang="zh-CN" altLang="en-US" dirty="0"/>
              <a:t>经审查认为符合国家秘密变更情形的，应当按照以下程序办理：</a:t>
            </a:r>
            <a:endParaRPr lang="zh-CN" altLang="en-US"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70000" lnSpcReduction="20000"/>
          </a:bodyPr>
          <a:lstStyle/>
          <a:p>
            <a:pPr>
              <a:lnSpc>
                <a:spcPct val="170000"/>
              </a:lnSpc>
            </a:pPr>
            <a:r>
              <a:rPr lang="zh-CN" altLang="en-US" dirty="0"/>
              <a:t>第一，由承办人对国家秘密事项密级、保密期限和知悉范围的变更提出建议意见，填写</a:t>
            </a:r>
            <a:r>
              <a:rPr lang="en-US" altLang="zh-CN" dirty="0"/>
              <a:t>《</a:t>
            </a:r>
            <a:r>
              <a:rPr lang="zh-CN" altLang="en-US" dirty="0"/>
              <a:t>国家秘密变更审批表</a:t>
            </a:r>
            <a:r>
              <a:rPr lang="en-US" altLang="zh-CN" dirty="0"/>
              <a:t>》</a:t>
            </a:r>
            <a:r>
              <a:rPr lang="zh-CN" altLang="en-US" dirty="0"/>
              <a:t>（见示例</a:t>
            </a:r>
            <a:r>
              <a:rPr lang="en-US" dirty="0"/>
              <a:t>1</a:t>
            </a:r>
            <a:r>
              <a:rPr lang="zh-CN" altLang="en-US" dirty="0"/>
              <a:t>），并提交本机关、本单位定密责任人审核。</a:t>
            </a:r>
            <a:endParaRPr lang="zh-CN" altLang="en-US" dirty="0"/>
          </a:p>
          <a:p>
            <a:pPr>
              <a:lnSpc>
                <a:spcPct val="170000"/>
              </a:lnSpc>
            </a:pPr>
            <a:r>
              <a:rPr lang="zh-CN" altLang="en-US" dirty="0"/>
              <a:t>第二，定密责任人对承办人提请变更国家秘密事项的意见进行审核并签署是否同意变更的意见；对变更意见不准确的不予批准。</a:t>
            </a:r>
            <a:endParaRPr lang="zh-CN" altLang="en-US" dirty="0"/>
          </a:p>
          <a:p>
            <a:pPr>
              <a:lnSpc>
                <a:spcPct val="170000"/>
              </a:lnSpc>
            </a:pPr>
            <a:r>
              <a:rPr lang="zh-CN" altLang="en-US" dirty="0"/>
              <a:t>第三，定密责任人对国家秘密作出变更的，应当有关的在国家秘密载体上作出变更后的标志。</a:t>
            </a:r>
            <a:endParaRPr lang="zh-CN" altLang="en-US" dirty="0"/>
          </a:p>
          <a:p>
            <a:pPr>
              <a:lnSpc>
                <a:spcPct val="170000"/>
              </a:lnSpc>
            </a:pPr>
            <a:r>
              <a:rPr lang="zh-CN" altLang="en-US" dirty="0"/>
              <a:t>第四，国家秘密的密级、保密期限和知悉范围作出变更决定后，机关、单位应当以书面形式通知知悉范围内机关、单位和人员。接到通知的有关机关、单位和人员，应当在原作出的国家秘密载体密级标志附近位置，做出变更的标志。</a:t>
            </a:r>
            <a:endParaRPr lang="zh-CN" altLang="en-US" dirty="0"/>
          </a:p>
          <a:p>
            <a:pPr>
              <a:lnSpc>
                <a:spcPct val="170000"/>
              </a:lnSpc>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需要注意的是，机关、单位的</a:t>
            </a:r>
            <a:r>
              <a:rPr lang="zh-CN" altLang="en-US" dirty="0">
                <a:solidFill>
                  <a:srgbClr val="FF0000"/>
                </a:solidFill>
              </a:rPr>
              <a:t>定密承办人往往是不确定的</a:t>
            </a:r>
            <a:r>
              <a:rPr lang="zh-CN" altLang="en-US" dirty="0"/>
              <a:t>，定密时的承办人不一定就是国家秘密事项变更时的承办人。</a:t>
            </a:r>
            <a:endParaRPr lang="zh-CN" altLang="en-US" dirty="0"/>
          </a:p>
          <a:p>
            <a:r>
              <a:rPr lang="zh-CN" altLang="en-US" dirty="0"/>
              <a:t>因此，在实际工作中，变更国家秘密的工作更多的需要定密责任人积极主动地履行职责，定期清理审核已定密事项，认为应当变更的，由定密责任人自己或交由相关人员做好国家秘密事项变更工作。</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十</a:t>
            </a:r>
            <a:r>
              <a:rPr kumimoji="1" lang="zh-CN" altLang="en-US" dirty="0" smtClean="0"/>
              <a:t>、</a:t>
            </a:r>
            <a:r>
              <a:rPr kumimoji="1" lang="zh-CN" altLang="en-US" dirty="0"/>
              <a:t>密级变更的条件和方法</a:t>
            </a:r>
            <a:endParaRPr kumimoji="1" lang="zh-CN" altLang="en-US" dirty="0"/>
          </a:p>
        </p:txBody>
      </p:sp>
      <p:sp>
        <p:nvSpPr>
          <p:cNvPr id="3" name="内容占位符 2"/>
          <p:cNvSpPr>
            <a:spLocks noGrp="1"/>
          </p:cNvSpPr>
          <p:nvPr>
            <p:ph idx="1"/>
          </p:nvPr>
        </p:nvSpPr>
        <p:spPr/>
        <p:txBody>
          <a:bodyPr/>
          <a:lstStyle/>
          <a:p>
            <a:pPr marL="0" indent="0">
              <a:lnSpc>
                <a:spcPct val="150000"/>
              </a:lnSpc>
              <a:buNone/>
            </a:pPr>
            <a:r>
              <a:rPr kumimoji="1" lang="en-US" altLang="zh-CN" dirty="0"/>
              <a:t>1.</a:t>
            </a:r>
            <a:r>
              <a:rPr kumimoji="1" lang="zh-CN" altLang="en-US" dirty="0"/>
              <a:t>密级变更的条件</a:t>
            </a:r>
            <a:endParaRPr kumimoji="1" lang="zh-CN" altLang="en-US" dirty="0"/>
          </a:p>
          <a:p>
            <a:pPr>
              <a:lnSpc>
                <a:spcPct val="150000"/>
              </a:lnSpc>
            </a:pPr>
            <a:r>
              <a:rPr kumimoji="1" lang="zh-CN" altLang="en-US" dirty="0"/>
              <a:t>保密事项范围发生变化</a:t>
            </a:r>
            <a:endParaRPr kumimoji="1" lang="zh-CN" altLang="en-US" dirty="0"/>
          </a:p>
          <a:p>
            <a:pPr>
              <a:lnSpc>
                <a:spcPct val="150000"/>
              </a:lnSpc>
            </a:pPr>
            <a:r>
              <a:rPr kumimoji="1" lang="zh-CN" altLang="en-US" dirty="0"/>
              <a:t>重要程度发生变化</a:t>
            </a:r>
            <a:endParaRPr kumimoji="1" lang="zh-CN" altLang="en-US" dirty="0"/>
          </a:p>
          <a:p>
            <a:pPr>
              <a:lnSpc>
                <a:spcPct val="150000"/>
              </a:lnSpc>
            </a:pPr>
            <a:r>
              <a:rPr kumimoji="1" lang="zh-CN" altLang="en-US" dirty="0"/>
              <a:t>知悉范围发生变化</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lstStyle/>
          <a:p>
            <a:pPr marL="0" indent="0">
              <a:buNone/>
            </a:pPr>
            <a:r>
              <a:rPr kumimoji="1" lang="en-US" altLang="zh-CN" dirty="0"/>
              <a:t>2.</a:t>
            </a:r>
            <a:r>
              <a:rPr kumimoji="1" lang="zh-CN" altLang="en-US" dirty="0"/>
              <a:t>密级变更的方法</a:t>
            </a:r>
            <a:endParaRPr kumimoji="1" lang="zh-CN" altLang="en-US" dirty="0"/>
          </a:p>
          <a:p>
            <a:endParaRPr kumimoji="1" lang="zh-CN" altLang="en-US" dirty="0"/>
          </a:p>
          <a:p>
            <a:r>
              <a:rPr kumimoji="1" lang="zh-CN" altLang="en-US" dirty="0"/>
              <a:t>升高</a:t>
            </a:r>
            <a:endParaRPr kumimoji="1" lang="zh-CN" altLang="en-US" dirty="0"/>
          </a:p>
          <a:p>
            <a:endParaRPr kumimoji="1" lang="zh-CN" altLang="en-US" dirty="0"/>
          </a:p>
          <a:p>
            <a:r>
              <a:rPr kumimoji="1" lang="zh-CN" altLang="en-US" dirty="0"/>
              <a:t>降低</a:t>
            </a:r>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lnSpc>
                <a:spcPct val="130000"/>
              </a:lnSpc>
              <a:buNone/>
            </a:pPr>
            <a:r>
              <a:rPr kumimoji="1" lang="en-US" altLang="zh-CN" dirty="0"/>
              <a:t>3.</a:t>
            </a:r>
            <a:r>
              <a:rPr kumimoji="1" lang="zh-CN" altLang="en-US" dirty="0"/>
              <a:t>密级变更的程序</a:t>
            </a:r>
            <a:endParaRPr kumimoji="1" lang="zh-CN" altLang="en-US" dirty="0"/>
          </a:p>
          <a:p>
            <a:pPr>
              <a:lnSpc>
                <a:spcPct val="130000"/>
              </a:lnSpc>
            </a:pPr>
            <a:r>
              <a:rPr kumimoji="1" lang="zh-CN" altLang="en-US" dirty="0"/>
              <a:t>密级变更的一般程序</a:t>
            </a:r>
            <a:endParaRPr kumimoji="1" lang="zh-CN" altLang="en-US" dirty="0"/>
          </a:p>
          <a:p>
            <a:pPr>
              <a:lnSpc>
                <a:spcPct val="130000"/>
              </a:lnSpc>
            </a:pPr>
            <a:r>
              <a:rPr kumimoji="1" lang="zh-CN" altLang="en-US" dirty="0"/>
              <a:t>密级变更的承办人</a:t>
            </a:r>
            <a:endParaRPr kumimoji="1" lang="zh-CN" altLang="en-US" dirty="0"/>
          </a:p>
          <a:p>
            <a:pPr>
              <a:lnSpc>
                <a:spcPct val="130000"/>
              </a:lnSpc>
            </a:pPr>
            <a:r>
              <a:rPr kumimoji="1" lang="zh-CN" altLang="en-US" dirty="0"/>
              <a:t>密级变更的简易程序</a:t>
            </a:r>
            <a:endParaRPr kumimoji="1" lang="zh-CN" altLang="en-US" dirty="0"/>
          </a:p>
          <a:p>
            <a:pPr>
              <a:lnSpc>
                <a:spcPct val="130000"/>
              </a:lnSpc>
            </a:pPr>
            <a:r>
              <a:rPr kumimoji="1" lang="zh-CN" altLang="en-US" dirty="0"/>
              <a:t>撤并单位的密级变更</a:t>
            </a:r>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buNone/>
            </a:pPr>
            <a:r>
              <a:rPr kumimoji="1" lang="en-US" altLang="zh-CN" dirty="0"/>
              <a:t>4.</a:t>
            </a:r>
            <a:r>
              <a:rPr kumimoji="1" lang="zh-CN" altLang="en-US" dirty="0"/>
              <a:t>密级变更的时机</a:t>
            </a:r>
            <a:endParaRPr kumimoji="1" lang="zh-CN" altLang="en-US" dirty="0"/>
          </a:p>
          <a:p>
            <a:endParaRPr kumimoji="1" lang="zh-CN" altLang="en-US" dirty="0"/>
          </a:p>
          <a:p>
            <a:r>
              <a:rPr kumimoji="1" lang="zh-CN" altLang="en-US" dirty="0"/>
              <a:t>随时变更</a:t>
            </a:r>
            <a:endParaRPr kumimoji="1" lang="zh-CN" altLang="en-US" dirty="0"/>
          </a:p>
          <a:p>
            <a:r>
              <a:rPr kumimoji="1" lang="zh-CN" altLang="en-US" dirty="0"/>
              <a:t>定期审查</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十一</a:t>
            </a:r>
            <a:r>
              <a:rPr kumimoji="1" lang="zh-CN" altLang="en-US" dirty="0" smtClean="0"/>
              <a:t>、</a:t>
            </a:r>
            <a:r>
              <a:rPr kumimoji="1" lang="zh-CN" altLang="en-US" dirty="0"/>
              <a:t>保密期限的变更</a:t>
            </a:r>
            <a:endParaRPr kumimoji="1" lang="zh-CN" altLang="en-US" dirty="0"/>
          </a:p>
        </p:txBody>
      </p:sp>
      <p:sp>
        <p:nvSpPr>
          <p:cNvPr id="3" name="内容占位符 2"/>
          <p:cNvSpPr>
            <a:spLocks noGrp="1"/>
          </p:cNvSpPr>
          <p:nvPr>
            <p:ph idx="1"/>
          </p:nvPr>
        </p:nvSpPr>
        <p:spPr/>
        <p:txBody>
          <a:bodyPr/>
          <a:lstStyle/>
          <a:p>
            <a:pPr marL="0" indent="0">
              <a:lnSpc>
                <a:spcPct val="140000"/>
              </a:lnSpc>
              <a:buNone/>
            </a:pPr>
            <a:r>
              <a:rPr kumimoji="1" lang="en-US" altLang="zh-CN" dirty="0"/>
              <a:t>1.</a:t>
            </a:r>
            <a:r>
              <a:rPr kumimoji="1" lang="zh-CN" altLang="en-US" dirty="0"/>
              <a:t>保密期限变更的条件</a:t>
            </a:r>
            <a:endParaRPr kumimoji="1" lang="zh-CN" altLang="en-US" dirty="0"/>
          </a:p>
          <a:p>
            <a:pPr>
              <a:lnSpc>
                <a:spcPct val="140000"/>
              </a:lnSpc>
            </a:pPr>
            <a:r>
              <a:rPr kumimoji="1" lang="zh-CN" altLang="en-US" dirty="0"/>
              <a:t>保密事项范围变化影响</a:t>
            </a:r>
            <a:endParaRPr kumimoji="1" lang="zh-CN" altLang="en-US" dirty="0"/>
          </a:p>
          <a:p>
            <a:pPr>
              <a:lnSpc>
                <a:spcPct val="140000"/>
              </a:lnSpc>
            </a:pPr>
            <a:r>
              <a:rPr kumimoji="1" lang="zh-CN" altLang="en-US" dirty="0"/>
              <a:t>密级变更影响</a:t>
            </a:r>
            <a:endParaRPr kumimoji="1" lang="zh-CN" altLang="en-US" dirty="0"/>
          </a:p>
          <a:p>
            <a:pPr>
              <a:lnSpc>
                <a:spcPct val="140000"/>
              </a:lnSpc>
            </a:pPr>
            <a:r>
              <a:rPr kumimoji="1" lang="zh-CN" altLang="en-US" dirty="0"/>
              <a:t>秘密性影响</a:t>
            </a:r>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lnSpc>
                <a:spcPct val="130000"/>
              </a:lnSpc>
              <a:buNone/>
            </a:pPr>
            <a:r>
              <a:rPr kumimoji="1" lang="en-US" altLang="zh-CN" dirty="0"/>
              <a:t>2.</a:t>
            </a:r>
            <a:r>
              <a:rPr kumimoji="1" lang="zh-CN" altLang="en-US" dirty="0"/>
              <a:t>保密期限变更的主体</a:t>
            </a:r>
            <a:endParaRPr kumimoji="1" lang="zh-CN" altLang="en-US" dirty="0"/>
          </a:p>
          <a:p>
            <a:pPr>
              <a:lnSpc>
                <a:spcPct val="130000"/>
              </a:lnSpc>
            </a:pPr>
            <a:r>
              <a:rPr kumimoji="1" lang="zh-CN" altLang="en-US" dirty="0"/>
              <a:t>原机关单位</a:t>
            </a:r>
            <a:endParaRPr kumimoji="1" lang="zh-CN" altLang="en-US" dirty="0"/>
          </a:p>
          <a:p>
            <a:pPr>
              <a:lnSpc>
                <a:spcPct val="130000"/>
              </a:lnSpc>
            </a:pPr>
            <a:r>
              <a:rPr kumimoji="1" lang="zh-CN" altLang="en-US" dirty="0"/>
              <a:t>上级机关、单位</a:t>
            </a:r>
            <a:endParaRPr kumimoji="1" lang="zh-CN" altLang="en-US" dirty="0"/>
          </a:p>
          <a:p>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lnSpc>
                <a:spcPct val="130000"/>
              </a:lnSpc>
              <a:buNone/>
            </a:pPr>
            <a:r>
              <a:rPr kumimoji="1" lang="en-US" altLang="zh-CN" dirty="0"/>
              <a:t>3.</a:t>
            </a:r>
            <a:r>
              <a:rPr kumimoji="1" lang="zh-CN" altLang="en-US" dirty="0"/>
              <a:t>保密期限变更的方法</a:t>
            </a:r>
            <a:endParaRPr kumimoji="1" lang="zh-CN" altLang="en-US" dirty="0"/>
          </a:p>
          <a:p>
            <a:pPr>
              <a:lnSpc>
                <a:spcPct val="130000"/>
              </a:lnSpc>
            </a:pPr>
            <a:r>
              <a:rPr kumimoji="1" lang="zh-CN" altLang="en-US" dirty="0"/>
              <a:t>随保密事项范围的变更</a:t>
            </a:r>
            <a:endParaRPr kumimoji="1" lang="zh-CN" altLang="en-US" dirty="0"/>
          </a:p>
          <a:p>
            <a:pPr>
              <a:lnSpc>
                <a:spcPct val="130000"/>
              </a:lnSpc>
            </a:pPr>
            <a:r>
              <a:rPr kumimoji="1" lang="zh-CN" altLang="en-US" dirty="0"/>
              <a:t>随密级变更的变更</a:t>
            </a:r>
            <a:endParaRPr kumimoji="1" lang="zh-CN" altLang="en-US" dirty="0"/>
          </a:p>
          <a:p>
            <a:pPr>
              <a:lnSpc>
                <a:spcPct val="130000"/>
              </a:lnSpc>
            </a:pPr>
            <a:r>
              <a:rPr kumimoji="1" lang="zh-CN" altLang="en-US" dirty="0"/>
              <a:t>保密期限单独变更</a:t>
            </a:r>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十二</a:t>
            </a:r>
            <a:r>
              <a:rPr kumimoji="1" lang="zh-CN" altLang="en-US" dirty="0" smtClean="0"/>
              <a:t>、</a:t>
            </a:r>
            <a:r>
              <a:rPr kumimoji="1" lang="zh-CN" altLang="en-US" dirty="0"/>
              <a:t>知悉范围的变更</a:t>
            </a:r>
            <a:endParaRPr kumimoji="1" lang="zh-CN" altLang="en-US" dirty="0"/>
          </a:p>
        </p:txBody>
      </p:sp>
      <p:sp>
        <p:nvSpPr>
          <p:cNvPr id="3" name="内容占位符 2"/>
          <p:cNvSpPr>
            <a:spLocks noGrp="1"/>
          </p:cNvSpPr>
          <p:nvPr>
            <p:ph idx="1"/>
          </p:nvPr>
        </p:nvSpPr>
        <p:spPr/>
        <p:txBody>
          <a:bodyPr>
            <a:normAutofit fontScale="92500" lnSpcReduction="10000"/>
          </a:bodyPr>
          <a:lstStyle/>
          <a:p>
            <a:r>
              <a:rPr kumimoji="1" lang="en-US" altLang="zh-CN" dirty="0"/>
              <a:t>1.</a:t>
            </a:r>
            <a:r>
              <a:rPr kumimoji="1" lang="zh-CN" altLang="en-US" dirty="0"/>
              <a:t>知悉范围内的机关、单位需扩大知悉人员范围的情形</a:t>
            </a:r>
            <a:endParaRPr kumimoji="1" lang="zh-CN" altLang="en-US" dirty="0"/>
          </a:p>
          <a:p>
            <a:r>
              <a:rPr kumimoji="1" lang="en-US" altLang="zh-CN" dirty="0"/>
              <a:t>2.</a:t>
            </a:r>
            <a:r>
              <a:rPr kumimoji="1" lang="zh-CN" altLang="en-US" dirty="0"/>
              <a:t>知悉范围需扩大到原定范围以外的机关、单位和人员的情形</a:t>
            </a:r>
            <a:endParaRPr kumimoji="1" lang="zh-CN" altLang="en-US" dirty="0"/>
          </a:p>
          <a:p>
            <a:r>
              <a:rPr kumimoji="1" lang="en-US" altLang="zh-CN" dirty="0"/>
              <a:t>3.</a:t>
            </a:r>
            <a:r>
              <a:rPr kumimoji="1" lang="zh-CN" altLang="en-US" dirty="0"/>
              <a:t>原定密机关、单位明确对扩大知悉范围有明确规定的情形</a:t>
            </a:r>
            <a:endParaRPr kumimoji="1" lang="zh-CN" altLang="en-US" dirty="0"/>
          </a:p>
          <a:p>
            <a:r>
              <a:rPr kumimoji="1" lang="en-US" altLang="zh-CN" dirty="0"/>
              <a:t>4.</a:t>
            </a:r>
            <a:r>
              <a:rPr kumimoji="1" lang="zh-CN" altLang="en-US" dirty="0"/>
              <a:t>对外交往与合作中需要提供国家秘密的情形</a:t>
            </a:r>
            <a:endParaRPr kumimoji="1" lang="zh-CN" altLang="en-US" dirty="0"/>
          </a:p>
          <a:p>
            <a:r>
              <a:rPr kumimoji="1" lang="en-US" altLang="zh-CN" dirty="0"/>
              <a:t>5.</a:t>
            </a:r>
            <a:r>
              <a:rPr kumimoji="1" lang="zh-CN" altLang="en-US" dirty="0"/>
              <a:t>国家秘密事项需要任用、聘用境外人员知悉的情形</a:t>
            </a:r>
            <a:endParaRPr kumimoji="1"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国家秘密的解除</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国家秘密的解除</a:t>
            </a:r>
            <a:endParaRPr lang="zh-CN" altLang="en-US" dirty="0"/>
          </a:p>
        </p:txBody>
      </p:sp>
      <p:sp>
        <p:nvSpPr>
          <p:cNvPr id="3" name="内容占位符 2"/>
          <p:cNvSpPr>
            <a:spLocks noGrp="1"/>
          </p:cNvSpPr>
          <p:nvPr>
            <p:ph idx="1"/>
          </p:nvPr>
        </p:nvSpPr>
        <p:spPr/>
        <p:txBody>
          <a:bodyPr/>
          <a:lstStyle/>
          <a:p>
            <a:r>
              <a:rPr lang="zh-CN" altLang="en-US" dirty="0"/>
              <a:t>解密是指依照</a:t>
            </a:r>
            <a:r>
              <a:rPr lang="en-US" altLang="zh-CN" dirty="0"/>
              <a:t>《</a:t>
            </a:r>
            <a:r>
              <a:rPr lang="zh-CN" altLang="en-US" dirty="0"/>
              <a:t>保密法</a:t>
            </a:r>
            <a:r>
              <a:rPr lang="en-US" altLang="zh-CN" dirty="0"/>
              <a:t>》</a:t>
            </a:r>
            <a:r>
              <a:rPr lang="zh-CN" altLang="en-US" dirty="0"/>
              <a:t>的有关规定，通过一定的形式，或履行一定的手续，解除某一国家秘密事项的密级，使其不再受到保密法律法规及保密管理措施限制的过程。某一国家秘密事项解密后，就不再作为国家秘密进行管理，也不再受国家保密法律、法规、制度的保护。</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解密制度是许多国家保密制度的重要内容。</a:t>
            </a:r>
            <a:endParaRPr lang="zh-CN" altLang="en-US"/>
          </a:p>
          <a:p>
            <a:r>
              <a:rPr lang="zh-CN" altLang="en-US"/>
              <a:t>美国《国家安全信息保密》规定了系统审查解密、强制审查解密、自动解密</a:t>
            </a:r>
            <a:r>
              <a:rPr lang="en-US" altLang="zh-CN"/>
              <a:t>3</a:t>
            </a:r>
            <a:r>
              <a:rPr lang="zh-CN" altLang="en-US"/>
              <a:t>种解密方式。为解决解密工作不适当、不统一、不及时问题，美国还专门建立了国家解密中心，负责指导、协调、监督各部门解密工作。</a:t>
            </a:r>
            <a:endParaRPr lang="zh-CN" altLang="en-US"/>
          </a:p>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20700"/>
            <a:ext cx="8229600" cy="5605780"/>
          </a:xfrm>
        </p:spPr>
        <p:txBody>
          <a:bodyPr>
            <a:normAutofit fontScale="70000"/>
          </a:bodyPr>
          <a:p>
            <a:r>
              <a:rPr lang="zh-CN" altLang="en-US" sz="3430">
                <a:sym typeface="+mn-ea"/>
              </a:rPr>
              <a:t>俄罗斯《联邦国家秘密法》对解密也有专门规定</a:t>
            </a:r>
            <a:r>
              <a:rPr lang="en-US" altLang="zh-CN" sz="3430">
                <a:sym typeface="+mn-ea"/>
              </a:rPr>
              <a:t>:</a:t>
            </a:r>
            <a:endParaRPr lang="en-US" altLang="zh-CN" sz="3430">
              <a:sym typeface="+mn-ea"/>
            </a:endParaRPr>
          </a:p>
          <a:p>
            <a:r>
              <a:rPr lang="zh-CN" altLang="en-US" sz="3430">
                <a:sym typeface="+mn-ea"/>
              </a:rPr>
              <a:t>一是规定了保密期限。国家秘密信息的保密期限不得超过</a:t>
            </a:r>
            <a:r>
              <a:rPr lang="en-US" altLang="zh-CN" sz="3430">
                <a:sym typeface="+mn-ea"/>
              </a:rPr>
              <a:t>30</a:t>
            </a:r>
            <a:r>
              <a:rPr lang="zh-CN" altLang="en-US" sz="3430">
                <a:sym typeface="+mn-ea"/>
              </a:rPr>
              <a:t>年。在特殊情况下，可由部际保密委员会作出延长保密期限的决定。</a:t>
            </a:r>
            <a:endParaRPr lang="zh-CN" altLang="en-US" sz="3430">
              <a:sym typeface="+mn-ea"/>
            </a:endParaRPr>
          </a:p>
          <a:p>
            <a:r>
              <a:rPr lang="zh-CN" altLang="en-US" sz="3430">
                <a:sym typeface="+mn-ea"/>
              </a:rPr>
              <a:t>二是规定了解密的条</a:t>
            </a:r>
            <a:r>
              <a:rPr lang="zh-CN" altLang="en-US" sz="3430"/>
              <a:t>件。根据国际条约应当公开的信息或者客观情况发生改变，没有必要继续保护的信息应当解密。</a:t>
            </a:r>
            <a:endParaRPr lang="zh-CN" altLang="en-US" sz="3430"/>
          </a:p>
          <a:p>
            <a:r>
              <a:rPr lang="zh-CN" altLang="en-US" sz="3430"/>
              <a:t>三是规定了解密审查。有权将信息定为国家秘密的国家机关负责人必须定期</a:t>
            </a:r>
            <a:r>
              <a:rPr lang="en-US" altLang="zh-CN" sz="3430"/>
              <a:t>(</a:t>
            </a:r>
            <a:r>
              <a:rPr lang="zh-CN" altLang="en-US" sz="3430"/>
              <a:t>至少每</a:t>
            </a:r>
            <a:r>
              <a:rPr lang="en-US" altLang="zh-CN" sz="3430"/>
              <a:t>5</a:t>
            </a:r>
            <a:r>
              <a:rPr lang="zh-CN" altLang="en-US" sz="3430"/>
              <a:t>年一次</a:t>
            </a:r>
            <a:r>
              <a:rPr lang="en-US" altLang="zh-CN" sz="3430"/>
              <a:t>)</a:t>
            </a:r>
            <a:r>
              <a:rPr lang="zh-CN" altLang="en-US" sz="3430"/>
              <a:t>重新审核各机关、企业、机构、组织现行保密信息清单的内容，特别是有关信息定密的依据及密级相符性。</a:t>
            </a:r>
            <a:endParaRPr lang="zh-CN" altLang="en-US" sz="3430"/>
          </a:p>
          <a:p>
            <a:r>
              <a:rPr lang="zh-CN" altLang="en-US" sz="3430"/>
              <a:t>四是规定了解密监督制度。被授予定密权限的国家机关负责人可根据其任命的专家委员会的结论，作出延长国家秘密信息载体初始保密期限的决定。国家机关、企业、机构、组织负责人有权将下属人员定密不当的信息解密。</a:t>
            </a:r>
            <a:endParaRPr lang="zh-CN" altLang="en-US" sz="343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内容占位符 3" descr="截屏2025-06-11 下午8.34.14"/>
          <p:cNvPicPr>
            <a:picLocks noChangeAspect="1"/>
          </p:cNvPicPr>
          <p:nvPr/>
        </p:nvPicPr>
        <p:blipFill>
          <a:blip r:embed="rId1"/>
          <a:srcRect t="40404"/>
          <a:stretch>
            <a:fillRect/>
          </a:stretch>
        </p:blipFill>
        <p:spPr>
          <a:xfrm>
            <a:off x="1259840" y="1600200"/>
            <a:ext cx="6600825" cy="38925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a:t>
            </a:r>
            <a:r>
              <a:rPr lang="en-US" altLang="zh-CN" dirty="0" smtClean="0"/>
              <a:t>《</a:t>
            </a:r>
            <a:r>
              <a:rPr lang="zh-CN" altLang="en-US" dirty="0" smtClean="0"/>
              <a:t>保密法</a:t>
            </a:r>
            <a:r>
              <a:rPr lang="en-US" altLang="zh-CN" dirty="0" smtClean="0"/>
              <a:t>》</a:t>
            </a:r>
            <a:endParaRPr lang="zh-CN" altLang="en-US" dirty="0"/>
          </a:p>
        </p:txBody>
      </p:sp>
      <p:sp>
        <p:nvSpPr>
          <p:cNvPr id="3" name="内容占位符 2"/>
          <p:cNvSpPr>
            <a:spLocks noGrp="1"/>
          </p:cNvSpPr>
          <p:nvPr>
            <p:ph idx="1"/>
          </p:nvPr>
        </p:nvSpPr>
        <p:spPr>
          <a:xfrm>
            <a:off x="457200" y="1600200"/>
            <a:ext cx="8229600" cy="5501208"/>
          </a:xfrm>
        </p:spPr>
        <p:txBody>
          <a:bodyPr>
            <a:normAutofit fontScale="80000"/>
          </a:bodyPr>
          <a:lstStyle/>
          <a:p>
            <a:pPr>
              <a:lnSpc>
                <a:spcPct val="140000"/>
              </a:lnSpc>
            </a:pPr>
            <a:r>
              <a:rPr lang="zh-CN" altLang="en-US" dirty="0"/>
              <a:t>第二十四条</a:t>
            </a:r>
            <a:r>
              <a:rPr lang="en-US" altLang="zh-CN" dirty="0"/>
              <a:t> </a:t>
            </a:r>
            <a:r>
              <a:rPr lang="zh-CN" altLang="en-US" dirty="0"/>
              <a:t>机关、单位应当</a:t>
            </a:r>
            <a:r>
              <a:rPr lang="zh-CN" altLang="en-US" dirty="0">
                <a:solidFill>
                  <a:srgbClr val="FF0000"/>
                </a:solidFill>
              </a:rPr>
              <a:t>每年审核</a:t>
            </a:r>
            <a:r>
              <a:rPr lang="zh-CN" altLang="en-US" dirty="0"/>
              <a:t>所确定的国家秘密国家秘密的保密期限已满的，自行解密。在保密期限内因保密事项范围调整不再作为国家秘密，或者公开后不会损害国家</a:t>
            </a:r>
            <a:r>
              <a:rPr lang="zh-CN" altLang="en-US" dirty="0"/>
              <a:t>安全和利益，不需要继续保密的，应当及时解密</a:t>
            </a:r>
            <a:r>
              <a:rPr lang="en-US" altLang="zh-CN" dirty="0"/>
              <a:t>;</a:t>
            </a:r>
            <a:r>
              <a:rPr lang="zh-CN" altLang="en-US" dirty="0"/>
              <a:t>需要延长保密期限的，应当在原保密期限届满前重新确定密级、保密期限和知悉范围。提前解密或者延长保密期限的，由原定密机关、单位决定，也可以由其上级机关决定。</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34975"/>
            <a:ext cx="8229600" cy="5691505"/>
          </a:xfrm>
        </p:spPr>
        <p:txBody>
          <a:bodyPr>
            <a:noAutofit/>
          </a:bodyPr>
          <a:p>
            <a:pPr>
              <a:lnSpc>
                <a:spcPct val="120000"/>
              </a:lnSpc>
            </a:pPr>
            <a:r>
              <a:rPr lang="zh-CN" altLang="en-US" sz="2400"/>
              <a:t>本条是关于国家秘密审核和解密的规定。</a:t>
            </a:r>
            <a:endParaRPr lang="zh-CN" altLang="en-US" sz="2400"/>
          </a:p>
          <a:p>
            <a:pPr>
              <a:lnSpc>
                <a:spcPct val="120000"/>
              </a:lnSpc>
            </a:pPr>
            <a:r>
              <a:rPr lang="zh-CN" altLang="en-US" sz="2400"/>
              <a:t>审核和解密制度是定密制度的重要组成部分。审核旨在避免国家秘密</a:t>
            </a:r>
            <a:r>
              <a:rPr lang="en-US" altLang="zh-CN" sz="2400"/>
              <a:t>“</a:t>
            </a:r>
            <a:r>
              <a:rPr lang="zh-CN" altLang="en-US" sz="2400"/>
              <a:t>只定不解</a:t>
            </a:r>
            <a:r>
              <a:rPr lang="en-US" altLang="zh-CN" sz="2400"/>
              <a:t>”</a:t>
            </a:r>
            <a:r>
              <a:rPr lang="zh-CN" altLang="en-US" sz="2400"/>
              <a:t>，实现国家秘密动态管理。解密后，该事项不再作为国家秘密进行管理。</a:t>
            </a:r>
            <a:endParaRPr lang="zh-CN" altLang="en-US" sz="2400"/>
          </a:p>
          <a:p>
            <a:pPr>
              <a:lnSpc>
                <a:spcPct val="120000"/>
              </a:lnSpc>
            </a:pPr>
            <a:r>
              <a:rPr lang="zh-CN" altLang="en-US" sz="2400"/>
              <a:t>第一款确立国家秘密</a:t>
            </a:r>
            <a:r>
              <a:rPr lang="zh-CN" altLang="en-US" sz="2400">
                <a:solidFill>
                  <a:srgbClr val="FF0000"/>
                </a:solidFill>
              </a:rPr>
              <a:t>年度审核制度</a:t>
            </a:r>
            <a:r>
              <a:rPr lang="zh-CN" altLang="en-US" sz="2400"/>
              <a:t>。机关、单位应当每年审核所确定的国家秘密事项，做到对所确定的国家秘密保密期限届满前必审核、信息公开前必审核、移交各级国家档案馆前必审核。经审核，仍在保密期限内但不需要继续保密的，应当及时履行程序予以解密</a:t>
            </a:r>
            <a:r>
              <a:rPr lang="en-US" altLang="zh-CN" sz="2400"/>
              <a:t>;</a:t>
            </a:r>
            <a:r>
              <a:rPr lang="zh-CN" altLang="en-US" sz="2400"/>
              <a:t>认为仍应继续保密，需要延长保密期限的，应当在原保密期限届满前重新确定</a:t>
            </a:r>
            <a:r>
              <a:rPr lang="en-US" altLang="zh-CN" sz="2400"/>
              <a:t>;</a:t>
            </a:r>
            <a:r>
              <a:rPr lang="zh-CN" altLang="en-US" sz="2400"/>
              <a:t>不需要延长保密期限的，保密期限届满，自行解密。但需要注意的是，解密不等于公开。</a:t>
            </a:r>
            <a:endParaRPr lang="zh-CN"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510540"/>
            <a:ext cx="8229600" cy="6280785"/>
          </a:xfrm>
        </p:spPr>
        <p:txBody>
          <a:bodyPr>
            <a:normAutofit fontScale="70000"/>
          </a:bodyPr>
          <a:p>
            <a:pPr>
              <a:lnSpc>
                <a:spcPct val="120000"/>
              </a:lnSpc>
            </a:pPr>
            <a:r>
              <a:rPr lang="zh-CN" altLang="en-US"/>
              <a:t>第二款</a:t>
            </a:r>
            <a:r>
              <a:rPr lang="en-US" altLang="zh-CN"/>
              <a:t>“</a:t>
            </a:r>
            <a:r>
              <a:rPr lang="zh-CN" altLang="en-US"/>
              <a:t>保密期限已满</a:t>
            </a:r>
            <a:r>
              <a:rPr lang="en-US" altLang="zh-CN"/>
              <a:t>”</a:t>
            </a:r>
            <a:r>
              <a:rPr lang="zh-CN" altLang="en-US"/>
              <a:t>主要是指以下</a:t>
            </a:r>
            <a:r>
              <a:rPr lang="en-US" altLang="zh-CN"/>
              <a:t>3</a:t>
            </a:r>
            <a:r>
              <a:rPr lang="zh-CN" altLang="en-US"/>
              <a:t>种情形</a:t>
            </a:r>
            <a:r>
              <a:rPr lang="en-US" altLang="zh-CN"/>
              <a:t>:</a:t>
            </a:r>
            <a:r>
              <a:rPr lang="zh-CN" altLang="en-US"/>
              <a:t>一是定密时确定的保密时限已经届满</a:t>
            </a:r>
            <a:r>
              <a:rPr lang="en-US" altLang="zh-CN"/>
              <a:t>;</a:t>
            </a:r>
            <a:r>
              <a:rPr lang="zh-CN" altLang="en-US"/>
              <a:t>二是定密时确定的解密时间已经到达</a:t>
            </a:r>
            <a:r>
              <a:rPr lang="en-US" altLang="zh-CN"/>
              <a:t>;</a:t>
            </a:r>
            <a:r>
              <a:rPr lang="zh-CN" altLang="en-US"/>
              <a:t>三是定密时设定的解密条件已经达成。</a:t>
            </a:r>
            <a:endParaRPr lang="zh-CN" altLang="en-US"/>
          </a:p>
          <a:p>
            <a:pPr>
              <a:lnSpc>
                <a:spcPct val="120000"/>
              </a:lnSpc>
            </a:pPr>
            <a:r>
              <a:rPr lang="zh-CN" altLang="en-US"/>
              <a:t>国家秘密的保密时限尚未届满、解密时间尚未到达或者解密条件尚未达成，经</a:t>
            </a:r>
            <a:r>
              <a:rPr lang="zh-CN" altLang="en-US">
                <a:solidFill>
                  <a:srgbClr val="FF0000"/>
                </a:solidFill>
              </a:rPr>
              <a:t>审核</a:t>
            </a:r>
            <a:r>
              <a:rPr lang="zh-CN" altLang="en-US"/>
              <a:t>认为符合下列情形之一的，应当及时解密</a:t>
            </a:r>
            <a:r>
              <a:rPr lang="en-US" altLang="zh-CN"/>
              <a:t>:</a:t>
            </a:r>
            <a:endParaRPr lang="en-US" altLang="zh-CN"/>
          </a:p>
          <a:p>
            <a:pPr>
              <a:lnSpc>
                <a:spcPct val="120000"/>
              </a:lnSpc>
            </a:pPr>
            <a:r>
              <a:rPr lang="zh-CN" altLang="en-US"/>
              <a:t>一是保密法律法规或者保密事项范围调整后，有关事项不再属于国家秘密的。</a:t>
            </a:r>
            <a:endParaRPr lang="zh-CN" altLang="en-US"/>
          </a:p>
          <a:p>
            <a:pPr>
              <a:lnSpc>
                <a:spcPct val="120000"/>
              </a:lnSpc>
            </a:pPr>
            <a:r>
              <a:rPr lang="zh-CN" altLang="en-US"/>
              <a:t>二是定密时的形势、条件发生变化，有关事项公开后不会损害国家安全和利益、不需要继续保密的</a:t>
            </a:r>
            <a:r>
              <a:rPr lang="en-US" altLang="zh-CN"/>
              <a:t>;</a:t>
            </a:r>
            <a:endParaRPr lang="en-US" altLang="zh-CN"/>
          </a:p>
          <a:p>
            <a:pPr>
              <a:lnSpc>
                <a:spcPct val="120000"/>
              </a:lnSpc>
            </a:pPr>
            <a:r>
              <a:rPr lang="zh-CN" altLang="en-US"/>
              <a:t>或者根据现行法律、行政法规，有关事项应予公开、需要社会公众广泛知晓或者参与的。</a:t>
            </a:r>
            <a:endParaRPr lang="zh-CN" altLang="en-US"/>
          </a:p>
          <a:p>
            <a:pPr>
              <a:lnSpc>
                <a:spcPct val="120000"/>
              </a:lnSpc>
            </a:pPr>
            <a:r>
              <a:rPr lang="zh-CN" altLang="en-US"/>
              <a:t>有权决定提前解密或者延长保密期限的机关、单位，包括原定密机关、单位及其上级机关，作出决定后，应当通知原知悉范围内的机关、单位或者人员。</a:t>
            </a:r>
            <a:endParaRPr lang="zh-CN" altLang="en-US"/>
          </a:p>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880745"/>
            <a:ext cx="8229600" cy="5245735"/>
          </a:xfrm>
        </p:spPr>
        <p:txBody>
          <a:bodyPr>
            <a:normAutofit fontScale="80000"/>
          </a:bodyPr>
          <a:p>
            <a:r>
              <a:rPr lang="zh-CN" altLang="en-US"/>
              <a:t>适用本条规定应当注意，保密事项范围中明确规定某类事项的保密期限为</a:t>
            </a:r>
            <a:r>
              <a:rPr lang="en-US" altLang="zh-CN"/>
              <a:t>“</a:t>
            </a:r>
            <a:r>
              <a:rPr lang="zh-CN" altLang="en-US">
                <a:solidFill>
                  <a:srgbClr val="FF0000"/>
                </a:solidFill>
              </a:rPr>
              <a:t>长期</a:t>
            </a:r>
            <a:r>
              <a:rPr lang="en-US" altLang="zh-CN"/>
              <a:t>”</a:t>
            </a:r>
            <a:r>
              <a:rPr lang="zh-CN" altLang="en-US"/>
              <a:t>的，原定密机关、单位认为需要解密的，应当提请制定保密事项范围的机关批准，不得擅自决定解密。</a:t>
            </a:r>
            <a:endParaRPr lang="zh-CN" altLang="en-US"/>
          </a:p>
          <a:p>
            <a:r>
              <a:rPr lang="zh-CN" altLang="en-US"/>
              <a:t>对于非由本机关、本单位确定的国家秘密事项，认为符合解密条件或者需要延长保密期限的，可以向原定密机关、单位或者其上级机关提出建议，不得自行决定。</a:t>
            </a:r>
            <a:endParaRPr lang="zh-CN" altLang="en-US"/>
          </a:p>
          <a:p>
            <a:r>
              <a:rPr lang="zh-CN" altLang="en-US"/>
              <a:t>延长保密期限的决定应当在保密期限届满之前作出，并提前发出通知，避免知悉范围内的机关、单位或者人员在保密期限届满时未接到通知而自行解密。</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71767"/>
            <a:ext cx="8229600" cy="1143000"/>
          </a:xfrm>
        </p:spPr>
        <p:txBody>
          <a:bodyPr/>
          <a:lstStyle/>
          <a:p>
            <a:r>
              <a:rPr kumimoji="1" lang="zh-CN" altLang="en-US" dirty="0" smtClean="0"/>
              <a:t>二、</a:t>
            </a:r>
            <a:r>
              <a:rPr kumimoji="1" lang="en-US" altLang="zh-CN" dirty="0" smtClean="0"/>
              <a:t>《</a:t>
            </a:r>
            <a:r>
              <a:rPr kumimoji="1" lang="zh-CN" altLang="en-US" dirty="0" smtClean="0"/>
              <a:t>国家秘密</a:t>
            </a:r>
            <a:r>
              <a:rPr kumimoji="1" lang="zh-CN" altLang="en-US" dirty="0"/>
              <a:t>定密</a:t>
            </a:r>
            <a:r>
              <a:rPr kumimoji="1" lang="zh-CN" altLang="en-US" dirty="0"/>
              <a:t>管理规定</a:t>
            </a:r>
            <a:r>
              <a:rPr kumimoji="1" lang="en-US" altLang="zh-CN" dirty="0"/>
              <a:t>》</a:t>
            </a:r>
            <a:endParaRPr kumimoji="1" lang="zh-CN" altLang="en-US" dirty="0"/>
          </a:p>
        </p:txBody>
      </p:sp>
      <p:pic>
        <p:nvPicPr>
          <p:cNvPr id="5" name="内容占位符 4" descr="截屏2025-06-11 下午8.46.55"/>
          <p:cNvPicPr>
            <a:picLocks noChangeAspect="1"/>
          </p:cNvPicPr>
          <p:nvPr>
            <p:ph idx="1"/>
          </p:nvPr>
        </p:nvPicPr>
        <p:blipFill>
          <a:blip r:embed="rId1"/>
          <a:stretch>
            <a:fillRect/>
          </a:stretch>
        </p:blipFill>
        <p:spPr>
          <a:xfrm>
            <a:off x="2268220" y="683260"/>
            <a:ext cx="4575810" cy="61131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6-11 下午8.47.20"/>
          <p:cNvPicPr>
            <a:picLocks noChangeAspect="1"/>
          </p:cNvPicPr>
          <p:nvPr>
            <p:ph idx="1"/>
          </p:nvPr>
        </p:nvPicPr>
        <p:blipFill>
          <a:blip r:embed="rId1"/>
          <a:stretch>
            <a:fillRect/>
          </a:stretch>
        </p:blipFill>
        <p:spPr>
          <a:xfrm>
            <a:off x="2051685" y="260985"/>
            <a:ext cx="4522470" cy="6324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国家秘密解密暂行</a:t>
            </a:r>
            <a:r>
              <a:rPr lang="zh-CN" altLang="en-US" dirty="0" smtClean="0"/>
              <a:t>办法</a:t>
            </a:r>
            <a:endParaRPr lang="zh-CN" altLang="en-US" dirty="0"/>
          </a:p>
        </p:txBody>
      </p:sp>
      <p:sp>
        <p:nvSpPr>
          <p:cNvPr id="3" name="内容占位符 2"/>
          <p:cNvSpPr>
            <a:spLocks noGrp="1"/>
          </p:cNvSpPr>
          <p:nvPr>
            <p:ph idx="1"/>
          </p:nvPr>
        </p:nvSpPr>
        <p:spPr>
          <a:xfrm>
            <a:off x="457200" y="1628800"/>
            <a:ext cx="8229600" cy="4525963"/>
          </a:xfrm>
        </p:spPr>
        <p:txBody>
          <a:bodyPr/>
          <a:lstStyle/>
          <a:p>
            <a:pPr>
              <a:lnSpc>
                <a:spcPct val="110000"/>
              </a:lnSpc>
            </a:pPr>
            <a:r>
              <a:rPr lang="zh-CN" altLang="en-US" dirty="0" smtClean="0"/>
              <a:t>第一</a:t>
            </a:r>
            <a:r>
              <a:rPr lang="zh-CN" altLang="en-US" dirty="0"/>
              <a:t>章总则</a:t>
            </a:r>
            <a:endParaRPr lang="en-US" altLang="zh-CN" dirty="0"/>
          </a:p>
          <a:p>
            <a:pPr>
              <a:lnSpc>
                <a:spcPct val="110000"/>
              </a:lnSpc>
            </a:pPr>
            <a:r>
              <a:rPr lang="zh-CN" altLang="en-US" dirty="0"/>
              <a:t>第二章解密主体</a:t>
            </a:r>
            <a:endParaRPr lang="en-US" altLang="zh-CN" dirty="0"/>
          </a:p>
          <a:p>
            <a:pPr>
              <a:lnSpc>
                <a:spcPct val="110000"/>
              </a:lnSpc>
            </a:pPr>
            <a:r>
              <a:rPr lang="zh-CN" altLang="en-US" dirty="0"/>
              <a:t>第三章解密条件</a:t>
            </a:r>
            <a:endParaRPr lang="en-US" altLang="zh-CN" dirty="0"/>
          </a:p>
          <a:p>
            <a:pPr>
              <a:lnSpc>
                <a:spcPct val="110000"/>
              </a:lnSpc>
            </a:pPr>
            <a:r>
              <a:rPr lang="zh-CN" altLang="en-US" dirty="0"/>
              <a:t>第四章解密程序</a:t>
            </a:r>
            <a:endParaRPr lang="en-US" altLang="zh-CN" dirty="0"/>
          </a:p>
          <a:p>
            <a:pPr>
              <a:lnSpc>
                <a:spcPct val="110000"/>
              </a:lnSpc>
            </a:pPr>
            <a:r>
              <a:rPr lang="zh-CN" altLang="en-US" dirty="0"/>
              <a:t>第五章解密后管理</a:t>
            </a:r>
            <a:endParaRPr lang="en-US" altLang="zh-CN" dirty="0"/>
          </a:p>
          <a:p>
            <a:pPr>
              <a:lnSpc>
                <a:spcPct val="110000"/>
              </a:lnSpc>
            </a:pPr>
            <a:r>
              <a:rPr lang="zh-CN" altLang="en-US" dirty="0"/>
              <a:t>第六章附则</a:t>
            </a:r>
            <a:endParaRPr lang="en-US" altLang="zh-CN" dirty="0"/>
          </a:p>
          <a:p>
            <a:pPr>
              <a:lnSpc>
                <a:spcPct val="110000"/>
              </a:lnSpc>
            </a:pPr>
            <a:endParaRPr lang="en-US" altLang="zh-CN" dirty="0"/>
          </a:p>
          <a:p>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a:t>
            </a:r>
            <a:r>
              <a:rPr kumimoji="1" lang="zh-CN" altLang="en-US" dirty="0"/>
              <a:t>解密的类型及渠道</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自行解密</a:t>
            </a:r>
            <a:endParaRPr kumimoji="1" lang="zh-CN" altLang="en-US" dirty="0"/>
          </a:p>
          <a:p>
            <a:pPr>
              <a:lnSpc>
                <a:spcPct val="200000"/>
              </a:lnSpc>
            </a:pPr>
            <a:r>
              <a:rPr kumimoji="1" lang="zh-CN" altLang="en-US" dirty="0"/>
              <a:t>公布解密</a:t>
            </a:r>
            <a:endParaRPr kumimoji="1" lang="zh-CN" altLang="en-US" dirty="0"/>
          </a:p>
          <a:p>
            <a:pPr>
              <a:lnSpc>
                <a:spcPct val="200000"/>
              </a:lnSpc>
            </a:pPr>
            <a:r>
              <a:rPr kumimoji="1" lang="zh-CN" altLang="en-US" dirty="0"/>
              <a:t>提前解密</a:t>
            </a:r>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2.</a:t>
            </a:r>
            <a:r>
              <a:rPr kumimoji="1" lang="zh-CN" altLang="en-US" dirty="0"/>
              <a:t>自行解密的条件和时机</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期限届满</a:t>
            </a:r>
            <a:endParaRPr kumimoji="1" lang="zh-CN" altLang="en-US" dirty="0"/>
          </a:p>
          <a:p>
            <a:pPr>
              <a:lnSpc>
                <a:spcPct val="200000"/>
              </a:lnSpc>
            </a:pPr>
            <a:r>
              <a:rPr kumimoji="1" lang="zh-CN" altLang="en-US" dirty="0"/>
              <a:t>原定密机关、单位未作出延长的决定</a:t>
            </a:r>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3.</a:t>
            </a:r>
            <a:r>
              <a:rPr kumimoji="1" lang="zh-CN" altLang="en-US" dirty="0"/>
              <a:t>公布解密的条件与时机</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政策类国家秘密事项</a:t>
            </a:r>
            <a:endParaRPr kumimoji="1" lang="zh-CN" altLang="en-US" dirty="0"/>
          </a:p>
          <a:p>
            <a:pPr>
              <a:lnSpc>
                <a:spcPct val="200000"/>
              </a:lnSpc>
            </a:pPr>
            <a:r>
              <a:rPr kumimoji="1" lang="zh-CN" altLang="en-US" dirty="0"/>
              <a:t>决策类国家秘密事项</a:t>
            </a:r>
            <a:endParaRPr kumimoji="1" lang="zh-CN" altLang="en-US" dirty="0"/>
          </a:p>
          <a:p>
            <a:pPr>
              <a:lnSpc>
                <a:spcPct val="200000"/>
              </a:lnSpc>
            </a:pPr>
            <a:r>
              <a:rPr kumimoji="1" lang="zh-CN" altLang="en-US" dirty="0"/>
              <a:t>执行类国家秘密事项</a:t>
            </a:r>
            <a:endParaRPr kumimoji="1" lang="zh-CN" altLang="en-US" dirty="0"/>
          </a:p>
          <a:p>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4.</a:t>
            </a:r>
            <a:r>
              <a:rPr kumimoji="1" lang="zh-CN" altLang="en-US" dirty="0"/>
              <a:t>提前解密的条件与时机</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根据保密事项范围已不属于</a:t>
            </a:r>
            <a:endParaRPr kumimoji="1" lang="zh-CN" altLang="en-US" dirty="0"/>
          </a:p>
          <a:p>
            <a:pPr>
              <a:lnSpc>
                <a:spcPct val="200000"/>
              </a:lnSpc>
            </a:pPr>
            <a:r>
              <a:rPr kumimoji="1" lang="zh-CN" altLang="en-US" dirty="0"/>
              <a:t>信息公开</a:t>
            </a:r>
            <a:endParaRPr kumimoji="1" lang="zh-CN" altLang="en-US" dirty="0"/>
          </a:p>
          <a:p>
            <a:pPr>
              <a:lnSpc>
                <a:spcPct val="200000"/>
              </a:lnSpc>
            </a:pPr>
            <a:r>
              <a:rPr kumimoji="1" lang="zh-CN" altLang="en-US" dirty="0"/>
              <a:t>依申请审查解密</a:t>
            </a:r>
            <a:endParaRPr kumimoji="1" lang="zh-CN" altLang="en-US" dirty="0"/>
          </a:p>
          <a:p>
            <a:pPr>
              <a:lnSpc>
                <a:spcPct val="200000"/>
              </a:lnSpc>
            </a:pPr>
            <a:r>
              <a:rPr kumimoji="1" lang="zh-CN" altLang="en-US" dirty="0"/>
              <a:t>上级机关单位建议</a:t>
            </a:r>
            <a:endParaRPr kumimoji="1"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5.</a:t>
            </a:r>
            <a:r>
              <a:rPr kumimoji="1" lang="zh-CN" altLang="en-US" dirty="0"/>
              <a:t>解密条件的推理判断</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从解密可能引发后果衡量</a:t>
            </a:r>
            <a:endParaRPr kumimoji="1" lang="zh-CN" altLang="en-US" dirty="0"/>
          </a:p>
          <a:p>
            <a:pPr>
              <a:lnSpc>
                <a:spcPct val="200000"/>
              </a:lnSpc>
            </a:pPr>
            <a:r>
              <a:rPr kumimoji="1" lang="zh-CN" altLang="en-US" dirty="0"/>
              <a:t>从全局与局部利益衡量</a:t>
            </a:r>
            <a:endParaRPr kumimoji="1" lang="zh-CN" altLang="en-US" dirty="0"/>
          </a:p>
          <a:p>
            <a:pPr>
              <a:lnSpc>
                <a:spcPct val="200000"/>
              </a:lnSpc>
            </a:pPr>
            <a:r>
              <a:rPr kumimoji="1" lang="zh-CN" altLang="en-US" dirty="0"/>
              <a:t>从利与弊的角度衡量</a:t>
            </a:r>
            <a:endParaRPr kumimoji="1" lang="zh-CN" altLang="en-US" dirty="0"/>
          </a:p>
          <a:p>
            <a:pPr>
              <a:lnSpc>
                <a:spcPct val="200000"/>
              </a:lnSpc>
            </a:pPr>
            <a:endParaRPr kumimoji="1"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6.</a:t>
            </a:r>
            <a:r>
              <a:rPr kumimoji="1" lang="zh-CN" altLang="en-US" dirty="0"/>
              <a:t>解密程序</a:t>
            </a:r>
            <a:endParaRPr kumimoji="1" lang="zh-CN" altLang="en-US" dirty="0"/>
          </a:p>
        </p:txBody>
      </p:sp>
      <p:sp>
        <p:nvSpPr>
          <p:cNvPr id="3" name="内容占位符 2"/>
          <p:cNvSpPr>
            <a:spLocks noGrp="1"/>
          </p:cNvSpPr>
          <p:nvPr>
            <p:ph idx="1"/>
          </p:nvPr>
        </p:nvSpPr>
        <p:spPr/>
        <p:txBody>
          <a:bodyPr/>
          <a:lstStyle/>
          <a:p>
            <a:r>
              <a:rPr kumimoji="1" lang="zh-CN" altLang="en-US" dirty="0"/>
              <a:t>一般情况下，同原始定密一样</a:t>
            </a:r>
            <a:endParaRPr kumimoji="1"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a:t>
            </a:r>
            <a:r>
              <a:rPr lang="zh-CN" altLang="en-US" dirty="0"/>
              <a:t>解密责任人</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a:t>“谁定密、谁变更、谁解密”</a:t>
            </a:r>
            <a:endParaRPr lang="en-US" altLang="zh-CN" dirty="0"/>
          </a:p>
          <a:p>
            <a:pPr>
              <a:lnSpc>
                <a:spcPct val="200000"/>
              </a:lnSpc>
            </a:pPr>
            <a:r>
              <a:rPr lang="zh-CN" altLang="en-US" dirty="0"/>
              <a:t>上级机关</a:t>
            </a:r>
            <a:endParaRPr lang="en-US" altLang="zh-CN" dirty="0"/>
          </a:p>
          <a:p>
            <a:pPr>
              <a:lnSpc>
                <a:spcPct val="200000"/>
              </a:lnSpc>
            </a:pPr>
            <a:r>
              <a:rPr lang="zh-CN" altLang="en-US" dirty="0"/>
              <a:t>承担职能的机关</a:t>
            </a:r>
            <a:endParaRPr lang="en-US" altLang="zh-CN" dirty="0"/>
          </a:p>
          <a:p>
            <a:pPr>
              <a:lnSpc>
                <a:spcPct val="200000"/>
              </a:lnSpc>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8.</a:t>
            </a:r>
            <a:r>
              <a:rPr kumimoji="1" lang="zh-CN" altLang="en-US" dirty="0"/>
              <a:t>解密中应注意的问题</a:t>
            </a:r>
            <a:endParaRPr kumimoji="1" lang="zh-CN" altLang="en-US" dirty="0"/>
          </a:p>
        </p:txBody>
      </p:sp>
      <p:sp>
        <p:nvSpPr>
          <p:cNvPr id="3" name="内容占位符 2"/>
          <p:cNvSpPr>
            <a:spLocks noGrp="1"/>
          </p:cNvSpPr>
          <p:nvPr>
            <p:ph idx="1"/>
          </p:nvPr>
        </p:nvSpPr>
        <p:spPr/>
        <p:txBody>
          <a:bodyPr/>
          <a:lstStyle/>
          <a:p>
            <a:pPr>
              <a:lnSpc>
                <a:spcPct val="200000"/>
              </a:lnSpc>
            </a:pPr>
            <a:r>
              <a:rPr kumimoji="1" lang="zh-CN" altLang="en-US" dirty="0"/>
              <a:t>解密不等于公开</a:t>
            </a:r>
            <a:endParaRPr kumimoji="1" lang="zh-CN" altLang="en-US" dirty="0"/>
          </a:p>
          <a:p>
            <a:pPr>
              <a:lnSpc>
                <a:spcPct val="200000"/>
              </a:lnSpc>
            </a:pPr>
            <a:r>
              <a:rPr kumimoji="1" lang="zh-CN" altLang="en-US" dirty="0"/>
              <a:t>不全文公布不等于公布解密</a:t>
            </a:r>
            <a:endParaRPr kumimoji="1" lang="zh-CN" altLang="en-US" dirty="0"/>
          </a:p>
          <a:p>
            <a:pPr>
              <a:lnSpc>
                <a:spcPct val="200000"/>
              </a:lnSpc>
            </a:pPr>
            <a:r>
              <a:rPr kumimoji="1" lang="zh-CN" altLang="en-US" dirty="0"/>
              <a:t>解密时对敏感信息的处理</a:t>
            </a:r>
            <a:endParaRPr kumimoji="1" lang="zh-CN" altLang="en-US" dirty="0"/>
          </a:p>
          <a:p>
            <a:pPr>
              <a:lnSpc>
                <a:spcPct val="200000"/>
              </a:lnSpc>
            </a:pPr>
            <a:r>
              <a:rPr kumimoji="1" lang="zh-CN" altLang="en-US" dirty="0"/>
              <a:t>移交档案馆的档案解密</a:t>
            </a:r>
            <a:endParaRPr kumimoji="1"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dirty="0">
                <a:hlinkClick r:id="rId1"/>
              </a:rPr>
              <a:t>http://www.gmw.cn/01wzb/2009-12/27/content_1029431.htm</a:t>
            </a:r>
            <a:endParaRPr lang="en-US" altLang="zh-CN" dirty="0"/>
          </a:p>
          <a:p>
            <a:r>
              <a:rPr lang="zh-CN" altLang="en-US" dirty="0"/>
              <a:t>保密期限未届满而需提前解密的，依照</a:t>
            </a:r>
            <a:r>
              <a:rPr lang="en-US" altLang="zh-CN" dirty="0"/>
              <a:t>《</a:t>
            </a:r>
            <a:r>
              <a:rPr lang="zh-CN" altLang="en-US" dirty="0"/>
              <a:t>保密法</a:t>
            </a:r>
            <a:r>
              <a:rPr lang="en-US" altLang="zh-CN" dirty="0"/>
              <a:t>》</a:t>
            </a:r>
            <a:r>
              <a:rPr lang="zh-CN" altLang="en-US" dirty="0"/>
              <a:t>第十六条、</a:t>
            </a:r>
            <a:r>
              <a:rPr lang="en-US" altLang="zh-CN" dirty="0"/>
              <a:t>《</a:t>
            </a:r>
            <a:r>
              <a:rPr lang="zh-CN" altLang="en-US" dirty="0"/>
              <a:t>实施办法</a:t>
            </a:r>
            <a:r>
              <a:rPr lang="en-US" altLang="zh-CN" dirty="0"/>
              <a:t>》</a:t>
            </a:r>
            <a:r>
              <a:rPr lang="zh-CN" altLang="en-US" dirty="0"/>
              <a:t>第十五条规定办理。如对上级主管机关决定解密的持有异议时，绝密级事项可报国家保密局决定；机密级、秘密级事项可报省国家保密局决定。</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国防科学技术成果国家秘密的保密和解密办法</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20000"/>
              </a:lnSpc>
            </a:pPr>
            <a:r>
              <a:rPr lang="zh-CN" altLang="en-US" b="1" dirty="0"/>
              <a:t>第十二条</a:t>
            </a:r>
            <a:r>
              <a:rPr lang="zh-CN" altLang="en-US" dirty="0"/>
              <a:t>  国防科学技术成果秘密的保密期限届满，自行解密。</a:t>
            </a:r>
            <a:endParaRPr lang="zh-CN" altLang="en-US" dirty="0"/>
          </a:p>
          <a:p>
            <a:pPr>
              <a:lnSpc>
                <a:spcPct val="120000"/>
              </a:lnSpc>
            </a:pPr>
            <a:r>
              <a:rPr lang="zh-CN" altLang="en-US" dirty="0"/>
              <a:t>在保密期限内，国防科技成果秘密具备下列条件之一的可以提前解密：</a:t>
            </a:r>
            <a:endParaRPr lang="zh-CN" altLang="en-US" dirty="0"/>
          </a:p>
          <a:p>
            <a:pPr>
              <a:lnSpc>
                <a:spcPct val="120000"/>
              </a:lnSpc>
            </a:pPr>
            <a:r>
              <a:rPr lang="en-US" altLang="zh-CN" dirty="0"/>
              <a:t>(</a:t>
            </a:r>
            <a:r>
              <a:rPr lang="zh-CN" altLang="en-US" dirty="0"/>
              <a:t>一</a:t>
            </a:r>
            <a:r>
              <a:rPr lang="en-US" altLang="zh-CN" dirty="0"/>
              <a:t>)  </a:t>
            </a:r>
            <a:r>
              <a:rPr lang="zh-CN" altLang="en-US" dirty="0"/>
              <a:t>用于已经退出现役装备的；</a:t>
            </a:r>
            <a:endParaRPr lang="zh-CN" altLang="en-US" dirty="0"/>
          </a:p>
          <a:p>
            <a:pPr>
              <a:lnSpc>
                <a:spcPct val="120000"/>
              </a:lnSpc>
            </a:pPr>
            <a:r>
              <a:rPr lang="en-US" altLang="zh-CN" dirty="0"/>
              <a:t>(</a:t>
            </a:r>
            <a:r>
              <a:rPr lang="zh-CN" altLang="en-US" dirty="0"/>
              <a:t>二</a:t>
            </a:r>
            <a:r>
              <a:rPr lang="en-US" altLang="zh-CN" dirty="0"/>
              <a:t>)  </a:t>
            </a:r>
            <a:r>
              <a:rPr lang="zh-CN" altLang="en-US" dirty="0"/>
              <a:t>已经有接替技术，原有技术无保密价值的；</a:t>
            </a:r>
            <a:endParaRPr lang="zh-CN" altLang="en-US" dirty="0"/>
          </a:p>
          <a:p>
            <a:pPr>
              <a:lnSpc>
                <a:spcPct val="120000"/>
              </a:lnSpc>
            </a:pPr>
            <a:r>
              <a:rPr lang="en-US" altLang="zh-CN" dirty="0"/>
              <a:t>(</a:t>
            </a:r>
            <a:r>
              <a:rPr lang="zh-CN" altLang="en-US" dirty="0"/>
              <a:t>三</a:t>
            </a:r>
            <a:r>
              <a:rPr lang="en-US" altLang="zh-CN" dirty="0"/>
              <a:t>)  </a:t>
            </a:r>
            <a:r>
              <a:rPr lang="zh-CN" altLang="en-US" dirty="0"/>
              <a:t>虽属现役装备中的国防科技成果，但其主要秘密国内外已经通过专利或其它途径公开，失去保密价值的。</a:t>
            </a:r>
            <a:endParaRPr lang="zh-CN" altLang="en-US" dirty="0"/>
          </a:p>
          <a:p>
            <a:pPr>
              <a:lnSpc>
                <a:spcPct val="120000"/>
              </a:lnSpc>
            </a:pPr>
            <a:r>
              <a:rPr lang="zh-CN" altLang="en-US" dirty="0"/>
              <a:t>  在保密期限内的</a:t>
            </a:r>
            <a:r>
              <a:rPr lang="zh-CN" altLang="en-US" dirty="0">
                <a:solidFill>
                  <a:srgbClr val="FF0000"/>
                </a:solidFill>
              </a:rPr>
              <a:t>秘密级</a:t>
            </a:r>
            <a:r>
              <a:rPr lang="zh-CN" altLang="en-US" dirty="0"/>
              <a:t>国防科技成果，其解密由原确定密级的单位决定；</a:t>
            </a:r>
            <a:r>
              <a:rPr lang="zh-CN" altLang="en-US" dirty="0">
                <a:solidFill>
                  <a:srgbClr val="FF0000"/>
                </a:solidFill>
              </a:rPr>
              <a:t>机密级</a:t>
            </a:r>
            <a:r>
              <a:rPr lang="zh-CN" altLang="en-US" dirty="0"/>
              <a:t>国防科技成果，其解密由国务院有关主管部门、军队有关主管单位决定，</a:t>
            </a:r>
            <a:r>
              <a:rPr lang="zh-CN" altLang="en-US" dirty="0">
                <a:solidFill>
                  <a:srgbClr val="FF0000"/>
                </a:solidFill>
              </a:rPr>
              <a:t>绝密级</a:t>
            </a:r>
            <a:r>
              <a:rPr lang="zh-CN" altLang="en-US" dirty="0"/>
              <a:t>国防科技成果，其解密由国务院有关主管部门、军队有关主管单位提出审查意见，报国防科工委审批。</a:t>
            </a:r>
            <a:endParaRPr lang="zh-CN" altLang="en-US" dirty="0"/>
          </a:p>
          <a:p>
            <a:pPr>
              <a:lnSpc>
                <a:spcPct val="120000"/>
              </a:lnSpc>
            </a:pPr>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6150</Words>
  <Application>WPS 演示</Application>
  <PresentationFormat>全屏显示(4:3)</PresentationFormat>
  <Paragraphs>269</Paragraphs>
  <Slides>52</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52</vt:i4>
      </vt:variant>
    </vt:vector>
  </HeadingPairs>
  <TitlesOfParts>
    <vt:vector size="69" baseType="lpstr">
      <vt:lpstr>Arial</vt:lpstr>
      <vt:lpstr>宋体</vt:lpstr>
      <vt:lpstr>Wingdings</vt:lpstr>
      <vt:lpstr>Wingdings 2</vt:lpstr>
      <vt:lpstr>Arial</vt:lpstr>
      <vt:lpstr>隶书</vt:lpstr>
      <vt:lpstr>Maiandra GD</vt:lpstr>
      <vt:lpstr>Cambria</vt:lpstr>
      <vt:lpstr>华文楷体</vt:lpstr>
      <vt:lpstr>微软雅黑</vt:lpstr>
      <vt:lpstr>Arial Unicode MS</vt:lpstr>
      <vt:lpstr>等线</vt:lpstr>
      <vt:lpstr>Calibri</vt:lpstr>
      <vt:lpstr>Times New Roman</vt:lpstr>
      <vt:lpstr>Calibri</vt:lpstr>
      <vt:lpstr>Times New Roman</vt:lpstr>
      <vt:lpstr>龙腾四海</vt:lpstr>
      <vt:lpstr>一、《保密法》</vt:lpstr>
      <vt:lpstr>《保密法》修订对比</vt:lpstr>
      <vt:lpstr>释义</vt:lpstr>
      <vt:lpstr>PowerPoint 演示文稿</vt:lpstr>
      <vt:lpstr>二、《保密法实施条例》</vt:lpstr>
      <vt:lpstr>PowerPoint 演示文稿</vt:lpstr>
      <vt:lpstr>PowerPoint 演示文稿</vt:lpstr>
      <vt:lpstr>PowerPoint 演示文稿</vt:lpstr>
      <vt:lpstr>PowerPoint 演示文稿</vt:lpstr>
      <vt:lpstr>PowerPoint 演示文稿</vt:lpstr>
      <vt:lpstr>PowerPoint 演示文稿</vt:lpstr>
      <vt:lpstr>四、国家秘密变更的概念</vt:lpstr>
      <vt:lpstr>五、国家秘密变更的依据</vt:lpstr>
      <vt:lpstr>PowerPoint 演示文稿</vt:lpstr>
      <vt:lpstr>六、国家秘密变更的意义</vt:lpstr>
      <vt:lpstr>七、国家秘密变更的内容</vt:lpstr>
      <vt:lpstr>八、国家秘密变更的主体</vt:lpstr>
      <vt:lpstr>九、密级变更流程</vt:lpstr>
      <vt:lpstr>PowerPoint 演示文稿</vt:lpstr>
      <vt:lpstr>PowerPoint 演示文稿</vt:lpstr>
      <vt:lpstr>PowerPoint 演示文稿</vt:lpstr>
      <vt:lpstr>PowerPoint 演示文稿</vt:lpstr>
      <vt:lpstr>十、密级变更的条件和方法</vt:lpstr>
      <vt:lpstr>PowerPoint 演示文稿</vt:lpstr>
      <vt:lpstr>PowerPoint 演示文稿</vt:lpstr>
      <vt:lpstr>PowerPoint 演示文稿</vt:lpstr>
      <vt:lpstr>十一、保密期限的变更</vt:lpstr>
      <vt:lpstr>PowerPoint 演示文稿</vt:lpstr>
      <vt:lpstr>PowerPoint 演示文稿</vt:lpstr>
      <vt:lpstr>十二、知悉范围的变更</vt:lpstr>
      <vt:lpstr>国家秘密的解除</vt:lpstr>
      <vt:lpstr>国家秘密的解除</vt:lpstr>
      <vt:lpstr>PowerPoint 演示文稿</vt:lpstr>
      <vt:lpstr>PowerPoint 演示文稿</vt:lpstr>
      <vt:lpstr>PowerPoint 演示文稿</vt:lpstr>
      <vt:lpstr>一、《保密法》</vt:lpstr>
      <vt:lpstr>PowerPoint 演示文稿</vt:lpstr>
      <vt:lpstr>PowerPoint 演示文稿</vt:lpstr>
      <vt:lpstr>PowerPoint 演示文稿</vt:lpstr>
      <vt:lpstr>二、《国家秘密定密管理规定》</vt:lpstr>
      <vt:lpstr>PowerPoint 演示文稿</vt:lpstr>
      <vt:lpstr>国家秘密解密暂行办法</vt:lpstr>
      <vt:lpstr>1.解密的类型及渠道</vt:lpstr>
      <vt:lpstr>2.自行解密的条件和时机</vt:lpstr>
      <vt:lpstr>3.公布解密的条件与时机</vt:lpstr>
      <vt:lpstr>4.提前解密的条件与时机</vt:lpstr>
      <vt:lpstr>5.解密条件的推理判断</vt:lpstr>
      <vt:lpstr>6.解密程序</vt:lpstr>
      <vt:lpstr>7.解密责任人</vt:lpstr>
      <vt:lpstr>8.解密中应注意的问题</vt:lpstr>
      <vt:lpstr>PowerPoint 演示文稿</vt:lpstr>
      <vt:lpstr>国防科学技术成果国家秘密的保密和解密办法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国家秘密的变更和解除</dc:title>
  <dc:creator>lenovo</dc:creator>
  <cp:lastModifiedBy>王泰然</cp:lastModifiedBy>
  <cp:revision>32</cp:revision>
  <dcterms:created xsi:type="dcterms:W3CDTF">2026-06-11T12:06:00Z</dcterms:created>
  <dcterms:modified xsi:type="dcterms:W3CDTF">2026-06-27T04:29:00Z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48D9E31AFBCB6387BEA42A6A88244015_43</vt:lpwstr>
  </property>
  <property fmtid="{D5CDD505-2E9C-101B-9397-08002B2CF9AE}" pid="3" name="KSOProductBuildVer">
    <vt:lpwstr>2052-12.1.0.26375</vt:lpwstr>
  </property>
</Properties>
</file>