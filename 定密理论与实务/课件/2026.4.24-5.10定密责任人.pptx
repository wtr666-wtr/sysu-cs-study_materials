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23" r:id="rId3"/>
    <p:sldId id="324" r:id="rId4"/>
    <p:sldId id="313" r:id="rId6"/>
    <p:sldId id="314" r:id="rId7"/>
    <p:sldId id="543" r:id="rId8"/>
    <p:sldId id="544" r:id="rId9"/>
    <p:sldId id="545" r:id="rId10"/>
    <p:sldId id="546" r:id="rId11"/>
    <p:sldId id="548" r:id="rId12"/>
    <p:sldId id="316" r:id="rId13"/>
    <p:sldId id="549" r:id="rId14"/>
    <p:sldId id="550" r:id="rId15"/>
    <p:sldId id="556" r:id="rId16"/>
    <p:sldId id="557" r:id="rId17"/>
    <p:sldId id="558" r:id="rId18"/>
    <p:sldId id="559" r:id="rId19"/>
    <p:sldId id="319" r:id="rId20"/>
    <p:sldId id="560" r:id="rId21"/>
    <p:sldId id="561" r:id="rId22"/>
    <p:sldId id="562" r:id="rId23"/>
    <p:sldId id="563" r:id="rId24"/>
    <p:sldId id="564" r:id="rId25"/>
    <p:sldId id="565" r:id="rId26"/>
    <p:sldId id="566" r:id="rId27"/>
    <p:sldId id="567" r:id="rId28"/>
    <p:sldId id="568" r:id="rId29"/>
    <p:sldId id="295" r:id="rId30"/>
    <p:sldId id="297" r:id="rId31"/>
    <p:sldId id="325" r:id="rId32"/>
    <p:sldId id="296" r:id="rId33"/>
    <p:sldId id="326" r:id="rId34"/>
    <p:sldId id="327" r:id="rId35"/>
    <p:sldId id="572" r:id="rId36"/>
    <p:sldId id="573" r:id="rId37"/>
    <p:sldId id="332" r:id="rId38"/>
    <p:sldId id="263" r:id="rId39"/>
    <p:sldId id="333" r:id="rId40"/>
    <p:sldId id="334" r:id="rId41"/>
    <p:sldId id="264" r:id="rId42"/>
    <p:sldId id="265" r:id="rId43"/>
    <p:sldId id="335" r:id="rId44"/>
    <p:sldId id="373" r:id="rId45"/>
    <p:sldId id="374" r:id="rId46"/>
    <p:sldId id="268" r:id="rId47"/>
    <p:sldId id="328" r:id="rId48"/>
    <p:sldId id="329" r:id="rId49"/>
    <p:sldId id="330" r:id="rId50"/>
    <p:sldId id="331" r:id="rId51"/>
    <p:sldId id="372" r:id="rId52"/>
    <p:sldId id="357" r:id="rId53"/>
    <p:sldId id="336" r:id="rId54"/>
    <p:sldId id="365" r:id="rId55"/>
    <p:sldId id="536" r:id="rId56"/>
    <p:sldId id="537" r:id="rId57"/>
    <p:sldId id="538" r:id="rId58"/>
    <p:sldId id="539" r:id="rId59"/>
    <p:sldId id="574" r:id="rId60"/>
    <p:sldId id="575" r:id="rId61"/>
    <p:sldId id="576" r:id="rId62"/>
    <p:sldId id="577" r:id="rId63"/>
    <p:sldId id="578" r:id="rId64"/>
    <p:sldId id="579" r:id="rId65"/>
    <p:sldId id="580" r:id="rId66"/>
    <p:sldId id="269" r:id="rId67"/>
    <p:sldId id="307" r:id="rId68"/>
    <p:sldId id="354" r:id="rId69"/>
    <p:sldId id="356" r:id="rId70"/>
    <p:sldId id="361" r:id="rId71"/>
    <p:sldId id="281" r:id="rId72"/>
    <p:sldId id="282" r:id="rId73"/>
    <p:sldId id="283" r:id="rId74"/>
    <p:sldId id="284" r:id="rId75"/>
    <p:sldId id="375" r:id="rId76"/>
    <p:sldId id="377" r:id="rId77"/>
    <p:sldId id="376" r:id="rId78"/>
    <p:sldId id="378" r:id="rId79"/>
    <p:sldId id="379" r:id="rId80"/>
    <p:sldId id="380" r:id="rId81"/>
    <p:sldId id="381" r:id="rId82"/>
    <p:sldId id="382" r:id="rId83"/>
    <p:sldId id="383" r:id="rId84"/>
    <p:sldId id="384" r:id="rId85"/>
    <p:sldId id="337" r:id="rId86"/>
    <p:sldId id="338" r:id="rId87"/>
    <p:sldId id="339" r:id="rId88"/>
    <p:sldId id="340" r:id="rId89"/>
    <p:sldId id="341" r:id="rId90"/>
    <p:sldId id="342" r:id="rId91"/>
    <p:sldId id="343" r:id="rId92"/>
    <p:sldId id="344" r:id="rId93"/>
    <p:sldId id="345" r:id="rId94"/>
    <p:sldId id="541" r:id="rId95"/>
    <p:sldId id="584" r:id="rId96"/>
    <p:sldId id="586" r:id="rId97"/>
  </p:sldIdLst>
  <p:sldSz cx="9144000" cy="6858000" type="screen4x3"/>
  <p:notesSz cx="6858000" cy="9144000"/>
  <p:custDataLst>
    <p:tags r:id="rId10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5"/>
    <p:restoredTop sz="68966"/>
  </p:normalViewPr>
  <p:slideViewPr>
    <p:cSldViewPr showGuides="1">
      <p:cViewPr varScale="1">
        <p:scale>
          <a:sx n="74" d="100"/>
          <a:sy n="74" d="100"/>
        </p:scale>
        <p:origin x="1688"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viewProps" Target="viewProps.xml"/><Relationship Id="rId98" Type="http://schemas.openxmlformats.org/officeDocument/2006/relationships/presProps" Target="presProps.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1" Type="http://schemas.openxmlformats.org/officeDocument/2006/relationships/tags" Target="tags/tag41.xml"/><Relationship Id="rId100" Type="http://schemas.openxmlformats.org/officeDocument/2006/relationships/tableStyles" Target="tableStyles.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D49EE9D-6E80-466F-AE0E-58626483E965}"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989A8379-26C4-47E1-BDA5-C7D1CE48933F}">
      <dgm:prSet phldrT="[文本]"/>
      <dgm:spPr/>
      <dgm:t>
        <a:bodyPr/>
        <a:lstStyle/>
        <a:p>
          <a:r>
            <a:rPr lang="zh-CN" altLang="en-US" dirty="0" smtClean="0"/>
            <a:t>“谁产生的事项，谁 就负责定密”</a:t>
          </a:r>
          <a:endParaRPr lang="zh-CN" altLang="en-US" dirty="0"/>
        </a:p>
      </dgm:t>
    </dgm:pt>
    <dgm:pt modelId="{386A3A40-F18B-4B82-841A-DDC3938A0488}" cxnId="{646BF0DA-F681-4144-B946-650A810B988D}" type="parTrans">
      <dgm:prSet/>
      <dgm:spPr/>
      <dgm:t>
        <a:bodyPr/>
        <a:lstStyle/>
        <a:p>
          <a:endParaRPr lang="zh-CN" altLang="en-US"/>
        </a:p>
      </dgm:t>
    </dgm:pt>
    <dgm:pt modelId="{C8FC353E-FA2F-44F3-9422-AF0B25F203FD}" cxnId="{646BF0DA-F681-4144-B946-650A810B988D}" type="sibTrans">
      <dgm:prSet/>
      <dgm:spPr/>
      <dgm:t>
        <a:bodyPr/>
        <a:lstStyle/>
        <a:p>
          <a:endParaRPr lang="zh-CN" altLang="en-US"/>
        </a:p>
      </dgm:t>
    </dgm:pt>
    <dgm:pt modelId="{03E6522A-D6DF-45D4-93AE-1E820A921742}">
      <dgm:prSet phldrT="[文本]"/>
      <dgm:spPr/>
      <dgm:t>
        <a:bodyPr/>
        <a:lstStyle/>
        <a:p>
          <a:r>
            <a:rPr lang="zh-CN" altLang="en-US" dirty="0" smtClean="0"/>
            <a:t>拥有定密权的机构</a:t>
          </a:r>
          <a:endParaRPr lang="zh-CN" altLang="en-US" dirty="0"/>
        </a:p>
      </dgm:t>
    </dgm:pt>
    <dgm:pt modelId="{64207334-A441-4824-B91F-EF9E160670BE}" cxnId="{FFE88F86-C7CE-451C-A5FB-C2255DBD3C80}" type="parTrans">
      <dgm:prSet/>
      <dgm:spPr/>
      <dgm:t>
        <a:bodyPr/>
        <a:lstStyle/>
        <a:p>
          <a:endParaRPr lang="zh-CN" altLang="en-US"/>
        </a:p>
      </dgm:t>
    </dgm:pt>
    <dgm:pt modelId="{05C6DEAF-C031-46A8-98E8-42C7A1D167C1}" cxnId="{FFE88F86-C7CE-451C-A5FB-C2255DBD3C80}" type="sibTrans">
      <dgm:prSet/>
      <dgm:spPr/>
      <dgm:t>
        <a:bodyPr/>
        <a:lstStyle/>
        <a:p>
          <a:endParaRPr lang="zh-CN" altLang="en-US"/>
        </a:p>
      </dgm:t>
    </dgm:pt>
    <dgm:pt modelId="{85110452-00E6-4C3E-9040-A67543096CAF}">
      <dgm:prSet phldrT="[文本]"/>
      <dgm:spPr/>
      <dgm:t>
        <a:bodyPr/>
        <a:lstStyle/>
        <a:p>
          <a:r>
            <a:rPr lang="zh-CN" altLang="en-US" dirty="0" smtClean="0"/>
            <a:t>定密责任人      </a:t>
          </a:r>
          <a:r>
            <a:rPr lang="zh-CN" altLang="en-US" dirty="0" smtClean="0">
              <a:solidFill>
                <a:srgbClr val="FF0000"/>
              </a:solidFill>
            </a:rPr>
            <a:t>为什么？</a:t>
          </a:r>
          <a:endParaRPr lang="zh-CN" altLang="en-US" dirty="0">
            <a:solidFill>
              <a:srgbClr val="FF0000"/>
            </a:solidFill>
          </a:endParaRPr>
        </a:p>
      </dgm:t>
    </dgm:pt>
    <dgm:pt modelId="{A665C7C6-E4F7-4F0F-AAB2-E93DB1002302}" cxnId="{2A34A2AB-961F-498E-8282-C88CD9301903}" type="sibTrans">
      <dgm:prSet/>
      <dgm:spPr/>
      <dgm:t>
        <a:bodyPr/>
        <a:lstStyle/>
        <a:p>
          <a:endParaRPr lang="zh-CN" altLang="en-US"/>
        </a:p>
      </dgm:t>
    </dgm:pt>
    <dgm:pt modelId="{8FCE6B1F-31E4-49DD-8A3A-9721D79262C5}" cxnId="{2A34A2AB-961F-498E-8282-C88CD9301903}" type="parTrans">
      <dgm:prSet/>
      <dgm:spPr/>
      <dgm:t>
        <a:bodyPr/>
        <a:lstStyle/>
        <a:p>
          <a:endParaRPr lang="zh-CN" altLang="en-US"/>
        </a:p>
      </dgm:t>
    </dgm:pt>
    <dgm:pt modelId="{5ADBDCE7-8A0D-448A-B77A-0254A472C5F6}" type="pres">
      <dgm:prSet presAssocID="{BD49EE9D-6E80-466F-AE0E-58626483E965}" presName="outerComposite" presStyleCnt="0">
        <dgm:presLayoutVars>
          <dgm:chMax val="5"/>
          <dgm:dir/>
          <dgm:resizeHandles val="exact"/>
        </dgm:presLayoutVars>
      </dgm:prSet>
      <dgm:spPr/>
      <dgm:t>
        <a:bodyPr/>
        <a:lstStyle/>
        <a:p>
          <a:endParaRPr lang="zh-CN" altLang="en-US"/>
        </a:p>
      </dgm:t>
    </dgm:pt>
    <dgm:pt modelId="{B9225327-0B8D-43CA-8F62-7903F948B3C7}" type="pres">
      <dgm:prSet presAssocID="{BD49EE9D-6E80-466F-AE0E-58626483E965}" presName="dummyMaxCanvas" presStyleCnt="0">
        <dgm:presLayoutVars/>
      </dgm:prSet>
      <dgm:spPr/>
    </dgm:pt>
    <dgm:pt modelId="{76C5E1AF-C489-48CE-99C2-4D2E3F7FBF2B}" type="pres">
      <dgm:prSet presAssocID="{BD49EE9D-6E80-466F-AE0E-58626483E965}" presName="ThreeNodes_1" presStyleLbl="node1" presStyleIdx="0" presStyleCnt="3">
        <dgm:presLayoutVars>
          <dgm:bulletEnabled val="1"/>
        </dgm:presLayoutVars>
      </dgm:prSet>
      <dgm:spPr/>
      <dgm:t>
        <a:bodyPr/>
        <a:lstStyle/>
        <a:p>
          <a:endParaRPr lang="zh-CN" altLang="en-US"/>
        </a:p>
      </dgm:t>
    </dgm:pt>
    <dgm:pt modelId="{D74D15CD-B3F7-46B9-8638-BE3859E54E9E}" type="pres">
      <dgm:prSet presAssocID="{BD49EE9D-6E80-466F-AE0E-58626483E965}" presName="ThreeNodes_2" presStyleLbl="node1" presStyleIdx="1" presStyleCnt="3">
        <dgm:presLayoutVars>
          <dgm:bulletEnabled val="1"/>
        </dgm:presLayoutVars>
      </dgm:prSet>
      <dgm:spPr/>
      <dgm:t>
        <a:bodyPr/>
        <a:lstStyle/>
        <a:p>
          <a:endParaRPr lang="zh-CN" altLang="en-US"/>
        </a:p>
      </dgm:t>
    </dgm:pt>
    <dgm:pt modelId="{CF8D3BCD-6AAF-4F83-AA82-D33D1A997DC7}" type="pres">
      <dgm:prSet presAssocID="{BD49EE9D-6E80-466F-AE0E-58626483E965}" presName="ThreeNodes_3" presStyleLbl="node1" presStyleIdx="2" presStyleCnt="3">
        <dgm:presLayoutVars>
          <dgm:bulletEnabled val="1"/>
        </dgm:presLayoutVars>
      </dgm:prSet>
      <dgm:spPr/>
      <dgm:t>
        <a:bodyPr/>
        <a:lstStyle/>
        <a:p>
          <a:endParaRPr lang="zh-CN" altLang="en-US"/>
        </a:p>
      </dgm:t>
    </dgm:pt>
    <dgm:pt modelId="{94F1E8F6-368C-4339-9268-095D78718B93}" type="pres">
      <dgm:prSet presAssocID="{BD49EE9D-6E80-466F-AE0E-58626483E965}" presName="ThreeConn_1-2" presStyleLbl="fgAccFollowNode1" presStyleIdx="0" presStyleCnt="2">
        <dgm:presLayoutVars>
          <dgm:bulletEnabled val="1"/>
        </dgm:presLayoutVars>
      </dgm:prSet>
      <dgm:spPr/>
      <dgm:t>
        <a:bodyPr/>
        <a:lstStyle/>
        <a:p>
          <a:endParaRPr lang="zh-CN" altLang="en-US"/>
        </a:p>
      </dgm:t>
    </dgm:pt>
    <dgm:pt modelId="{E99F401A-FF6E-4782-AF64-1E9059B0A709}" type="pres">
      <dgm:prSet presAssocID="{BD49EE9D-6E80-466F-AE0E-58626483E965}" presName="ThreeConn_2-3" presStyleLbl="fgAccFollowNode1" presStyleIdx="1" presStyleCnt="2">
        <dgm:presLayoutVars>
          <dgm:bulletEnabled val="1"/>
        </dgm:presLayoutVars>
      </dgm:prSet>
      <dgm:spPr/>
      <dgm:t>
        <a:bodyPr/>
        <a:lstStyle/>
        <a:p>
          <a:endParaRPr lang="zh-CN" altLang="en-US"/>
        </a:p>
      </dgm:t>
    </dgm:pt>
    <dgm:pt modelId="{B519C8D5-56FF-42F1-AC10-7AE440E0F4B4}" type="pres">
      <dgm:prSet presAssocID="{BD49EE9D-6E80-466F-AE0E-58626483E965}" presName="ThreeNodes_1_text" presStyleLbl="node1" presStyleIdx="2" presStyleCnt="3">
        <dgm:presLayoutVars>
          <dgm:bulletEnabled val="1"/>
        </dgm:presLayoutVars>
      </dgm:prSet>
      <dgm:spPr/>
      <dgm:t>
        <a:bodyPr/>
        <a:lstStyle/>
        <a:p>
          <a:endParaRPr lang="zh-CN" altLang="en-US"/>
        </a:p>
      </dgm:t>
    </dgm:pt>
    <dgm:pt modelId="{CCA44B49-407B-4279-96CB-C8CB735933E7}" type="pres">
      <dgm:prSet presAssocID="{BD49EE9D-6E80-466F-AE0E-58626483E965}" presName="ThreeNodes_2_text" presStyleLbl="node1" presStyleIdx="2" presStyleCnt="3">
        <dgm:presLayoutVars>
          <dgm:bulletEnabled val="1"/>
        </dgm:presLayoutVars>
      </dgm:prSet>
      <dgm:spPr/>
      <dgm:t>
        <a:bodyPr/>
        <a:lstStyle/>
        <a:p>
          <a:endParaRPr lang="zh-CN" altLang="en-US"/>
        </a:p>
      </dgm:t>
    </dgm:pt>
    <dgm:pt modelId="{BEB0A2DD-00ED-457F-8F00-7C24CA2684AE}" type="pres">
      <dgm:prSet presAssocID="{BD49EE9D-6E80-466F-AE0E-58626483E965}" presName="ThreeNodes_3_text" presStyleLbl="node1" presStyleIdx="2" presStyleCnt="3">
        <dgm:presLayoutVars>
          <dgm:bulletEnabled val="1"/>
        </dgm:presLayoutVars>
      </dgm:prSet>
      <dgm:spPr/>
      <dgm:t>
        <a:bodyPr/>
        <a:lstStyle/>
        <a:p>
          <a:endParaRPr lang="zh-CN" altLang="en-US"/>
        </a:p>
      </dgm:t>
    </dgm:pt>
  </dgm:ptLst>
  <dgm:cxnLst>
    <dgm:cxn modelId="{A09E7872-6199-A14D-8C73-ABA6BCF24D87}" type="presOf" srcId="{C8FC353E-FA2F-44F3-9422-AF0B25F203FD}" destId="{94F1E8F6-368C-4339-9268-095D78718B93}" srcOrd="0" destOrd="0" presId="urn:microsoft.com/office/officeart/2005/8/layout/vProcess5"/>
    <dgm:cxn modelId="{800C53C9-432D-B244-BF64-80EEDBD85BE8}" type="presOf" srcId="{989A8379-26C4-47E1-BDA5-C7D1CE48933F}" destId="{76C5E1AF-C489-48CE-99C2-4D2E3F7FBF2B}" srcOrd="0" destOrd="0" presId="urn:microsoft.com/office/officeart/2005/8/layout/vProcess5"/>
    <dgm:cxn modelId="{9A960DC3-33E4-D048-8808-7A0DB77161BF}" type="presOf" srcId="{85110452-00E6-4C3E-9040-A67543096CAF}" destId="{CF8D3BCD-6AAF-4F83-AA82-D33D1A997DC7}" srcOrd="0" destOrd="0" presId="urn:microsoft.com/office/officeart/2005/8/layout/vProcess5"/>
    <dgm:cxn modelId="{646BF0DA-F681-4144-B946-650A810B988D}" srcId="{BD49EE9D-6E80-466F-AE0E-58626483E965}" destId="{989A8379-26C4-47E1-BDA5-C7D1CE48933F}" srcOrd="0" destOrd="0" parTransId="{386A3A40-F18B-4B82-841A-DDC3938A0488}" sibTransId="{C8FC353E-FA2F-44F3-9422-AF0B25F203FD}"/>
    <dgm:cxn modelId="{1B6C36AA-5D36-4943-A6F7-B9BEDC0C63E0}" type="presOf" srcId="{989A8379-26C4-47E1-BDA5-C7D1CE48933F}" destId="{B519C8D5-56FF-42F1-AC10-7AE440E0F4B4}" srcOrd="1" destOrd="0" presId="urn:microsoft.com/office/officeart/2005/8/layout/vProcess5"/>
    <dgm:cxn modelId="{2A34A2AB-961F-498E-8282-C88CD9301903}" srcId="{BD49EE9D-6E80-466F-AE0E-58626483E965}" destId="{85110452-00E6-4C3E-9040-A67543096CAF}" srcOrd="2" destOrd="0" parTransId="{8FCE6B1F-31E4-49DD-8A3A-9721D79262C5}" sibTransId="{A665C7C6-E4F7-4F0F-AAB2-E93DB1002302}"/>
    <dgm:cxn modelId="{F3B2C4B7-95DE-F04F-8F67-41E551F0B135}" type="presOf" srcId="{03E6522A-D6DF-45D4-93AE-1E820A921742}" destId="{D74D15CD-B3F7-46B9-8638-BE3859E54E9E}" srcOrd="0" destOrd="0" presId="urn:microsoft.com/office/officeart/2005/8/layout/vProcess5"/>
    <dgm:cxn modelId="{FFE88F86-C7CE-451C-A5FB-C2255DBD3C80}" srcId="{BD49EE9D-6E80-466F-AE0E-58626483E965}" destId="{03E6522A-D6DF-45D4-93AE-1E820A921742}" srcOrd="1" destOrd="0" parTransId="{64207334-A441-4824-B91F-EF9E160670BE}" sibTransId="{05C6DEAF-C031-46A8-98E8-42C7A1D167C1}"/>
    <dgm:cxn modelId="{BE93C211-BCFA-114B-BB97-73A3B3DBDD05}" type="presOf" srcId="{85110452-00E6-4C3E-9040-A67543096CAF}" destId="{BEB0A2DD-00ED-457F-8F00-7C24CA2684AE}" srcOrd="1" destOrd="0" presId="urn:microsoft.com/office/officeart/2005/8/layout/vProcess5"/>
    <dgm:cxn modelId="{B36D7799-3205-5644-8631-48B098D13B81}" type="presOf" srcId="{05C6DEAF-C031-46A8-98E8-42C7A1D167C1}" destId="{E99F401A-FF6E-4782-AF64-1E9059B0A709}" srcOrd="0" destOrd="0" presId="urn:microsoft.com/office/officeart/2005/8/layout/vProcess5"/>
    <dgm:cxn modelId="{7ADE3818-F4C4-D94D-BDD5-C9FB1722F194}" type="presOf" srcId="{03E6522A-D6DF-45D4-93AE-1E820A921742}" destId="{CCA44B49-407B-4279-96CB-C8CB735933E7}" srcOrd="1" destOrd="0" presId="urn:microsoft.com/office/officeart/2005/8/layout/vProcess5"/>
    <dgm:cxn modelId="{1FCC9D82-D18A-004A-82B5-F3D878D4C36A}" type="presOf" srcId="{BD49EE9D-6E80-466F-AE0E-58626483E965}" destId="{5ADBDCE7-8A0D-448A-B77A-0254A472C5F6}" srcOrd="0" destOrd="0" presId="urn:microsoft.com/office/officeart/2005/8/layout/vProcess5"/>
    <dgm:cxn modelId="{C923331E-B441-3F40-9B5E-0E6EA6074EEB}" type="presParOf" srcId="{5ADBDCE7-8A0D-448A-B77A-0254A472C5F6}" destId="{B9225327-0B8D-43CA-8F62-7903F948B3C7}" srcOrd="0" destOrd="0" presId="urn:microsoft.com/office/officeart/2005/8/layout/vProcess5"/>
    <dgm:cxn modelId="{855A5D69-541B-CA41-AE49-E6504B1FF616}" type="presParOf" srcId="{5ADBDCE7-8A0D-448A-B77A-0254A472C5F6}" destId="{76C5E1AF-C489-48CE-99C2-4D2E3F7FBF2B}" srcOrd="1" destOrd="0" presId="urn:microsoft.com/office/officeart/2005/8/layout/vProcess5"/>
    <dgm:cxn modelId="{0F81F18E-01ED-BB45-9943-B0419D8737F2}" type="presParOf" srcId="{5ADBDCE7-8A0D-448A-B77A-0254A472C5F6}" destId="{D74D15CD-B3F7-46B9-8638-BE3859E54E9E}" srcOrd="2" destOrd="0" presId="urn:microsoft.com/office/officeart/2005/8/layout/vProcess5"/>
    <dgm:cxn modelId="{6A02B855-68D6-C84E-A8B4-CB8B01BCD4AE}" type="presParOf" srcId="{5ADBDCE7-8A0D-448A-B77A-0254A472C5F6}" destId="{CF8D3BCD-6AAF-4F83-AA82-D33D1A997DC7}" srcOrd="3" destOrd="0" presId="urn:microsoft.com/office/officeart/2005/8/layout/vProcess5"/>
    <dgm:cxn modelId="{A47D8D4A-D667-3340-AD24-0B20DA9DD3BD}" type="presParOf" srcId="{5ADBDCE7-8A0D-448A-B77A-0254A472C5F6}" destId="{94F1E8F6-368C-4339-9268-095D78718B93}" srcOrd="4" destOrd="0" presId="urn:microsoft.com/office/officeart/2005/8/layout/vProcess5"/>
    <dgm:cxn modelId="{37A33779-7FD0-CB4B-BDC9-94F7CF0EB6B1}" type="presParOf" srcId="{5ADBDCE7-8A0D-448A-B77A-0254A472C5F6}" destId="{E99F401A-FF6E-4782-AF64-1E9059B0A709}" srcOrd="5" destOrd="0" presId="urn:microsoft.com/office/officeart/2005/8/layout/vProcess5"/>
    <dgm:cxn modelId="{4782ACA9-CEFC-1749-8EE5-D7AA189E03EB}" type="presParOf" srcId="{5ADBDCE7-8A0D-448A-B77A-0254A472C5F6}" destId="{B519C8D5-56FF-42F1-AC10-7AE440E0F4B4}" srcOrd="6" destOrd="0" presId="urn:microsoft.com/office/officeart/2005/8/layout/vProcess5"/>
    <dgm:cxn modelId="{A82D0FB4-CA90-664C-B38A-B005DF293EDD}" type="presParOf" srcId="{5ADBDCE7-8A0D-448A-B77A-0254A472C5F6}" destId="{CCA44B49-407B-4279-96CB-C8CB735933E7}" srcOrd="7" destOrd="0" presId="urn:microsoft.com/office/officeart/2005/8/layout/vProcess5"/>
    <dgm:cxn modelId="{40AD2535-B038-2C42-A2B8-5CC2583C6C14}" type="presParOf" srcId="{5ADBDCE7-8A0D-448A-B77A-0254A472C5F6}" destId="{BEB0A2DD-00ED-457F-8F00-7C24CA2684AE}" srcOrd="8"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668D2C-2BB6-4296-87AF-CCBDFAAD19A6}" type="doc">
      <dgm:prSet loTypeId="urn:microsoft.com/office/officeart/2005/8/layout/process5" loCatId="process" qsTypeId="urn:microsoft.com/office/officeart/2005/8/quickstyle/simple1" qsCatId="simple" csTypeId="urn:microsoft.com/office/officeart/2005/8/colors/accent1_2" csCatId="accent1" phldr="1"/>
      <dgm:spPr/>
    </dgm:pt>
    <dgm:pt modelId="{36268937-BBAE-41D9-A76F-1598D20801C7}">
      <dgm:prSet phldrT="[文本]"/>
      <dgm:spPr/>
      <dgm:t>
        <a:bodyPr/>
        <a:lstStyle/>
        <a:p>
          <a:r>
            <a:rPr lang="zh-CN" altLang="en-US" dirty="0" smtClean="0"/>
            <a:t>初选</a:t>
          </a:r>
          <a:endParaRPr lang="zh-CN" altLang="en-US" dirty="0"/>
        </a:p>
      </dgm:t>
    </dgm:pt>
    <dgm:pt modelId="{7737CC37-1C3D-47B6-8E32-7A0C9F2ED1D2}" cxnId="{1C700263-E69B-4232-BD1B-F42FC44F9258}" type="parTrans">
      <dgm:prSet/>
      <dgm:spPr/>
      <dgm:t>
        <a:bodyPr/>
        <a:lstStyle/>
        <a:p>
          <a:endParaRPr lang="zh-CN" altLang="en-US"/>
        </a:p>
      </dgm:t>
    </dgm:pt>
    <dgm:pt modelId="{D88122B3-3589-462B-A053-C83C8DBDAA47}" cxnId="{1C700263-E69B-4232-BD1B-F42FC44F9258}" type="sibTrans">
      <dgm:prSet/>
      <dgm:spPr/>
      <dgm:t>
        <a:bodyPr/>
        <a:lstStyle/>
        <a:p>
          <a:endParaRPr lang="zh-CN" altLang="en-US"/>
        </a:p>
      </dgm:t>
    </dgm:pt>
    <dgm:pt modelId="{0810A49C-C13F-4B38-9B1B-0125EEBE450B}">
      <dgm:prSet phldrT="[文本]"/>
      <dgm:spPr/>
      <dgm:t>
        <a:bodyPr/>
        <a:lstStyle/>
        <a:p>
          <a:r>
            <a:rPr lang="zh-CN" altLang="en-US" dirty="0" smtClean="0"/>
            <a:t>培训</a:t>
          </a:r>
          <a:endParaRPr lang="zh-CN" altLang="en-US" dirty="0"/>
        </a:p>
      </dgm:t>
    </dgm:pt>
    <dgm:pt modelId="{568A9631-EBAB-4DD4-AF74-0517F2A8ED63}" cxnId="{6D27FA7C-CC32-4B03-9376-236595F649E8}" type="parTrans">
      <dgm:prSet/>
      <dgm:spPr/>
      <dgm:t>
        <a:bodyPr/>
        <a:lstStyle/>
        <a:p>
          <a:endParaRPr lang="zh-CN" altLang="en-US"/>
        </a:p>
      </dgm:t>
    </dgm:pt>
    <dgm:pt modelId="{7DB1D8B6-6FB8-4A1D-BC88-4AB9D3830639}" cxnId="{6D27FA7C-CC32-4B03-9376-236595F649E8}" type="sibTrans">
      <dgm:prSet/>
      <dgm:spPr/>
      <dgm:t>
        <a:bodyPr/>
        <a:lstStyle/>
        <a:p>
          <a:endParaRPr lang="zh-CN" altLang="en-US"/>
        </a:p>
      </dgm:t>
    </dgm:pt>
    <dgm:pt modelId="{BB9D8AC0-8C26-4143-BEE0-8E0D840B00DC}">
      <dgm:prSet phldrT="[文本]"/>
      <dgm:spPr/>
      <dgm:t>
        <a:bodyPr anchor="ctr"/>
        <a:lstStyle/>
        <a:p>
          <a:r>
            <a:rPr lang="zh-CN" altLang="en-US" dirty="0" smtClean="0"/>
            <a:t>考核</a:t>
          </a:r>
        </a:p>
      </dgm:t>
    </dgm:pt>
    <dgm:pt modelId="{9DED4539-10B2-4782-8AF2-51ACC352A6D0}" cxnId="{8D8E94CA-7753-461C-AE2C-8C471984500A}" type="parTrans">
      <dgm:prSet/>
      <dgm:spPr/>
      <dgm:t>
        <a:bodyPr/>
        <a:lstStyle/>
        <a:p>
          <a:endParaRPr lang="zh-CN" altLang="en-US"/>
        </a:p>
      </dgm:t>
    </dgm:pt>
    <dgm:pt modelId="{5E5BE4D8-4046-4384-9E65-E4A98FE7987F}" cxnId="{8D8E94CA-7753-461C-AE2C-8C471984500A}" type="sibTrans">
      <dgm:prSet/>
      <dgm:spPr/>
      <dgm:t>
        <a:bodyPr/>
        <a:lstStyle/>
        <a:p>
          <a:endParaRPr lang="zh-CN" altLang="en-US"/>
        </a:p>
      </dgm:t>
    </dgm:pt>
    <dgm:pt modelId="{A31CAE7F-BA3F-4D91-AC40-321B6DC0908E}">
      <dgm:prSet/>
      <dgm:spPr/>
      <dgm:t>
        <a:bodyPr anchor="ctr"/>
        <a:lstStyle/>
        <a:p>
          <a:endParaRPr lang="zh-CN" altLang="en-US"/>
        </a:p>
      </dgm:t>
    </dgm:pt>
    <dgm:pt modelId="{91F00ADE-0AD7-435B-B1BF-7296F61BBD1F}" cxnId="{1F7C243F-B59C-4DDF-9E99-DCA133DEB9F4}" type="parTrans">
      <dgm:prSet/>
      <dgm:spPr/>
      <dgm:t>
        <a:bodyPr/>
        <a:lstStyle/>
        <a:p>
          <a:endParaRPr lang="zh-CN" altLang="en-US"/>
        </a:p>
      </dgm:t>
    </dgm:pt>
    <dgm:pt modelId="{4E7B6086-96A2-4529-B2BA-C2E73B677942}" cxnId="{1F7C243F-B59C-4DDF-9E99-DCA133DEB9F4}" type="sibTrans">
      <dgm:prSet/>
      <dgm:spPr/>
      <dgm:t>
        <a:bodyPr/>
        <a:lstStyle/>
        <a:p>
          <a:endParaRPr lang="zh-CN" altLang="en-US"/>
        </a:p>
      </dgm:t>
    </dgm:pt>
    <dgm:pt modelId="{BB3F1A33-95AC-4A9A-BD23-4B83748A68FB}">
      <dgm:prSet/>
      <dgm:spPr/>
      <dgm:t>
        <a:bodyPr/>
        <a:lstStyle/>
        <a:p>
          <a:r>
            <a:rPr lang="zh-CN" altLang="en-US" dirty="0" smtClean="0"/>
            <a:t>行政批准</a:t>
          </a:r>
          <a:endParaRPr lang="zh-CN" altLang="en-US" dirty="0"/>
        </a:p>
      </dgm:t>
    </dgm:pt>
    <dgm:pt modelId="{98AC7B3B-D75A-40A4-A5EE-A71A40E45AC1}" cxnId="{13B7C21D-4F3A-4607-BAE8-D3FAFE384C48}" type="parTrans">
      <dgm:prSet/>
      <dgm:spPr/>
      <dgm:t>
        <a:bodyPr/>
        <a:lstStyle/>
        <a:p>
          <a:endParaRPr lang="zh-CN" altLang="en-US"/>
        </a:p>
      </dgm:t>
    </dgm:pt>
    <dgm:pt modelId="{BD693A36-C6C4-43CE-B1FC-DE80DB05E356}" cxnId="{13B7C21D-4F3A-4607-BAE8-D3FAFE384C48}" type="sibTrans">
      <dgm:prSet/>
      <dgm:spPr/>
      <dgm:t>
        <a:bodyPr/>
        <a:lstStyle/>
        <a:p>
          <a:endParaRPr lang="zh-CN" altLang="en-US"/>
        </a:p>
      </dgm:t>
    </dgm:pt>
    <dgm:pt modelId="{400C6A15-4C2C-499A-9530-A636334C2E5C}">
      <dgm:prSet/>
      <dgm:spPr/>
      <dgm:t>
        <a:bodyPr/>
        <a:lstStyle/>
        <a:p>
          <a:r>
            <a:rPr lang="zh-CN" altLang="en-US" dirty="0" smtClean="0"/>
            <a:t>内部公布</a:t>
          </a:r>
          <a:endParaRPr lang="zh-CN" altLang="en-US" dirty="0"/>
        </a:p>
      </dgm:t>
    </dgm:pt>
    <dgm:pt modelId="{7903DE8C-B3D0-408B-94EE-7F74DF8ECCF5}" cxnId="{BC6659C6-D7A5-47E5-AC25-652CCCF6931D}" type="parTrans">
      <dgm:prSet/>
      <dgm:spPr/>
      <dgm:t>
        <a:bodyPr/>
        <a:lstStyle/>
        <a:p>
          <a:endParaRPr lang="zh-CN" altLang="en-US"/>
        </a:p>
      </dgm:t>
    </dgm:pt>
    <dgm:pt modelId="{79963191-80A5-4678-B97F-4ACEB4481D1A}" cxnId="{BC6659C6-D7A5-47E5-AC25-652CCCF6931D}" type="sibTrans">
      <dgm:prSet/>
      <dgm:spPr/>
      <dgm:t>
        <a:bodyPr/>
        <a:lstStyle/>
        <a:p>
          <a:endParaRPr lang="zh-CN" altLang="en-US"/>
        </a:p>
      </dgm:t>
    </dgm:pt>
    <dgm:pt modelId="{EB95CD2C-8B5D-4370-8213-C63A68E368F3}">
      <dgm:prSet/>
      <dgm:spPr/>
      <dgm:t>
        <a:bodyPr/>
        <a:lstStyle/>
        <a:p>
          <a:r>
            <a:rPr lang="zh-CN" altLang="en-US" dirty="0" smtClean="0"/>
            <a:t>备案</a:t>
          </a:r>
          <a:endParaRPr lang="zh-CN" altLang="en-US" dirty="0"/>
        </a:p>
      </dgm:t>
    </dgm:pt>
    <dgm:pt modelId="{0DAD6064-0AD5-45E8-B04E-F596704F5F64}" cxnId="{5D17CEB3-1E18-406E-8EFD-BBB3B3E3A66D}" type="parTrans">
      <dgm:prSet/>
      <dgm:spPr/>
      <dgm:t>
        <a:bodyPr/>
        <a:lstStyle/>
        <a:p>
          <a:endParaRPr lang="zh-CN" altLang="en-US"/>
        </a:p>
      </dgm:t>
    </dgm:pt>
    <dgm:pt modelId="{4E44EEE3-13A3-4659-B6C9-4BAC514F4F2B}" cxnId="{5D17CEB3-1E18-406E-8EFD-BBB3B3E3A66D}" type="sibTrans">
      <dgm:prSet/>
      <dgm:spPr/>
      <dgm:t>
        <a:bodyPr/>
        <a:lstStyle/>
        <a:p>
          <a:endParaRPr lang="zh-CN" altLang="en-US"/>
        </a:p>
      </dgm:t>
    </dgm:pt>
    <dgm:pt modelId="{B407A400-7BB0-454E-84FB-837DEF6FA20D}" type="pres">
      <dgm:prSet presAssocID="{AA668D2C-2BB6-4296-87AF-CCBDFAAD19A6}" presName="diagram" presStyleCnt="0">
        <dgm:presLayoutVars>
          <dgm:dir/>
          <dgm:resizeHandles val="exact"/>
        </dgm:presLayoutVars>
      </dgm:prSet>
      <dgm:spPr/>
    </dgm:pt>
    <dgm:pt modelId="{D6A8FFD2-E7AD-4C6F-82D1-74B2B4DD6CD5}" type="pres">
      <dgm:prSet presAssocID="{36268937-BBAE-41D9-A76F-1598D20801C7}" presName="node" presStyleLbl="node1" presStyleIdx="0" presStyleCnt="6">
        <dgm:presLayoutVars>
          <dgm:bulletEnabled val="1"/>
        </dgm:presLayoutVars>
      </dgm:prSet>
      <dgm:spPr/>
      <dgm:t>
        <a:bodyPr/>
        <a:lstStyle/>
        <a:p>
          <a:endParaRPr lang="zh-CN" altLang="en-US"/>
        </a:p>
      </dgm:t>
    </dgm:pt>
    <dgm:pt modelId="{576BE120-C621-48EB-83A1-9E52D7A944F6}" type="pres">
      <dgm:prSet presAssocID="{D88122B3-3589-462B-A053-C83C8DBDAA47}" presName="sibTrans" presStyleLbl="sibTrans2D1" presStyleIdx="0" presStyleCnt="5"/>
      <dgm:spPr/>
      <dgm:t>
        <a:bodyPr/>
        <a:lstStyle/>
        <a:p>
          <a:endParaRPr lang="zh-CN" altLang="en-US"/>
        </a:p>
      </dgm:t>
    </dgm:pt>
    <dgm:pt modelId="{7A5EBCE4-80BD-425B-8D68-E4CEFE6C0BD3}" type="pres">
      <dgm:prSet presAssocID="{D88122B3-3589-462B-A053-C83C8DBDAA47}" presName="connectorText" presStyleLbl="sibTrans2D1" presStyleIdx="0" presStyleCnt="5"/>
      <dgm:spPr/>
      <dgm:t>
        <a:bodyPr/>
        <a:lstStyle/>
        <a:p>
          <a:endParaRPr lang="zh-CN" altLang="en-US"/>
        </a:p>
      </dgm:t>
    </dgm:pt>
    <dgm:pt modelId="{023F22EA-F8DC-4BF4-979F-B5AE28A89704}" type="pres">
      <dgm:prSet presAssocID="{0810A49C-C13F-4B38-9B1B-0125EEBE450B}" presName="node" presStyleLbl="node1" presStyleIdx="1" presStyleCnt="6">
        <dgm:presLayoutVars>
          <dgm:bulletEnabled val="1"/>
        </dgm:presLayoutVars>
      </dgm:prSet>
      <dgm:spPr/>
      <dgm:t>
        <a:bodyPr/>
        <a:lstStyle/>
        <a:p>
          <a:endParaRPr lang="zh-CN" altLang="en-US"/>
        </a:p>
      </dgm:t>
    </dgm:pt>
    <dgm:pt modelId="{1ABB7A15-2BBC-4F09-B28B-1220269BC2D8}" type="pres">
      <dgm:prSet presAssocID="{7DB1D8B6-6FB8-4A1D-BC88-4AB9D3830639}" presName="sibTrans" presStyleLbl="sibTrans2D1" presStyleIdx="1" presStyleCnt="5"/>
      <dgm:spPr/>
      <dgm:t>
        <a:bodyPr/>
        <a:lstStyle/>
        <a:p>
          <a:endParaRPr lang="zh-CN" altLang="en-US"/>
        </a:p>
      </dgm:t>
    </dgm:pt>
    <dgm:pt modelId="{B869D969-2ACC-4CB2-B3D5-9BBE3E61C0E6}" type="pres">
      <dgm:prSet presAssocID="{7DB1D8B6-6FB8-4A1D-BC88-4AB9D3830639}" presName="connectorText" presStyleLbl="sibTrans2D1" presStyleIdx="1" presStyleCnt="5"/>
      <dgm:spPr/>
      <dgm:t>
        <a:bodyPr/>
        <a:lstStyle/>
        <a:p>
          <a:endParaRPr lang="zh-CN" altLang="en-US"/>
        </a:p>
      </dgm:t>
    </dgm:pt>
    <dgm:pt modelId="{7DAFD53E-0816-4E6C-9B43-D27D14EB8B29}" type="pres">
      <dgm:prSet presAssocID="{BB9D8AC0-8C26-4143-BEE0-8E0D840B00DC}" presName="node" presStyleLbl="node1" presStyleIdx="2" presStyleCnt="6" custLinFactNeighborX="-780" custLinFactNeighborY="2806">
        <dgm:presLayoutVars>
          <dgm:bulletEnabled val="1"/>
        </dgm:presLayoutVars>
      </dgm:prSet>
      <dgm:spPr/>
      <dgm:t>
        <a:bodyPr/>
        <a:lstStyle/>
        <a:p>
          <a:endParaRPr lang="zh-CN" altLang="en-US"/>
        </a:p>
      </dgm:t>
    </dgm:pt>
    <dgm:pt modelId="{B3BDB86F-A0E4-4099-83E8-8F4699C7D48B}" type="pres">
      <dgm:prSet presAssocID="{5E5BE4D8-4046-4384-9E65-E4A98FE7987F}" presName="sibTrans" presStyleLbl="sibTrans2D1" presStyleIdx="2" presStyleCnt="5"/>
      <dgm:spPr/>
      <dgm:t>
        <a:bodyPr/>
        <a:lstStyle/>
        <a:p>
          <a:endParaRPr lang="zh-CN" altLang="en-US"/>
        </a:p>
      </dgm:t>
    </dgm:pt>
    <dgm:pt modelId="{0B2D31F1-8CE6-4656-AD2E-928AEA3D72A3}" type="pres">
      <dgm:prSet presAssocID="{5E5BE4D8-4046-4384-9E65-E4A98FE7987F}" presName="connectorText" presStyleLbl="sibTrans2D1" presStyleIdx="2" presStyleCnt="5"/>
      <dgm:spPr/>
      <dgm:t>
        <a:bodyPr/>
        <a:lstStyle/>
        <a:p>
          <a:endParaRPr lang="zh-CN" altLang="en-US"/>
        </a:p>
      </dgm:t>
    </dgm:pt>
    <dgm:pt modelId="{367A1BEE-8291-41A6-8D2E-D302000FAF9D}" type="pres">
      <dgm:prSet presAssocID="{BB3F1A33-95AC-4A9A-BD23-4B83748A68FB}" presName="node" presStyleLbl="node1" presStyleIdx="3" presStyleCnt="6">
        <dgm:presLayoutVars>
          <dgm:bulletEnabled val="1"/>
        </dgm:presLayoutVars>
      </dgm:prSet>
      <dgm:spPr/>
      <dgm:t>
        <a:bodyPr/>
        <a:lstStyle/>
        <a:p>
          <a:endParaRPr lang="zh-CN" altLang="en-US"/>
        </a:p>
      </dgm:t>
    </dgm:pt>
    <dgm:pt modelId="{C29209E8-6021-4461-AF91-BC709A2EC347}" type="pres">
      <dgm:prSet presAssocID="{BD693A36-C6C4-43CE-B1FC-DE80DB05E356}" presName="sibTrans" presStyleLbl="sibTrans2D1" presStyleIdx="3" presStyleCnt="5"/>
      <dgm:spPr/>
      <dgm:t>
        <a:bodyPr/>
        <a:lstStyle/>
        <a:p>
          <a:endParaRPr lang="zh-CN" altLang="en-US"/>
        </a:p>
      </dgm:t>
    </dgm:pt>
    <dgm:pt modelId="{8AA531DD-40EF-42C6-98E0-354AC4CC3394}" type="pres">
      <dgm:prSet presAssocID="{BD693A36-C6C4-43CE-B1FC-DE80DB05E356}" presName="connectorText" presStyleLbl="sibTrans2D1" presStyleIdx="3" presStyleCnt="5"/>
      <dgm:spPr/>
      <dgm:t>
        <a:bodyPr/>
        <a:lstStyle/>
        <a:p>
          <a:endParaRPr lang="zh-CN" altLang="en-US"/>
        </a:p>
      </dgm:t>
    </dgm:pt>
    <dgm:pt modelId="{3F7903E2-CF76-414E-9A0D-36EF66872C3C}" type="pres">
      <dgm:prSet presAssocID="{400C6A15-4C2C-499A-9530-A636334C2E5C}" presName="node" presStyleLbl="node1" presStyleIdx="4" presStyleCnt="6">
        <dgm:presLayoutVars>
          <dgm:bulletEnabled val="1"/>
        </dgm:presLayoutVars>
      </dgm:prSet>
      <dgm:spPr/>
      <dgm:t>
        <a:bodyPr/>
        <a:lstStyle/>
        <a:p>
          <a:endParaRPr lang="zh-CN" altLang="en-US"/>
        </a:p>
      </dgm:t>
    </dgm:pt>
    <dgm:pt modelId="{526862FC-35B8-474A-B111-EC3A12F2F132}" type="pres">
      <dgm:prSet presAssocID="{79963191-80A5-4678-B97F-4ACEB4481D1A}" presName="sibTrans" presStyleLbl="sibTrans2D1" presStyleIdx="4" presStyleCnt="5"/>
      <dgm:spPr/>
      <dgm:t>
        <a:bodyPr/>
        <a:lstStyle/>
        <a:p>
          <a:endParaRPr lang="zh-CN" altLang="en-US"/>
        </a:p>
      </dgm:t>
    </dgm:pt>
    <dgm:pt modelId="{579404DA-44E2-4A7B-A4BC-41B7D1CCDF2A}" type="pres">
      <dgm:prSet presAssocID="{79963191-80A5-4678-B97F-4ACEB4481D1A}" presName="connectorText" presStyleLbl="sibTrans2D1" presStyleIdx="4" presStyleCnt="5"/>
      <dgm:spPr/>
      <dgm:t>
        <a:bodyPr/>
        <a:lstStyle/>
        <a:p>
          <a:endParaRPr lang="zh-CN" altLang="en-US"/>
        </a:p>
      </dgm:t>
    </dgm:pt>
    <dgm:pt modelId="{05C4D709-4D0A-427A-8404-433DC7037812}" type="pres">
      <dgm:prSet presAssocID="{EB95CD2C-8B5D-4370-8213-C63A68E368F3}" presName="node" presStyleLbl="node1" presStyleIdx="5" presStyleCnt="6">
        <dgm:presLayoutVars>
          <dgm:bulletEnabled val="1"/>
        </dgm:presLayoutVars>
      </dgm:prSet>
      <dgm:spPr/>
      <dgm:t>
        <a:bodyPr/>
        <a:lstStyle/>
        <a:p>
          <a:endParaRPr lang="zh-CN" altLang="en-US"/>
        </a:p>
      </dgm:t>
    </dgm:pt>
  </dgm:ptLst>
  <dgm:cxnLst>
    <dgm:cxn modelId="{B1D0C11D-3DE4-42AF-898F-60402CCCFA5D}" type="presOf" srcId="{5E5BE4D8-4046-4384-9E65-E4A98FE7987F}" destId="{0B2D31F1-8CE6-4656-AD2E-928AEA3D72A3}" srcOrd="1" destOrd="0" presId="urn:microsoft.com/office/officeart/2005/8/layout/process5"/>
    <dgm:cxn modelId="{0890CA9B-4773-4899-BA12-0945127F3A87}" type="presOf" srcId="{D88122B3-3589-462B-A053-C83C8DBDAA47}" destId="{7A5EBCE4-80BD-425B-8D68-E4CEFE6C0BD3}" srcOrd="1" destOrd="0" presId="urn:microsoft.com/office/officeart/2005/8/layout/process5"/>
    <dgm:cxn modelId="{13B7C21D-4F3A-4607-BAE8-D3FAFE384C48}" srcId="{AA668D2C-2BB6-4296-87AF-CCBDFAAD19A6}" destId="{BB3F1A33-95AC-4A9A-BD23-4B83748A68FB}" srcOrd="3" destOrd="0" parTransId="{98AC7B3B-D75A-40A4-A5EE-A71A40E45AC1}" sibTransId="{BD693A36-C6C4-43CE-B1FC-DE80DB05E356}"/>
    <dgm:cxn modelId="{5A91C51C-EE48-4711-9434-F84065B64B60}" type="presOf" srcId="{EB95CD2C-8B5D-4370-8213-C63A68E368F3}" destId="{05C4D709-4D0A-427A-8404-433DC7037812}" srcOrd="0" destOrd="0" presId="urn:microsoft.com/office/officeart/2005/8/layout/process5"/>
    <dgm:cxn modelId="{3A652A6F-8DB8-497A-BE52-66C02F0CCAE6}" type="presOf" srcId="{BD693A36-C6C4-43CE-B1FC-DE80DB05E356}" destId="{C29209E8-6021-4461-AF91-BC709A2EC347}" srcOrd="0" destOrd="0" presId="urn:microsoft.com/office/officeart/2005/8/layout/process5"/>
    <dgm:cxn modelId="{BE5E5EB5-1675-481E-8DE6-C59BAA1B07DB}" type="presOf" srcId="{79963191-80A5-4678-B97F-4ACEB4481D1A}" destId="{579404DA-44E2-4A7B-A4BC-41B7D1CCDF2A}" srcOrd="1" destOrd="0" presId="urn:microsoft.com/office/officeart/2005/8/layout/process5"/>
    <dgm:cxn modelId="{DF8E57F1-9399-4AA8-89A8-C8DAE57E6E6B}" type="presOf" srcId="{400C6A15-4C2C-499A-9530-A636334C2E5C}" destId="{3F7903E2-CF76-414E-9A0D-36EF66872C3C}" srcOrd="0" destOrd="0" presId="urn:microsoft.com/office/officeart/2005/8/layout/process5"/>
    <dgm:cxn modelId="{1DA80D48-298A-41A3-80AB-65B40D853202}" type="presOf" srcId="{7DB1D8B6-6FB8-4A1D-BC88-4AB9D3830639}" destId="{1ABB7A15-2BBC-4F09-B28B-1220269BC2D8}" srcOrd="0" destOrd="0" presId="urn:microsoft.com/office/officeart/2005/8/layout/process5"/>
    <dgm:cxn modelId="{5D17CEB3-1E18-406E-8EFD-BBB3B3E3A66D}" srcId="{AA668D2C-2BB6-4296-87AF-CCBDFAAD19A6}" destId="{EB95CD2C-8B5D-4370-8213-C63A68E368F3}" srcOrd="5" destOrd="0" parTransId="{0DAD6064-0AD5-45E8-B04E-F596704F5F64}" sibTransId="{4E44EEE3-13A3-4659-B6C9-4BAC514F4F2B}"/>
    <dgm:cxn modelId="{1C700263-E69B-4232-BD1B-F42FC44F9258}" srcId="{AA668D2C-2BB6-4296-87AF-CCBDFAAD19A6}" destId="{36268937-BBAE-41D9-A76F-1598D20801C7}" srcOrd="0" destOrd="0" parTransId="{7737CC37-1C3D-47B6-8E32-7A0C9F2ED1D2}" sibTransId="{D88122B3-3589-462B-A053-C83C8DBDAA47}"/>
    <dgm:cxn modelId="{741EDAE8-1ED0-4DD3-80C2-EECED76C772E}" type="presOf" srcId="{36268937-BBAE-41D9-A76F-1598D20801C7}" destId="{D6A8FFD2-E7AD-4C6F-82D1-74B2B4DD6CD5}" srcOrd="0" destOrd="0" presId="urn:microsoft.com/office/officeart/2005/8/layout/process5"/>
    <dgm:cxn modelId="{1F7C243F-B59C-4DDF-9E99-DCA133DEB9F4}" srcId="{BB9D8AC0-8C26-4143-BEE0-8E0D840B00DC}" destId="{A31CAE7F-BA3F-4D91-AC40-321B6DC0908E}" srcOrd="0" destOrd="0" parTransId="{91F00ADE-0AD7-435B-B1BF-7296F61BBD1F}" sibTransId="{4E7B6086-96A2-4529-B2BA-C2E73B677942}"/>
    <dgm:cxn modelId="{C41BB0F7-E1D9-4F8D-A0AE-2ADAA953461D}" type="presOf" srcId="{0810A49C-C13F-4B38-9B1B-0125EEBE450B}" destId="{023F22EA-F8DC-4BF4-979F-B5AE28A89704}" srcOrd="0" destOrd="0" presId="urn:microsoft.com/office/officeart/2005/8/layout/process5"/>
    <dgm:cxn modelId="{6D27FA7C-CC32-4B03-9376-236595F649E8}" srcId="{AA668D2C-2BB6-4296-87AF-CCBDFAAD19A6}" destId="{0810A49C-C13F-4B38-9B1B-0125EEBE450B}" srcOrd="1" destOrd="0" parTransId="{568A9631-EBAB-4DD4-AF74-0517F2A8ED63}" sibTransId="{7DB1D8B6-6FB8-4A1D-BC88-4AB9D3830639}"/>
    <dgm:cxn modelId="{FC79B61E-B552-4541-8F6A-C13FBCC3828F}" type="presOf" srcId="{BB3F1A33-95AC-4A9A-BD23-4B83748A68FB}" destId="{367A1BEE-8291-41A6-8D2E-D302000FAF9D}" srcOrd="0" destOrd="0" presId="urn:microsoft.com/office/officeart/2005/8/layout/process5"/>
    <dgm:cxn modelId="{603983E3-42E4-4CB4-8131-C0D97476CF65}" type="presOf" srcId="{5E5BE4D8-4046-4384-9E65-E4A98FE7987F}" destId="{B3BDB86F-A0E4-4099-83E8-8F4699C7D48B}" srcOrd="0" destOrd="0" presId="urn:microsoft.com/office/officeart/2005/8/layout/process5"/>
    <dgm:cxn modelId="{B50C93D8-7DA6-4365-9EA7-53D937F58E5B}" type="presOf" srcId="{7DB1D8B6-6FB8-4A1D-BC88-4AB9D3830639}" destId="{B869D969-2ACC-4CB2-B3D5-9BBE3E61C0E6}" srcOrd="1" destOrd="0" presId="urn:microsoft.com/office/officeart/2005/8/layout/process5"/>
    <dgm:cxn modelId="{15228AD0-C693-4B5C-BB5E-07B3640E6EE1}" type="presOf" srcId="{BD693A36-C6C4-43CE-B1FC-DE80DB05E356}" destId="{8AA531DD-40EF-42C6-98E0-354AC4CC3394}" srcOrd="1" destOrd="0" presId="urn:microsoft.com/office/officeart/2005/8/layout/process5"/>
    <dgm:cxn modelId="{C67F4B60-7B2F-4C5B-9D55-4A90E494DD30}" type="presOf" srcId="{AA668D2C-2BB6-4296-87AF-CCBDFAAD19A6}" destId="{B407A400-7BB0-454E-84FB-837DEF6FA20D}" srcOrd="0" destOrd="0" presId="urn:microsoft.com/office/officeart/2005/8/layout/process5"/>
    <dgm:cxn modelId="{8CEF6286-286D-4E73-A8D4-A622F31EB5BE}" type="presOf" srcId="{BB9D8AC0-8C26-4143-BEE0-8E0D840B00DC}" destId="{7DAFD53E-0816-4E6C-9B43-D27D14EB8B29}" srcOrd="0" destOrd="0" presId="urn:microsoft.com/office/officeart/2005/8/layout/process5"/>
    <dgm:cxn modelId="{8D8E94CA-7753-461C-AE2C-8C471984500A}" srcId="{AA668D2C-2BB6-4296-87AF-CCBDFAAD19A6}" destId="{BB9D8AC0-8C26-4143-BEE0-8E0D840B00DC}" srcOrd="2" destOrd="0" parTransId="{9DED4539-10B2-4782-8AF2-51ACC352A6D0}" sibTransId="{5E5BE4D8-4046-4384-9E65-E4A98FE7987F}"/>
    <dgm:cxn modelId="{80E91B8D-B68E-44DA-AA06-45FFDE99DE32}" type="presOf" srcId="{D88122B3-3589-462B-A053-C83C8DBDAA47}" destId="{576BE120-C621-48EB-83A1-9E52D7A944F6}" srcOrd="0" destOrd="0" presId="urn:microsoft.com/office/officeart/2005/8/layout/process5"/>
    <dgm:cxn modelId="{07CF088E-F3A5-449C-A810-7E11A7CD0196}" type="presOf" srcId="{79963191-80A5-4678-B97F-4ACEB4481D1A}" destId="{526862FC-35B8-474A-B111-EC3A12F2F132}" srcOrd="0" destOrd="0" presId="urn:microsoft.com/office/officeart/2005/8/layout/process5"/>
    <dgm:cxn modelId="{98F5A8B7-0780-44D0-A96C-8C5C3315AB63}" type="presOf" srcId="{A31CAE7F-BA3F-4D91-AC40-321B6DC0908E}" destId="{7DAFD53E-0816-4E6C-9B43-D27D14EB8B29}" srcOrd="0" destOrd="1" presId="urn:microsoft.com/office/officeart/2005/8/layout/process5"/>
    <dgm:cxn modelId="{BC6659C6-D7A5-47E5-AC25-652CCCF6931D}" srcId="{AA668D2C-2BB6-4296-87AF-CCBDFAAD19A6}" destId="{400C6A15-4C2C-499A-9530-A636334C2E5C}" srcOrd="4" destOrd="0" parTransId="{7903DE8C-B3D0-408B-94EE-7F74DF8ECCF5}" sibTransId="{79963191-80A5-4678-B97F-4ACEB4481D1A}"/>
    <dgm:cxn modelId="{E1496FE1-C9EB-4A12-83E7-617B6AE078F8}" type="presParOf" srcId="{B407A400-7BB0-454E-84FB-837DEF6FA20D}" destId="{D6A8FFD2-E7AD-4C6F-82D1-74B2B4DD6CD5}" srcOrd="0" destOrd="0" presId="urn:microsoft.com/office/officeart/2005/8/layout/process5"/>
    <dgm:cxn modelId="{68F9B70E-09A2-43F1-834E-D4C9B9AED896}" type="presParOf" srcId="{B407A400-7BB0-454E-84FB-837DEF6FA20D}" destId="{576BE120-C621-48EB-83A1-9E52D7A944F6}" srcOrd="1" destOrd="0" presId="urn:microsoft.com/office/officeart/2005/8/layout/process5"/>
    <dgm:cxn modelId="{20D1E4F2-A67D-4ABA-8794-A796E9B7C9DA}" type="presParOf" srcId="{576BE120-C621-48EB-83A1-9E52D7A944F6}" destId="{7A5EBCE4-80BD-425B-8D68-E4CEFE6C0BD3}" srcOrd="0" destOrd="0" presId="urn:microsoft.com/office/officeart/2005/8/layout/process5"/>
    <dgm:cxn modelId="{AC247E3F-3CCD-444D-9D2F-5A8F7DC2ABD5}" type="presParOf" srcId="{B407A400-7BB0-454E-84FB-837DEF6FA20D}" destId="{023F22EA-F8DC-4BF4-979F-B5AE28A89704}" srcOrd="2" destOrd="0" presId="urn:microsoft.com/office/officeart/2005/8/layout/process5"/>
    <dgm:cxn modelId="{06734010-F1CF-4C4D-BF30-94B718E4EB4D}" type="presParOf" srcId="{B407A400-7BB0-454E-84FB-837DEF6FA20D}" destId="{1ABB7A15-2BBC-4F09-B28B-1220269BC2D8}" srcOrd="3" destOrd="0" presId="urn:microsoft.com/office/officeart/2005/8/layout/process5"/>
    <dgm:cxn modelId="{B0A8286F-FF20-4E0C-9D99-3D6E99AE64E5}" type="presParOf" srcId="{1ABB7A15-2BBC-4F09-B28B-1220269BC2D8}" destId="{B869D969-2ACC-4CB2-B3D5-9BBE3E61C0E6}" srcOrd="0" destOrd="0" presId="urn:microsoft.com/office/officeart/2005/8/layout/process5"/>
    <dgm:cxn modelId="{463563AB-6905-4D38-850B-08CC9B2643FD}" type="presParOf" srcId="{B407A400-7BB0-454E-84FB-837DEF6FA20D}" destId="{7DAFD53E-0816-4E6C-9B43-D27D14EB8B29}" srcOrd="4" destOrd="0" presId="urn:microsoft.com/office/officeart/2005/8/layout/process5"/>
    <dgm:cxn modelId="{91B45FED-1DFD-4D02-B907-BBB2CCBB93A6}" type="presParOf" srcId="{B407A400-7BB0-454E-84FB-837DEF6FA20D}" destId="{B3BDB86F-A0E4-4099-83E8-8F4699C7D48B}" srcOrd="5" destOrd="0" presId="urn:microsoft.com/office/officeart/2005/8/layout/process5"/>
    <dgm:cxn modelId="{23DD2965-E25F-4067-BA0B-5D97D92BA68D}" type="presParOf" srcId="{B3BDB86F-A0E4-4099-83E8-8F4699C7D48B}" destId="{0B2D31F1-8CE6-4656-AD2E-928AEA3D72A3}" srcOrd="0" destOrd="0" presId="urn:microsoft.com/office/officeart/2005/8/layout/process5"/>
    <dgm:cxn modelId="{624A824B-F450-4A57-BC69-B2E3F9DBC855}" type="presParOf" srcId="{B407A400-7BB0-454E-84FB-837DEF6FA20D}" destId="{367A1BEE-8291-41A6-8D2E-D302000FAF9D}" srcOrd="6" destOrd="0" presId="urn:microsoft.com/office/officeart/2005/8/layout/process5"/>
    <dgm:cxn modelId="{46968610-4437-4856-8B55-F7AE83539ABF}" type="presParOf" srcId="{B407A400-7BB0-454E-84FB-837DEF6FA20D}" destId="{C29209E8-6021-4461-AF91-BC709A2EC347}" srcOrd="7" destOrd="0" presId="urn:microsoft.com/office/officeart/2005/8/layout/process5"/>
    <dgm:cxn modelId="{3BA4EC3A-D0DC-4CC7-B062-CAF188D84F2A}" type="presParOf" srcId="{C29209E8-6021-4461-AF91-BC709A2EC347}" destId="{8AA531DD-40EF-42C6-98E0-354AC4CC3394}" srcOrd="0" destOrd="0" presId="urn:microsoft.com/office/officeart/2005/8/layout/process5"/>
    <dgm:cxn modelId="{CA6ECD78-4FB3-4548-93AA-CE8EDAA41737}" type="presParOf" srcId="{B407A400-7BB0-454E-84FB-837DEF6FA20D}" destId="{3F7903E2-CF76-414E-9A0D-36EF66872C3C}" srcOrd="8" destOrd="0" presId="urn:microsoft.com/office/officeart/2005/8/layout/process5"/>
    <dgm:cxn modelId="{B1CAE5A2-6FE8-4BAA-AF2C-177E88BCFEA2}" type="presParOf" srcId="{B407A400-7BB0-454E-84FB-837DEF6FA20D}" destId="{526862FC-35B8-474A-B111-EC3A12F2F132}" srcOrd="9" destOrd="0" presId="urn:microsoft.com/office/officeart/2005/8/layout/process5"/>
    <dgm:cxn modelId="{29E14E4A-4D0F-4DB2-80BB-D643AF8B9391}" type="presParOf" srcId="{526862FC-35B8-474A-B111-EC3A12F2F132}" destId="{579404DA-44E2-4A7B-A4BC-41B7D1CCDF2A}" srcOrd="0" destOrd="0" presId="urn:microsoft.com/office/officeart/2005/8/layout/process5"/>
    <dgm:cxn modelId="{ACA57FA2-CCA2-4A97-83AC-F8C034D9D74E}" type="presParOf" srcId="{B407A400-7BB0-454E-84FB-837DEF6FA20D}" destId="{05C4D709-4D0A-427A-8404-433DC7037812}" srcOrd="10" destOrd="0" presId="urn:microsoft.com/office/officeart/2005/8/layout/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DE76F8-1C89-0546-90E1-695405B6F4B9}"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zh-CN" altLang="en-US"/>
        </a:p>
      </dgm:t>
    </dgm:pt>
    <dgm:pt modelId="{093584BC-046C-DF48-80C8-8294FE231D51}">
      <dgm:prSet phldrT="[文本]"/>
      <dgm:spPr/>
      <dgm:t>
        <a:bodyPr/>
        <a:lstStyle/>
        <a:p>
          <a:r>
            <a:rPr lang="zh-CN" altLang="en-US" dirty="0" smtClean="0"/>
            <a:t>其他负责人</a:t>
          </a:r>
          <a:endParaRPr lang="zh-CN" altLang="en-US" dirty="0"/>
        </a:p>
      </dgm:t>
    </dgm:pt>
    <dgm:pt modelId="{E2068F4F-93D2-474B-9314-9F78CEBF4F2E}" cxnId="{A7E6A7FE-4FB3-4594-836E-540846281D12}" type="parTrans">
      <dgm:prSet/>
      <dgm:spPr/>
      <dgm:t>
        <a:bodyPr/>
        <a:lstStyle/>
        <a:p>
          <a:endParaRPr lang="zh-CN" altLang="en-US"/>
        </a:p>
      </dgm:t>
    </dgm:pt>
    <dgm:pt modelId="{02B8F7AC-EF97-2142-BBFE-56CA86087E71}" cxnId="{A7E6A7FE-4FB3-4594-836E-540846281D12}" type="sibTrans">
      <dgm:prSet/>
      <dgm:spPr/>
      <dgm:t>
        <a:bodyPr/>
        <a:lstStyle/>
        <a:p>
          <a:endParaRPr lang="zh-CN" altLang="en-US"/>
        </a:p>
      </dgm:t>
    </dgm:pt>
    <dgm:pt modelId="{A910B2D6-F77D-C348-9D7A-892932E34EB3}">
      <dgm:prSet phldrT="[文本]"/>
      <dgm:spPr/>
      <dgm:t>
        <a:bodyPr/>
        <a:lstStyle/>
        <a:p>
          <a:r>
            <a:rPr lang="zh-CN" altLang="en-US" b="0" i="0" u="none" strike="noStrike" dirty="0" smtClean="0">
              <a:solidFill>
                <a:schemeClr val="tx1"/>
              </a:solidFill>
              <a:effectLst/>
              <a:latin typeface="+mn-lt"/>
              <a:ea typeface="+mn-ea"/>
              <a:cs typeface="+mn-cs"/>
            </a:rPr>
            <a:t>机关、单位分管涉及国家秘密业务工作的其他负责人</a:t>
          </a:r>
          <a:endParaRPr lang="zh-CN" altLang="en-US" dirty="0"/>
        </a:p>
      </dgm:t>
    </dgm:pt>
    <dgm:pt modelId="{2047C525-9CF4-5D4B-A035-C415CEDF240A}" cxnId="{53622A8E-2C93-4A72-96F3-6D4C83D04097}" type="parTrans">
      <dgm:prSet/>
      <dgm:spPr/>
      <dgm:t>
        <a:bodyPr/>
        <a:lstStyle/>
        <a:p>
          <a:endParaRPr lang="zh-CN" altLang="en-US"/>
        </a:p>
      </dgm:t>
    </dgm:pt>
    <dgm:pt modelId="{9AB043FA-6CE3-6B4F-AD86-A00B33F4F535}" cxnId="{53622A8E-2C93-4A72-96F3-6D4C83D04097}" type="sibTrans">
      <dgm:prSet/>
      <dgm:spPr/>
      <dgm:t>
        <a:bodyPr/>
        <a:lstStyle/>
        <a:p>
          <a:endParaRPr lang="zh-CN" altLang="en-US"/>
        </a:p>
      </dgm:t>
    </dgm:pt>
    <dgm:pt modelId="{18225527-8A71-1446-B9BA-932169409B67}">
      <dgm:prSet phldrT="[文本]" phldr="0" custT="0"/>
      <dgm:spPr/>
      <dgm:t>
        <a:bodyPr vert="horz" wrap="square"/>
        <a:p>
          <a:pPr>
            <a:lnSpc>
              <a:spcPct val="100000"/>
            </a:lnSpc>
            <a:spcBef>
              <a:spcPct val="0"/>
            </a:spcBef>
            <a:spcAft>
              <a:spcPct val="35000"/>
            </a:spcAft>
          </a:pPr>
          <a:r>
            <a:rPr lang="zh-CN" altLang="en-US" b="0" i="0" u="none" strike="noStrike" dirty="0" smtClean="0">
              <a:solidFill>
                <a:schemeClr val="bg1"/>
              </a:solidFill>
              <a:effectLst/>
              <a:latin typeface="+mn-lt"/>
              <a:ea typeface="+mn-ea"/>
              <a:cs typeface="+mn-cs"/>
            </a:rPr>
            <a:t>内设机构负责人</a:t>
          </a:r>
          <a:r>
            <a:rPr lang="zh-CN" altLang="en-US" b="0" i="0" u="none" strike="noStrike" dirty="0" smtClean="0">
              <a:solidFill>
                <a:schemeClr val="bg1"/>
              </a:solidFill>
              <a:effectLst/>
              <a:latin typeface="+mn-lt"/>
              <a:ea typeface="+mn-ea"/>
              <a:cs typeface="+mn-cs"/>
            </a:rPr>
            <a:t/>
          </a:r>
          <a:endParaRPr lang="zh-CN" altLang="en-US" b="0" i="0" u="none" strike="noStrike" dirty="0" smtClean="0">
            <a:solidFill>
              <a:schemeClr val="bg1"/>
            </a:solidFill>
            <a:effectLst/>
            <a:latin typeface="+mn-lt"/>
            <a:ea typeface="+mn-ea"/>
            <a:cs typeface="+mn-cs"/>
          </a:endParaRPr>
        </a:p>
      </dgm:t>
    </dgm:pt>
    <dgm:pt modelId="{6D08AE5D-1244-E949-A893-C885BECBB919}" cxnId="{B7A2157C-250A-4E2C-9EC7-7A0E79E168CC}" type="parTrans">
      <dgm:prSet/>
      <dgm:spPr/>
      <dgm:t>
        <a:bodyPr/>
        <a:lstStyle/>
        <a:p>
          <a:endParaRPr lang="zh-CN" altLang="en-US"/>
        </a:p>
      </dgm:t>
    </dgm:pt>
    <dgm:pt modelId="{E95ED715-9D59-3043-BE57-E72F57F655C2}" cxnId="{B7A2157C-250A-4E2C-9EC7-7A0E79E168CC}" type="sibTrans">
      <dgm:prSet/>
      <dgm:spPr/>
      <dgm:t>
        <a:bodyPr/>
        <a:lstStyle/>
        <a:p>
          <a:endParaRPr lang="zh-CN" altLang="en-US"/>
        </a:p>
      </dgm:t>
    </dgm:pt>
    <dgm:pt modelId="{6D00A5A8-DAA6-2F48-933D-D03FC8A6F479}">
      <dgm:prSet phldrT="[文本]"/>
      <dgm:spPr/>
      <dgm:t>
        <a:bodyPr/>
        <a:lstStyle/>
        <a:p>
          <a:r>
            <a:rPr lang="zh-CN" altLang="en-US" b="0" i="0" u="none" strike="noStrike" dirty="0" smtClean="0">
              <a:solidFill>
                <a:schemeClr val="tx1"/>
              </a:solidFill>
              <a:effectLst/>
              <a:latin typeface="+mn-lt"/>
              <a:ea typeface="+mn-ea"/>
              <a:cs typeface="+mn-cs"/>
            </a:rPr>
            <a:t>机关、单位产生国家秘密较多的内设机构负责</a:t>
          </a:r>
          <a:endParaRPr lang="zh-CN" altLang="en-US" dirty="0"/>
        </a:p>
      </dgm:t>
    </dgm:pt>
    <dgm:pt modelId="{28BD679D-D9D7-D14E-A4F1-2C15C591C746}" cxnId="{BDE5DDB2-10C2-404A-99B0-8BE66D5E930B}" type="parTrans">
      <dgm:prSet/>
      <dgm:spPr/>
      <dgm:t>
        <a:bodyPr/>
        <a:lstStyle/>
        <a:p>
          <a:endParaRPr lang="zh-CN" altLang="en-US"/>
        </a:p>
      </dgm:t>
    </dgm:pt>
    <dgm:pt modelId="{0729404A-4CA1-354C-8242-D575F0F450B4}" cxnId="{BDE5DDB2-10C2-404A-99B0-8BE66D5E930B}" type="sibTrans">
      <dgm:prSet/>
      <dgm:spPr/>
      <dgm:t>
        <a:bodyPr/>
        <a:lstStyle/>
        <a:p>
          <a:endParaRPr lang="zh-CN" altLang="en-US"/>
        </a:p>
      </dgm:t>
    </dgm:pt>
    <dgm:pt modelId="{62CA8445-1FB3-0742-9A54-AA2247E176A9}">
      <dgm:prSet/>
      <dgm:spPr/>
      <dgm:t>
        <a:bodyPr/>
        <a:lstStyle/>
        <a:p>
          <a:r>
            <a:rPr lang="zh-CN" altLang="en-US" dirty="0" smtClean="0"/>
            <a:t>其他人员</a:t>
          </a:r>
          <a:endParaRPr lang="zh-CN" altLang="en-US" dirty="0"/>
        </a:p>
      </dgm:t>
    </dgm:pt>
    <dgm:pt modelId="{AE465AAE-275C-8D41-9015-910B5C35C0A7}" cxnId="{81893F48-D8AF-4046-A55C-BDADC3233F5B}" type="parTrans">
      <dgm:prSet/>
      <dgm:spPr/>
      <dgm:t>
        <a:bodyPr/>
        <a:lstStyle/>
        <a:p>
          <a:endParaRPr lang="zh-CN" altLang="en-US"/>
        </a:p>
      </dgm:t>
    </dgm:pt>
    <dgm:pt modelId="{09AE0071-D1D5-0A4D-ACDC-AF665DD224E7}" cxnId="{81893F48-D8AF-4046-A55C-BDADC3233F5B}" type="sibTrans">
      <dgm:prSet/>
      <dgm:spPr/>
      <dgm:t>
        <a:bodyPr/>
        <a:lstStyle/>
        <a:p>
          <a:endParaRPr lang="zh-CN" altLang="en-US"/>
        </a:p>
      </dgm:t>
    </dgm:pt>
    <dgm:pt modelId="{D6F3BD58-D6B0-734B-9D3B-46BC50EEAA31}">
      <dgm:prSet/>
      <dgm:spPr/>
      <dgm:t>
        <a:bodyPr/>
        <a:lstStyle/>
        <a:p>
          <a:r>
            <a:rPr lang="zh-CN" altLang="en-US" b="0" i="0" u="none" strike="noStrike" dirty="0" smtClean="0">
              <a:solidFill>
                <a:schemeClr val="tx1"/>
              </a:solidFill>
              <a:effectLst/>
              <a:latin typeface="+mn-lt"/>
              <a:ea typeface="+mn-ea"/>
              <a:cs typeface="+mn-cs"/>
            </a:rPr>
            <a:t>由于岗位职责需要，经常产生国家秘密事项的内设机构综合处（科）室、业务处（科）室负责人或者工作人员</a:t>
          </a:r>
          <a:endParaRPr lang="zh-CN" altLang="en-US" dirty="0"/>
        </a:p>
      </dgm:t>
    </dgm:pt>
    <dgm:pt modelId="{7DD94256-1CC1-9E42-9DAA-B04A1329935C}" cxnId="{9532FA2B-4173-46B7-9CCD-A261AE736EF6}" type="parTrans">
      <dgm:prSet/>
      <dgm:spPr/>
    </dgm:pt>
    <dgm:pt modelId="{E3F19906-2FD6-C940-A30D-B2D80A4DC41D}" cxnId="{9532FA2B-4173-46B7-9CCD-A261AE736EF6}" type="sibTrans">
      <dgm:prSet/>
      <dgm:spPr/>
    </dgm:pt>
    <dgm:pt modelId="{ECEA678E-2645-234C-8BD3-2BA6D12C1552}" type="pres">
      <dgm:prSet presAssocID="{9BDE76F8-1C89-0546-90E1-695405B6F4B9}" presName="linear" presStyleCnt="0">
        <dgm:presLayoutVars>
          <dgm:animLvl val="lvl"/>
          <dgm:resizeHandles val="exact"/>
        </dgm:presLayoutVars>
      </dgm:prSet>
      <dgm:spPr/>
      <dgm:t>
        <a:bodyPr/>
        <a:lstStyle/>
        <a:p>
          <a:endParaRPr lang="zh-CN" altLang="en-US"/>
        </a:p>
      </dgm:t>
    </dgm:pt>
    <dgm:pt modelId="{B06164C7-F52D-754C-A12C-045711146329}" type="pres">
      <dgm:prSet presAssocID="{093584BC-046C-DF48-80C8-8294FE231D51}" presName="parentText" presStyleLbl="node1" presStyleIdx="0" presStyleCnt="3">
        <dgm:presLayoutVars>
          <dgm:chMax val="0"/>
          <dgm:bulletEnabled val="1"/>
        </dgm:presLayoutVars>
      </dgm:prSet>
      <dgm:spPr/>
      <dgm:t>
        <a:bodyPr/>
        <a:lstStyle/>
        <a:p>
          <a:endParaRPr lang="zh-CN" altLang="en-US"/>
        </a:p>
      </dgm:t>
    </dgm:pt>
    <dgm:pt modelId="{7DF5731B-13E2-F34D-95D8-31EDC667F98B}" type="pres">
      <dgm:prSet presAssocID="{093584BC-046C-DF48-80C8-8294FE231D51}" presName="childText" presStyleLbl="revTx" presStyleIdx="0" presStyleCnt="3">
        <dgm:presLayoutVars>
          <dgm:bulletEnabled val="1"/>
        </dgm:presLayoutVars>
      </dgm:prSet>
      <dgm:spPr/>
      <dgm:t>
        <a:bodyPr/>
        <a:lstStyle/>
        <a:p>
          <a:endParaRPr lang="zh-CN" altLang="en-US"/>
        </a:p>
      </dgm:t>
    </dgm:pt>
    <dgm:pt modelId="{567C9503-CFB3-FB48-84A4-FB33A3EFE318}" type="pres">
      <dgm:prSet presAssocID="{18225527-8A71-1446-B9BA-932169409B67}" presName="parentText" presStyleLbl="node1" presStyleIdx="1" presStyleCnt="3">
        <dgm:presLayoutVars>
          <dgm:chMax val="0"/>
          <dgm:bulletEnabled val="1"/>
        </dgm:presLayoutVars>
      </dgm:prSet>
      <dgm:spPr/>
      <dgm:t>
        <a:bodyPr/>
        <a:lstStyle/>
        <a:p>
          <a:endParaRPr lang="zh-CN" altLang="en-US"/>
        </a:p>
      </dgm:t>
    </dgm:pt>
    <dgm:pt modelId="{894F4213-4FA5-9C4F-9760-DA03E2AB2D20}" type="pres">
      <dgm:prSet presAssocID="{18225527-8A71-1446-B9BA-932169409B67}" presName="childText" presStyleLbl="revTx" presStyleIdx="1" presStyleCnt="3">
        <dgm:presLayoutVars>
          <dgm:bulletEnabled val="1"/>
        </dgm:presLayoutVars>
      </dgm:prSet>
      <dgm:spPr/>
      <dgm:t>
        <a:bodyPr/>
        <a:lstStyle/>
        <a:p>
          <a:endParaRPr lang="zh-CN" altLang="en-US"/>
        </a:p>
      </dgm:t>
    </dgm:pt>
    <dgm:pt modelId="{6A7DAAC0-4C1D-6E4C-A2F5-8DC22FF1E2F2}" type="pres">
      <dgm:prSet presAssocID="{62CA8445-1FB3-0742-9A54-AA2247E176A9}" presName="parentText" presStyleLbl="node1" presStyleIdx="2" presStyleCnt="3">
        <dgm:presLayoutVars>
          <dgm:chMax val="0"/>
          <dgm:bulletEnabled val="1"/>
        </dgm:presLayoutVars>
      </dgm:prSet>
      <dgm:spPr/>
      <dgm:t>
        <a:bodyPr/>
        <a:lstStyle/>
        <a:p>
          <a:endParaRPr lang="zh-CN" altLang="en-US"/>
        </a:p>
      </dgm:t>
    </dgm:pt>
    <dgm:pt modelId="{EE558015-E57D-544A-A69B-4F07711208A4}" type="pres">
      <dgm:prSet presAssocID="{62CA8445-1FB3-0742-9A54-AA2247E176A9}" presName="childText" presStyleLbl="revTx" presStyleIdx="2" presStyleCnt="3">
        <dgm:presLayoutVars>
          <dgm:bulletEnabled val="1"/>
        </dgm:presLayoutVars>
      </dgm:prSet>
      <dgm:spPr/>
      <dgm:t>
        <a:bodyPr/>
        <a:lstStyle/>
        <a:p>
          <a:endParaRPr lang="zh-CN" altLang="en-US"/>
        </a:p>
      </dgm:t>
    </dgm:pt>
  </dgm:ptLst>
  <dgm:cxnLst>
    <dgm:cxn modelId="{A7E6A7FE-4FB3-4594-836E-540846281D12}" srcId="{9BDE76F8-1C89-0546-90E1-695405B6F4B9}" destId="{093584BC-046C-DF48-80C8-8294FE231D51}" srcOrd="0" destOrd="0" parTransId="{E2068F4F-93D2-474B-9314-9F78CEBF4F2E}" sibTransId="{02B8F7AC-EF97-2142-BBFE-56CA86087E71}"/>
    <dgm:cxn modelId="{53622A8E-2C93-4A72-96F3-6D4C83D04097}" srcId="{093584BC-046C-DF48-80C8-8294FE231D51}" destId="{A910B2D6-F77D-C348-9D7A-892932E34EB3}" srcOrd="0" destOrd="0" parTransId="{2047C525-9CF4-5D4B-A035-C415CEDF240A}" sibTransId="{9AB043FA-6CE3-6B4F-AD86-A00B33F4F535}"/>
    <dgm:cxn modelId="{B7A2157C-250A-4E2C-9EC7-7A0E79E168CC}" srcId="{9BDE76F8-1C89-0546-90E1-695405B6F4B9}" destId="{18225527-8A71-1446-B9BA-932169409B67}" srcOrd="1" destOrd="0" parTransId="{6D08AE5D-1244-E949-A893-C885BECBB919}" sibTransId="{E95ED715-9D59-3043-BE57-E72F57F655C2}"/>
    <dgm:cxn modelId="{BDE5DDB2-10C2-404A-99B0-8BE66D5E930B}" srcId="{18225527-8A71-1446-B9BA-932169409B67}" destId="{6D00A5A8-DAA6-2F48-933D-D03FC8A6F479}" srcOrd="0" destOrd="1" parTransId="{28BD679D-D9D7-D14E-A4F1-2C15C591C746}" sibTransId="{0729404A-4CA1-354C-8242-D575F0F450B4}"/>
    <dgm:cxn modelId="{81893F48-D8AF-4046-A55C-BDADC3233F5B}" srcId="{9BDE76F8-1C89-0546-90E1-695405B6F4B9}" destId="{62CA8445-1FB3-0742-9A54-AA2247E176A9}" srcOrd="2" destOrd="0" parTransId="{AE465AAE-275C-8D41-9015-910B5C35C0A7}" sibTransId="{09AE0071-D1D5-0A4D-ACDC-AF665DD224E7}"/>
    <dgm:cxn modelId="{9532FA2B-4173-46B7-9CCD-A261AE736EF6}" srcId="{62CA8445-1FB3-0742-9A54-AA2247E176A9}" destId="{D6F3BD58-D6B0-734B-9D3B-46BC50EEAA31}" srcOrd="0" destOrd="2" parTransId="{7DD94256-1CC1-9E42-9DAA-B04A1329935C}" sibTransId="{E3F19906-2FD6-C940-A30D-B2D80A4DC41D}"/>
    <dgm:cxn modelId="{721EC004-97A0-4588-99FB-22EC31A89583}" type="presOf" srcId="{9BDE76F8-1C89-0546-90E1-695405B6F4B9}" destId="{ECEA678E-2645-234C-8BD3-2BA6D12C1552}" srcOrd="0" destOrd="0" presId="urn:microsoft.com/office/officeart/2005/8/layout/vList2"/>
    <dgm:cxn modelId="{890FA1E1-7B83-4849-A4A1-1D4096720CD3}" type="presParOf" srcId="{ECEA678E-2645-234C-8BD3-2BA6D12C1552}" destId="{B06164C7-F52D-754C-A12C-045711146329}" srcOrd="0" destOrd="0" presId="urn:microsoft.com/office/officeart/2005/8/layout/vList2"/>
    <dgm:cxn modelId="{EFE58C2D-BD3E-4CC6-9FB3-98667EABF048}" type="presOf" srcId="{093584BC-046C-DF48-80C8-8294FE231D51}" destId="{B06164C7-F52D-754C-A12C-045711146329}" srcOrd="0" destOrd="0" presId="urn:microsoft.com/office/officeart/2005/8/layout/vList2"/>
    <dgm:cxn modelId="{586DC938-94CF-4430-AEE9-BCF97F7D37C5}" type="presParOf" srcId="{ECEA678E-2645-234C-8BD3-2BA6D12C1552}" destId="{7DF5731B-13E2-F34D-95D8-31EDC667F98B}" srcOrd="1" destOrd="0" presId="urn:microsoft.com/office/officeart/2005/8/layout/vList2"/>
    <dgm:cxn modelId="{294CC105-13D7-4148-9CFD-1FF760A792DD}" type="presOf" srcId="{A910B2D6-F77D-C348-9D7A-892932E34EB3}" destId="{7DF5731B-13E2-F34D-95D8-31EDC667F98B}" srcOrd="0" destOrd="0" presId="urn:microsoft.com/office/officeart/2005/8/layout/vList2"/>
    <dgm:cxn modelId="{6D455A6B-6F38-404F-AD95-C09649CE05B2}" type="presParOf" srcId="{ECEA678E-2645-234C-8BD3-2BA6D12C1552}" destId="{567C9503-CFB3-FB48-84A4-FB33A3EFE318}" srcOrd="2" destOrd="0" presId="urn:microsoft.com/office/officeart/2005/8/layout/vList2"/>
    <dgm:cxn modelId="{5FE41CA8-624B-4CE8-ACED-D9A143D6885C}" type="presOf" srcId="{18225527-8A71-1446-B9BA-932169409B67}" destId="{567C9503-CFB3-FB48-84A4-FB33A3EFE318}" srcOrd="0" destOrd="0" presId="urn:microsoft.com/office/officeart/2005/8/layout/vList2"/>
    <dgm:cxn modelId="{23A8DBBD-D19B-40D1-AF59-D075D77D031C}" type="presParOf" srcId="{ECEA678E-2645-234C-8BD3-2BA6D12C1552}" destId="{894F4213-4FA5-9C4F-9760-DA03E2AB2D20}" srcOrd="3" destOrd="0" presId="urn:microsoft.com/office/officeart/2005/8/layout/vList2"/>
    <dgm:cxn modelId="{95143352-185B-4384-92DA-DE81644ECDBF}" type="presOf" srcId="{6D00A5A8-DAA6-2F48-933D-D03FC8A6F479}" destId="{894F4213-4FA5-9C4F-9760-DA03E2AB2D20}" srcOrd="0" destOrd="0" presId="urn:microsoft.com/office/officeart/2005/8/layout/vList2"/>
    <dgm:cxn modelId="{B6A4B510-01B0-4103-86AF-8C300B9277B9}" type="presParOf" srcId="{ECEA678E-2645-234C-8BD3-2BA6D12C1552}" destId="{6A7DAAC0-4C1D-6E4C-A2F5-8DC22FF1E2F2}" srcOrd="4" destOrd="0" presId="urn:microsoft.com/office/officeart/2005/8/layout/vList2"/>
    <dgm:cxn modelId="{B4EBCF45-839E-47E1-8B5B-B0CCBAEAEFDD}" type="presOf" srcId="{62CA8445-1FB3-0742-9A54-AA2247E176A9}" destId="{6A7DAAC0-4C1D-6E4C-A2F5-8DC22FF1E2F2}" srcOrd="0" destOrd="0" presId="urn:microsoft.com/office/officeart/2005/8/layout/vList2"/>
    <dgm:cxn modelId="{56C635E4-401F-4620-8F30-A1DA3A965661}" type="presParOf" srcId="{ECEA678E-2645-234C-8BD3-2BA6D12C1552}" destId="{EE558015-E57D-544A-A69B-4F07711208A4}" srcOrd="5" destOrd="0" presId="urn:microsoft.com/office/officeart/2005/8/layout/vList2"/>
    <dgm:cxn modelId="{B3E25301-370D-4D93-9C2A-7AB38B57CBAB}" type="presOf" srcId="{D6F3BD58-D6B0-734B-9D3B-46BC50EEAA31}" destId="{EE558015-E57D-544A-A69B-4F07711208A4}"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548462" cy="4603768"/>
        <a:chOff x="0" y="0"/>
        <a:chExt cx="6548462" cy="4603768"/>
      </a:xfrm>
    </dsp:grpSpPr>
    <dsp:sp modelId="{76C5E1AF-C489-48CE-99C2-4D2E3F7FBF2B}">
      <dsp:nvSpPr>
        <dsp:cNvPr id="3" name="圆角矩形 2"/>
        <dsp:cNvSpPr/>
      </dsp:nvSpPr>
      <dsp:spPr bwMode="white">
        <a:xfrm>
          <a:off x="0" y="0"/>
          <a:ext cx="5566193" cy="138113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25730" tIns="125730" rIns="125730" bIns="12573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zh-CN" altLang="en-US" dirty="0" smtClean="0"/>
            <a:t>“谁产生的事项，谁 就负责定密”</a:t>
          </a:r>
          <a:endParaRPr lang="zh-CN" altLang="en-US" dirty="0"/>
        </a:p>
      </dsp:txBody>
      <dsp:txXfrm>
        <a:off x="0" y="0"/>
        <a:ext cx="5566193" cy="1381130"/>
      </dsp:txXfrm>
    </dsp:sp>
    <dsp:sp modelId="{D74D15CD-B3F7-46B9-8638-BE3859E54E9E}">
      <dsp:nvSpPr>
        <dsp:cNvPr id="4" name="圆角矩形 3"/>
        <dsp:cNvSpPr/>
      </dsp:nvSpPr>
      <dsp:spPr bwMode="white">
        <a:xfrm>
          <a:off x="491135" y="1611319"/>
          <a:ext cx="5566193" cy="138113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25730" tIns="125730" rIns="125730" bIns="12573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zh-CN" altLang="en-US" dirty="0" smtClean="0"/>
            <a:t>拥有定密权的机构</a:t>
          </a:r>
          <a:endParaRPr lang="zh-CN" altLang="en-US" dirty="0"/>
        </a:p>
      </dsp:txBody>
      <dsp:txXfrm>
        <a:off x="491135" y="1611319"/>
        <a:ext cx="5566193" cy="1381130"/>
      </dsp:txXfrm>
    </dsp:sp>
    <dsp:sp modelId="{CF8D3BCD-6AAF-4F83-AA82-D33D1A997DC7}">
      <dsp:nvSpPr>
        <dsp:cNvPr id="5" name="圆角矩形 4"/>
        <dsp:cNvSpPr/>
      </dsp:nvSpPr>
      <dsp:spPr bwMode="white">
        <a:xfrm>
          <a:off x="982269" y="3222638"/>
          <a:ext cx="5566193" cy="138113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25730" tIns="125730" rIns="125730" bIns="12573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zh-CN" altLang="en-US" dirty="0" smtClean="0"/>
            <a:t>定密责任人      </a:t>
          </a:r>
          <a:r>
            <a:rPr lang="zh-CN" altLang="en-US" dirty="0" smtClean="0">
              <a:solidFill>
                <a:srgbClr val="FF0000"/>
              </a:solidFill>
            </a:rPr>
            <a:t>为什么？</a:t>
          </a:r>
          <a:endParaRPr lang="zh-CN" altLang="en-US" dirty="0">
            <a:solidFill>
              <a:srgbClr val="FF0000"/>
            </a:solidFill>
          </a:endParaRPr>
        </a:p>
      </dsp:txBody>
      <dsp:txXfrm>
        <a:off x="982269" y="3222638"/>
        <a:ext cx="5566193" cy="1381130"/>
      </dsp:txXfrm>
    </dsp:sp>
    <dsp:sp modelId="{94F1E8F6-368C-4339-9268-095D78718B93}">
      <dsp:nvSpPr>
        <dsp:cNvPr id="6" name="下箭头 5"/>
        <dsp:cNvSpPr/>
      </dsp:nvSpPr>
      <dsp:spPr bwMode="white">
        <a:xfrm>
          <a:off x="4668458" y="1047357"/>
          <a:ext cx="897735" cy="897735"/>
        </a:xfrm>
        <a:prstGeom prst="downArrow">
          <a:avLst>
            <a:gd name="adj1" fmla="val 55000"/>
            <a:gd name="adj2" fmla="val 45000"/>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46990" tIns="46990" rIns="46990" bIns="46990" anchor="ctr"/>
        <a:lstStyle>
          <a:lvl1pPr algn="ctr">
            <a:defRPr sz="3700"/>
          </a:lvl1pPr>
          <a:lvl2pPr marL="285750" indent="-285750" algn="ctr">
            <a:defRPr sz="2900"/>
          </a:lvl2pPr>
          <a:lvl3pPr marL="571500" indent="-285750" algn="ctr">
            <a:defRPr sz="2900"/>
          </a:lvl3pPr>
          <a:lvl4pPr marL="857250" indent="-285750" algn="ctr">
            <a:defRPr sz="2900"/>
          </a:lvl4pPr>
          <a:lvl5pPr marL="1143000" indent="-285750" algn="ctr">
            <a:defRPr sz="2900"/>
          </a:lvl5pPr>
          <a:lvl6pPr marL="1428750" indent="-285750" algn="ctr">
            <a:defRPr sz="2900"/>
          </a:lvl6pPr>
          <a:lvl7pPr marL="1714500" indent="-285750" algn="ctr">
            <a:defRPr sz="2900"/>
          </a:lvl7pPr>
          <a:lvl8pPr marL="2000250" indent="-285750" algn="ctr">
            <a:defRPr sz="2900"/>
          </a:lvl8pPr>
          <a:lvl9pPr marL="2286000" indent="-285750" algn="ctr">
            <a:defRPr sz="2900"/>
          </a:lvl9pPr>
        </a:lstStyle>
        <a:p>
          <a:pPr lvl="0">
            <a:lnSpc>
              <a:spcPct val="100000"/>
            </a:lnSpc>
            <a:spcBef>
              <a:spcPct val="0"/>
            </a:spcBef>
            <a:spcAft>
              <a:spcPct val="35000"/>
            </a:spcAft>
          </a:pPr>
          <a:endParaRPr lang="zh-CN" altLang="en-US">
            <a:solidFill>
              <a:schemeClr val="dk1"/>
            </a:solidFill>
          </a:endParaRPr>
        </a:p>
      </dsp:txBody>
      <dsp:txXfrm>
        <a:off x="4668458" y="1047357"/>
        <a:ext cx="897735" cy="897735"/>
      </dsp:txXfrm>
    </dsp:sp>
    <dsp:sp modelId="{E99F401A-FF6E-4782-AF64-1E9059B0A709}">
      <dsp:nvSpPr>
        <dsp:cNvPr id="7" name="下箭头 6"/>
        <dsp:cNvSpPr/>
      </dsp:nvSpPr>
      <dsp:spPr bwMode="white">
        <a:xfrm>
          <a:off x="5159593" y="2649468"/>
          <a:ext cx="897735" cy="897735"/>
        </a:xfrm>
        <a:prstGeom prst="downArrow">
          <a:avLst>
            <a:gd name="adj1" fmla="val 55000"/>
            <a:gd name="adj2" fmla="val 45000"/>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46990" tIns="46990" rIns="46990" bIns="46990" anchor="ctr"/>
        <a:lstStyle>
          <a:lvl1pPr algn="ctr">
            <a:defRPr sz="3700"/>
          </a:lvl1pPr>
          <a:lvl2pPr marL="285750" indent="-285750" algn="ctr">
            <a:defRPr sz="2900"/>
          </a:lvl2pPr>
          <a:lvl3pPr marL="571500" indent="-285750" algn="ctr">
            <a:defRPr sz="2900"/>
          </a:lvl3pPr>
          <a:lvl4pPr marL="857250" indent="-285750" algn="ctr">
            <a:defRPr sz="2900"/>
          </a:lvl4pPr>
          <a:lvl5pPr marL="1143000" indent="-285750" algn="ctr">
            <a:defRPr sz="2900"/>
          </a:lvl5pPr>
          <a:lvl6pPr marL="1428750" indent="-285750" algn="ctr">
            <a:defRPr sz="2900"/>
          </a:lvl6pPr>
          <a:lvl7pPr marL="1714500" indent="-285750" algn="ctr">
            <a:defRPr sz="2900"/>
          </a:lvl7pPr>
          <a:lvl8pPr marL="2000250" indent="-285750" algn="ctr">
            <a:defRPr sz="2900"/>
          </a:lvl8pPr>
          <a:lvl9pPr marL="2286000" indent="-285750" algn="ctr">
            <a:defRPr sz="2900"/>
          </a:lvl9pPr>
        </a:lstStyle>
        <a:p>
          <a:pPr lvl="0">
            <a:lnSpc>
              <a:spcPct val="100000"/>
            </a:lnSpc>
            <a:spcBef>
              <a:spcPct val="0"/>
            </a:spcBef>
            <a:spcAft>
              <a:spcPct val="35000"/>
            </a:spcAft>
          </a:pPr>
          <a:endParaRPr lang="zh-CN" altLang="en-US">
            <a:solidFill>
              <a:schemeClr val="dk1"/>
            </a:solidFill>
          </a:endParaRPr>
        </a:p>
      </dsp:txBody>
      <dsp:txXfrm>
        <a:off x="5159593" y="2649468"/>
        <a:ext cx="897735" cy="89773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D6A8FFD2-E7AD-4C6F-82D1-74B2B4DD6CD5}">
      <dsp:nvSpPr>
        <dsp:cNvPr id="3" name="圆角矩形 2"/>
        <dsp:cNvSpPr/>
      </dsp:nvSpPr>
      <dsp:spPr bwMode="white">
        <a:xfrm>
          <a:off x="5358" y="749399"/>
          <a:ext cx="1604367" cy="96262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初选</a:t>
          </a:r>
          <a:endParaRPr lang="zh-CN" altLang="en-US" dirty="0"/>
        </a:p>
      </dsp:txBody>
      <dsp:txXfrm>
        <a:off x="5358" y="749399"/>
        <a:ext cx="1604367" cy="962620"/>
      </dsp:txXfrm>
    </dsp:sp>
    <dsp:sp modelId="{576BE120-C621-48EB-83A1-9E52D7A944F6}">
      <dsp:nvSpPr>
        <dsp:cNvPr id="4" name="右箭头 3"/>
        <dsp:cNvSpPr/>
      </dsp:nvSpPr>
      <dsp:spPr bwMode="white">
        <a:xfrm>
          <a:off x="1760536" y="1031768"/>
          <a:ext cx="340126" cy="39788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1760536" y="1031768"/>
        <a:ext cx="340126" cy="397883"/>
      </dsp:txXfrm>
    </dsp:sp>
    <dsp:sp modelId="{023F22EA-F8DC-4BF4-979F-B5AE28A89704}">
      <dsp:nvSpPr>
        <dsp:cNvPr id="5" name="圆角矩形 4"/>
        <dsp:cNvSpPr/>
      </dsp:nvSpPr>
      <dsp:spPr bwMode="white">
        <a:xfrm>
          <a:off x="2251472" y="749399"/>
          <a:ext cx="1604367" cy="96262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培训</a:t>
          </a:r>
          <a:endParaRPr lang="zh-CN" altLang="en-US" dirty="0"/>
        </a:p>
      </dsp:txBody>
      <dsp:txXfrm>
        <a:off x="2251472" y="749399"/>
        <a:ext cx="1604367" cy="962620"/>
      </dsp:txXfrm>
    </dsp:sp>
    <dsp:sp modelId="{1ABB7A15-2BBC-4F09-B28B-1220269BC2D8}">
      <dsp:nvSpPr>
        <dsp:cNvPr id="6" name="右箭头 5"/>
        <dsp:cNvSpPr/>
      </dsp:nvSpPr>
      <dsp:spPr bwMode="white">
        <a:xfrm rot="41570">
          <a:off x="4003697" y="1045273"/>
          <a:ext cx="333518" cy="39788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41570">
        <a:off x="4003697" y="1045273"/>
        <a:ext cx="333518" cy="397883"/>
      </dsp:txXfrm>
    </dsp:sp>
    <dsp:sp modelId="{7DAFD53E-0816-4E6C-9B43-D27D14EB8B29}">
      <dsp:nvSpPr>
        <dsp:cNvPr id="7" name="圆角矩形 6"/>
        <dsp:cNvSpPr/>
      </dsp:nvSpPr>
      <dsp:spPr bwMode="white">
        <a:xfrm>
          <a:off x="4485072" y="776410"/>
          <a:ext cx="1604367" cy="96262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dirty="0" smtClean="0"/>
            <a:t>考核</a:t>
          </a:r>
          <a:endParaRPr lang="zh-CN" altLang="en-US" dirty="0" smtClean="0"/>
        </a:p>
        <a:p>
          <a:pPr lvl="1">
            <a:lnSpc>
              <a:spcPct val="100000"/>
            </a:lnSpc>
            <a:spcBef>
              <a:spcPct val="0"/>
            </a:spcBef>
            <a:spcAft>
              <a:spcPct val="15000"/>
            </a:spcAft>
            <a:buChar char="•"/>
          </a:pPr>
          <a:endParaRPr lang="zh-CN" altLang="en-US"/>
        </a:p>
      </dsp:txBody>
      <dsp:txXfrm>
        <a:off x="4485072" y="776410"/>
        <a:ext cx="1604367" cy="962620"/>
      </dsp:txXfrm>
    </dsp:sp>
    <dsp:sp modelId="{B3BDB86F-A0E4-4099-83E8-8F4699C7D48B}">
      <dsp:nvSpPr>
        <dsp:cNvPr id="8" name="右箭头 7"/>
        <dsp:cNvSpPr/>
      </dsp:nvSpPr>
      <dsp:spPr bwMode="white">
        <a:xfrm rot="5397374">
          <a:off x="5125425" y="1846564"/>
          <a:ext cx="324863" cy="39788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lIns="0" tIns="0" rIns="0" bIns="0" anchor="ctr"/>
        <a:lstStyle>
          <a:lvl1pPr algn="ctr">
            <a:defRPr sz="14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endParaRPr lang="zh-CN" altLang="en-US"/>
        </a:p>
      </dsp:txBody>
      <dsp:txXfrm rot="5397374">
        <a:off x="5125425" y="1846564"/>
        <a:ext cx="324863" cy="397883"/>
      </dsp:txXfrm>
    </dsp:sp>
    <dsp:sp modelId="{367A1BEE-8291-41A6-8D2E-D302000FAF9D}">
      <dsp:nvSpPr>
        <dsp:cNvPr id="9" name="圆角矩形 8"/>
        <dsp:cNvSpPr/>
      </dsp:nvSpPr>
      <dsp:spPr bwMode="white">
        <a:xfrm>
          <a:off x="4486275" y="2351980"/>
          <a:ext cx="1604367" cy="96262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行政批准</a:t>
          </a:r>
          <a:endParaRPr lang="zh-CN" altLang="en-US" dirty="0"/>
        </a:p>
      </dsp:txBody>
      <dsp:txXfrm>
        <a:off x="4486275" y="2351980"/>
        <a:ext cx="1604367" cy="962620"/>
      </dsp:txXfrm>
    </dsp:sp>
    <dsp:sp modelId="{C29209E8-6021-4461-AF91-BC709A2EC347}">
      <dsp:nvSpPr>
        <dsp:cNvPr id="10" name="右箭头 9"/>
        <dsp:cNvSpPr/>
      </dsp:nvSpPr>
      <dsp:spPr bwMode="white">
        <a:xfrm rot="10800000">
          <a:off x="3995339" y="2634349"/>
          <a:ext cx="340126" cy="39788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10800000">
        <a:off x="3995339" y="2634349"/>
        <a:ext cx="340126" cy="397883"/>
      </dsp:txXfrm>
    </dsp:sp>
    <dsp:sp modelId="{3F7903E2-CF76-414E-9A0D-36EF66872C3C}">
      <dsp:nvSpPr>
        <dsp:cNvPr id="11" name="圆角矩形 10"/>
        <dsp:cNvSpPr/>
      </dsp:nvSpPr>
      <dsp:spPr bwMode="white">
        <a:xfrm>
          <a:off x="2240161" y="2351980"/>
          <a:ext cx="1604367" cy="96262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内部公布</a:t>
          </a:r>
          <a:endParaRPr lang="zh-CN" altLang="en-US" dirty="0"/>
        </a:p>
      </dsp:txBody>
      <dsp:txXfrm>
        <a:off x="2240161" y="2351980"/>
        <a:ext cx="1604367" cy="962620"/>
      </dsp:txXfrm>
    </dsp:sp>
    <dsp:sp modelId="{526862FC-35B8-474A-B111-EC3A12F2F132}">
      <dsp:nvSpPr>
        <dsp:cNvPr id="12" name="右箭头 11"/>
        <dsp:cNvSpPr/>
      </dsp:nvSpPr>
      <dsp:spPr bwMode="white">
        <a:xfrm rot="10800000">
          <a:off x="1749225" y="2634349"/>
          <a:ext cx="340126" cy="39788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10800000">
        <a:off x="1749225" y="2634349"/>
        <a:ext cx="340126" cy="397883"/>
      </dsp:txXfrm>
    </dsp:sp>
    <dsp:sp modelId="{05C4D709-4D0A-427A-8404-433DC7037812}">
      <dsp:nvSpPr>
        <dsp:cNvPr id="13" name="圆角矩形 12"/>
        <dsp:cNvSpPr/>
      </dsp:nvSpPr>
      <dsp:spPr bwMode="white">
        <a:xfrm>
          <a:off x="-5953" y="2351980"/>
          <a:ext cx="1604367" cy="96262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备案</a:t>
          </a:r>
          <a:endParaRPr lang="zh-CN" altLang="en-US" dirty="0"/>
        </a:p>
      </dsp:txBody>
      <dsp:txXfrm>
        <a:off x="-5953" y="2351980"/>
        <a:ext cx="1604367" cy="96262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B06164C7-F52D-754C-A12C-045711146329}">
      <dsp:nvSpPr>
        <dsp:cNvPr id="3" name="圆角矩形 2"/>
        <dsp:cNvSpPr/>
      </dsp:nvSpPr>
      <dsp:spPr bwMode="white">
        <a:xfrm>
          <a:off x="0" y="200998"/>
          <a:ext cx="6096000" cy="633730"/>
        </a:xfrm>
        <a:prstGeom prst="roundRect">
          <a:avLst/>
        </a:prstGeom>
      </dsp:spPr>
      <dsp:style>
        <a:lnRef idx="0">
          <a:schemeClr val="lt1"/>
        </a:lnRef>
        <a:fillRef idx="3">
          <a:schemeClr val="accent1"/>
        </a:fillRef>
        <a:effectRef idx="2">
          <a:scrgbClr r="0" g="0" b="0"/>
        </a:effectRef>
        <a:fontRef idx="minor">
          <a:schemeClr val="lt1"/>
        </a:fontRef>
      </dsp:style>
      <dsp:txBody>
        <a:bodyPr lIns="95250" tIns="95250" rIns="95250" bIns="9525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dirty="0" smtClean="0"/>
            <a:t>其他负责人</a:t>
          </a:r>
          <a:endParaRPr lang="zh-CN" altLang="en-US" dirty="0"/>
        </a:p>
      </dsp:txBody>
      <dsp:txXfrm>
        <a:off x="0" y="200998"/>
        <a:ext cx="6096000" cy="633730"/>
      </dsp:txXfrm>
    </dsp:sp>
    <dsp:sp modelId="{7DF5731B-13E2-F34D-95D8-31EDC667F98B}">
      <dsp:nvSpPr>
        <dsp:cNvPr id="4" name="矩形 3"/>
        <dsp:cNvSpPr/>
      </dsp:nvSpPr>
      <dsp:spPr bwMode="white">
        <a:xfrm>
          <a:off x="0" y="834728"/>
          <a:ext cx="6096000" cy="41400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93547" tIns="31750" rIns="177800" bIns="3175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20000"/>
            </a:spcAft>
            <a:buChar char="•"/>
          </a:pPr>
          <a:r>
            <a:rPr lang="zh-CN" altLang="en-US" b="0" i="0" u="none" strike="noStrike" dirty="0" smtClean="0">
              <a:solidFill>
                <a:schemeClr val="tx1"/>
              </a:solidFill>
              <a:effectLst/>
              <a:latin typeface="+mn-lt"/>
              <a:ea typeface="+mn-ea"/>
              <a:cs typeface="+mn-cs"/>
            </a:rPr>
            <a:t>机关、单位分管涉及国家秘密业务工作的其他负责人</a:t>
          </a:r>
          <a:endParaRPr lang="zh-CN" altLang="en-US" dirty="0">
            <a:solidFill>
              <a:schemeClr val="tx1"/>
            </a:solidFill>
          </a:endParaRPr>
        </a:p>
      </dsp:txBody>
      <dsp:txXfrm>
        <a:off x="0" y="834728"/>
        <a:ext cx="6096000" cy="414000"/>
      </dsp:txXfrm>
    </dsp:sp>
    <dsp:sp modelId="{567C9503-CFB3-FB48-84A4-FB33A3EFE318}">
      <dsp:nvSpPr>
        <dsp:cNvPr id="5" name="圆角矩形 4"/>
        <dsp:cNvSpPr/>
      </dsp:nvSpPr>
      <dsp:spPr bwMode="white">
        <a:xfrm>
          <a:off x="0" y="1248728"/>
          <a:ext cx="6096000" cy="633730"/>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95250" tIns="95250" rIns="95250" bIns="9525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b="0" i="0" u="none" strike="noStrike" dirty="0" smtClean="0">
              <a:solidFill>
                <a:schemeClr val="bg1"/>
              </a:solidFill>
              <a:effectLst/>
              <a:latin typeface="+mn-lt"/>
              <a:ea typeface="+mn-ea"/>
              <a:cs typeface="+mn-cs"/>
            </a:rPr>
            <a:t>内设机构负责人</a:t>
          </a:r>
          <a:endParaRPr lang="zh-CN" altLang="en-US" b="0" i="0" u="none" strike="noStrike" dirty="0" smtClean="0">
            <a:solidFill>
              <a:schemeClr val="bg1"/>
            </a:solidFill>
            <a:effectLst/>
            <a:latin typeface="+mn-lt"/>
            <a:ea typeface="+mn-ea"/>
            <a:cs typeface="+mn-cs"/>
          </a:endParaRPr>
        </a:p>
      </dsp:txBody>
      <dsp:txXfrm>
        <a:off x="0" y="1248728"/>
        <a:ext cx="6096000" cy="633730"/>
      </dsp:txXfrm>
    </dsp:sp>
    <dsp:sp modelId="{894F4213-4FA5-9C4F-9760-DA03E2AB2D20}">
      <dsp:nvSpPr>
        <dsp:cNvPr id="6" name="矩形 5"/>
        <dsp:cNvSpPr/>
      </dsp:nvSpPr>
      <dsp:spPr bwMode="white">
        <a:xfrm>
          <a:off x="0" y="1882458"/>
          <a:ext cx="6096000" cy="41400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93547" tIns="31750" rIns="177800" bIns="3175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20000"/>
            </a:spcAft>
            <a:buChar char="•"/>
          </a:pPr>
          <a:r>
            <a:rPr lang="zh-CN" altLang="en-US" b="0" i="0" u="none" strike="noStrike" dirty="0" smtClean="0">
              <a:solidFill>
                <a:schemeClr val="tx1"/>
              </a:solidFill>
              <a:effectLst/>
              <a:latin typeface="+mn-lt"/>
              <a:ea typeface="+mn-ea"/>
              <a:cs typeface="+mn-cs"/>
            </a:rPr>
            <a:t>机关、单位产生国家秘密较多的内设机构负责</a:t>
          </a:r>
          <a:endParaRPr lang="zh-CN" altLang="en-US" dirty="0">
            <a:solidFill>
              <a:schemeClr val="tx1"/>
            </a:solidFill>
          </a:endParaRPr>
        </a:p>
      </dsp:txBody>
      <dsp:txXfrm>
        <a:off x="0" y="1882458"/>
        <a:ext cx="6096000" cy="414000"/>
      </dsp:txXfrm>
    </dsp:sp>
    <dsp:sp modelId="{6A7DAAC0-4C1D-6E4C-A2F5-8DC22FF1E2F2}">
      <dsp:nvSpPr>
        <dsp:cNvPr id="7" name="圆角矩形 6"/>
        <dsp:cNvSpPr/>
      </dsp:nvSpPr>
      <dsp:spPr bwMode="white">
        <a:xfrm>
          <a:off x="0" y="2296458"/>
          <a:ext cx="6096000" cy="633730"/>
        </a:xfrm>
        <a:prstGeom prst="roundRect">
          <a:avLst/>
        </a:prstGeom>
      </dsp:spPr>
      <dsp:style>
        <a:lnRef idx="0">
          <a:schemeClr val="lt1"/>
        </a:lnRef>
        <a:fillRef idx="3">
          <a:schemeClr val="accent1"/>
        </a:fillRef>
        <a:effectRef idx="2">
          <a:scrgbClr r="0" g="0" b="0"/>
        </a:effectRef>
        <a:fontRef idx="minor">
          <a:schemeClr val="lt1"/>
        </a:fontRef>
      </dsp:style>
      <dsp:txBody>
        <a:bodyPr lIns="95250" tIns="95250" rIns="95250" bIns="9525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dirty="0" smtClean="0"/>
            <a:t>其他人员</a:t>
          </a:r>
          <a:endParaRPr lang="zh-CN" altLang="en-US" dirty="0"/>
        </a:p>
      </dsp:txBody>
      <dsp:txXfrm>
        <a:off x="0" y="2296458"/>
        <a:ext cx="6096000" cy="633730"/>
      </dsp:txXfrm>
    </dsp:sp>
    <dsp:sp modelId="{EE558015-E57D-544A-A69B-4F07711208A4}">
      <dsp:nvSpPr>
        <dsp:cNvPr id="8" name="矩形 7"/>
        <dsp:cNvSpPr/>
      </dsp:nvSpPr>
      <dsp:spPr bwMode="white">
        <a:xfrm>
          <a:off x="0" y="2930188"/>
          <a:ext cx="6096000" cy="93281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93547" tIns="31750" rIns="177800" bIns="3175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20000"/>
            </a:spcAft>
            <a:buChar char="•"/>
          </a:pPr>
          <a:r>
            <a:rPr lang="zh-CN" altLang="en-US" b="0" i="0" u="none" strike="noStrike" dirty="0" smtClean="0">
              <a:solidFill>
                <a:schemeClr val="tx1"/>
              </a:solidFill>
              <a:effectLst/>
              <a:latin typeface="+mn-lt"/>
              <a:ea typeface="+mn-ea"/>
              <a:cs typeface="+mn-cs"/>
            </a:rPr>
            <a:t>由于岗位职责需要，经常产生国家秘密事项的内设机构综合处（科）室、业务处（科）室负责人或者工作人员</a:t>
          </a:r>
          <a:endParaRPr lang="zh-CN" altLang="en-US" dirty="0">
            <a:solidFill>
              <a:schemeClr val="tx1"/>
            </a:solidFill>
          </a:endParaRPr>
        </a:p>
      </dsp:txBody>
      <dsp:txXfrm>
        <a:off x="0" y="2930188"/>
        <a:ext cx="6096000" cy="93281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31316D-8490-C34B-BC47-2D2D858F5AAA}"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B4A5B3-6998-8641-9B94-7982D1F9240D}"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2B4A5B3-6998-8641-9B94-7982D1F9240D}"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2B4A5B3-6998-8641-9B94-7982D1F9240D}"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1.</a:t>
            </a:r>
            <a:r>
              <a:rPr lang="zh-CN" altLang="en-US" sz="1200" b="0" i="0" u="none" strike="noStrike" kern="1200" dirty="0" smtClean="0">
                <a:solidFill>
                  <a:schemeClr val="tx1"/>
                </a:solidFill>
                <a:effectLst/>
                <a:latin typeface="+mn-lt"/>
                <a:ea typeface="+mn-ea"/>
                <a:cs typeface="+mn-cs"/>
              </a:rPr>
              <a:t>指定定密责任人的范围</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暂行规定要求，根据定密工作需要，机关、单位负责人可以指定本机关、本单位其他负责人、内设机构负责人或者其他工作人员为定密责任人。</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考虑到机关、单位的层级、工作性质和业务范围的差异，暂行规定没有对指定定密责任人的范围作出统一要求。机关、单位在工作中，可以从实际出发，指定相关人员具体负责定密工作。一般来说，指定的定密责任人主要有下列几类人员：</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第一类是机关、单位分管涉及国家秘密业务工作的其他负责人；</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第二类是机关、单位产生国家秘密较多的内设机构负责人；</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第三类是由于岗位职责需要，经常产生国家秘密事项的内设机构综合处（科）室、业务处（科）室负责人或者工作人员。</a:t>
            </a:r>
            <a:endParaRPr lang="zh-CN" altLang="en-US" sz="1200" b="0" i="0" u="none" strike="noStrike" kern="1200" dirty="0" smtClean="0">
              <a:solidFill>
                <a:schemeClr val="tx1"/>
              </a:solidFill>
              <a:effectLst/>
              <a:latin typeface="+mn-lt"/>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42B4A5B3-6998-8641-9B94-7982D1F9240D}"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u="none" strike="noStrike" kern="1200" dirty="0" smtClean="0">
                <a:solidFill>
                  <a:schemeClr val="tx1"/>
                </a:solidFill>
                <a:effectLst/>
                <a:latin typeface="+mn-lt"/>
                <a:ea typeface="+mn-ea"/>
                <a:cs typeface="+mn-cs"/>
              </a:rPr>
              <a:t>定密责任人的公布和备案</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机关、单位应当将定密责任人名单及其定密权限，通过内部文件或者内部公示等书面形式，在机关、单位内部予以公布，以便于机关、单位开展定密工作。</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同时，机关、单位还应当将定密责任人名单报同级保密行政管理部门备案。在实际工作中，机关、单位可能根据工作需要或其他原因，对定密责任人的工作岗位作出调整。定密责任人调整变动的，应当重新履行指定和报备程序。</a:t>
            </a:r>
            <a:endParaRPr lang="zh-CN" altLang="en-US" sz="1200" b="0" i="0" u="none" strike="noStrike"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rPr>
              <a:t>需要说明的是，没有定密权的机关、单位是否需要开展定密责任人确定工作，应当根据实际工作需要进行。对于经常知悉、处理国家秘密事项，经常产生派生国家秘密的机关、单位，其负责人（法定定密责任人）可以指定定密责任人具体开展定密工作；对于很少或从不产生派生国家秘密的机关、单位，可以不专门指定定密责任人，由负责人（法定定密责任人）具体负责定密工作即可。</a:t>
            </a:r>
            <a:endParaRPr lang="zh-CN" altLang="en-US" sz="1200" b="0" i="0" u="none" strike="noStrike" kern="1200" dirty="0" smtClean="0">
              <a:solidFill>
                <a:schemeClr val="tx1"/>
              </a:solidFill>
              <a:effectLst/>
              <a:latin typeface="+mn-lt"/>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42B4A5B3-6998-8641-9B94-7982D1F9240D}"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2B4A5B3-6998-8641-9B94-7982D1F9240D}"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909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89091"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6A32430B-E9ED-E04B-BCC4-D2E813203F1D}" type="slidenum">
              <a:rPr lang="zh-CN" altLang="en-US"/>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关系一:法定定密责任人与指定定密责任人。</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5DD694E-D2D2-D649-8E7E-62C51BAE860E}" type="datetime1">
              <a:rPr lang="zh-CN" altLang="en-US"/>
            </a:fld>
            <a:endParaRPr lang="zh-CN" altLang="en-US" sz="135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14F35708-53C5-1F49-9D19-A461B87FEEC9}" type="slidenum">
              <a:rPr lang="zh-CN" altLang="en-US"/>
            </a:fld>
            <a:endParaRPr lang="zh-CN" altLang="en-US" sz="135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8.xml"/><Relationship Id="rId25" Type="http://schemas.openxmlformats.org/officeDocument/2006/relationships/slideLayout" Target="../slideLayouts/slideLayout2.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9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9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graphicFrame>
        <p:nvGraphicFramePr>
          <p:cNvPr id="5" name="图示 4"/>
          <p:cNvGraphicFramePr/>
          <p:nvPr/>
        </p:nvGraphicFramePr>
        <p:xfrm>
          <a:off x="1524000" y="1397000"/>
          <a:ext cx="6548462" cy="460376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76C5E1AF-C489-48CE-99C2-4D2E3F7FBF2B}"/>
                                            </p:graphicEl>
                                          </p:spTgt>
                                        </p:tgtEl>
                                        <p:attrNameLst>
                                          <p:attrName>style.visibility</p:attrName>
                                        </p:attrNameLst>
                                      </p:cBhvr>
                                      <p:to>
                                        <p:strVal val="visible"/>
                                      </p:to>
                                    </p:set>
                                    <p:animEffect transition="in" filter="fade">
                                      <p:cBhvr>
                                        <p:cTn id="7" dur="2000"/>
                                        <p:tgtEl>
                                          <p:spTgt spid="5">
                                            <p:graphicEl>
                                              <a:dgm id="{76C5E1AF-C489-48CE-99C2-4D2E3F7FBF2B}"/>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graphicEl>
                                              <a:dgm id="{94F1E8F6-368C-4339-9268-095D78718B93}"/>
                                            </p:graphicEl>
                                          </p:spTgt>
                                        </p:tgtEl>
                                        <p:attrNameLst>
                                          <p:attrName>style.visibility</p:attrName>
                                        </p:attrNameLst>
                                      </p:cBhvr>
                                      <p:to>
                                        <p:strVal val="visible"/>
                                      </p:to>
                                    </p:set>
                                    <p:animEffect transition="in" filter="fade">
                                      <p:cBhvr>
                                        <p:cTn id="12" dur="2000"/>
                                        <p:tgtEl>
                                          <p:spTgt spid="5">
                                            <p:graphicEl>
                                              <a:dgm id="{94F1E8F6-368C-4339-9268-095D78718B93}"/>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graphicEl>
                                              <a:dgm id="{D74D15CD-B3F7-46B9-8638-BE3859E54E9E}"/>
                                            </p:graphicEl>
                                          </p:spTgt>
                                        </p:tgtEl>
                                        <p:attrNameLst>
                                          <p:attrName>style.visibility</p:attrName>
                                        </p:attrNameLst>
                                      </p:cBhvr>
                                      <p:to>
                                        <p:strVal val="visible"/>
                                      </p:to>
                                    </p:set>
                                    <p:animEffect transition="in" filter="fade">
                                      <p:cBhvr>
                                        <p:cTn id="15" dur="2000"/>
                                        <p:tgtEl>
                                          <p:spTgt spid="5">
                                            <p:graphicEl>
                                              <a:dgm id="{D74D15CD-B3F7-46B9-8638-BE3859E54E9E}"/>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graphicEl>
                                              <a:dgm id="{E99F401A-FF6E-4782-AF64-1E9059B0A709}"/>
                                            </p:graphicEl>
                                          </p:spTgt>
                                        </p:tgtEl>
                                        <p:attrNameLst>
                                          <p:attrName>style.visibility</p:attrName>
                                        </p:attrNameLst>
                                      </p:cBhvr>
                                      <p:to>
                                        <p:strVal val="visible"/>
                                      </p:to>
                                    </p:set>
                                    <p:animEffect transition="in" filter="fade">
                                      <p:cBhvr>
                                        <p:cTn id="20" dur="2000"/>
                                        <p:tgtEl>
                                          <p:spTgt spid="5">
                                            <p:graphicEl>
                                              <a:dgm id="{E99F401A-FF6E-4782-AF64-1E9059B0A709}"/>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graphicEl>
                                              <a:dgm id="{CF8D3BCD-6AAF-4F83-AA82-D33D1A997DC7}"/>
                                            </p:graphicEl>
                                          </p:spTgt>
                                        </p:tgtEl>
                                        <p:attrNameLst>
                                          <p:attrName>style.visibility</p:attrName>
                                        </p:attrNameLst>
                                      </p:cBhvr>
                                      <p:to>
                                        <p:strVal val="visible"/>
                                      </p:to>
                                    </p:set>
                                    <p:animEffect transition="in" filter="fade">
                                      <p:cBhvr>
                                        <p:cTn id="23" dur="2000"/>
                                        <p:tgtEl>
                                          <p:spTgt spid="5">
                                            <p:graphicEl>
                                              <a:dgm id="{CF8D3BCD-6AAF-4F83-AA82-D33D1A997DC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第一章 定密责任人</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定密责任有两层含义。</a:t>
            </a:r>
            <a:endParaRPr lang="en-US" altLang="zh-CN" dirty="0" smtClean="0"/>
          </a:p>
          <a:p>
            <a:r>
              <a:rPr lang="zh-CN" altLang="en-US" dirty="0" smtClean="0"/>
              <a:t>第一层是各产生国家秘密的</a:t>
            </a:r>
            <a:r>
              <a:rPr lang="zh-CN" altLang="en-US" dirty="0" smtClean="0">
                <a:solidFill>
                  <a:srgbClr val="FF0000"/>
                </a:solidFill>
              </a:rPr>
              <a:t>机关单位</a:t>
            </a:r>
            <a:r>
              <a:rPr lang="zh-CN" altLang="en-US" dirty="0" smtClean="0"/>
              <a:t>，都有依法确定国家秘密的责任。这种责任是法定的，而且只能是由本机关、本单位承担，不能委托或指定其它机关、单位代为行使；定密责任人也必须由自己依法履行定密责任，不能委托或指派其它没有定密资格的人员代为定密；</a:t>
            </a:r>
            <a:endParaRPr lang="en-US" altLang="zh-CN" dirty="0" smtClean="0"/>
          </a:p>
          <a:p>
            <a:r>
              <a:rPr lang="zh-CN" altLang="en-US" dirty="0" smtClean="0"/>
              <a:t>第二层含义是，各定密的主体及其相应的</a:t>
            </a:r>
            <a:r>
              <a:rPr lang="zh-CN" altLang="en-US" dirty="0" smtClean="0">
                <a:solidFill>
                  <a:srgbClr val="FF0000"/>
                </a:solidFill>
              </a:rPr>
              <a:t>定密责任人</a:t>
            </a:r>
            <a:r>
              <a:rPr lang="zh-CN" altLang="en-US" dirty="0" smtClean="0"/>
              <a:t>，都要为定密的后果承担相应的法律责任。</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smtClean="0"/>
              <a:t>一、法律法规中的定密责任人</a:t>
            </a:r>
            <a:r>
              <a:rPr kumimoji="1" lang="zh-CN" altLang="en-US" dirty="0" smtClean="0"/>
              <a:t>规定</a:t>
            </a:r>
            <a:endParaRPr kumimoji="1" lang="zh-CN" altLang="en-US" dirty="0" smtClean="0"/>
          </a:p>
        </p:txBody>
      </p:sp>
      <p:sp>
        <p:nvSpPr>
          <p:cNvPr id="3" name="内容占位符 2"/>
          <p:cNvSpPr>
            <a:spLocks noGrp="1"/>
          </p:cNvSpPr>
          <p:nvPr>
            <p:ph idx="1"/>
          </p:nvPr>
        </p:nvSpPr>
        <p:spPr/>
        <p:txBody>
          <a:bodyPr/>
          <a:lstStyle/>
          <a:p>
            <a:r>
              <a:rPr kumimoji="1" lang="zh-CN" altLang="en-US" dirty="0" smtClean="0"/>
              <a:t>所谓定密责任人，是指具体承担机关、单位定密职责的人员。</a:t>
            </a:r>
            <a:endParaRPr kumimoji="1" lang="zh-CN" altLang="en-US" dirty="0"/>
          </a:p>
        </p:txBody>
      </p:sp>
      <p:pic>
        <p:nvPicPr>
          <p:cNvPr id="5" name="内容占位符 4" descr="截屏2025-04-23 下午9.28.53"/>
          <p:cNvPicPr>
            <a:picLocks noChangeAspect="1"/>
          </p:cNvPicPr>
          <p:nvPr/>
        </p:nvPicPr>
        <p:blipFill>
          <a:blip r:embed="rId1"/>
          <a:stretch>
            <a:fillRect/>
          </a:stretch>
        </p:blipFill>
        <p:spPr>
          <a:xfrm>
            <a:off x="583565" y="3068955"/>
            <a:ext cx="7975600" cy="23863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zh-CN" altLang="en-US" dirty="0" smtClean="0"/>
              <a:t>一）</a:t>
            </a:r>
            <a:r>
              <a:rPr kumimoji="1" lang="en-US" altLang="zh-CN" dirty="0" smtClean="0"/>
              <a:t>《</a:t>
            </a:r>
            <a:r>
              <a:rPr kumimoji="1" lang="zh-CN" altLang="en-US" dirty="0" smtClean="0"/>
              <a:t>保密法</a:t>
            </a:r>
            <a:r>
              <a:rPr kumimoji="1" lang="en-US" altLang="zh-CN" dirty="0" smtClean="0"/>
              <a:t>》</a:t>
            </a:r>
            <a:endParaRPr kumimoji="1" lang="zh-CN" altLang="en-US" dirty="0"/>
          </a:p>
        </p:txBody>
      </p:sp>
      <p:sp>
        <p:nvSpPr>
          <p:cNvPr id="3" name="内容占位符 2"/>
          <p:cNvSpPr>
            <a:spLocks noGrp="1"/>
          </p:cNvSpPr>
          <p:nvPr>
            <p:ph idx="1"/>
          </p:nvPr>
        </p:nvSpPr>
        <p:spPr/>
        <p:txBody>
          <a:bodyPr/>
          <a:lstStyle/>
          <a:p>
            <a:r>
              <a:rPr lang="en-US" altLang="zh-CN" b="1" dirty="0"/>
              <a:t>  </a:t>
            </a:r>
            <a:r>
              <a:rPr lang="zh-CN" altLang="en-US" b="1" dirty="0"/>
              <a:t>第十</a:t>
            </a:r>
            <a:r>
              <a:rPr lang="zh-CN" altLang="en-US" b="1" dirty="0"/>
              <a:t>六条</a:t>
            </a:r>
            <a:r>
              <a:rPr lang="zh-CN" altLang="en-US" dirty="0"/>
              <a:t>　机关、单位</a:t>
            </a:r>
            <a:r>
              <a:rPr lang="zh-CN" altLang="en-US" dirty="0">
                <a:solidFill>
                  <a:srgbClr val="FF0000"/>
                </a:solidFill>
              </a:rPr>
              <a:t>主要</a:t>
            </a:r>
            <a:r>
              <a:rPr lang="zh-CN" altLang="en-US" dirty="0"/>
              <a:t>负责人及其指定的人员为定密责任人，负责本机关、本单位的国家秘密确定、变更和解除工作。</a:t>
            </a:r>
            <a:br>
              <a:rPr lang="zh-CN" altLang="en-US" dirty="0"/>
            </a:br>
            <a:r>
              <a:rPr lang="zh-CN" altLang="en-US" dirty="0"/>
              <a:t>　机关、单位确定、变更和解除本机关、本单位的国家秘密，应当由承办人提出具体意见，经定密责任人审核批准。</a:t>
            </a:r>
            <a:endParaRPr lang="zh-CN" altLang="en-US" dirty="0"/>
          </a:p>
          <a:p>
            <a:pPr marL="0" indent="0">
              <a:buNone/>
            </a:pP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dirty="0" smtClean="0">
                <a:sym typeface="+mn-ea"/>
              </a:rPr>
              <a:t>《</a:t>
            </a:r>
            <a:r>
              <a:rPr kumimoji="1" lang="zh-CN" altLang="en-US" dirty="0" smtClean="0">
                <a:sym typeface="+mn-ea"/>
              </a:rPr>
              <a:t>保密法</a:t>
            </a:r>
            <a:r>
              <a:rPr kumimoji="1" lang="en-US" altLang="zh-CN" dirty="0" smtClean="0">
                <a:sym typeface="+mn-ea"/>
              </a:rPr>
              <a:t>》</a:t>
            </a:r>
            <a:r>
              <a:rPr kumimoji="1" lang="zh-CN" altLang="en-US" dirty="0" smtClean="0">
                <a:sym typeface="+mn-ea"/>
              </a:rPr>
              <a:t>释义</a:t>
            </a:r>
            <a:endParaRPr lang="zh-CN" altLang="en-US"/>
          </a:p>
        </p:txBody>
      </p:sp>
      <p:sp>
        <p:nvSpPr>
          <p:cNvPr id="3" name="内容占位符 2"/>
          <p:cNvSpPr>
            <a:spLocks noGrp="1"/>
          </p:cNvSpPr>
          <p:nvPr>
            <p:ph idx="1"/>
          </p:nvPr>
        </p:nvSpPr>
        <p:spPr/>
        <p:txBody>
          <a:bodyPr>
            <a:normAutofit/>
          </a:bodyPr>
          <a:p>
            <a:r>
              <a:rPr lang="zh-CN" altLang="en-US" sz="2800"/>
              <a:t>本条是关于定密责任人的规定</a:t>
            </a:r>
            <a:endParaRPr lang="zh-CN" altLang="en-US" sz="2800"/>
          </a:p>
          <a:p>
            <a:r>
              <a:rPr lang="zh-CN" altLang="en-US" sz="2800"/>
              <a:t>在保密工作中，定密是一项源头性工作，具有很强的政策性专业性。</a:t>
            </a:r>
            <a:endParaRPr lang="zh-CN" altLang="en-US" sz="2800"/>
          </a:p>
          <a:p>
            <a:r>
              <a:rPr lang="zh-CN" altLang="en-US" sz="2800"/>
              <a:t>建立完善定密责任人制度，明确专门人员行使定密权，负责本机关、本单位的国家秘密确定、变更和解除工作，</a:t>
            </a:r>
            <a:r>
              <a:rPr lang="zh-CN" altLang="en-US" sz="2800">
                <a:solidFill>
                  <a:srgbClr val="FF0000"/>
                </a:solidFill>
              </a:rPr>
              <a:t>有利于</a:t>
            </a:r>
            <a:r>
              <a:rPr lang="zh-CN" altLang="en-US" sz="2800"/>
              <a:t>明确定密责任，限制定密权限，规范定密行为。</a:t>
            </a:r>
            <a:endParaRPr lang="zh-CN" altLang="en-US" sz="2800"/>
          </a:p>
          <a:p>
            <a:endParaRPr lang="zh-CN" alt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sym typeface="+mn-ea"/>
              </a:rPr>
              <a:t>第一款规定定密责任主体。定密责任人包括机关、单位</a:t>
            </a:r>
            <a:r>
              <a:rPr lang="zh-CN" altLang="en-US">
                <a:solidFill>
                  <a:srgbClr val="FF0000"/>
                </a:solidFill>
                <a:sym typeface="+mn-ea"/>
              </a:rPr>
              <a:t>主要负责人</a:t>
            </a:r>
            <a:r>
              <a:rPr lang="zh-CN" altLang="en-US">
                <a:sym typeface="+mn-ea"/>
              </a:rPr>
              <a:t>及机关、单位主要负责人</a:t>
            </a:r>
            <a:r>
              <a:rPr lang="zh-CN" altLang="en-US">
                <a:solidFill>
                  <a:srgbClr val="FF0000"/>
                </a:solidFill>
                <a:sym typeface="+mn-ea"/>
              </a:rPr>
              <a:t>指定的人员</a:t>
            </a:r>
            <a:r>
              <a:rPr lang="zh-CN" altLang="en-US">
                <a:sym typeface="+mn-ea"/>
              </a:rPr>
              <a:t>。</a:t>
            </a:r>
            <a:endParaRPr lang="zh-CN" altLang="en-US"/>
          </a:p>
          <a:p>
            <a:r>
              <a:rPr lang="zh-CN" altLang="en-US"/>
              <a:t>机关、单位主要负责人是法定的定密责任人。机关、单位主要负责人对本机关、本单位保密工作负总责，承担确定、变更、解除国家秘密的职责。</a:t>
            </a:r>
            <a:endParaRPr lang="zh-CN" altLang="en-US"/>
          </a:p>
        </p:txBody>
      </p:sp>
      <p:sp>
        <p:nvSpPr>
          <p:cNvPr id="5" name="矩形 4"/>
          <p:cNvSpPr/>
          <p:nvPr/>
        </p:nvSpPr>
        <p:spPr>
          <a:xfrm>
            <a:off x="5436235" y="1124585"/>
            <a:ext cx="1728470" cy="43243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法定</a:t>
            </a:r>
            <a:r>
              <a:rPr lang="zh-CN" altLang="en-US"/>
              <a:t>责任人</a:t>
            </a:r>
            <a:endParaRPr lang="zh-CN" altLang="en-US"/>
          </a:p>
        </p:txBody>
      </p:sp>
      <p:sp>
        <p:nvSpPr>
          <p:cNvPr id="6" name="矩形 5"/>
          <p:cNvSpPr/>
          <p:nvPr/>
        </p:nvSpPr>
        <p:spPr>
          <a:xfrm>
            <a:off x="5147945" y="4869180"/>
            <a:ext cx="1728470" cy="43243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指定责任人</a:t>
            </a:r>
            <a:endParaRPr lang="zh-CN" altLang="en-US"/>
          </a:p>
        </p:txBody>
      </p:sp>
      <p:cxnSp>
        <p:nvCxnSpPr>
          <p:cNvPr id="7" name="直接连接符 6"/>
          <p:cNvCxnSpPr/>
          <p:nvPr/>
        </p:nvCxnSpPr>
        <p:spPr>
          <a:xfrm flipV="1">
            <a:off x="5327650" y="1628775"/>
            <a:ext cx="324485" cy="626110"/>
          </a:xfrm>
          <a:prstGeom prst="line">
            <a:avLst/>
          </a:prstGeom>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4355465" y="3037840"/>
            <a:ext cx="792480" cy="168719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9750" y="1412875"/>
            <a:ext cx="8229600" cy="5905500"/>
          </a:xfrm>
        </p:spPr>
        <p:txBody>
          <a:bodyPr>
            <a:normAutofit fontScale="80000"/>
          </a:bodyPr>
          <a:p>
            <a:r>
              <a:rPr lang="zh-CN" altLang="en-US"/>
              <a:t>定密工作量较大、业务工作具有特殊保密要求的机关、单位，可以由机关、单位主要负责人指定本机关、本单位</a:t>
            </a:r>
            <a:r>
              <a:rPr lang="zh-CN" altLang="en-US">
                <a:solidFill>
                  <a:srgbClr val="FF0000"/>
                </a:solidFill>
              </a:rPr>
              <a:t>其他负责人、内设机构负责人或者其他工作人员</a:t>
            </a:r>
            <a:r>
              <a:rPr lang="zh-CN" altLang="en-US"/>
              <a:t>为定密责任人，并明确相应的定密权限。</a:t>
            </a:r>
            <a:endParaRPr lang="zh-CN" altLang="en-US"/>
          </a:p>
          <a:p>
            <a:r>
              <a:rPr lang="zh-CN" altLang="en-US"/>
              <a:t>指定的定密责任人应当熟悉涉及国家秘密的业务工作，符合在涉密岗位工作的基本条件。</a:t>
            </a:r>
            <a:endParaRPr lang="zh-CN" altLang="en-US"/>
          </a:p>
          <a:p>
            <a:r>
              <a:rPr lang="zh-CN" altLang="en-US"/>
              <a:t>指定的定密责任人在指定范围内具有定密权，其在职权范围内确定、变更和解除本机关、本单位国家秘密。</a:t>
            </a:r>
            <a:endParaRPr lang="zh-CN" altLang="en-US"/>
          </a:p>
          <a:p>
            <a:r>
              <a:rPr lang="zh-CN" altLang="en-US"/>
              <a:t>指定的定密责任人不得再次指定其他人为定密责任人。</a:t>
            </a:r>
            <a:endParaRPr lang="zh-CN" altLang="en-US"/>
          </a:p>
          <a:p>
            <a:r>
              <a:rPr lang="zh-CN" altLang="en-US"/>
              <a:t>机关、单位应在本机关、本单位内部公布定密责任人名单及其定密权限，并报同级保密行政管理部门备案。</a:t>
            </a:r>
            <a:endParaRPr lang="zh-CN" altLang="en-US"/>
          </a:p>
        </p:txBody>
      </p:sp>
      <p:sp>
        <p:nvSpPr>
          <p:cNvPr id="4" name="文本框 3"/>
          <p:cNvSpPr txBox="1"/>
          <p:nvPr/>
        </p:nvSpPr>
        <p:spPr>
          <a:xfrm>
            <a:off x="2086610" y="378460"/>
            <a:ext cx="4933950" cy="645160"/>
          </a:xfrm>
          <a:prstGeom prst="rect">
            <a:avLst/>
          </a:prstGeom>
          <a:noFill/>
        </p:spPr>
        <p:txBody>
          <a:bodyPr wrap="square" rtlCol="0">
            <a:spAutoFit/>
          </a:bodyPr>
          <a:p>
            <a:r>
              <a:rPr lang="zh-CN" altLang="en-US" sz="3600" b="1"/>
              <a:t>指定定密责任人的</a:t>
            </a:r>
            <a:r>
              <a:rPr lang="zh-CN" altLang="en-US" sz="3600" b="1"/>
              <a:t>要求</a:t>
            </a:r>
            <a:endParaRPr lang="zh-CN" altLang="en-US" sz="36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定密责任</a:t>
            </a:r>
            <a:r>
              <a:rPr lang="zh-CN" altLang="en-US"/>
              <a:t>人管理</a:t>
            </a:r>
            <a:endParaRPr lang="zh-CN" altLang="en-US"/>
          </a:p>
        </p:txBody>
      </p:sp>
      <p:sp>
        <p:nvSpPr>
          <p:cNvPr id="3" name="内容占位符 2"/>
          <p:cNvSpPr>
            <a:spLocks noGrp="1"/>
          </p:cNvSpPr>
          <p:nvPr>
            <p:ph idx="1"/>
          </p:nvPr>
        </p:nvSpPr>
        <p:spPr/>
        <p:txBody>
          <a:bodyPr/>
          <a:p>
            <a:pPr>
              <a:lnSpc>
                <a:spcPct val="120000"/>
              </a:lnSpc>
            </a:pPr>
            <a:r>
              <a:rPr lang="zh-CN" altLang="en-US" sz="2800"/>
              <a:t>机关、单位主要负责人发现其指定的定密责任人未依法履行定密职责的，应当及时纠正</a:t>
            </a:r>
            <a:r>
              <a:rPr lang="en-US" altLang="zh-CN" sz="2800"/>
              <a:t>;</a:t>
            </a:r>
            <a:endParaRPr lang="en-US" altLang="zh-CN" sz="2800"/>
          </a:p>
          <a:p>
            <a:pPr>
              <a:lnSpc>
                <a:spcPct val="120000"/>
              </a:lnSpc>
            </a:pPr>
            <a:r>
              <a:rPr lang="zh-CN" altLang="en-US" sz="2800"/>
              <a:t>有下列情形之一的，应当作出调整</a:t>
            </a:r>
            <a:r>
              <a:rPr lang="en-US" altLang="zh-CN" sz="2800"/>
              <a:t>:</a:t>
            </a:r>
            <a:endParaRPr lang="en-US" altLang="zh-CN" sz="2800"/>
          </a:p>
          <a:p>
            <a:pPr>
              <a:lnSpc>
                <a:spcPct val="120000"/>
              </a:lnSpc>
            </a:pPr>
            <a:r>
              <a:rPr lang="en-US" altLang="zh-CN" sz="2800"/>
              <a:t>(1)</a:t>
            </a:r>
            <a:r>
              <a:rPr lang="zh-CN" altLang="en-US" sz="2800"/>
              <a:t>定密不当，情节严重的</a:t>
            </a:r>
            <a:r>
              <a:rPr lang="en-US" altLang="zh-CN" sz="2800"/>
              <a:t>;</a:t>
            </a:r>
            <a:endParaRPr lang="en-US" altLang="zh-CN" sz="2800"/>
          </a:p>
          <a:p>
            <a:pPr>
              <a:lnSpc>
                <a:spcPct val="120000"/>
              </a:lnSpc>
            </a:pPr>
            <a:r>
              <a:rPr lang="en-US" altLang="zh-CN" sz="2800"/>
              <a:t>(2)</a:t>
            </a:r>
            <a:r>
              <a:rPr lang="zh-CN" altLang="en-US" sz="2800"/>
              <a:t>因离岗离职无法继续履行定密职责的</a:t>
            </a:r>
            <a:r>
              <a:rPr lang="en-US" altLang="zh-CN" sz="2800"/>
              <a:t>;</a:t>
            </a:r>
            <a:endParaRPr lang="en-US" altLang="zh-CN" sz="2800"/>
          </a:p>
          <a:p>
            <a:pPr>
              <a:lnSpc>
                <a:spcPct val="120000"/>
              </a:lnSpc>
            </a:pPr>
            <a:r>
              <a:rPr lang="en-US" altLang="zh-CN" sz="2800"/>
              <a:t>(3)</a:t>
            </a:r>
            <a:r>
              <a:rPr lang="zh-CN" altLang="en-US" sz="2800"/>
              <a:t>保密行政管理部门建议调整的</a:t>
            </a:r>
            <a:r>
              <a:rPr lang="en-US" altLang="zh-CN" sz="2800"/>
              <a:t>;</a:t>
            </a:r>
            <a:endParaRPr lang="en-US" altLang="zh-CN" sz="2800"/>
          </a:p>
          <a:p>
            <a:pPr>
              <a:lnSpc>
                <a:spcPct val="120000"/>
              </a:lnSpc>
            </a:pPr>
            <a:r>
              <a:rPr lang="en-US" altLang="zh-CN" sz="2800"/>
              <a:t>(4)</a:t>
            </a:r>
            <a:r>
              <a:rPr lang="zh-CN" altLang="en-US" sz="2800"/>
              <a:t>因其他原因不宜从事定密工作的。</a:t>
            </a:r>
            <a:endParaRPr lang="zh-CN" altLang="en-US" sz="2800"/>
          </a:p>
          <a:p>
            <a:endParaRPr lang="zh-CN" alt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定密责任人</a:t>
            </a:r>
            <a:r>
              <a:rPr lang="zh-CN" altLang="en-US"/>
              <a:t>职责</a:t>
            </a:r>
            <a:endParaRPr lang="zh-CN" altLang="en-US"/>
          </a:p>
        </p:txBody>
      </p:sp>
      <p:sp>
        <p:nvSpPr>
          <p:cNvPr id="3" name="内容占位符 2"/>
          <p:cNvSpPr>
            <a:spLocks noGrp="1"/>
          </p:cNvSpPr>
          <p:nvPr>
            <p:ph idx="1"/>
          </p:nvPr>
        </p:nvSpPr>
        <p:spPr>
          <a:xfrm>
            <a:off x="457200" y="1341120"/>
            <a:ext cx="8229600" cy="4525963"/>
          </a:xfrm>
        </p:spPr>
        <p:txBody>
          <a:bodyPr>
            <a:noAutofit/>
          </a:bodyPr>
          <a:p>
            <a:pPr>
              <a:lnSpc>
                <a:spcPct val="110000"/>
              </a:lnSpc>
            </a:pPr>
            <a:r>
              <a:rPr lang="zh-CN" altLang="en-US" sz="2400"/>
              <a:t>定密责任人的职责既包括按照保密事项范围确定国家秘密，也包括根据情况变化变更和解除国家秘密。</a:t>
            </a:r>
            <a:endParaRPr lang="zh-CN" altLang="en-US" sz="2400"/>
          </a:p>
          <a:p>
            <a:pPr>
              <a:lnSpc>
                <a:spcPct val="110000"/>
              </a:lnSpc>
            </a:pPr>
            <a:r>
              <a:rPr lang="zh-CN" altLang="en-US" sz="2400"/>
              <a:t>一是对承办人拟定的国家秘密的密级、保密期限和知悉范围进行审核批准。</a:t>
            </a:r>
            <a:endParaRPr lang="zh-CN" altLang="en-US" sz="2400"/>
          </a:p>
          <a:p>
            <a:pPr>
              <a:lnSpc>
                <a:spcPct val="110000"/>
              </a:lnSpc>
            </a:pPr>
            <a:r>
              <a:rPr lang="zh-CN" altLang="en-US" sz="2400"/>
              <a:t>二是对本机关、本单位确定的尚在保密期限内的国家秘密进行审核，作出是否变更或者解除的决定。</a:t>
            </a:r>
            <a:endParaRPr lang="zh-CN" altLang="en-US" sz="2400"/>
          </a:p>
          <a:p>
            <a:pPr>
              <a:lnSpc>
                <a:spcPct val="110000"/>
              </a:lnSpc>
            </a:pPr>
            <a:r>
              <a:rPr lang="zh-CN" altLang="en-US" sz="2400"/>
              <a:t>三是对是否属于国家秘密和属于何种密级不明确的事项先行拟定密级、保密期限和知悉范围，并按照规定的程序报保密行政管理部门确定。</a:t>
            </a:r>
            <a:endParaRPr lang="zh-CN" altLang="en-US" sz="2400"/>
          </a:p>
          <a:p>
            <a:pPr>
              <a:lnSpc>
                <a:spcPct val="110000"/>
              </a:lnSpc>
            </a:pPr>
            <a:r>
              <a:rPr lang="zh-CN" altLang="en-US" sz="2400"/>
              <a:t>四是对本机关、本单位没有定密权限的事项，按照规定的程序，报上级机关、单位确定</a:t>
            </a:r>
            <a:r>
              <a:rPr lang="en-US" altLang="zh-CN" sz="2400"/>
              <a:t>;</a:t>
            </a:r>
            <a:r>
              <a:rPr lang="zh-CN" altLang="en-US" sz="2400"/>
              <a:t>没有上级机关、单位的，报有定密权限的业务主管部门或者保密行政管理部门确定。</a:t>
            </a:r>
            <a:endParaRPr lang="zh-CN"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定密工作</a:t>
            </a:r>
            <a:r>
              <a:rPr kumimoji="1" lang="zh-CN" altLang="en-US"/>
              <a:t>程序</a:t>
            </a:r>
            <a:endParaRPr kumimoji="1" lang="zh-CN" altLang="en-US"/>
          </a:p>
        </p:txBody>
      </p:sp>
      <p:sp>
        <p:nvSpPr>
          <p:cNvPr id="3" name="内容占位符 2"/>
          <p:cNvSpPr>
            <a:spLocks noGrp="1"/>
          </p:cNvSpPr>
          <p:nvPr>
            <p:ph idx="1"/>
          </p:nvPr>
        </p:nvSpPr>
        <p:spPr/>
        <p:txBody>
          <a:bodyPr>
            <a:normAutofit lnSpcReduction="10000"/>
          </a:bodyPr>
          <a:lstStyle/>
          <a:p>
            <a:pPr fontAlgn="t"/>
            <a:r>
              <a:rPr kumimoji="1" lang="zh-CN" altLang="en-US" sz="2800" dirty="0"/>
              <a:t>第二款规定定密工作程序。明确先由承办人对照保密事项范围提出国家秘密确定、变更和解除的具体意见，再由定密责任人审核批准并承担法律责任。</a:t>
            </a:r>
            <a:endParaRPr kumimoji="1" lang="zh-CN" altLang="en-US" sz="2800" dirty="0"/>
          </a:p>
          <a:p>
            <a:pPr fontAlgn="t"/>
            <a:r>
              <a:rPr kumimoji="1" lang="zh-CN" altLang="en-US" sz="2800" dirty="0"/>
              <a:t>定密责任人和承办人应当接受定密培训，熟悉定密职责和有关保密事项范围，掌握定密程序和方法。</a:t>
            </a:r>
            <a:endParaRPr kumimoji="1" lang="zh-CN" altLang="en-US" sz="2800" dirty="0"/>
          </a:p>
          <a:p>
            <a:pPr fontAlgn="t"/>
            <a:r>
              <a:rPr kumimoji="1" lang="zh-CN" altLang="en-US" sz="2800" dirty="0"/>
              <a:t>机关、单位确定国家秘密应当依据保密事项范围进行。保密事项范围没有明确规定，但属于保密法第十三条、第十四条规定情形的，应当确定为国家秘密。</a:t>
            </a:r>
            <a:endParaRPr kumimoji="1" lang="zh-CN"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zh-CN" altLang="en-US" dirty="0" smtClean="0">
                <a:sym typeface="+mn-ea"/>
              </a:rPr>
              <a:t>（</a:t>
            </a:r>
            <a:r>
              <a:rPr kumimoji="1" lang="zh-CN" altLang="en-US" dirty="0" smtClean="0">
                <a:sym typeface="+mn-ea"/>
              </a:rPr>
              <a:t>二）</a:t>
            </a:r>
            <a:r>
              <a:rPr kumimoji="1" lang="en-US" altLang="zh-CN" dirty="0" smtClean="0">
                <a:sym typeface="+mn-ea"/>
              </a:rPr>
              <a:t>《</a:t>
            </a:r>
            <a:r>
              <a:rPr kumimoji="1" lang="zh-CN" altLang="en-US" dirty="0" smtClean="0">
                <a:sym typeface="+mn-ea"/>
              </a:rPr>
              <a:t>保密法实施条例</a:t>
            </a:r>
            <a:r>
              <a:rPr kumimoji="1" lang="en-US" altLang="zh-CN" dirty="0" smtClean="0">
                <a:sym typeface="+mn-ea"/>
              </a:rPr>
              <a:t>》</a:t>
            </a:r>
            <a:endParaRPr lang="zh-CN" altLang="en-US"/>
          </a:p>
        </p:txBody>
      </p:sp>
      <p:pic>
        <p:nvPicPr>
          <p:cNvPr id="4" name="内容占位符 3" descr="截屏2025-04-23 下午9.30.01"/>
          <p:cNvPicPr>
            <a:picLocks noChangeAspect="1"/>
          </p:cNvPicPr>
          <p:nvPr>
            <p:ph idx="1"/>
          </p:nvPr>
        </p:nvPicPr>
        <p:blipFill>
          <a:blip r:embed="rId1"/>
          <a:stretch>
            <a:fillRect/>
          </a:stretch>
        </p:blipFill>
        <p:spPr>
          <a:xfrm>
            <a:off x="710565" y="2738755"/>
            <a:ext cx="7721600" cy="2247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《保密法实施条例》</a:t>
            </a:r>
            <a:r>
              <a:rPr lang="zh-CN" altLang="en-US"/>
              <a:t>释义</a:t>
            </a:r>
            <a:endParaRPr lang="zh-CN" altLang="en-US"/>
          </a:p>
        </p:txBody>
      </p:sp>
      <p:sp>
        <p:nvSpPr>
          <p:cNvPr id="3" name="内容占位符 2"/>
          <p:cNvSpPr>
            <a:spLocks noGrp="1"/>
          </p:cNvSpPr>
          <p:nvPr>
            <p:ph idx="1"/>
          </p:nvPr>
        </p:nvSpPr>
        <p:spPr/>
        <p:txBody>
          <a:bodyPr>
            <a:normAutofit lnSpcReduction="20000"/>
          </a:bodyPr>
          <a:p>
            <a:r>
              <a:rPr lang="zh-CN" altLang="en-US"/>
              <a:t>本条是关于定密责任人确定和履职条件的规定，是对保密法第十六条第一款的进一步细化。</a:t>
            </a:r>
            <a:endParaRPr lang="zh-CN" altLang="en-US"/>
          </a:p>
          <a:p>
            <a:r>
              <a:rPr lang="zh-CN" altLang="en-US"/>
              <a:t>第一款明确定密责任人及其确定程序。定密责任人包括法定定密责任人和指定定密责任人。</a:t>
            </a:r>
            <a:endParaRPr lang="zh-CN" altLang="en-US"/>
          </a:p>
          <a:p>
            <a:r>
              <a:rPr lang="zh-CN" altLang="en-US"/>
              <a:t>根据保密法第十六条及本条规定，机关、单位主要负责人为</a:t>
            </a:r>
            <a:r>
              <a:rPr lang="zh-CN" altLang="en-US">
                <a:solidFill>
                  <a:srgbClr val="FF0000"/>
                </a:solidFill>
              </a:rPr>
              <a:t>法定定密责任人</a:t>
            </a:r>
            <a:r>
              <a:rPr lang="zh-CN" altLang="en-US"/>
              <a:t>，对本机关、本单位定密工作负总责，对定密不当引起的后果承担领导责任。</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指代定密责任人的</a:t>
            </a:r>
            <a:r>
              <a:rPr lang="zh-CN" altLang="en-US"/>
              <a:t>来源</a:t>
            </a:r>
            <a:endParaRPr lang="zh-CN" altLang="en-US"/>
          </a:p>
        </p:txBody>
      </p:sp>
      <p:sp>
        <p:nvSpPr>
          <p:cNvPr id="3" name="内容占位符 2"/>
          <p:cNvSpPr>
            <a:spLocks noGrp="1"/>
          </p:cNvSpPr>
          <p:nvPr>
            <p:ph idx="1"/>
          </p:nvPr>
        </p:nvSpPr>
        <p:spPr/>
        <p:txBody>
          <a:bodyPr>
            <a:normAutofit fontScale="70000"/>
          </a:bodyPr>
          <a:p>
            <a:r>
              <a:rPr lang="zh-CN" altLang="en-US" sz="3430"/>
              <a:t>指定定密责任人是指机关、单位根据定密工作实际需要，按照规定程序，由法定定密责任人指定的负责定密工作的人员。</a:t>
            </a:r>
            <a:endParaRPr lang="zh-CN" altLang="en-US" sz="3430"/>
          </a:p>
          <a:p>
            <a:r>
              <a:rPr lang="zh-CN" altLang="en-US" sz="3430"/>
              <a:t>机关、单位根据产生国家秘密的数量和业务分工的需要，可以指定一名或者多名定密责任人。</a:t>
            </a:r>
            <a:endParaRPr lang="zh-CN" altLang="en-US" sz="3430"/>
          </a:p>
          <a:p>
            <a:r>
              <a:rPr lang="zh-CN" altLang="en-US" sz="3430"/>
              <a:t>指定定密责任人一般包括下列几类人员</a:t>
            </a:r>
            <a:r>
              <a:rPr lang="en-US" altLang="zh-CN" sz="3430"/>
              <a:t>:</a:t>
            </a:r>
            <a:endParaRPr lang="en-US" altLang="zh-CN" sz="3430"/>
          </a:p>
          <a:p>
            <a:r>
              <a:rPr lang="zh-CN" altLang="en-US" sz="3430"/>
              <a:t>一是机关、单位分管涉及国家秘密业务工作的其他负责人</a:t>
            </a:r>
            <a:r>
              <a:rPr lang="en-US" altLang="zh-CN" sz="3430"/>
              <a:t>;</a:t>
            </a:r>
            <a:endParaRPr lang="en-US" altLang="zh-CN" sz="3430"/>
          </a:p>
          <a:p>
            <a:r>
              <a:rPr lang="zh-CN" altLang="en-US" sz="3430"/>
              <a:t>二是机关、单位产生国家秘密较多的内设机构负责人</a:t>
            </a:r>
            <a:r>
              <a:rPr lang="en-US" altLang="zh-CN" sz="3430"/>
              <a:t>;</a:t>
            </a:r>
            <a:endParaRPr lang="en-US" altLang="zh-CN" sz="3430"/>
          </a:p>
          <a:p>
            <a:r>
              <a:rPr lang="zh-CN" altLang="en-US" sz="3430"/>
              <a:t>三是由于岗位职责需要，经常产生、处理国家秘密事项的内设机构的人员，如综合处</a:t>
            </a:r>
            <a:r>
              <a:rPr lang="en-US" altLang="zh-CN" sz="3430"/>
              <a:t>(</a:t>
            </a:r>
            <a:r>
              <a:rPr lang="zh-CN" altLang="en-US" sz="3430"/>
              <a:t>科</a:t>
            </a:r>
            <a:r>
              <a:rPr lang="en-US" altLang="zh-CN" sz="3430"/>
              <a:t>)</a:t>
            </a:r>
            <a:r>
              <a:rPr lang="zh-CN" altLang="en-US" sz="3430"/>
              <a:t>室、业务处</a:t>
            </a:r>
            <a:r>
              <a:rPr lang="en-US" altLang="zh-CN" sz="3430"/>
              <a:t>(</a:t>
            </a:r>
            <a:r>
              <a:rPr lang="zh-CN" altLang="en-US" sz="3430"/>
              <a:t>科</a:t>
            </a:r>
            <a:r>
              <a:rPr lang="en-US" altLang="zh-CN" sz="3430"/>
              <a:t>)</a:t>
            </a:r>
            <a:r>
              <a:rPr lang="zh-CN" altLang="en-US" sz="3430"/>
              <a:t>室负责人或者工作人员。</a:t>
            </a:r>
            <a:endParaRPr lang="zh-CN" altLang="en-US" sz="343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定密责任人的</a:t>
            </a:r>
            <a:r>
              <a:rPr lang="zh-CN" altLang="en-US"/>
              <a:t>权限</a:t>
            </a:r>
            <a:endParaRPr lang="zh-CN" altLang="en-US"/>
          </a:p>
        </p:txBody>
      </p:sp>
      <p:sp>
        <p:nvSpPr>
          <p:cNvPr id="3" name="内容占位符 2"/>
          <p:cNvSpPr>
            <a:spLocks noGrp="1"/>
          </p:cNvSpPr>
          <p:nvPr>
            <p:ph idx="1"/>
          </p:nvPr>
        </p:nvSpPr>
        <p:spPr/>
        <p:txBody>
          <a:bodyPr/>
          <a:p>
            <a:r>
              <a:rPr lang="zh-CN" altLang="en-US"/>
              <a:t>法定定密责任人的定密权限与机关、单位的定密权限一致；</a:t>
            </a:r>
            <a:endParaRPr lang="zh-CN" altLang="en-US"/>
          </a:p>
          <a:p>
            <a:r>
              <a:rPr lang="zh-CN" altLang="en-US"/>
              <a:t>指定定密责任人应当在所授予的定密权限内开展定密工作。</a:t>
            </a:r>
            <a:endParaRPr lang="zh-CN" altLang="en-US"/>
          </a:p>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定密责任人的确定程序</a:t>
            </a:r>
            <a:endParaRPr lang="zh-CN" altLang="en-US">
              <a:sym typeface="+mn-ea"/>
            </a:endParaRPr>
          </a:p>
        </p:txBody>
      </p:sp>
      <p:sp>
        <p:nvSpPr>
          <p:cNvPr id="3" name="内容占位符 2"/>
          <p:cNvSpPr>
            <a:spLocks noGrp="1"/>
          </p:cNvSpPr>
          <p:nvPr>
            <p:ph idx="1"/>
          </p:nvPr>
        </p:nvSpPr>
        <p:spPr/>
        <p:txBody>
          <a:bodyPr>
            <a:normAutofit fontScale="70000"/>
          </a:bodyPr>
          <a:p>
            <a:r>
              <a:rPr lang="zh-CN" altLang="en-US" sz="3430">
                <a:solidFill>
                  <a:srgbClr val="FF0000"/>
                </a:solidFill>
              </a:rPr>
              <a:t>机关、单位主要负责人</a:t>
            </a:r>
            <a:r>
              <a:rPr lang="zh-CN" altLang="en-US" sz="3430"/>
              <a:t>一经任命即为本机关、本单位法定定密责任人，无须行确定程序，也与本机关、本单位是否具有定密权无关。</a:t>
            </a:r>
            <a:endParaRPr lang="zh-CN" altLang="en-US" sz="3430"/>
          </a:p>
          <a:p>
            <a:r>
              <a:rPr lang="zh-CN" altLang="en-US" sz="3430">
                <a:solidFill>
                  <a:srgbClr val="FF0000"/>
                </a:solidFill>
              </a:rPr>
              <a:t>指定定密责任人</a:t>
            </a:r>
            <a:r>
              <a:rPr lang="zh-CN" altLang="en-US" sz="3430"/>
              <a:t>必须履行确定程序，一般先由机关、单位涉密业务部门提出拟任人选，由机关单位保密工作机构汇总研究后，报本机关、本单位法定定密责任人确定，以书面形式在本机关、本单位内部公布，并报同级保密行政管理部门备案。</a:t>
            </a:r>
            <a:endParaRPr lang="zh-CN" altLang="en-US" sz="3430"/>
          </a:p>
          <a:p>
            <a:r>
              <a:rPr lang="zh-CN" altLang="en-US" sz="3430"/>
              <a:t>法定定密责任人在指定定密责任人时，应当同时明确其定密权限，根据指定定密责任人的职务、岗位不同，可以授予其不同的定密权限。</a:t>
            </a:r>
            <a:endParaRPr lang="zh-CN" altLang="en-US" sz="3430"/>
          </a:p>
          <a:p>
            <a:endParaRPr lang="zh-CN" altLang="en-US" sz="343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定密责任人及</a:t>
            </a:r>
            <a:r>
              <a:rPr lang="zh-CN" altLang="en-US"/>
              <a:t>承办人履职</a:t>
            </a:r>
            <a:r>
              <a:rPr lang="zh-CN" altLang="en-US"/>
              <a:t>条件</a:t>
            </a:r>
            <a:endParaRPr lang="zh-CN" altLang="en-US"/>
          </a:p>
        </p:txBody>
      </p:sp>
      <p:sp>
        <p:nvSpPr>
          <p:cNvPr id="3" name="内容占位符 2"/>
          <p:cNvSpPr>
            <a:spLocks noGrp="1"/>
          </p:cNvSpPr>
          <p:nvPr>
            <p:ph idx="1"/>
          </p:nvPr>
        </p:nvSpPr>
        <p:spPr/>
        <p:txBody>
          <a:bodyPr>
            <a:normAutofit lnSpcReduction="10000"/>
          </a:bodyPr>
          <a:p>
            <a:r>
              <a:rPr lang="zh-CN" altLang="en-US"/>
              <a:t>第二款明确定密责任人和承办人履职条件。定密责任人和承办人应当符合以下条件</a:t>
            </a:r>
            <a:r>
              <a:rPr lang="en-US" altLang="zh-CN"/>
              <a:t>:</a:t>
            </a:r>
            <a:endParaRPr lang="en-US" altLang="zh-CN"/>
          </a:p>
          <a:p>
            <a:r>
              <a:rPr lang="zh-CN" altLang="en-US"/>
              <a:t>一是接受定密培训，熟悉保密法律法规及定密规定</a:t>
            </a:r>
            <a:r>
              <a:rPr lang="en-US" altLang="zh-CN"/>
              <a:t>;</a:t>
            </a:r>
            <a:endParaRPr lang="en-US" altLang="zh-CN"/>
          </a:p>
          <a:p>
            <a:r>
              <a:rPr lang="zh-CN" altLang="en-US"/>
              <a:t>二是熟悉本机关、本单位主管业务和相关行业、领域的保密事项范围</a:t>
            </a:r>
            <a:r>
              <a:rPr lang="en-US" altLang="zh-CN"/>
              <a:t>;</a:t>
            </a:r>
            <a:endParaRPr lang="en-US" altLang="zh-CN"/>
          </a:p>
          <a:p>
            <a:r>
              <a:rPr lang="zh-CN" altLang="en-US"/>
              <a:t>三是掌握定密程序和方法。</a:t>
            </a:r>
            <a:endParaRPr lang="zh-CN" altLang="en-US"/>
          </a:p>
          <a:p>
            <a:r>
              <a:rPr lang="zh-CN" altLang="en-US"/>
              <a:t>此外，还应当熟悉本机关本单位业务工作及国家秘密产生的部门、部位及工作环节。</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《保密法实施条例》</a:t>
            </a:r>
            <a:r>
              <a:rPr kumimoji="1" lang="zh-CN" altLang="en-US"/>
              <a:t>之二</a:t>
            </a:r>
            <a:endParaRPr kumimoji="1" lang="zh-CN" altLang="en-US"/>
          </a:p>
        </p:txBody>
      </p:sp>
      <p:pic>
        <p:nvPicPr>
          <p:cNvPr id="6" name="内容占位符 5" descr="截屏2025-04-23 下午9.30.13"/>
          <p:cNvPicPr>
            <a:picLocks noChangeAspect="1"/>
          </p:cNvPicPr>
          <p:nvPr>
            <p:ph idx="1"/>
          </p:nvPr>
        </p:nvPicPr>
        <p:blipFill>
          <a:blip r:embed="rId1"/>
          <a:stretch>
            <a:fillRect/>
          </a:stretch>
        </p:blipFill>
        <p:spPr>
          <a:xfrm>
            <a:off x="907415" y="2179955"/>
            <a:ext cx="7327900" cy="3365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zh-CN" altLang="en-US"/>
              <a:t>本条是关于定密责任人职责和履职要求的规定</a:t>
            </a:r>
            <a:r>
              <a:rPr lang="en-US" altLang="zh-CN"/>
              <a:t>,</a:t>
            </a:r>
            <a:r>
              <a:rPr lang="zh-CN" altLang="en-US"/>
              <a:t>这一规定可从两个方面理解把握</a:t>
            </a:r>
            <a:r>
              <a:rPr lang="en-US" altLang="zh-CN"/>
              <a:t>:</a:t>
            </a:r>
            <a:endParaRPr lang="en-US" altLang="zh-CN"/>
          </a:p>
          <a:p>
            <a:r>
              <a:rPr lang="zh-CN" altLang="en-US"/>
              <a:t>第一，定密责任人职责既包括确定、变更和解除国家秘密，也包括对职责范围内的定密工作进行指导监督。</a:t>
            </a:r>
            <a:endParaRPr lang="zh-CN" altLang="en-US"/>
          </a:p>
          <a:p>
            <a:r>
              <a:rPr lang="zh-CN" altLang="en-US"/>
              <a:t>第二，不同的定密责任人职责范围有所不同。法定定密责任人对本机关、本单位定密工作负总责，指定定密责任人按照授权开展定密工作。</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scene3d>
              <a:camera prst="orthographicFront"/>
              <a:lightRig rig="threePt" dir="t"/>
            </a:scene3d>
          </a:bodyPr>
          <a:p>
            <a:r>
              <a:rPr lang="zh-CN" altLang="en-US" sz="3555">
                <a:solidFill>
                  <a:schemeClr val="accent1"/>
                </a:solidFill>
                <a:effectLst>
                  <a:outerShdw blurRad="38100" dist="25400" dir="5400000" algn="ctr" rotWithShape="0">
                    <a:srgbClr val="6E747A">
                      <a:alpha val="43000"/>
                      <a:alpha val="43000"/>
                    </a:srgbClr>
                  </a:outerShdw>
                </a:effectLst>
                <a:sym typeface="+mn-ea"/>
              </a:rPr>
              <a:t>第一项，对承办人拟定的国家秘密的密级、保密期限和知悉范围进行审核批准。</a:t>
            </a:r>
            <a:endParaRPr lang="zh-CN" altLang="en-US" sz="3555">
              <a:solidFill>
                <a:schemeClr val="accent1"/>
              </a:solidFill>
              <a:effectLst>
                <a:outerShdw blurRad="38100" dist="25400" dir="5400000" algn="ctr" rotWithShape="0">
                  <a:srgbClr val="6E747A">
                    <a:alpha val="43000"/>
                    <a:alpha val="43000"/>
                  </a:srgbClr>
                </a:outerShdw>
              </a:effectLst>
              <a:sym typeface="+mn-ea"/>
            </a:endParaRPr>
          </a:p>
        </p:txBody>
      </p:sp>
      <p:sp>
        <p:nvSpPr>
          <p:cNvPr id="3" name="内容占位符 2"/>
          <p:cNvSpPr>
            <a:spLocks noGrp="1"/>
          </p:cNvSpPr>
          <p:nvPr>
            <p:ph idx="1"/>
          </p:nvPr>
        </p:nvSpPr>
        <p:spPr/>
        <p:txBody>
          <a:bodyPr/>
          <a:p>
            <a:pPr>
              <a:lnSpc>
                <a:spcPct val="120000"/>
              </a:lnSpc>
            </a:pPr>
            <a:r>
              <a:rPr lang="zh-CN" altLang="en-US"/>
              <a:t>审核的内容主要包括</a:t>
            </a:r>
            <a:r>
              <a:rPr lang="en-US" altLang="zh-CN"/>
              <a:t>:</a:t>
            </a:r>
            <a:r>
              <a:rPr lang="zh-CN" altLang="en-US"/>
              <a:t>对承办人拟定密级、保客期限、知悉范围所依据的保密事项范围的规定是否正确、密级是否准确、保密期限和知悉范围是否合理、作出的国家秘密标志是否规范进行审核，符合规定、标注规范的，予以批准，并作出书面记录。</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scene3d>
              <a:camera prst="orthographicFront"/>
              <a:lightRig rig="threePt" dir="t"/>
            </a:scene3d>
          </a:bodyPr>
          <a:p>
            <a:r>
              <a:rPr lang="zh-CN" altLang="en-US" sz="3555">
                <a:solidFill>
                  <a:schemeClr val="accent1"/>
                </a:solidFill>
                <a:effectLst>
                  <a:outerShdw blurRad="38100" dist="25400" dir="5400000" algn="ctr" rotWithShape="0">
                    <a:srgbClr val="6E747A">
                      <a:alpha val="43000"/>
                      <a:alpha val="43000"/>
                    </a:srgbClr>
                  </a:outerShdw>
                </a:effectLst>
                <a:sym typeface="+mn-ea"/>
              </a:rPr>
              <a:t>第二项，对尚在保密期限内的国家秘密进行审核，作出是否变更或者解除的决定。</a:t>
            </a:r>
            <a:endParaRPr lang="zh-CN" altLang="en-US" sz="3555">
              <a:solidFill>
                <a:schemeClr val="accent1"/>
              </a:solidFill>
              <a:effectLst>
                <a:outerShdw blurRad="38100" dist="25400" dir="5400000" algn="ctr" rotWithShape="0">
                  <a:srgbClr val="6E747A">
                    <a:alpha val="43000"/>
                    <a:alpha val="43000"/>
                  </a:srgbClr>
                </a:outerShdw>
              </a:effectLst>
              <a:sym typeface="+mn-ea"/>
            </a:endParaRPr>
          </a:p>
        </p:txBody>
      </p:sp>
      <p:sp>
        <p:nvSpPr>
          <p:cNvPr id="3" name="内容占位符 2"/>
          <p:cNvSpPr>
            <a:spLocks noGrp="1"/>
          </p:cNvSpPr>
          <p:nvPr>
            <p:ph idx="1"/>
          </p:nvPr>
        </p:nvSpPr>
        <p:spPr/>
        <p:txBody>
          <a:bodyPr>
            <a:normAutofit/>
          </a:bodyPr>
          <a:p>
            <a:pPr>
              <a:lnSpc>
                <a:spcPct val="120000"/>
              </a:lnSpc>
            </a:pPr>
            <a:r>
              <a:rPr lang="zh-CN" altLang="en-US" sz="2800"/>
              <a:t>机关、单位应当</a:t>
            </a:r>
            <a:r>
              <a:rPr lang="zh-CN" altLang="en-US" sz="2800">
                <a:solidFill>
                  <a:srgbClr val="FF0000"/>
                </a:solidFill>
              </a:rPr>
              <a:t>每年审核</a:t>
            </a:r>
            <a:r>
              <a:rPr lang="zh-CN" altLang="en-US" sz="2800"/>
              <a:t>所确定的国家秘密由承办人对国家秘密是否解密、何时解密、全部解密或者部分解密及解密后是否作为工作秘密、能否公开等提出意见后，报定密责任人审核。</a:t>
            </a:r>
            <a:endParaRPr lang="zh-CN" altLang="en-US" sz="2800"/>
          </a:p>
          <a:p>
            <a:pPr>
              <a:lnSpc>
                <a:spcPct val="120000"/>
              </a:lnSpc>
            </a:pPr>
            <a:r>
              <a:rPr lang="zh-CN" altLang="en-US" sz="2800"/>
              <a:t>定密责任人应当对承办人意见进行审核，作出决定，签署具体意见。</a:t>
            </a:r>
            <a:endParaRPr lang="zh-CN" altLang="en-US" sz="2800"/>
          </a:p>
          <a:p>
            <a:pPr>
              <a:lnSpc>
                <a:spcPct val="120000"/>
              </a:lnSpc>
            </a:pPr>
            <a:r>
              <a:rPr lang="zh-CN" altLang="en-US" sz="2800"/>
              <a:t>机关、单位可以根据工作需要，在定密责任人审核之前</a:t>
            </a:r>
            <a:r>
              <a:rPr lang="zh-CN" altLang="en-US" sz="2800">
                <a:solidFill>
                  <a:srgbClr val="FF0000"/>
                </a:solidFill>
              </a:rPr>
              <a:t>增设</a:t>
            </a:r>
            <a:r>
              <a:rPr lang="zh-CN" altLang="en-US" sz="2800"/>
              <a:t>其他审核把关、论证评估程序。</a:t>
            </a:r>
            <a:endParaRPr lang="zh-CN" altLang="en-US" sz="2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scene3d>
              <a:camera prst="orthographicFront"/>
              <a:lightRig rig="threePt" dir="t"/>
            </a:scene3d>
          </a:bodyPr>
          <a:p>
            <a:r>
              <a:rPr lang="zh-CN" altLang="en-US" sz="4000">
                <a:solidFill>
                  <a:schemeClr val="accent1"/>
                </a:solidFill>
                <a:effectLst>
                  <a:outerShdw blurRad="38100" dist="25400" dir="5400000" algn="ctr" rotWithShape="0">
                    <a:srgbClr val="6E747A">
                      <a:alpha val="43000"/>
                      <a:alpha val="43000"/>
                    </a:srgbClr>
                  </a:outerShdw>
                </a:effectLst>
                <a:sym typeface="+mn-ea"/>
              </a:rPr>
              <a:t>第三项，参与制定修订本机关、本单位国家秘密事项一览表。</a:t>
            </a:r>
            <a:endParaRPr lang="zh-CN" altLang="en-US" sz="4000">
              <a:solidFill>
                <a:schemeClr val="accent1"/>
              </a:solidFill>
              <a:effectLst>
                <a:outerShdw blurRad="38100" dist="25400" dir="5400000" algn="ctr" rotWithShape="0">
                  <a:srgbClr val="6E747A">
                    <a:alpha val="43000"/>
                    <a:alpha val="43000"/>
                  </a:srgbClr>
                </a:outerShdw>
              </a:effectLst>
              <a:sym typeface="+mn-ea"/>
            </a:endParaRPr>
          </a:p>
        </p:txBody>
      </p:sp>
      <p:sp>
        <p:nvSpPr>
          <p:cNvPr id="3" name="内容占位符 2"/>
          <p:cNvSpPr>
            <a:spLocks noGrp="1"/>
          </p:cNvSpPr>
          <p:nvPr>
            <p:ph idx="1"/>
          </p:nvPr>
        </p:nvSpPr>
        <p:spPr/>
        <p:txBody>
          <a:bodyPr>
            <a:normAutofit/>
          </a:bodyPr>
          <a:p>
            <a:pPr>
              <a:lnSpc>
                <a:spcPct val="130000"/>
              </a:lnSpc>
            </a:pPr>
            <a:r>
              <a:rPr lang="zh-CN" altLang="en-US" sz="2800"/>
              <a:t>根据实施条例第十三条规定，有定密权限的机关、单位应当依据本行业、本领域以及相关行业、领域保密事项范围，制定国家秘密事项一览表。</a:t>
            </a:r>
            <a:endParaRPr lang="zh-CN" altLang="en-US" sz="2800"/>
          </a:p>
          <a:p>
            <a:pPr>
              <a:lnSpc>
                <a:spcPct val="130000"/>
              </a:lnSpc>
            </a:pPr>
            <a:r>
              <a:rPr lang="zh-CN" altLang="en-US" sz="2800"/>
              <a:t>定密责任人负责本机关、本单位定密工作，熟悉本机关本单位业务工作和国家秘密事项确定情况，参与制定修订国家秘密事项一览表，有助于提升机关、单位定密工作的科学性、规范性和精准性。</a:t>
            </a:r>
            <a:endParaRPr lang="zh-CN" altLang="en-US"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692468"/>
            <a:ext cx="8229600" cy="1143000"/>
          </a:xfrm>
        </p:spPr>
        <p:txBody>
          <a:bodyPr>
            <a:normAutofit fontScale="90000"/>
          </a:bodyPr>
          <a:p>
            <a:pPr algn="l"/>
            <a:r>
              <a:rPr lang="zh-CN" altLang="en-US" sz="3110">
                <a:solidFill>
                  <a:schemeClr val="accent1"/>
                </a:solidFill>
                <a:effectLst>
                  <a:outerShdw blurRad="38100" dist="25400" dir="5400000" algn="ctr" rotWithShape="0">
                    <a:srgbClr val="6E747A">
                      <a:alpha val="43000"/>
                      <a:alpha val="43000"/>
                    </a:srgbClr>
                  </a:outerShdw>
                </a:effectLst>
                <a:sym typeface="+mn-ea"/>
              </a:rPr>
              <a:t>第四项，对是否属于国家秘密和属于何种密级不明确的事项先行拟定密级、保密期限和知悉范围，采取保密措施，并按照规定的程序，及时报请相应的保密行政管理部门确定。</a:t>
            </a:r>
            <a:endParaRPr lang="zh-CN" altLang="en-US" sz="3110">
              <a:solidFill>
                <a:schemeClr val="accent1"/>
              </a:solidFill>
              <a:effectLst>
                <a:outerShdw blurRad="38100" dist="25400" dir="5400000" algn="ctr" rotWithShape="0">
                  <a:srgbClr val="6E747A">
                    <a:alpha val="43000"/>
                    <a:alpha val="43000"/>
                  </a:srgbClr>
                </a:outerShdw>
              </a:effectLst>
              <a:sym typeface="+mn-ea"/>
            </a:endParaRPr>
          </a:p>
        </p:txBody>
      </p:sp>
      <p:sp>
        <p:nvSpPr>
          <p:cNvPr id="3" name="内容占位符 2"/>
          <p:cNvSpPr>
            <a:spLocks noGrp="1"/>
          </p:cNvSpPr>
          <p:nvPr>
            <p:ph idx="1"/>
          </p:nvPr>
        </p:nvSpPr>
        <p:spPr>
          <a:xfrm>
            <a:off x="467995" y="2204720"/>
            <a:ext cx="8229600" cy="4525963"/>
          </a:xfrm>
        </p:spPr>
        <p:txBody>
          <a:bodyPr>
            <a:normAutofit/>
          </a:bodyPr>
          <a:p>
            <a:pPr>
              <a:lnSpc>
                <a:spcPct val="110000"/>
              </a:lnSpc>
            </a:pPr>
            <a:r>
              <a:rPr lang="zh-CN" altLang="en-US" sz="2665"/>
              <a:t>一般而言，机关单位产生的属于国家秘密的事项，在相关保密事项范围中都有明确规定，可以按照</a:t>
            </a:r>
            <a:r>
              <a:rPr lang="en-US" altLang="zh-CN" sz="2665"/>
              <a:t>“</a:t>
            </a:r>
            <a:r>
              <a:rPr lang="zh-CN" altLang="en-US" sz="2665"/>
              <a:t>对号人座</a:t>
            </a:r>
            <a:r>
              <a:rPr lang="en-US" altLang="zh-CN" sz="2665"/>
              <a:t>”</a:t>
            </a:r>
            <a:r>
              <a:rPr lang="zh-CN" altLang="en-US" sz="2665"/>
              <a:t>的方法进行定密。</a:t>
            </a:r>
            <a:endParaRPr lang="zh-CN" altLang="en-US" sz="2665"/>
          </a:p>
          <a:p>
            <a:pPr>
              <a:lnSpc>
                <a:spcPct val="110000"/>
              </a:lnSpc>
            </a:pPr>
            <a:r>
              <a:rPr lang="zh-CN" altLang="en-US" sz="2665"/>
              <a:t>在实际工作中，无法</a:t>
            </a:r>
            <a:r>
              <a:rPr lang="en-US" altLang="zh-CN" sz="2665"/>
              <a:t>“</a:t>
            </a:r>
            <a:r>
              <a:rPr lang="zh-CN" altLang="en-US" sz="2665"/>
              <a:t>对号人座</a:t>
            </a:r>
            <a:r>
              <a:rPr lang="en-US" altLang="zh-CN" sz="2665"/>
              <a:t>”</a:t>
            </a:r>
            <a:r>
              <a:rPr lang="zh-CN" altLang="en-US" sz="2665"/>
              <a:t>的不明确事项较少，如遇此情况，定密责任人应当根据事项泄露后对国家安全和利益的危害程度，先行拟定密级、保密期限和知悉范围，采取相应的保密措施，并按照不明确事项的确定程序，报国家保密行政管理部门或者省、自治区、直辖市保密行政管理部门确定。</a:t>
            </a:r>
            <a:endParaRPr lang="zh-CN" altLang="en-US" sz="266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定密责任人其他</a:t>
            </a:r>
            <a:r>
              <a:rPr lang="zh-CN" altLang="en-US"/>
              <a:t>职责</a:t>
            </a:r>
            <a:endParaRPr lang="zh-CN" altLang="en-US"/>
          </a:p>
        </p:txBody>
      </p:sp>
      <p:sp>
        <p:nvSpPr>
          <p:cNvPr id="3" name="内容占位符 2"/>
          <p:cNvSpPr>
            <a:spLocks noGrp="1"/>
          </p:cNvSpPr>
          <p:nvPr>
            <p:ph idx="1"/>
          </p:nvPr>
        </p:nvSpPr>
        <p:spPr/>
        <p:txBody>
          <a:bodyPr>
            <a:normAutofit fontScale="70000"/>
          </a:bodyPr>
          <a:p>
            <a:r>
              <a:rPr lang="zh-CN" altLang="en-US" sz="3430"/>
              <a:t>此外，从实际情况看，定密责任人在履行上述基本职责的同时，应当根据实际工作需要和机关、单位工作安排，承担与定密工作相关的其他工作任务。</a:t>
            </a:r>
            <a:endParaRPr lang="zh-CN" altLang="en-US" sz="3430"/>
          </a:p>
          <a:p>
            <a:pPr marL="457200" indent="-457200">
              <a:buFont typeface="+mj-lt"/>
              <a:buAutoNum type="arabicPeriod"/>
            </a:pPr>
            <a:r>
              <a:rPr lang="zh-CN" altLang="en-US" sz="3430"/>
              <a:t>对承办人拟定密级的工作进行业务指导</a:t>
            </a:r>
            <a:r>
              <a:rPr lang="en-US" altLang="zh-CN" sz="3430"/>
              <a:t>;</a:t>
            </a:r>
            <a:endParaRPr lang="en-US" altLang="zh-CN" sz="3430"/>
          </a:p>
          <a:p>
            <a:pPr marL="457200" indent="-457200">
              <a:buFont typeface="+mj-lt"/>
              <a:buAutoNum type="arabicPeriod"/>
            </a:pPr>
            <a:r>
              <a:rPr lang="zh-CN" altLang="en-US" sz="3430"/>
              <a:t>对本机关、本单位无权定密的事项，按照申请定密的程序，报有相应定密权的机关、单位或者保密行政管理部门确定</a:t>
            </a:r>
            <a:r>
              <a:rPr lang="en-US" altLang="zh-CN" sz="3430"/>
              <a:t>;</a:t>
            </a:r>
            <a:endParaRPr lang="en-US" altLang="zh-CN" sz="3430"/>
          </a:p>
          <a:p>
            <a:pPr marL="457200" indent="-457200">
              <a:buFont typeface="+mj-lt"/>
              <a:buAutoNum type="arabicPeriod"/>
            </a:pPr>
            <a:r>
              <a:rPr lang="zh-CN" altLang="en-US" sz="3430"/>
              <a:t>对拟公开发布的信息进行保密审查</a:t>
            </a:r>
            <a:r>
              <a:rPr lang="en-US" altLang="zh-CN" sz="3430"/>
              <a:t>;</a:t>
            </a:r>
            <a:endParaRPr lang="en-US" altLang="zh-CN" sz="3430"/>
          </a:p>
          <a:p>
            <a:pPr marL="457200" indent="-457200">
              <a:buFont typeface="+mj-lt"/>
              <a:buAutoNum type="arabicPeriod"/>
            </a:pPr>
            <a:r>
              <a:rPr lang="zh-CN" altLang="en-US" sz="3430"/>
              <a:t>受理并答复有关方面提出的定密异议；</a:t>
            </a:r>
            <a:endParaRPr lang="zh-CN" altLang="en-US" sz="3430"/>
          </a:p>
          <a:p>
            <a:pPr marL="457200" indent="-457200">
              <a:buFont typeface="+mj-lt"/>
              <a:buAutoNum type="arabicPeriod"/>
            </a:pPr>
            <a:r>
              <a:rPr lang="zh-CN" altLang="en-US" sz="3430"/>
              <a:t>就保密事项范围的修订、加强和改进定密管理工作向有关机关提出建议等。</a:t>
            </a:r>
            <a:endParaRPr lang="zh-CN" altLang="en-US" sz="343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（三）国家秘密定密管理</a:t>
            </a:r>
            <a:r>
              <a:rPr lang="zh-CN" altLang="en-US"/>
              <a:t>规定</a:t>
            </a:r>
            <a:endParaRPr lang="zh-CN" altLang="en-US"/>
          </a:p>
        </p:txBody>
      </p:sp>
      <p:sp>
        <p:nvSpPr>
          <p:cNvPr id="3" name="内容占位符 2"/>
          <p:cNvSpPr>
            <a:spLocks noGrp="1"/>
          </p:cNvSpPr>
          <p:nvPr>
            <p:ph idx="1"/>
          </p:nvPr>
        </p:nvSpPr>
        <p:spPr/>
        <p:txBody>
          <a:bodyPr>
            <a:normAutofit fontScale="70000"/>
          </a:bodyPr>
          <a:p>
            <a:pPr algn="ctr">
              <a:lnSpc>
                <a:spcPct val="120000"/>
              </a:lnSpc>
            </a:pPr>
            <a:r>
              <a:rPr lang="zh-CN" altLang="en-US"/>
              <a:t>第四章</a:t>
            </a:r>
            <a:r>
              <a:rPr lang="en-US" altLang="zh-CN"/>
              <a:t> </a:t>
            </a:r>
            <a:r>
              <a:rPr lang="zh-CN" altLang="en-US"/>
              <a:t>定密责任人</a:t>
            </a:r>
            <a:endParaRPr lang="en-US" altLang="zh-CN"/>
          </a:p>
          <a:p>
            <a:pPr>
              <a:lnSpc>
                <a:spcPct val="120000"/>
              </a:lnSpc>
            </a:pPr>
            <a:r>
              <a:rPr lang="zh-CN" altLang="en-US">
                <a:solidFill>
                  <a:srgbClr val="FF0000"/>
                </a:solidFill>
                <a:sym typeface="+mn-ea"/>
              </a:rPr>
              <a:t>类型、权限、基本要求</a:t>
            </a:r>
            <a:endParaRPr lang="zh-CN" altLang="en-US">
              <a:solidFill>
                <a:srgbClr val="FF0000"/>
              </a:solidFill>
            </a:endParaRPr>
          </a:p>
          <a:p>
            <a:pPr>
              <a:lnSpc>
                <a:spcPct val="120000"/>
              </a:lnSpc>
            </a:pPr>
            <a:r>
              <a:rPr lang="zh-CN" altLang="en-US"/>
              <a:t>第二十二条</a:t>
            </a:r>
            <a:r>
              <a:rPr lang="en-US" altLang="zh-CN"/>
              <a:t> </a:t>
            </a:r>
            <a:r>
              <a:rPr lang="zh-CN" altLang="en-US"/>
              <a:t>机关、单位主要负责人为本机关、本单位的法定定密责任人，对定密工作负总责。</a:t>
            </a:r>
            <a:endParaRPr lang="zh-CN" altLang="en-US"/>
          </a:p>
          <a:p>
            <a:pPr>
              <a:lnSpc>
                <a:spcPct val="120000"/>
              </a:lnSpc>
            </a:pPr>
            <a:r>
              <a:rPr lang="zh-CN" altLang="en-US"/>
              <a:t>根据工作需要，机关、单位法定定密责任人可以明确本机关、本单位其他负责人、内设机构负责人或者其他人员为指定定密责任人，并明确相应的定密权限，负责其职责范围内定密工作。指定定密责任人不得再确定其他人员为定密责任人。</a:t>
            </a:r>
            <a:endParaRPr lang="zh-CN" altLang="en-US"/>
          </a:p>
          <a:p>
            <a:pPr>
              <a:lnSpc>
                <a:spcPct val="120000"/>
              </a:lnSpc>
            </a:pPr>
            <a:r>
              <a:rPr lang="zh-CN" altLang="en-US"/>
              <a:t>机关、单位定密责任人应当熟悉涉密业务工作，符合在涉密岗位工作的基本条件。</a:t>
            </a:r>
            <a:endParaRPr lang="zh-CN" altLang="en-US"/>
          </a:p>
          <a:p>
            <a:pPr marL="0" indent="0">
              <a:buNone/>
            </a:pPr>
            <a:endParaRPr lang="zh-CN" altLang="en-US">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22300"/>
            <a:ext cx="8229600" cy="5824220"/>
          </a:xfrm>
        </p:spPr>
        <p:txBody>
          <a:bodyPr>
            <a:normAutofit fontScale="60000"/>
          </a:bodyPr>
          <a:p>
            <a:r>
              <a:rPr lang="zh-CN" altLang="en-US" sz="3335">
                <a:sym typeface="+mn-ea"/>
              </a:rPr>
              <a:t>第二十三条</a:t>
            </a:r>
            <a:r>
              <a:rPr lang="en-US" altLang="zh-CN" sz="3335">
                <a:sym typeface="+mn-ea"/>
              </a:rPr>
              <a:t> </a:t>
            </a:r>
            <a:r>
              <a:rPr lang="zh-CN" altLang="en-US" sz="3335">
                <a:sym typeface="+mn-ea"/>
              </a:rPr>
              <a:t>机关、单位应当在本机关、本单位内部公布定密责任人名单及其定密权限，并报同级保密行政管理部门备案。</a:t>
            </a:r>
            <a:r>
              <a:rPr lang="zh-CN" altLang="en-US" sz="3335">
                <a:solidFill>
                  <a:srgbClr val="FF0000"/>
                </a:solidFill>
                <a:sym typeface="+mn-ea"/>
              </a:rPr>
              <a:t>（程序）</a:t>
            </a:r>
            <a:endParaRPr lang="zh-CN" altLang="en-US" sz="3335"/>
          </a:p>
          <a:p>
            <a:endParaRPr lang="zh-CN" altLang="en-US" sz="3335">
              <a:sym typeface="+mn-ea"/>
            </a:endParaRPr>
          </a:p>
          <a:p>
            <a:r>
              <a:rPr lang="zh-CN" altLang="en-US" sz="3335">
                <a:sym typeface="+mn-ea"/>
              </a:rPr>
              <a:t>第二十四条</a:t>
            </a:r>
            <a:r>
              <a:rPr lang="en-US" altLang="zh-CN" sz="3335">
                <a:sym typeface="+mn-ea"/>
              </a:rPr>
              <a:t> </a:t>
            </a:r>
            <a:r>
              <a:rPr lang="zh-CN" altLang="en-US" sz="3335">
                <a:sym typeface="+mn-ea"/>
              </a:rPr>
              <a:t>定密责任人在职责范围内承担国家秘密确定、变更和解除工作，指导、监督职责范围内的定密工作。主要包括：</a:t>
            </a:r>
            <a:r>
              <a:rPr lang="zh-CN" altLang="en-US" sz="3335">
                <a:solidFill>
                  <a:srgbClr val="FF0000"/>
                </a:solidFill>
                <a:sym typeface="+mn-ea"/>
              </a:rPr>
              <a:t>（职责）</a:t>
            </a:r>
            <a:endParaRPr lang="zh-CN" altLang="en-US" sz="3335"/>
          </a:p>
          <a:p>
            <a:r>
              <a:rPr lang="zh-CN" altLang="en-US" sz="3335">
                <a:sym typeface="+mn-ea"/>
              </a:rPr>
              <a:t>（一）对承办人拟定的国家秘密的密级、保密期限和知悉范围进行审核批准；</a:t>
            </a:r>
            <a:endParaRPr lang="zh-CN" altLang="en-US" sz="3335"/>
          </a:p>
          <a:p>
            <a:r>
              <a:rPr lang="zh-CN" altLang="en-US" sz="3335">
                <a:sym typeface="+mn-ea"/>
              </a:rPr>
              <a:t>（二）对本机关、本单位确定的尚在保密期限内的国家秘密进行审核，作出是否变更或者解除的决定；</a:t>
            </a:r>
            <a:endParaRPr lang="zh-CN" altLang="en-US" sz="3335"/>
          </a:p>
          <a:p>
            <a:r>
              <a:rPr lang="zh-CN" altLang="en-US" sz="3335">
                <a:sym typeface="+mn-ea"/>
              </a:rPr>
              <a:t>（三）参与制定修订本机关、本单位国家秘密事项一览表；</a:t>
            </a:r>
            <a:endParaRPr lang="zh-CN" altLang="en-US" sz="3335"/>
          </a:p>
          <a:p>
            <a:r>
              <a:rPr lang="zh-CN" altLang="en-US" sz="3335">
                <a:sym typeface="+mn-ea"/>
              </a:rPr>
              <a:t>（四）对不明确事项先行拟定密级、保密期限和知悉范围，采取相应的保密措施，并按照规定的程序报相应的保密行政管理部门确定；</a:t>
            </a:r>
            <a:endParaRPr lang="zh-CN" altLang="en-US" sz="3335"/>
          </a:p>
          <a:p>
            <a:r>
              <a:rPr lang="zh-CN" altLang="en-US" sz="3335">
                <a:sym typeface="+mn-ea"/>
              </a:rPr>
              <a:t>（五）研究办理有关机关、单位提出的定密异议；</a:t>
            </a:r>
            <a:endParaRPr lang="zh-CN" altLang="en-US" sz="3335"/>
          </a:p>
          <a:p>
            <a:r>
              <a:rPr lang="zh-CN" altLang="en-US" sz="3335">
                <a:sym typeface="+mn-ea"/>
              </a:rPr>
              <a:t>（六）对拟公开的已解密事项提出保密审查意见；</a:t>
            </a:r>
            <a:endParaRPr lang="zh-CN" altLang="en-US" sz="3335"/>
          </a:p>
          <a:p>
            <a:r>
              <a:rPr lang="zh-CN" altLang="en-US" sz="3335">
                <a:sym typeface="+mn-ea"/>
              </a:rPr>
              <a:t>（七）对保密事项范围的制定、修订，以及加强和改进定密工作，提出意见建议。</a:t>
            </a:r>
            <a:endParaRPr lang="zh-CN" altLang="en-US" sz="3335"/>
          </a:p>
          <a:p>
            <a:endParaRPr lang="zh-CN" altLang="en-US" sz="3335"/>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46100"/>
            <a:ext cx="8229600" cy="6017895"/>
          </a:xfrm>
        </p:spPr>
        <p:txBody>
          <a:bodyPr>
            <a:normAutofit fontScale="80000"/>
          </a:bodyPr>
          <a:p>
            <a:r>
              <a:rPr lang="zh-CN" altLang="en-US">
                <a:sym typeface="+mn-ea"/>
              </a:rPr>
              <a:t>第二十五条</a:t>
            </a:r>
            <a:r>
              <a:rPr lang="en-US" altLang="zh-CN">
                <a:sym typeface="+mn-ea"/>
              </a:rPr>
              <a:t> </a:t>
            </a:r>
            <a:r>
              <a:rPr lang="zh-CN" altLang="en-US">
                <a:sym typeface="+mn-ea"/>
              </a:rPr>
              <a:t>机关、单位定密责任人和承办人应当接受定密培训，熟悉定密职责和有关保密事项范围，掌握定密程序和方法。</a:t>
            </a:r>
            <a:r>
              <a:rPr lang="zh-CN" altLang="en-US">
                <a:solidFill>
                  <a:srgbClr val="FF0000"/>
                </a:solidFill>
                <a:sym typeface="+mn-ea"/>
              </a:rPr>
              <a:t>（履职要求）</a:t>
            </a:r>
            <a:endParaRPr lang="zh-CN" altLang="en-US">
              <a:sym typeface="+mn-ea"/>
            </a:endParaRPr>
          </a:p>
          <a:p>
            <a:endParaRPr lang="zh-CN" altLang="en-US"/>
          </a:p>
          <a:p>
            <a:r>
              <a:rPr lang="zh-CN" altLang="en-US">
                <a:sym typeface="+mn-ea"/>
              </a:rPr>
              <a:t>第二十六条</a:t>
            </a:r>
            <a:r>
              <a:rPr lang="en-US" altLang="zh-CN">
                <a:sym typeface="+mn-ea"/>
              </a:rPr>
              <a:t> </a:t>
            </a:r>
            <a:r>
              <a:rPr lang="zh-CN" altLang="en-US">
                <a:sym typeface="+mn-ea"/>
              </a:rPr>
              <a:t>机关、单位法定定密责任人发现指定定密责任人未依法履行定密职责的，应当及时纠正；有下列情形之一的，应当作出调整：</a:t>
            </a:r>
            <a:r>
              <a:rPr lang="zh-CN" altLang="en-US">
                <a:solidFill>
                  <a:srgbClr val="FF0000"/>
                </a:solidFill>
                <a:sym typeface="+mn-ea"/>
              </a:rPr>
              <a:t>（人员管理）</a:t>
            </a:r>
            <a:endParaRPr lang="zh-CN" altLang="en-US"/>
          </a:p>
          <a:p>
            <a:r>
              <a:rPr lang="zh-CN" altLang="en-US">
                <a:sym typeface="+mn-ea"/>
              </a:rPr>
              <a:t>（一）不符合本规定第二十五条定密责任人岗位要求，无法履行定密职责的；</a:t>
            </a:r>
            <a:endParaRPr lang="zh-CN" altLang="en-US"/>
          </a:p>
          <a:p>
            <a:r>
              <a:rPr lang="zh-CN" altLang="en-US">
                <a:sym typeface="+mn-ea"/>
              </a:rPr>
              <a:t>（二）定密不当，情节严重的；</a:t>
            </a:r>
            <a:endParaRPr lang="zh-CN" altLang="en-US"/>
          </a:p>
          <a:p>
            <a:r>
              <a:rPr lang="zh-CN" altLang="en-US">
                <a:sym typeface="+mn-ea"/>
              </a:rPr>
              <a:t>（三）因离岗离职无法继续履行定密职责的；</a:t>
            </a:r>
            <a:endParaRPr lang="zh-CN" altLang="en-US"/>
          </a:p>
          <a:p>
            <a:r>
              <a:rPr lang="zh-CN" altLang="en-US">
                <a:sym typeface="+mn-ea"/>
              </a:rPr>
              <a:t>（四）保密行政管理部门建议调整的；</a:t>
            </a:r>
            <a:endParaRPr lang="zh-CN" altLang="en-US"/>
          </a:p>
          <a:p>
            <a:r>
              <a:rPr lang="zh-CN" altLang="en-US">
                <a:sym typeface="+mn-ea"/>
              </a:rPr>
              <a:t>（五）因其他原因不宜从事定密工作的。</a:t>
            </a:r>
            <a:endParaRPr lang="zh-CN" altLang="en-US"/>
          </a:p>
          <a:p>
            <a:endParaRPr lang="zh-CN" altLang="en-US"/>
          </a:p>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二、定密责任人的类型</a:t>
            </a:r>
            <a:endParaRPr kumimoji="1" lang="zh-CN" altLang="en-US" dirty="0"/>
          </a:p>
        </p:txBody>
      </p:sp>
      <p:sp>
        <p:nvSpPr>
          <p:cNvPr id="3" name="内容占位符 2"/>
          <p:cNvSpPr>
            <a:spLocks noGrp="1"/>
          </p:cNvSpPr>
          <p:nvPr>
            <p:ph idx="1"/>
          </p:nvPr>
        </p:nvSpPr>
        <p:spPr/>
        <p:txBody>
          <a:bodyPr/>
          <a:lstStyle/>
          <a:p>
            <a:r>
              <a:rPr lang="zh-CN" altLang="en-US" dirty="0"/>
              <a:t> </a:t>
            </a:r>
            <a:r>
              <a:rPr lang="zh-CN" altLang="en-US" dirty="0" smtClean="0"/>
              <a:t>保密法</a:t>
            </a:r>
            <a:r>
              <a:rPr lang="zh-CN" altLang="en-US" dirty="0"/>
              <a:t>实施条例第九条规定：“机关、单位负责人为本机关、本单位的定密责任人，根据工作需要，可以指定其他人员为定密责任人。”这一规定确立了我国定密责任人制度的基本框架，明确了定密责任人包括</a:t>
            </a:r>
            <a:r>
              <a:rPr lang="zh-CN" altLang="en-US" dirty="0">
                <a:solidFill>
                  <a:srgbClr val="FF0000"/>
                </a:solidFill>
              </a:rPr>
              <a:t>法定的定密责任人</a:t>
            </a:r>
            <a:r>
              <a:rPr lang="zh-CN" altLang="en-US" dirty="0"/>
              <a:t>和</a:t>
            </a:r>
            <a:r>
              <a:rPr lang="zh-CN" altLang="en-US" dirty="0">
                <a:solidFill>
                  <a:srgbClr val="FF0000"/>
                </a:solidFill>
              </a:rPr>
              <a:t>指定的定密责任人</a:t>
            </a:r>
            <a:r>
              <a:rPr lang="zh-CN" altLang="en-US" dirty="0"/>
              <a:t>两种类型。 </a:t>
            </a:r>
            <a:endParaRPr kumimoji="1"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lnSpcReduction="10000"/>
          </a:bodyPr>
          <a:lstStyle/>
          <a:p>
            <a:r>
              <a:rPr lang="zh-CN" altLang="en-US" dirty="0"/>
              <a:t>（一）法定的定密责任人 </a:t>
            </a:r>
            <a:endParaRPr lang="zh-CN" altLang="en-US" dirty="0"/>
          </a:p>
          <a:p>
            <a:r>
              <a:rPr lang="zh-CN" altLang="en-US" dirty="0"/>
              <a:t>法定的定密责任人，是指法律明确规定作为定密责任人的人员，即机关、单位负责人。这里的机关、单位负责人一般是指机关、单位的</a:t>
            </a:r>
            <a:r>
              <a:rPr lang="zh-CN" altLang="en-US" dirty="0">
                <a:solidFill>
                  <a:srgbClr val="FF0000"/>
                </a:solidFill>
              </a:rPr>
              <a:t>主要负责人</a:t>
            </a:r>
            <a:r>
              <a:rPr lang="zh-CN" altLang="en-US" dirty="0"/>
              <a:t>。机关、单位负责人一经任命，即为法定的定密责任人，不需履行确定程序。暂行规定明确提出，法定的定密责任人，对机关、单位定密工作负总责</a:t>
            </a:r>
            <a:r>
              <a:rPr lang="zh-CN" altLang="en-US" dirty="0" smtClean="0"/>
              <a:t>。</a:t>
            </a:r>
            <a:endParaRPr lang="en-US" altLang="zh-CN" dirty="0" smtClean="0"/>
          </a:p>
          <a:p>
            <a:endParaRPr kumimoji="1"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en-US" dirty="0"/>
              <a:t>（二）指定的定密责任人 </a:t>
            </a:r>
            <a:endParaRPr lang="zh-CN" altLang="en-US" dirty="0"/>
          </a:p>
          <a:p>
            <a:r>
              <a:rPr lang="zh-CN" altLang="en-US" dirty="0"/>
              <a:t>指定的定密责任人是由法定的定密责任人指定、具体承担定密职责的人员。  </a:t>
            </a:r>
            <a:endParaRPr lang="zh-CN" altLang="en-US" dirty="0"/>
          </a:p>
          <a:p>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en-US" dirty="0" smtClean="0">
                <a:solidFill>
                  <a:srgbClr val="FF0000"/>
                </a:solidFill>
              </a:rPr>
              <a:t>思考</a:t>
            </a:r>
            <a:r>
              <a:rPr lang="zh-CN" altLang="en-US" dirty="0">
                <a:solidFill>
                  <a:srgbClr val="FF0000"/>
                </a:solidFill>
              </a:rPr>
              <a:t>：为什么要将定密责任人区分为</a:t>
            </a:r>
            <a:r>
              <a:rPr lang="en-US" altLang="zh-CN" dirty="0">
                <a:solidFill>
                  <a:srgbClr val="FF0000"/>
                </a:solidFill>
              </a:rPr>
              <a:t>2</a:t>
            </a:r>
            <a:r>
              <a:rPr lang="zh-CN" altLang="en-US" dirty="0">
                <a:solidFill>
                  <a:srgbClr val="FF0000"/>
                </a:solidFill>
              </a:rPr>
              <a:t>种类型？</a:t>
            </a:r>
            <a:endParaRPr lang="zh-CN" altLang="en-US" dirty="0">
              <a:solidFill>
                <a:srgbClr val="FF0000"/>
              </a:solidFill>
            </a:endParaRPr>
          </a:p>
          <a:p>
            <a:r>
              <a:rPr kumimoji="1" lang="zh-CN" altLang="en-US" dirty="0" smtClean="0"/>
              <a:t>法定定密责任人工作繁忙</a:t>
            </a:r>
            <a:endParaRPr kumimoji="1" lang="zh-CN" altLang="en-US" dirty="0" smtClean="0"/>
          </a:p>
          <a:p>
            <a:r>
              <a:rPr kumimoji="1" lang="zh-CN" altLang="en-US" dirty="0" smtClean="0"/>
              <a:t>定密工作严谨细致、专业性强</a:t>
            </a:r>
            <a:endParaRPr kumimoji="1" lang="zh-CN" altLang="en-US" dirty="0" smtClean="0"/>
          </a:p>
          <a:p>
            <a:r>
              <a:rPr kumimoji="1" lang="zh-CN" altLang="en-US" dirty="0" smtClean="0"/>
              <a:t>负责日常定密工作</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（三）两者之间的关系</a:t>
            </a:r>
            <a:endParaRPr kumimoji="1" lang="zh-CN" altLang="en-US" dirty="0"/>
          </a:p>
        </p:txBody>
      </p:sp>
      <p:sp>
        <p:nvSpPr>
          <p:cNvPr id="3" name="内容占位符 2"/>
          <p:cNvSpPr>
            <a:spLocks noGrp="1"/>
          </p:cNvSpPr>
          <p:nvPr>
            <p:ph idx="1"/>
          </p:nvPr>
        </p:nvSpPr>
        <p:spPr/>
        <p:txBody>
          <a:bodyPr/>
          <a:lstStyle/>
          <a:p>
            <a:pPr>
              <a:lnSpc>
                <a:spcPct val="150000"/>
              </a:lnSpc>
            </a:pPr>
            <a:r>
              <a:rPr kumimoji="1" lang="zh-CN" altLang="en-US" dirty="0" smtClean="0"/>
              <a:t>指定在法定领导下工作，对法定负责</a:t>
            </a:r>
            <a:endParaRPr kumimoji="1" lang="zh-CN" altLang="en-US" dirty="0" smtClean="0"/>
          </a:p>
          <a:p>
            <a:pPr>
              <a:lnSpc>
                <a:spcPct val="150000"/>
              </a:lnSpc>
            </a:pPr>
            <a:r>
              <a:rPr kumimoji="1" lang="zh-CN" altLang="en-US" dirty="0" smtClean="0"/>
              <a:t>在法定未做更改之前，等同于法定的决定</a:t>
            </a:r>
            <a:endParaRPr kumimoji="1" lang="zh-CN" altLang="en-US" dirty="0" smtClean="0"/>
          </a:p>
          <a:p>
            <a:pPr>
              <a:lnSpc>
                <a:spcPct val="150000"/>
              </a:lnSpc>
            </a:pPr>
            <a:r>
              <a:rPr kumimoji="1" lang="zh-CN" altLang="en-US" dirty="0" smtClean="0"/>
              <a:t>法定职责一直存在，负总责</a:t>
            </a:r>
            <a:endParaRPr kumimoji="1" lang="zh-CN" altLang="en-US" dirty="0" smtClean="0"/>
          </a:p>
          <a:p>
            <a:pPr>
              <a:lnSpc>
                <a:spcPct val="150000"/>
              </a:lnSpc>
            </a:pPr>
            <a:r>
              <a:rPr kumimoji="1" lang="zh-CN" altLang="en-US" dirty="0" smtClean="0"/>
              <a:t>法定定密职责，不是弱化，而是强化</a:t>
            </a:r>
            <a:endParaRPr kumimoji="1"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强化的表现</a:t>
            </a:r>
            <a:endParaRPr kumimoji="1" lang="zh-CN" altLang="en-US" dirty="0"/>
          </a:p>
        </p:txBody>
      </p:sp>
      <p:sp>
        <p:nvSpPr>
          <p:cNvPr id="3" name="内容占位符 2"/>
          <p:cNvSpPr>
            <a:spLocks noGrp="1"/>
          </p:cNvSpPr>
          <p:nvPr>
            <p:ph idx="1"/>
          </p:nvPr>
        </p:nvSpPr>
        <p:spPr/>
        <p:txBody>
          <a:bodyPr/>
          <a:lstStyle/>
          <a:p>
            <a:pPr>
              <a:lnSpc>
                <a:spcPct val="150000"/>
              </a:lnSpc>
            </a:pPr>
            <a:r>
              <a:rPr kumimoji="1" lang="zh-CN" altLang="en-US" dirty="0" smtClean="0"/>
              <a:t>监督</a:t>
            </a:r>
            <a:endParaRPr kumimoji="1" lang="zh-CN" altLang="en-US" dirty="0" smtClean="0"/>
          </a:p>
          <a:p>
            <a:pPr>
              <a:lnSpc>
                <a:spcPct val="150000"/>
              </a:lnSpc>
            </a:pPr>
            <a:r>
              <a:rPr kumimoji="1" lang="zh-CN" altLang="en-US" dirty="0" smtClean="0"/>
              <a:t>撤销和重新指定</a:t>
            </a:r>
            <a:endParaRPr kumimoji="1" lang="zh-CN" altLang="en-US" dirty="0" smtClean="0"/>
          </a:p>
          <a:p>
            <a:pPr>
              <a:lnSpc>
                <a:spcPct val="150000"/>
              </a:lnSpc>
            </a:pPr>
            <a:r>
              <a:rPr kumimoji="1" lang="zh-CN" altLang="en-US" dirty="0" smtClean="0"/>
              <a:t>改变并负责</a:t>
            </a:r>
            <a:endParaRPr kumimoji="1" lang="zh-CN" altLang="en-US" dirty="0" smtClean="0"/>
          </a:p>
          <a:p>
            <a:pPr>
              <a:lnSpc>
                <a:spcPct val="150000"/>
              </a:lnSpc>
            </a:pPr>
            <a:r>
              <a:rPr kumimoji="1" lang="zh-CN" altLang="en-US" dirty="0" smtClean="0"/>
              <a:t>直接行使</a:t>
            </a:r>
            <a:endParaRPr kumimoji="1"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承办</a:t>
            </a:r>
            <a:r>
              <a:rPr lang="zh-CN" altLang="en-US" b="1" dirty="0" smtClean="0"/>
              <a:t>人</a:t>
            </a:r>
            <a:endParaRPr kumimoji="1" lang="zh-CN" altLang="en-US" dirty="0"/>
          </a:p>
        </p:txBody>
      </p:sp>
      <p:sp>
        <p:nvSpPr>
          <p:cNvPr id="3" name="内容占位符 2"/>
          <p:cNvSpPr>
            <a:spLocks noGrp="1"/>
          </p:cNvSpPr>
          <p:nvPr>
            <p:ph idx="1"/>
          </p:nvPr>
        </p:nvSpPr>
        <p:spPr>
          <a:xfrm>
            <a:off x="457200" y="1253490"/>
            <a:ext cx="8229600" cy="5271770"/>
          </a:xfrm>
        </p:spPr>
        <p:txBody>
          <a:bodyPr>
            <a:normAutofit fontScale="85000" lnSpcReduction="10000"/>
          </a:bodyPr>
          <a:lstStyle/>
          <a:p>
            <a:r>
              <a:rPr lang="zh-CN" altLang="en-US" dirty="0" smtClean="0"/>
              <a:t>指</a:t>
            </a:r>
            <a:r>
              <a:rPr lang="zh-CN" altLang="en-US" dirty="0"/>
              <a:t>根据机关、单位内部岗位职责分工，负责</a:t>
            </a:r>
            <a:r>
              <a:rPr lang="zh-CN" altLang="en-US" dirty="0">
                <a:solidFill>
                  <a:srgbClr val="FF0000"/>
                </a:solidFill>
              </a:rPr>
              <a:t>具体</a:t>
            </a:r>
            <a:r>
              <a:rPr lang="zh-CN" altLang="en-US" dirty="0"/>
              <a:t>处理、办理涉及国家秘密事项的工作人员。</a:t>
            </a:r>
            <a:endParaRPr lang="zh-CN" altLang="en-US" dirty="0"/>
          </a:p>
          <a:p>
            <a:r>
              <a:rPr lang="zh-CN" altLang="en-US" dirty="0"/>
              <a:t>在定密工作中，除定密责任人以外，承办人也承担了重要职责。依据保密法律法规，承办人应当对自己承办的事项是否应当确定为国家秘密及确定为何种密级，如何限定保密期限和知悉范围提出具体意见，并在其形成的载体上做出国家秘密标志，对已确定的国家秘密是否需要作出变更或解密提出意见建议，提交本机关、本单位定密责任人审核批准。</a:t>
            </a:r>
            <a:endParaRPr lang="zh-CN" altLang="en-US" dirty="0"/>
          </a:p>
          <a:p>
            <a:r>
              <a:rPr lang="zh-CN" altLang="en-US" dirty="0"/>
              <a:t>定密责任人履行定密职责的方式，就是对承办人提出的确定、变更和解除国家秘密的意见进行审核批准。因此，定密的初始工作由承办人承担，承办人是整个定密流程</a:t>
            </a:r>
            <a:r>
              <a:rPr lang="zh-CN" altLang="en-US"/>
              <a:t>中</a:t>
            </a:r>
            <a:r>
              <a:rPr lang="zh-CN" altLang="en-US" smtClean="0"/>
              <a:t>第一</a:t>
            </a:r>
            <a:r>
              <a:rPr lang="zh-CN" altLang="en-US"/>
              <a:t>个环节工作的执行者。</a:t>
            </a:r>
            <a:endParaRPr lang="zh-CN" altLang="en-US"/>
          </a:p>
          <a:p>
            <a:endParaRPr lang="zh-CN" altLang="en-US" dirty="0"/>
          </a:p>
          <a:p>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定密责任人</a:t>
            </a:r>
            <a:r>
              <a:rPr kumimoji="1" lang="en-US" altLang="zh-CN"/>
              <a:t> VS </a:t>
            </a:r>
            <a:r>
              <a:rPr kumimoji="1" lang="zh-CN" altLang="en-US"/>
              <a:t>承办人</a:t>
            </a:r>
            <a:endParaRPr kumimoji="1" lang="zh-CN" altLang="en-US"/>
          </a:p>
        </p:txBody>
      </p:sp>
      <p:sp>
        <p:nvSpPr>
          <p:cNvPr id="3" name="内容占位符 2"/>
          <p:cNvSpPr>
            <a:spLocks noGrp="1"/>
          </p:cNvSpPr>
          <p:nvPr>
            <p:ph idx="1"/>
          </p:nvPr>
        </p:nvSpPr>
        <p:spPr/>
        <p:txBody>
          <a:bodyPr>
            <a:normAutofit/>
          </a:bodyPr>
          <a:lstStyle/>
          <a:p>
            <a:r>
              <a:rPr lang="zh-CN" altLang="en-US" dirty="0" smtClean="0"/>
              <a:t>与</a:t>
            </a:r>
            <a:r>
              <a:rPr lang="zh-CN" altLang="en-US" dirty="0"/>
              <a:t>定密责任人</a:t>
            </a:r>
            <a:r>
              <a:rPr lang="zh-CN" altLang="en-US" dirty="0">
                <a:solidFill>
                  <a:srgbClr val="FF0000"/>
                </a:solidFill>
              </a:rPr>
              <a:t>不同</a:t>
            </a:r>
            <a:r>
              <a:rPr lang="zh-CN" altLang="en-US" dirty="0"/>
              <a:t>的是，承办人是不确定的主体。特别对于涉密程度较高、产生国家秘密事项较多的机关、单位而言，承办人的范围非常广泛。机关、单位没有必要也没有可能对承办人进行公示。但是，一旦机关、单位工作人员作为承办人进入定密程序，就应当将其纳入涉密人员管理，以确保国家秘密安全</a:t>
            </a:r>
            <a:endParaRPr kumimoji="1"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三、定密</a:t>
            </a:r>
            <a:r>
              <a:rPr lang="zh-CN" altLang="en-US" dirty="0"/>
              <a:t>责任</a:t>
            </a:r>
            <a:r>
              <a:rPr lang="zh-CN" altLang="en-US" dirty="0" smtClean="0"/>
              <a:t>人的职责</a:t>
            </a:r>
            <a:br>
              <a:rPr lang="zh-CN" altLang="en-US" dirty="0" smtClean="0"/>
            </a:br>
            <a:r>
              <a:rPr lang="zh-CN" altLang="en-US" dirty="0" smtClean="0"/>
              <a:t>提法（一）</a:t>
            </a:r>
            <a:endParaRPr kumimoji="1"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zh-CN" altLang="en-US" dirty="0"/>
              <a:t> </a:t>
            </a:r>
            <a:r>
              <a:rPr lang="zh-CN" altLang="en-US" dirty="0" smtClean="0"/>
              <a:t>   保密法</a:t>
            </a:r>
            <a:r>
              <a:rPr lang="zh-CN" altLang="en-US" dirty="0"/>
              <a:t>实施条例明确规定，定密责任人在职责范围内承担国家秘密确定、变更和解除工作。具体职责是： </a:t>
            </a:r>
            <a:endParaRPr lang="zh-CN" altLang="en-US" dirty="0"/>
          </a:p>
          <a:p>
            <a:r>
              <a:rPr lang="en-US" altLang="zh-CN" dirty="0"/>
              <a:t>1.</a:t>
            </a:r>
            <a:r>
              <a:rPr lang="zh-CN" altLang="en-US" dirty="0"/>
              <a:t>审核批准本机关、本单位产生的国家秘密的密级、保密期限和知悉范围； </a:t>
            </a:r>
            <a:endParaRPr lang="zh-CN" altLang="en-US" dirty="0"/>
          </a:p>
          <a:p>
            <a:r>
              <a:rPr lang="en-US" altLang="zh-CN" dirty="0"/>
              <a:t>2.</a:t>
            </a:r>
            <a:r>
              <a:rPr lang="zh-CN" altLang="en-US" dirty="0"/>
              <a:t>对本机关、本单位产生的尚在保密期限内的国家秘密进行审核，作出是否变更或者解除的决定； </a:t>
            </a:r>
            <a:endParaRPr lang="zh-CN" altLang="en-US" dirty="0"/>
          </a:p>
          <a:p>
            <a:r>
              <a:rPr lang="en-US" altLang="zh-CN" dirty="0"/>
              <a:t>3.</a:t>
            </a:r>
            <a:r>
              <a:rPr lang="zh-CN" altLang="en-US" dirty="0"/>
              <a:t>对是否属于国家秘密和属于何种密级不明确的事项先行拟定密级，并按照规定的程序报保密行政管理部门确定。 </a:t>
            </a:r>
            <a:endParaRPr kumimoji="1"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提法</a:t>
            </a:r>
            <a:r>
              <a:rPr lang="zh-CN" altLang="en-US" dirty="0" smtClean="0"/>
              <a:t>（二）</a:t>
            </a:r>
            <a:endParaRPr lang="zh-CN" altLang="en-US" dirty="0"/>
          </a:p>
        </p:txBody>
      </p:sp>
      <p:sp>
        <p:nvSpPr>
          <p:cNvPr id="3" name="内容占位符 2"/>
          <p:cNvSpPr>
            <a:spLocks noGrp="1"/>
          </p:cNvSpPr>
          <p:nvPr>
            <p:ph idx="1"/>
          </p:nvPr>
        </p:nvSpPr>
        <p:spPr>
          <a:xfrm>
            <a:off x="457200" y="1199515"/>
            <a:ext cx="8229600" cy="5372735"/>
          </a:xfrm>
        </p:spPr>
        <p:txBody>
          <a:bodyPr>
            <a:noAutofit/>
          </a:bodyPr>
          <a:lstStyle/>
          <a:p>
            <a:pPr marL="514350" lvl="0" indent="-514350">
              <a:lnSpc>
                <a:spcPct val="90000"/>
              </a:lnSpc>
              <a:buFont typeface="+mj-lt"/>
              <a:buAutoNum type="arabicPeriod"/>
            </a:pPr>
            <a:r>
              <a:rPr lang="zh-CN" altLang="en-US" sz="2400" dirty="0" smtClean="0"/>
              <a:t>依据</a:t>
            </a:r>
            <a:r>
              <a:rPr lang="en-US" altLang="zh-CN" sz="2400" dirty="0" smtClean="0"/>
              <a:t>《</a:t>
            </a:r>
            <a:r>
              <a:rPr lang="zh-CN" altLang="en-US" sz="2400" dirty="0" smtClean="0"/>
              <a:t>保密法</a:t>
            </a:r>
            <a:r>
              <a:rPr lang="en-US" altLang="zh-CN" sz="2400" dirty="0" smtClean="0"/>
              <a:t>》</a:t>
            </a:r>
            <a:r>
              <a:rPr lang="zh-CN" altLang="en-US" sz="2400" dirty="0" smtClean="0"/>
              <a:t>和有关国家秘密事项范围的规定，汇总、制定适用于本机关、本单位的</a:t>
            </a:r>
            <a:r>
              <a:rPr lang="en-US" altLang="zh-CN" sz="2400" dirty="0" smtClean="0"/>
              <a:t>《</a:t>
            </a:r>
            <a:r>
              <a:rPr lang="zh-CN" altLang="en-US" sz="2400" dirty="0" smtClean="0"/>
              <a:t>国家秘密事项一览表</a:t>
            </a:r>
            <a:r>
              <a:rPr lang="en-US" altLang="zh-CN" sz="2400" dirty="0" smtClean="0"/>
              <a:t>》</a:t>
            </a:r>
            <a:r>
              <a:rPr lang="zh-CN" altLang="en-US" sz="2400" dirty="0" smtClean="0"/>
              <a:t>，报本机关、本单位保密工作机构审查批准，并根据相关国家秘密事项范围的规定，对一览表内容进行变更、调整；</a:t>
            </a:r>
            <a:endParaRPr lang="zh-CN" altLang="en-US" sz="2400" dirty="0" smtClean="0"/>
          </a:p>
          <a:p>
            <a:pPr marL="514350" lvl="0" indent="-514350">
              <a:lnSpc>
                <a:spcPct val="90000"/>
              </a:lnSpc>
              <a:buFont typeface="+mj-lt"/>
              <a:buAutoNum type="arabicPeriod"/>
            </a:pPr>
            <a:r>
              <a:rPr lang="zh-CN" altLang="en-US" sz="2400" dirty="0" smtClean="0"/>
              <a:t>审核批准承办人拟定的定密意见，审核批准本机关、本单位产生国家秘密文件、资料和其他物品的密级、保密期限和知悉范围；对本机关、本单位产生的尚在保密期限内的国家秘密事项定期进行审查，作出维持、变更或解除的决定；</a:t>
            </a:r>
            <a:endParaRPr lang="zh-CN" altLang="en-US" sz="2400" dirty="0" smtClean="0"/>
          </a:p>
          <a:p>
            <a:pPr marL="514350" lvl="0" indent="-514350">
              <a:lnSpc>
                <a:spcPct val="90000"/>
              </a:lnSpc>
              <a:buFont typeface="+mj-lt"/>
              <a:buAutoNum type="arabicPeriod"/>
            </a:pPr>
            <a:r>
              <a:rPr lang="zh-CN" altLang="en-US" sz="2400" dirty="0" smtClean="0"/>
              <a:t>对是否属于国家秘密和属于何种密级不明确或者有争议事项拟定密级，按照规定程序报请有相应定密权的保密行政管理部门确定；</a:t>
            </a:r>
            <a:endParaRPr lang="zh-CN" altLang="en-US" sz="2400" dirty="0" smtClean="0"/>
          </a:p>
          <a:p>
            <a:pPr marL="514350" lvl="0" indent="-514350">
              <a:lnSpc>
                <a:spcPct val="90000"/>
              </a:lnSpc>
              <a:buFont typeface="+mj-lt"/>
              <a:buAutoNum type="arabicPeriod"/>
            </a:pPr>
            <a:r>
              <a:rPr lang="zh-CN" altLang="en-US" sz="2400" dirty="0" smtClean="0">
                <a:solidFill>
                  <a:schemeClr val="accent1"/>
                </a:solidFill>
                <a:effectLst>
                  <a:outerShdw blurRad="38100" dist="25400" dir="5400000" algn="ctr" rotWithShape="0">
                    <a:srgbClr val="6E747A">
                      <a:alpha val="43000"/>
                      <a:alpha val="43000"/>
                    </a:srgbClr>
                  </a:outerShdw>
                </a:effectLst>
              </a:rPr>
              <a:t>查验各种纸质、磁介质和其它电子类秘密文档的密点标注以及相应载体的密级标志情况；</a:t>
            </a:r>
            <a:endParaRPr lang="zh-CN" altLang="en-US" sz="2400" dirty="0" smtClean="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29600" cy="5257800"/>
          </a:xfrm>
        </p:spPr>
        <p:txBody>
          <a:bodyPr>
            <a:normAutofit fontScale="92500" lnSpcReduction="20000"/>
          </a:bodyPr>
          <a:lstStyle/>
          <a:p>
            <a:r>
              <a:rPr lang="zh-CN" altLang="en-US" dirty="0" smtClean="0"/>
              <a:t>定密责任人职责既包括确定国家秘密，也包括根据情况变化变更和解除国家秘密。准确</a:t>
            </a:r>
            <a:r>
              <a:rPr lang="zh-CN" altLang="en-US" dirty="0"/>
              <a:t>理解这一规定，要从以下三个方面进行把握</a:t>
            </a:r>
            <a:r>
              <a:rPr lang="zh-CN" altLang="en-US" dirty="0" smtClean="0"/>
              <a:t>：</a:t>
            </a:r>
            <a:endParaRPr lang="zh-CN" altLang="en-US" dirty="0" smtClean="0"/>
          </a:p>
          <a:p>
            <a:r>
              <a:rPr lang="zh-CN" altLang="en-US" dirty="0" smtClean="0"/>
              <a:t>第一，</a:t>
            </a:r>
            <a:r>
              <a:rPr lang="zh-CN" altLang="en-US" dirty="0"/>
              <a:t>不同的定密责任人职责权限范围有所不同。法定定密责任人对本机关、本单位的定密工作负总责，其定密权限与机关、单位自身的定密权限一致。指定定密责任人则应当在被授予的定密权限内开展定密工作</a:t>
            </a:r>
            <a:r>
              <a:rPr lang="zh-CN" altLang="en-US" dirty="0" smtClean="0"/>
              <a:t>。</a:t>
            </a:r>
            <a:endParaRPr lang="zh-CN" altLang="en-US" dirty="0" smtClean="0"/>
          </a:p>
          <a:p>
            <a:r>
              <a:rPr lang="zh-CN" altLang="en-US" dirty="0" smtClean="0"/>
              <a:t>第二，</a:t>
            </a:r>
            <a:r>
              <a:rPr lang="zh-CN" altLang="en-US" dirty="0"/>
              <a:t>定密责任人在职责范围内对定密工作负责。指定定密责任人在指定范围内具有完全的定密权，在职责范围内作出的确定、变更和解除的国家秘密，具有法律效力，一般情况下，可以不报请法定定密责任人批准。 </a:t>
            </a:r>
            <a:endParaRPr lang="zh-CN" altLang="en-US" dirty="0"/>
          </a:p>
        </p:txBody>
      </p:sp>
      <p:sp>
        <p:nvSpPr>
          <p:cNvPr id="4" name="标题 1"/>
          <p:cNvSpPr>
            <a:spLocks noGrp="1"/>
          </p:cNvSpPr>
          <p:nvPr>
            <p:ph type="title"/>
          </p:nvPr>
        </p:nvSpPr>
        <p:spPr>
          <a:xfrm>
            <a:off x="457200" y="-27384"/>
            <a:ext cx="8229600" cy="1143000"/>
          </a:xfrm>
        </p:spPr>
        <p:txBody>
          <a:bodyPr/>
          <a:lstStyle/>
          <a:p>
            <a:r>
              <a:rPr lang="zh-CN" altLang="en-US" dirty="0"/>
              <a:t>提法</a:t>
            </a:r>
            <a:r>
              <a:rPr lang="zh-CN" altLang="en-US" dirty="0" smtClean="0"/>
              <a:t>（三）</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2935"/>
            <a:ext cx="8229600" cy="5503545"/>
          </a:xfrm>
        </p:spPr>
        <p:txBody>
          <a:bodyPr>
            <a:normAutofit fontScale="87500" lnSpcReduction="10000"/>
          </a:bodyPr>
          <a:lstStyle/>
          <a:p>
            <a:r>
              <a:rPr lang="zh-CN" altLang="en-US" dirty="0" smtClean="0"/>
              <a:t>第三，</a:t>
            </a:r>
            <a:r>
              <a:rPr lang="zh-CN" altLang="en-US" dirty="0"/>
              <a:t>从实际情况看，定密责任人在履行上述基本职责的同时，还应当根据实际工作需要和机关、单位的工作安排，承担与定密工作相关的其他工作任务，主要是： </a:t>
            </a:r>
            <a:endParaRPr lang="zh-CN" altLang="en-US" dirty="0"/>
          </a:p>
          <a:p>
            <a:r>
              <a:rPr lang="en-US" altLang="zh-CN" dirty="0"/>
              <a:t>1.</a:t>
            </a:r>
            <a:r>
              <a:rPr lang="zh-CN" altLang="en-US" dirty="0"/>
              <a:t>对承办人拟定密级的工作进行业务指导或者组织定密业务培训； </a:t>
            </a:r>
            <a:endParaRPr lang="zh-CN" altLang="en-US" dirty="0"/>
          </a:p>
          <a:p>
            <a:r>
              <a:rPr lang="en-US" altLang="zh-CN" dirty="0"/>
              <a:t>2.</a:t>
            </a:r>
            <a:r>
              <a:rPr lang="zh-CN" altLang="en-US" dirty="0"/>
              <a:t>对本机关、本单位无权定密的事项，按照申请定密的程序，报请有相应定密权的机关、单位或保密行政管理部门确定；对拟公开发布的信息进行保密审查； </a:t>
            </a:r>
            <a:endParaRPr lang="zh-CN" altLang="en-US" dirty="0"/>
          </a:p>
          <a:p>
            <a:r>
              <a:rPr lang="en-US" altLang="zh-CN" dirty="0"/>
              <a:t>3.</a:t>
            </a:r>
            <a:r>
              <a:rPr lang="zh-CN" altLang="en-US" dirty="0"/>
              <a:t>受理并答复有关方面提出的定密异议； </a:t>
            </a:r>
            <a:endParaRPr lang="zh-CN" altLang="en-US" dirty="0"/>
          </a:p>
          <a:p>
            <a:r>
              <a:rPr lang="en-US" altLang="zh-CN" dirty="0"/>
              <a:t>4.</a:t>
            </a:r>
            <a:r>
              <a:rPr lang="zh-CN" altLang="en-US" dirty="0"/>
              <a:t>就保密事项范围的制定修订或加强和改进定密管理工作，向有关机关提出建议等。 </a:t>
            </a:r>
            <a:endParaRPr kumimoji="1" lang="zh-CN" altLang="en-US" dirty="0"/>
          </a:p>
          <a:p>
            <a:endParaRPr kumimoji="1"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提法（四）</a:t>
            </a:r>
            <a:endParaRPr lang="zh-CN" altLang="en-US" dirty="0"/>
          </a:p>
        </p:txBody>
      </p:sp>
      <p:sp>
        <p:nvSpPr>
          <p:cNvPr id="3" name="内容占位符 2"/>
          <p:cNvSpPr>
            <a:spLocks noGrp="1"/>
          </p:cNvSpPr>
          <p:nvPr>
            <p:ph idx="1"/>
          </p:nvPr>
        </p:nvSpPr>
        <p:spPr/>
        <p:txBody>
          <a:bodyPr>
            <a:normAutofit fontScale="85000" lnSpcReduction="10000"/>
          </a:bodyPr>
          <a:lstStyle/>
          <a:p>
            <a:pPr marL="514350" lvl="0" indent="-514350">
              <a:buFont typeface="+mj-lt"/>
              <a:buAutoNum type="arabicPeriod"/>
            </a:pPr>
            <a:r>
              <a:rPr lang="zh-CN" altLang="en-US" dirty="0" smtClean="0"/>
              <a:t>审核批准本机、本关单位产生的国家秘密文件、资料和其他物品密级的变更情况，并将变更结果通知知悉范围内的人员及有关的机关、单位；</a:t>
            </a:r>
            <a:endParaRPr lang="zh-CN" altLang="en-US" dirty="0" smtClean="0"/>
          </a:p>
          <a:p>
            <a:pPr marL="514350" lvl="0" indent="-514350">
              <a:buFont typeface="+mj-lt"/>
              <a:buAutoNum type="arabicPeriod"/>
            </a:pPr>
            <a:r>
              <a:rPr lang="zh-CN" altLang="en-US" dirty="0" smtClean="0"/>
              <a:t>审核批准本机关、本单位产生的国家秘密文件、资料和其他物品的解密，并负责通知知悉范围内的人员及有关的机关、单位；</a:t>
            </a:r>
            <a:endParaRPr lang="zh-CN" altLang="en-US" dirty="0" smtClean="0"/>
          </a:p>
          <a:p>
            <a:pPr marL="514350" lvl="0" indent="-514350">
              <a:buFont typeface="+mj-lt"/>
              <a:buAutoNum type="arabicPeriod"/>
            </a:pPr>
            <a:r>
              <a:rPr lang="zh-CN" altLang="en-US" dirty="0" smtClean="0"/>
              <a:t>协助本机关、本单位保密工作机构开展对内部相关人员的定密业务培训工作，并负责做好日常定密咨询服务和工作指导；</a:t>
            </a:r>
            <a:endParaRPr lang="zh-CN" altLang="en-US" dirty="0" smtClean="0"/>
          </a:p>
          <a:p>
            <a:pPr marL="514350" indent="-514350">
              <a:buFont typeface="+mj-lt"/>
              <a:buAutoNum type="arabicPeriod"/>
            </a:pPr>
            <a:r>
              <a:rPr lang="zh-CN" altLang="en-US" dirty="0" smtClean="0"/>
              <a:t>填写本机、本关单位的</a:t>
            </a:r>
            <a:r>
              <a:rPr lang="en-US" altLang="zh-CN" dirty="0" smtClean="0"/>
              <a:t>《</a:t>
            </a:r>
            <a:r>
              <a:rPr lang="zh-CN" altLang="en-US" dirty="0" smtClean="0"/>
              <a:t>国家秘密事项审核登记表</a:t>
            </a:r>
            <a:r>
              <a:rPr lang="en-US" altLang="zh-CN" dirty="0" smtClean="0"/>
              <a:t>》</a:t>
            </a:r>
            <a:r>
              <a:rPr lang="zh-CN" altLang="en-US" dirty="0" smtClean="0"/>
              <a:t>；</a:t>
            </a:r>
            <a:endParaRPr lang="zh-CN" altLang="en-US" dirty="0" smtClean="0"/>
          </a:p>
          <a:p>
            <a:pPr marL="514350" indent="-514350">
              <a:buFont typeface="+mj-lt"/>
              <a:buAutoNum type="arabicPeriod"/>
            </a:pPr>
            <a:endParaRPr lang="zh-CN" altLang="en-US" dirty="0" smtClean="0"/>
          </a:p>
          <a:p>
            <a:pPr marL="514350" indent="-514350">
              <a:buFont typeface="+mj-lt"/>
              <a:buAutoNum type="arabicPeriod"/>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pPr marL="514350" indent="-514350">
              <a:buFont typeface="+mj-lt"/>
              <a:buAutoNum type="arabicPeriod" startAt="5"/>
            </a:pPr>
            <a:r>
              <a:rPr lang="zh-CN" altLang="en-US" dirty="0" smtClean="0"/>
              <a:t>负责定密统计工作，并向同级保密行政管理部门报送本机关、本单位</a:t>
            </a:r>
            <a:r>
              <a:rPr lang="en-US" altLang="zh-CN" dirty="0" smtClean="0"/>
              <a:t>《</a:t>
            </a:r>
            <a:r>
              <a:rPr lang="zh-CN" altLang="en-US" dirty="0" smtClean="0"/>
              <a:t>国家秘密事项年度统计表</a:t>
            </a:r>
            <a:r>
              <a:rPr lang="en-US" altLang="zh-CN" dirty="0" smtClean="0"/>
              <a:t>》</a:t>
            </a:r>
            <a:r>
              <a:rPr lang="zh-CN" altLang="en-US" dirty="0" smtClean="0"/>
              <a:t>；</a:t>
            </a:r>
            <a:endParaRPr lang="zh-CN" altLang="en-US" dirty="0" smtClean="0"/>
          </a:p>
          <a:p>
            <a:pPr marL="514350" indent="-514350">
              <a:buFont typeface="+mj-lt"/>
              <a:buAutoNum type="arabicPeriod" startAt="5"/>
            </a:pPr>
            <a:r>
              <a:rPr lang="zh-CN" altLang="en-US" dirty="0" smtClean="0"/>
              <a:t>记录、保存本机关、本单位定密工作文字资料；</a:t>
            </a:r>
            <a:endParaRPr lang="zh-CN" altLang="en-US" dirty="0" smtClean="0"/>
          </a:p>
          <a:p>
            <a:pPr marL="514350" indent="-514350">
              <a:buFont typeface="+mj-lt"/>
              <a:buAutoNum type="arabicPeriod" startAt="5"/>
            </a:pPr>
            <a:r>
              <a:rPr lang="zh-CN" altLang="en-US" dirty="0" smtClean="0"/>
              <a:t>承担本机关、本单位对外发布信息的</a:t>
            </a:r>
            <a:r>
              <a:rPr lang="zh-CN" altLang="en-US" dirty="0" smtClean="0">
                <a:solidFill>
                  <a:srgbClr val="FF0000"/>
                </a:solidFill>
              </a:rPr>
              <a:t>保密审查</a:t>
            </a:r>
            <a:r>
              <a:rPr lang="zh-CN" altLang="en-US" dirty="0" smtClean="0"/>
              <a:t>工作，并决定是否对外发布；</a:t>
            </a:r>
            <a:endParaRPr lang="zh-CN" altLang="en-US" dirty="0" smtClean="0"/>
          </a:p>
          <a:p>
            <a:pPr marL="514350" indent="-514350">
              <a:buFont typeface="+mj-lt"/>
              <a:buAutoNum type="arabicPeriod" startAt="5"/>
            </a:pPr>
            <a:r>
              <a:rPr lang="zh-CN" altLang="en-US" dirty="0" smtClean="0"/>
              <a:t>配合、协助有关有关机关、单位，对本机、本关单位涉嫌泄密案件的</a:t>
            </a:r>
            <a:r>
              <a:rPr lang="zh-CN" altLang="en-US" dirty="0" smtClean="0">
                <a:solidFill>
                  <a:srgbClr val="FF0000"/>
                </a:solidFill>
              </a:rPr>
              <a:t>密级鉴定</a:t>
            </a:r>
            <a:r>
              <a:rPr lang="zh-CN" altLang="en-US" dirty="0" smtClean="0"/>
              <a:t>工作；</a:t>
            </a:r>
            <a:endParaRPr lang="zh-CN" altLang="en-US" dirty="0" smtClean="0"/>
          </a:p>
          <a:p>
            <a:pPr marL="514350" indent="-514350">
              <a:buFont typeface="+mj-lt"/>
              <a:buAutoNum type="arabicPeriod" startAt="5"/>
            </a:pPr>
            <a:r>
              <a:rPr lang="zh-CN" altLang="en-US" dirty="0" smtClean="0"/>
              <a:t>承担本机关、本单位与定密工作相关的其他工作事项。</a:t>
            </a:r>
            <a:endParaRPr lang="zh-CN" altLang="en-US" dirty="0" smtClean="0"/>
          </a:p>
          <a:p>
            <a:pPr marL="514350" indent="-514350">
              <a:buFont typeface="+mj-lt"/>
              <a:buAutoNum type="arabicPeriod" startAt="5"/>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400600"/>
          </a:xfrm>
        </p:spPr>
        <p:txBody>
          <a:bodyPr>
            <a:normAutofit lnSpcReduction="10000"/>
          </a:bodyPr>
          <a:lstStyle/>
          <a:p>
            <a:r>
              <a:rPr kumimoji="1" lang="zh-CN" altLang="en-US" dirty="0" smtClean="0"/>
              <a:t>定密依据</a:t>
            </a:r>
            <a:endParaRPr kumimoji="1" lang="zh-CN" altLang="en-US" dirty="0" smtClean="0"/>
          </a:p>
          <a:p>
            <a:r>
              <a:rPr kumimoji="1" lang="zh-CN" altLang="en-US" dirty="0" smtClean="0"/>
              <a:t>定密变更</a:t>
            </a:r>
            <a:endParaRPr kumimoji="1" lang="zh-CN" altLang="en-US" dirty="0" smtClean="0"/>
          </a:p>
          <a:p>
            <a:r>
              <a:rPr kumimoji="1" lang="zh-CN" altLang="en-US" dirty="0" smtClean="0"/>
              <a:t>督促指导承办人</a:t>
            </a:r>
            <a:endParaRPr kumimoji="1" lang="zh-CN" altLang="en-US" dirty="0" smtClean="0"/>
          </a:p>
          <a:p>
            <a:r>
              <a:rPr kumimoji="1" lang="zh-CN" altLang="en-US" dirty="0" smtClean="0"/>
              <a:t>日常定密监督管理</a:t>
            </a:r>
            <a:endParaRPr kumimoji="1" lang="zh-CN" altLang="en-US" dirty="0" smtClean="0"/>
          </a:p>
          <a:p>
            <a:r>
              <a:rPr kumimoji="1" lang="zh-CN" altLang="en-US" dirty="0" smtClean="0"/>
              <a:t>定密审核</a:t>
            </a:r>
            <a:endParaRPr kumimoji="1" lang="zh-CN" altLang="en-US" dirty="0" smtClean="0"/>
          </a:p>
          <a:p>
            <a:r>
              <a:rPr kumimoji="1" lang="zh-CN" altLang="en-US" dirty="0" smtClean="0"/>
              <a:t>定密年度审查</a:t>
            </a:r>
            <a:endParaRPr kumimoji="1" lang="zh-CN" altLang="en-US" dirty="0" smtClean="0"/>
          </a:p>
          <a:p>
            <a:r>
              <a:rPr kumimoji="1" lang="zh-CN" altLang="en-US" dirty="0" smtClean="0"/>
              <a:t>保密审查</a:t>
            </a:r>
            <a:endParaRPr kumimoji="1" lang="zh-CN" altLang="en-US" dirty="0" smtClean="0"/>
          </a:p>
          <a:p>
            <a:r>
              <a:rPr kumimoji="1" lang="zh-CN" altLang="en-US" dirty="0" smtClean="0"/>
              <a:t>定密业务培训</a:t>
            </a:r>
            <a:endParaRPr kumimoji="1" lang="zh-CN" altLang="en-US" dirty="0" smtClean="0"/>
          </a:p>
          <a:p>
            <a:r>
              <a:rPr kumimoji="1" lang="zh-CN" altLang="en-US" dirty="0" smtClean="0"/>
              <a:t>定密情况统计、分析、上报</a:t>
            </a:r>
            <a:endParaRPr kumimoji="1" lang="zh-CN" altLang="en-US" dirty="0" smtClean="0"/>
          </a:p>
          <a:p>
            <a:r>
              <a:rPr kumimoji="1" lang="zh-CN" altLang="en-US" dirty="0" smtClean="0"/>
              <a:t>规范定密流程和手续</a:t>
            </a:r>
            <a:endParaRPr kumimoji="1" lang="zh-CN" altLang="en-US" dirty="0"/>
          </a:p>
        </p:txBody>
      </p:sp>
      <p:sp>
        <p:nvSpPr>
          <p:cNvPr id="4" name="标题 1"/>
          <p:cNvSpPr>
            <a:spLocks noGrp="1"/>
          </p:cNvSpPr>
          <p:nvPr>
            <p:ph type="title"/>
          </p:nvPr>
        </p:nvSpPr>
        <p:spPr>
          <a:xfrm>
            <a:off x="457200" y="53752"/>
            <a:ext cx="8229600" cy="1143000"/>
          </a:xfrm>
        </p:spPr>
        <p:txBody>
          <a:bodyPr/>
          <a:lstStyle/>
          <a:p>
            <a:r>
              <a:rPr lang="zh-CN" altLang="en-US" dirty="0"/>
              <a:t>提法</a:t>
            </a:r>
            <a:r>
              <a:rPr lang="zh-CN" altLang="en-US" dirty="0" smtClean="0"/>
              <a:t>（五）</a:t>
            </a:r>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准确理解这一规定，要从以下三个方面进行把握</a:t>
            </a:r>
            <a:r>
              <a:rPr lang="zh-CN" altLang="en-US" dirty="0" smtClean="0"/>
              <a:t>：</a:t>
            </a:r>
            <a:endParaRPr kumimoji="1" lang="zh-CN" altLang="en-US" dirty="0"/>
          </a:p>
        </p:txBody>
      </p:sp>
      <p:sp>
        <p:nvSpPr>
          <p:cNvPr id="3" name="内容占位符 2"/>
          <p:cNvSpPr>
            <a:spLocks noGrp="1"/>
          </p:cNvSpPr>
          <p:nvPr>
            <p:ph idx="1"/>
          </p:nvPr>
        </p:nvSpPr>
        <p:spPr>
          <a:xfrm>
            <a:off x="457200" y="1600200"/>
            <a:ext cx="8229600" cy="5257800"/>
          </a:xfrm>
        </p:spPr>
        <p:txBody>
          <a:bodyPr>
            <a:normAutofit fontScale="92500" lnSpcReduction="10000"/>
          </a:bodyPr>
          <a:lstStyle/>
          <a:p>
            <a:r>
              <a:rPr lang="zh-CN" altLang="en-US" dirty="0" smtClean="0"/>
              <a:t>第一</a:t>
            </a:r>
            <a:r>
              <a:rPr lang="zh-CN" altLang="en-US" dirty="0"/>
              <a:t>，定密责任人职责既包括确定国家秘密，也包括根据情况变化变更和解除国家秘密</a:t>
            </a:r>
            <a:r>
              <a:rPr lang="zh-CN" altLang="en-US" dirty="0" smtClean="0"/>
              <a:t>。</a:t>
            </a:r>
            <a:endParaRPr lang="zh-CN" altLang="en-US" dirty="0" smtClean="0"/>
          </a:p>
          <a:p>
            <a:r>
              <a:rPr lang="zh-CN" altLang="en-US" dirty="0" smtClean="0"/>
              <a:t>第二</a:t>
            </a:r>
            <a:r>
              <a:rPr lang="zh-CN" altLang="en-US" dirty="0"/>
              <a:t>，不同的定密责任人职责权限范围有所不同。法定定密责任人对本机关、本单位的定密工作负总责，其定密权限与机关、单位自身的定密权限一致。指定定密责任人则应当在被授予的定密权限内开展定密工作</a:t>
            </a:r>
            <a:r>
              <a:rPr lang="zh-CN" altLang="en-US" dirty="0" smtClean="0"/>
              <a:t>。</a:t>
            </a:r>
            <a:endParaRPr lang="zh-CN" altLang="en-US" dirty="0" smtClean="0"/>
          </a:p>
          <a:p>
            <a:r>
              <a:rPr lang="zh-CN" altLang="en-US" dirty="0" smtClean="0"/>
              <a:t>第三</a:t>
            </a:r>
            <a:r>
              <a:rPr lang="zh-CN" altLang="en-US" dirty="0"/>
              <a:t>，定密责任人在职责范围内对定密工作负责。指定定密责任人在指定范围内具有完全的定密权，在职责范围内作出的确定、变更和解除的国家秘密，具有法律效力，一般情况下，可以不报请法定定密责任人批准。</a:t>
            </a:r>
            <a:endParaRPr kumimoji="1"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承担与定密工作相关的其他工作任务，主要是</a:t>
            </a:r>
            <a:r>
              <a:rPr lang="zh-CN" altLang="en-US" dirty="0" smtClean="0"/>
              <a:t>：</a:t>
            </a:r>
            <a:endParaRPr kumimoji="1" lang="zh-CN" altLang="en-US" dirty="0"/>
          </a:p>
        </p:txBody>
      </p:sp>
      <p:sp>
        <p:nvSpPr>
          <p:cNvPr id="3" name="内容占位符 2"/>
          <p:cNvSpPr>
            <a:spLocks noGrp="1"/>
          </p:cNvSpPr>
          <p:nvPr>
            <p:ph idx="1"/>
          </p:nvPr>
        </p:nvSpPr>
        <p:spPr/>
        <p:txBody>
          <a:bodyPr>
            <a:normAutofit lnSpcReduction="10000"/>
          </a:bodyPr>
          <a:lstStyle/>
          <a:p>
            <a:r>
              <a:rPr lang="en-US" altLang="zh-CN" dirty="0" smtClean="0"/>
              <a:t>1</a:t>
            </a:r>
            <a:r>
              <a:rPr lang="en-US" altLang="zh-CN" dirty="0"/>
              <a:t>.</a:t>
            </a:r>
            <a:r>
              <a:rPr lang="zh-CN" altLang="en-US" dirty="0"/>
              <a:t>对承办人拟定密级的工作进行业务指导或者组织定密业务培训；</a:t>
            </a:r>
            <a:endParaRPr lang="zh-CN" altLang="en-US" dirty="0"/>
          </a:p>
          <a:p>
            <a:r>
              <a:rPr lang="en-US" altLang="zh-CN" dirty="0"/>
              <a:t>2.</a:t>
            </a:r>
            <a:r>
              <a:rPr lang="zh-CN" altLang="en-US" dirty="0"/>
              <a:t>对本机关、本单位无权定密的事项，按照申请定密的程序，报请有相应定密权的机关、单位或保密行政管理部门确定；对拟公开发布的信息进行保密审查；</a:t>
            </a:r>
            <a:endParaRPr lang="zh-CN" altLang="en-US" dirty="0"/>
          </a:p>
          <a:p>
            <a:r>
              <a:rPr lang="en-US" altLang="zh-CN" dirty="0"/>
              <a:t>3.</a:t>
            </a:r>
            <a:r>
              <a:rPr lang="zh-CN" altLang="en-US" dirty="0"/>
              <a:t>受理并答复有关方面提出的定密异议；</a:t>
            </a:r>
            <a:endParaRPr lang="zh-CN" altLang="en-US" dirty="0"/>
          </a:p>
          <a:p>
            <a:r>
              <a:rPr lang="en-US" altLang="zh-CN" dirty="0"/>
              <a:t>4.</a:t>
            </a:r>
            <a:r>
              <a:rPr lang="zh-CN" altLang="en-US" dirty="0"/>
              <a:t>就保密事项范围的制定修订或加强和改进定密管理工作，向有关机关提出建议等。</a:t>
            </a:r>
            <a:endParaRPr lang="zh-CN" altLang="en-US" dirty="0"/>
          </a:p>
          <a:p>
            <a:pPr marL="0" indent="0">
              <a:buNone/>
            </a:pPr>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四、定密责任人的确定程序</a:t>
            </a:r>
            <a:endParaRPr lang="zh-CN" altLang="en-US" dirty="0"/>
          </a:p>
        </p:txBody>
      </p:sp>
      <p:sp>
        <p:nvSpPr>
          <p:cNvPr id="3" name="内容占位符 2"/>
          <p:cNvSpPr>
            <a:spLocks noGrp="1"/>
          </p:cNvSpPr>
          <p:nvPr>
            <p:ph idx="1"/>
          </p:nvPr>
        </p:nvSpPr>
        <p:spPr/>
        <p:txBody>
          <a:bodyPr/>
          <a:lstStyle/>
          <a:p>
            <a:r>
              <a:rPr lang="zh-CN" altLang="en-US" dirty="0" smtClean="0"/>
              <a:t>法定定密责任人的确定</a:t>
            </a:r>
            <a:endParaRPr lang="en-US" altLang="zh-CN" dirty="0" smtClean="0"/>
          </a:p>
          <a:p>
            <a:r>
              <a:rPr lang="zh-CN" altLang="en-US" dirty="0" smtClean="0"/>
              <a:t>指定定密责任人的确定</a:t>
            </a:r>
            <a:endParaRPr lang="zh-CN" altLang="en-US" dirty="0"/>
          </a:p>
        </p:txBody>
      </p:sp>
      <p:graphicFrame>
        <p:nvGraphicFramePr>
          <p:cNvPr id="4" name="图示 3"/>
          <p:cNvGraphicFramePr/>
          <p:nvPr/>
        </p:nvGraphicFramePr>
        <p:xfrm>
          <a:off x="1524000" y="2151082"/>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（一）定密责任人的指定</a:t>
            </a:r>
            <a:endParaRPr kumimoji="1" lang="zh-CN" altLang="en-US" dirty="0"/>
          </a:p>
        </p:txBody>
      </p:sp>
      <p:sp>
        <p:nvSpPr>
          <p:cNvPr id="3" name="内容占位符 2"/>
          <p:cNvSpPr>
            <a:spLocks noGrp="1"/>
          </p:cNvSpPr>
          <p:nvPr>
            <p:ph idx="1"/>
          </p:nvPr>
        </p:nvSpPr>
        <p:spPr/>
        <p:txBody>
          <a:bodyPr/>
          <a:lstStyle/>
          <a:p>
            <a:pPr marL="0" indent="0">
              <a:buNone/>
            </a:pPr>
            <a:r>
              <a:rPr kumimoji="1" lang="en-US" altLang="zh-CN" dirty="0" smtClean="0"/>
              <a:t>1.</a:t>
            </a:r>
            <a:r>
              <a:rPr kumimoji="1" lang="zh-CN" altLang="en-US" dirty="0" smtClean="0"/>
              <a:t>指定定密责任人的范围</a:t>
            </a:r>
            <a:endParaRPr kumimoji="1" lang="zh-CN" altLang="en-US" dirty="0" smtClean="0"/>
          </a:p>
        </p:txBody>
      </p:sp>
      <p:graphicFrame>
        <p:nvGraphicFramePr>
          <p:cNvPr id="4" name="图表 3"/>
          <p:cNvGraphicFramePr/>
          <p:nvPr/>
        </p:nvGraphicFramePr>
        <p:xfrm>
          <a:off x="1524000" y="2249490"/>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2.</a:t>
            </a:r>
            <a:r>
              <a:rPr kumimoji="1" lang="zh-CN" altLang="en-US" dirty="0"/>
              <a:t>指定定密责任人的</a:t>
            </a:r>
            <a:r>
              <a:rPr kumimoji="1" lang="zh-CN" altLang="en-US" dirty="0" smtClean="0"/>
              <a:t>条件</a:t>
            </a:r>
            <a:endParaRPr kumimoji="1" lang="zh-CN" altLang="en-US" dirty="0"/>
          </a:p>
        </p:txBody>
      </p:sp>
      <p:sp>
        <p:nvSpPr>
          <p:cNvPr id="3" name="内容占位符 2"/>
          <p:cNvSpPr>
            <a:spLocks noGrp="1"/>
          </p:cNvSpPr>
          <p:nvPr>
            <p:ph idx="1"/>
          </p:nvPr>
        </p:nvSpPr>
        <p:spPr/>
        <p:txBody>
          <a:bodyPr>
            <a:normAutofit lnSpcReduction="10000"/>
          </a:bodyPr>
          <a:lstStyle/>
          <a:p>
            <a:r>
              <a:rPr lang="zh-CN" altLang="en-US" dirty="0" smtClean="0"/>
              <a:t>一</a:t>
            </a:r>
            <a:r>
              <a:rPr lang="zh-CN" altLang="en-US" dirty="0"/>
              <a:t>是接受定密培训，熟悉保密法律法规及定密规定</a:t>
            </a:r>
            <a:r>
              <a:rPr lang="zh-CN" altLang="en-US" dirty="0" smtClean="0"/>
              <a:t>；</a:t>
            </a:r>
            <a:endParaRPr lang="zh-CN" altLang="en-US" dirty="0" smtClean="0"/>
          </a:p>
          <a:p>
            <a:r>
              <a:rPr lang="zh-CN" altLang="en-US" dirty="0" smtClean="0"/>
              <a:t>二</a:t>
            </a:r>
            <a:r>
              <a:rPr lang="zh-CN" altLang="en-US" dirty="0"/>
              <a:t>是熟悉本机关、本单位主管业务和相关行业工作的保密事项</a:t>
            </a:r>
            <a:r>
              <a:rPr lang="zh-CN" altLang="en-US" dirty="0" smtClean="0"/>
              <a:t>范围；</a:t>
            </a:r>
            <a:endParaRPr lang="zh-CN" altLang="en-US" dirty="0" smtClean="0"/>
          </a:p>
          <a:p>
            <a:r>
              <a:rPr lang="zh-CN" altLang="en-US" dirty="0" smtClean="0"/>
              <a:t>三</a:t>
            </a:r>
            <a:r>
              <a:rPr lang="zh-CN" altLang="en-US" dirty="0"/>
              <a:t>是熟悉定密程序和方法。此外，还应当熟悉本机关、本单位业务工作。</a:t>
            </a:r>
            <a:endParaRPr lang="zh-CN" altLang="en-US" dirty="0"/>
          </a:p>
          <a:p>
            <a:r>
              <a:rPr lang="zh-CN" altLang="en-US" dirty="0"/>
              <a:t>暂行规定还明确要求机关、单位指定的定密责任人应当符合在涉密岗位工作的基本条件</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3.</a:t>
            </a:r>
            <a:r>
              <a:rPr kumimoji="1" lang="zh-CN" altLang="en-US" dirty="0"/>
              <a:t>指定定密责任人的</a:t>
            </a:r>
            <a:r>
              <a:rPr kumimoji="1" lang="zh-CN" altLang="en-US" dirty="0" smtClean="0"/>
              <a:t>数量</a:t>
            </a:r>
            <a:endParaRPr kumimoji="1" lang="zh-CN" altLang="en-US" dirty="0"/>
          </a:p>
        </p:txBody>
      </p:sp>
      <p:sp>
        <p:nvSpPr>
          <p:cNvPr id="3" name="内容占位符 2"/>
          <p:cNvSpPr>
            <a:spLocks noGrp="1"/>
          </p:cNvSpPr>
          <p:nvPr>
            <p:ph idx="1"/>
          </p:nvPr>
        </p:nvSpPr>
        <p:spPr/>
        <p:txBody>
          <a:bodyPr/>
          <a:lstStyle/>
          <a:p>
            <a:r>
              <a:rPr kumimoji="1" lang="zh-CN" altLang="en-US" dirty="0" smtClean="0"/>
              <a:t>根据工作需要</a:t>
            </a:r>
            <a:endParaRPr kumimoji="1" lang="zh-CN" altLang="en-US" dirty="0" smtClean="0"/>
          </a:p>
          <a:p>
            <a:r>
              <a:rPr kumimoji="1" lang="zh-CN" altLang="en-US" dirty="0" smtClean="0"/>
              <a:t>国家秘密数量较少，密级不高</a:t>
            </a:r>
            <a:endParaRPr kumimoji="1" lang="zh-CN" altLang="en-US" dirty="0" smtClean="0"/>
          </a:p>
          <a:p>
            <a:r>
              <a:rPr kumimoji="1" lang="zh-CN" altLang="en-US" dirty="0" smtClean="0"/>
              <a:t>工作性质较为敏感</a:t>
            </a:r>
            <a:endParaRPr kumimoji="1" lang="zh-CN" altLang="en-US" dirty="0" smtClean="0"/>
          </a:p>
          <a:p>
            <a:r>
              <a:rPr kumimoji="1" lang="zh-CN" altLang="en-US" dirty="0" smtClean="0"/>
              <a:t>业务工作门类较多，且事项和性质差别大</a:t>
            </a:r>
            <a:endParaRPr kumimoji="1" lang="zh-CN" altLang="en-US" dirty="0" smtClean="0"/>
          </a:p>
          <a:p>
            <a:r>
              <a:rPr kumimoji="1" lang="zh-CN" altLang="en-US" dirty="0" smtClean="0"/>
              <a:t>定密数量较大，密级较高</a:t>
            </a:r>
            <a:endParaRPr kumimoji="1" lang="zh-CN" alt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4.</a:t>
            </a:r>
            <a:r>
              <a:rPr kumimoji="1" lang="zh-CN" altLang="en-US" dirty="0"/>
              <a:t>指定定密责任人的</a:t>
            </a:r>
            <a:r>
              <a:rPr kumimoji="1" lang="zh-CN" altLang="en-US" dirty="0" smtClean="0"/>
              <a:t>程序</a:t>
            </a:r>
            <a:endParaRPr kumimoji="1" lang="zh-CN" altLang="en-US" dirty="0"/>
          </a:p>
        </p:txBody>
      </p:sp>
      <p:sp>
        <p:nvSpPr>
          <p:cNvPr id="3" name="内容占位符 2"/>
          <p:cNvSpPr>
            <a:spLocks noGrp="1"/>
          </p:cNvSpPr>
          <p:nvPr>
            <p:ph idx="1"/>
          </p:nvPr>
        </p:nvSpPr>
        <p:spPr/>
        <p:txBody>
          <a:bodyPr/>
          <a:lstStyle/>
          <a:p>
            <a:r>
              <a:rPr kumimoji="1" lang="zh-CN" altLang="en-US" dirty="0" smtClean="0"/>
              <a:t>以法定定密责任人名义的指定</a:t>
            </a:r>
            <a:endParaRPr kumimoji="1" lang="zh-CN" altLang="en-US" dirty="0" smtClean="0"/>
          </a:p>
          <a:p>
            <a:pPr marL="0" indent="0">
              <a:buNone/>
            </a:pPr>
            <a:r>
              <a:rPr lang="zh-CN" altLang="en-US" sz="2000" dirty="0" smtClean="0"/>
              <a:t>      一般</a:t>
            </a:r>
            <a:r>
              <a:rPr lang="zh-CN" altLang="en-US" sz="2000" dirty="0"/>
              <a:t>先由机关、单位涉密业务工作部门提出拟任人选，由机关、单位保密工作机构或者综合部门汇总研究后，提出人选意见，报本机关、本单位法定定密责任人确定。</a:t>
            </a:r>
            <a:endParaRPr kumimoji="1" lang="zh-CN" altLang="en-US" sz="2000" dirty="0" smtClean="0"/>
          </a:p>
          <a:p>
            <a:r>
              <a:rPr kumimoji="1" lang="zh-CN" altLang="en-US" dirty="0" smtClean="0"/>
              <a:t>以机关、单位文件形式的指定</a:t>
            </a:r>
            <a:endParaRPr kumimoji="1" lang="zh-CN" altLang="en-US" dirty="0" smtClean="0"/>
          </a:p>
          <a:p>
            <a:r>
              <a:rPr kumimoji="1" lang="zh-CN" altLang="en-US" dirty="0" smtClean="0"/>
              <a:t>指定定密责任人的调整</a:t>
            </a:r>
            <a:endParaRPr kumimoji="1" lang="zh-CN" altLang="en-US" dirty="0" smtClean="0"/>
          </a:p>
          <a:p>
            <a:r>
              <a:rPr kumimoji="1" lang="zh-CN" altLang="en-US" dirty="0" smtClean="0"/>
              <a:t>指定定密责任人的公布与备案</a:t>
            </a:r>
            <a:endParaRPr kumimoji="1" lang="zh-CN" altLang="en-US" dirty="0" smtClean="0"/>
          </a:p>
          <a:p>
            <a:endParaRPr kumimoji="1" lang="zh-CN" alt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lnSpcReduction="10000"/>
          </a:bodyPr>
          <a:lstStyle/>
          <a:p>
            <a:r>
              <a:rPr lang="zh-CN" altLang="en-US" dirty="0"/>
              <a:t>法定的定密责任人在指定其他人员为定密责任人时，应当同时明确指定定密责任人的定密权限</a:t>
            </a:r>
            <a:r>
              <a:rPr lang="zh-CN" altLang="en-US" dirty="0" smtClean="0"/>
              <a:t>。</a:t>
            </a:r>
            <a:endParaRPr lang="zh-CN" altLang="en-US" dirty="0" smtClean="0"/>
          </a:p>
          <a:p>
            <a:r>
              <a:rPr lang="zh-CN" altLang="en-US" dirty="0" smtClean="0"/>
              <a:t>指定</a:t>
            </a:r>
            <a:r>
              <a:rPr lang="zh-CN" altLang="en-US" dirty="0"/>
              <a:t>定密责任人的定密权限，应当根据实际工作需要予以确定。对于机关、单位其他负责人，可以指定其与法定定密责任人同等的定密权限，对于机关、单位内设机构负责人或其他人员，可以指定其较低级别的定密权限。</a:t>
            </a:r>
            <a:endParaRPr kumimoji="1"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382"/>
            <a:ext cx="8229600" cy="1143000"/>
          </a:xfrm>
        </p:spPr>
        <p:txBody>
          <a:bodyPr>
            <a:normAutofit/>
          </a:bodyPr>
          <a:lstStyle/>
          <a:p>
            <a:r>
              <a:rPr lang="zh-CN" altLang="en-US" dirty="0"/>
              <a:t>定密责任人的公布和备案 </a:t>
            </a:r>
            <a:endParaRPr kumimoji="1" lang="zh-CN" altLang="en-US" dirty="0"/>
          </a:p>
        </p:txBody>
      </p:sp>
      <p:sp>
        <p:nvSpPr>
          <p:cNvPr id="3" name="内容占位符 2"/>
          <p:cNvSpPr>
            <a:spLocks noGrp="1"/>
          </p:cNvSpPr>
          <p:nvPr>
            <p:ph idx="1"/>
          </p:nvPr>
        </p:nvSpPr>
        <p:spPr>
          <a:xfrm>
            <a:off x="461827" y="1192154"/>
            <a:ext cx="8229600" cy="4781128"/>
          </a:xfrm>
        </p:spPr>
        <p:txBody>
          <a:bodyPr>
            <a:noAutofit/>
          </a:bodyPr>
          <a:lstStyle/>
          <a:p>
            <a:r>
              <a:rPr lang="zh-CN" altLang="en-US" sz="2400" dirty="0" smtClean="0"/>
              <a:t>机关</a:t>
            </a:r>
            <a:r>
              <a:rPr lang="zh-CN" altLang="en-US" sz="2400" dirty="0"/>
              <a:t>、单位应当将定密责任人名单及其定密权限，通过内部文件或者内部公示等书面形式，在机关、单位</a:t>
            </a:r>
            <a:r>
              <a:rPr lang="zh-CN" altLang="en-US" sz="2400" dirty="0">
                <a:solidFill>
                  <a:srgbClr val="FF0000"/>
                </a:solidFill>
              </a:rPr>
              <a:t>内部予以公布</a:t>
            </a:r>
            <a:r>
              <a:rPr lang="zh-CN" altLang="en-US" sz="2400" dirty="0"/>
              <a:t>，以便于机关、单位开展定密工作。 </a:t>
            </a:r>
            <a:endParaRPr lang="zh-CN" altLang="en-US" sz="2400" dirty="0"/>
          </a:p>
          <a:p>
            <a:r>
              <a:rPr lang="zh-CN" altLang="en-US" sz="2400" dirty="0"/>
              <a:t>同时，机关、单位还应当将定密责任人名单报</a:t>
            </a:r>
            <a:r>
              <a:rPr lang="zh-CN" altLang="en-US" sz="2400" dirty="0">
                <a:solidFill>
                  <a:srgbClr val="FF0000"/>
                </a:solidFill>
              </a:rPr>
              <a:t>同级保密行政管理部门备案</a:t>
            </a:r>
            <a:r>
              <a:rPr lang="zh-CN" altLang="en-US" sz="2400" dirty="0"/>
              <a:t>。在实际工作中，机关、单位可能根据工作需要或其他原因，对定密责任人的工作岗位作出调整。定密责任人调整变动的，应当重新履行指定和报备程序。 </a:t>
            </a:r>
            <a:endParaRPr lang="zh-CN" altLang="en-US" sz="2400" dirty="0"/>
          </a:p>
          <a:p>
            <a:r>
              <a:rPr lang="zh-CN" altLang="en-US" sz="2400" dirty="0"/>
              <a:t>需要说明的是，没有定密权的机关、单位是否需要开展定密责任人确定工作，应当根据实际工作需要进行。对于经常知悉、处理国家秘密事项，经常产生派生国家秘密的机关、单位，其负责人（法定定密责任人）可以指定定密责任人具体开展定密工作；对于很少或从不产生派生国家秘密的机关、单位，可以不专门指定定密责任人，由负责人（法定定密责任人）具体负责定密工作即可。 </a:t>
            </a:r>
            <a:endParaRPr kumimoji="1" lang="zh-CN" altLang="en-US" sz="24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五、定密责任人的定密效力</a:t>
            </a:r>
            <a:endParaRPr kumimoji="1" lang="zh-CN" altLang="en-US" dirty="0"/>
          </a:p>
        </p:txBody>
      </p:sp>
      <p:sp>
        <p:nvSpPr>
          <p:cNvPr id="3" name="内容占位符 2"/>
          <p:cNvSpPr>
            <a:spLocks noGrp="1"/>
          </p:cNvSpPr>
          <p:nvPr>
            <p:ph idx="1"/>
          </p:nvPr>
        </p:nvSpPr>
        <p:spPr/>
        <p:txBody>
          <a:bodyPr/>
          <a:lstStyle/>
          <a:p>
            <a:r>
              <a:rPr kumimoji="1" lang="zh-CN" altLang="en-US" dirty="0" smtClean="0"/>
              <a:t>法定定密责任人对本机关、本单位所产生的国家秘密事项具有最</a:t>
            </a:r>
            <a:r>
              <a:rPr kumimoji="1" lang="zh-CN" altLang="en-US" dirty="0" smtClean="0"/>
              <a:t>终确定权</a:t>
            </a:r>
            <a:endParaRPr kumimoji="1" lang="zh-CN" altLang="en-US" dirty="0" smtClean="0"/>
          </a:p>
          <a:p>
            <a:r>
              <a:rPr kumimoji="1" lang="zh-CN" altLang="en-US" dirty="0"/>
              <a:t>法定定密</a:t>
            </a:r>
            <a:r>
              <a:rPr kumimoji="1" lang="zh-CN" altLang="en-US" dirty="0" smtClean="0"/>
              <a:t>责任人的定密决定不得轻易改变</a:t>
            </a:r>
            <a:endParaRPr kumimoji="1" lang="zh-CN" altLang="en-US" dirty="0" smtClean="0"/>
          </a:p>
          <a:p>
            <a:r>
              <a:rPr kumimoji="1" lang="zh-CN" altLang="en-US" dirty="0" smtClean="0"/>
              <a:t>指定定密责任人在指定的定密权行使范围内具有完全定密权</a:t>
            </a:r>
            <a:endParaRPr kumimoji="1" lang="zh-CN" altLang="en-US" dirty="0" smtClean="0"/>
          </a:p>
          <a:p>
            <a:r>
              <a:rPr kumimoji="1" lang="zh-CN" altLang="en-US" dirty="0" smtClean="0"/>
              <a:t>指定定</a:t>
            </a:r>
            <a:r>
              <a:rPr kumimoji="1" lang="zh-CN" altLang="en-US" dirty="0"/>
              <a:t>密责任人的定密决定不得轻易改变</a:t>
            </a:r>
            <a:endParaRPr kumimoji="1" lang="zh-CN" altLang="en-US" dirty="0"/>
          </a:p>
          <a:p>
            <a:r>
              <a:rPr kumimoji="1" lang="zh-CN" altLang="en-US" dirty="0" smtClean="0"/>
              <a:t>定密责任人作出的定密决定，知悉范围内如有定密异议，应与原定密机关联系</a:t>
            </a:r>
            <a:endParaRPr kumimoji="1" lang="zh-CN" alt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六、定密责任人的</a:t>
            </a:r>
            <a:r>
              <a:rPr lang="zh-CN" altLang="en-US" dirty="0"/>
              <a:t>角色</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案例分析</a:t>
            </a:r>
            <a:endParaRPr lang="zh-CN" altLang="en-US" dirty="0" smtClean="0"/>
          </a:p>
          <a:p>
            <a:r>
              <a:rPr lang="zh-CN" altLang="en-US" dirty="0" smtClean="0"/>
              <a:t>非</a:t>
            </a:r>
            <a:r>
              <a:rPr lang="zh-CN" altLang="en-US" dirty="0"/>
              <a:t>国防高校，涉密人员不占主流，无法引起相关领导</a:t>
            </a:r>
            <a:r>
              <a:rPr lang="zh-CN" altLang="en-US" dirty="0" smtClean="0"/>
              <a:t>重视</a:t>
            </a:r>
            <a:endParaRPr lang="zh-CN" altLang="en-US" dirty="0" smtClean="0"/>
          </a:p>
          <a:p>
            <a:r>
              <a:rPr lang="zh-CN" altLang="en-US" dirty="0"/>
              <a:t>高校定密工作政策性强，专业性更强</a:t>
            </a:r>
            <a:endParaRPr lang="zh-CN" altLang="en-US" dirty="0"/>
          </a:p>
          <a:p>
            <a:r>
              <a:rPr lang="zh-CN" altLang="en-US" dirty="0"/>
              <a:t>定密责任人权责不统一，没有相适应的待遇</a:t>
            </a:r>
            <a:endParaRPr lang="zh-CN" altLang="en-US" dirty="0"/>
          </a:p>
          <a:p>
            <a:r>
              <a:rPr lang="zh-CN" altLang="en-US" dirty="0"/>
              <a:t>定密责任人缺乏考核机制</a:t>
            </a:r>
            <a:endParaRPr lang="zh-CN" altLang="en-US" dirty="0"/>
          </a:p>
          <a:p>
            <a:endParaRPr lang="zh-CN" altLang="en-US" dirty="0" smtClean="0"/>
          </a:p>
          <a:p>
            <a:endParaRPr lang="zh-CN" altLang="en-US" dirty="0"/>
          </a:p>
          <a:p>
            <a:endParaRPr kumimoji="1"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信息</a:t>
            </a:r>
            <a:r>
              <a:rPr lang="zh-CN" altLang="en-US"/>
              <a:t>审定者</a:t>
            </a:r>
            <a:endParaRPr lang="zh-CN" altLang="en-US"/>
          </a:p>
        </p:txBody>
      </p:sp>
      <p:sp>
        <p:nvSpPr>
          <p:cNvPr id="3" name="内容占位符 2"/>
          <p:cNvSpPr/>
          <p:nvPr>
            <p:ph idx="1"/>
          </p:nvPr>
        </p:nvSpPr>
        <p:spPr>
          <a:xfrm>
            <a:off x="457200" y="1600200"/>
            <a:ext cx="8229600" cy="5071110"/>
          </a:xfrm>
        </p:spPr>
        <p:txBody>
          <a:bodyPr>
            <a:normAutofit fontScale="80000"/>
          </a:bodyPr>
          <a:p>
            <a:r>
              <a:rPr lang="zh-CN" altLang="en-US"/>
              <a:t>信息审定者</a:t>
            </a:r>
            <a:r>
              <a:rPr lang="en-US" altLang="zh-CN"/>
              <a:t>,</a:t>
            </a:r>
            <a:r>
              <a:rPr lang="zh-CN" altLang="en-US"/>
              <a:t>是指定密责任人负责提出、审查单位涉密信息要素的确定、变更和解除工作</a:t>
            </a:r>
            <a:r>
              <a:rPr lang="en-US" altLang="zh-CN"/>
              <a:t>,</a:t>
            </a:r>
            <a:r>
              <a:rPr lang="zh-CN" altLang="en-US"/>
              <a:t>定期形成细目</a:t>
            </a:r>
            <a:r>
              <a:rPr lang="en-US" altLang="zh-CN"/>
              <a:t>,</a:t>
            </a:r>
            <a:r>
              <a:rPr lang="zh-CN" altLang="en-US"/>
              <a:t>作为载体密级界定的标准和指导。</a:t>
            </a:r>
            <a:endParaRPr lang="zh-CN" altLang="en-US"/>
          </a:p>
          <a:p>
            <a:r>
              <a:rPr lang="zh-CN" altLang="en-US"/>
              <a:t>该角色定义的法律依据是《中华人民共和国保守国家秘密法实施条例》第十条</a:t>
            </a:r>
            <a:r>
              <a:rPr lang="en-US" altLang="zh-CN"/>
              <a:t>"</a:t>
            </a:r>
            <a:r>
              <a:rPr lang="zh-CN" altLang="en-US"/>
              <a:t>定密责任人具体职责</a:t>
            </a:r>
            <a:r>
              <a:rPr lang="en-US" altLang="zh-CN"/>
              <a:t>”,</a:t>
            </a:r>
            <a:r>
              <a:rPr lang="zh-CN" altLang="en-US"/>
              <a:t>理论依据是要素分析核定定密法</a:t>
            </a:r>
            <a:r>
              <a:rPr lang="en-US" altLang="zh-CN"/>
              <a:t>,</a:t>
            </a:r>
            <a:r>
              <a:rPr lang="zh-CN" altLang="en-US"/>
              <a:t>即对项目包含的涉密要素</a:t>
            </a:r>
            <a:r>
              <a:rPr lang="en-US" altLang="zh-CN"/>
              <a:t>(</a:t>
            </a:r>
            <a:r>
              <a:rPr lang="zh-CN" altLang="en-US"/>
              <a:t>密点</a:t>
            </a:r>
            <a:r>
              <a:rPr lang="en-US" altLang="zh-CN"/>
              <a:t>) </a:t>
            </a:r>
            <a:r>
              <a:rPr lang="zh-CN" altLang="en-US"/>
              <a:t>进行收集和归纳</a:t>
            </a:r>
            <a:r>
              <a:rPr lang="en-US" altLang="zh-CN"/>
              <a:t>,</a:t>
            </a:r>
            <a:r>
              <a:rPr lang="zh-CN" altLang="en-US"/>
              <a:t>形成细目</a:t>
            </a:r>
            <a:r>
              <a:rPr lang="en-US" altLang="zh-CN"/>
              <a:t>,</a:t>
            </a:r>
            <a:r>
              <a:rPr lang="zh-CN" altLang="en-US"/>
              <a:t>作为载体定密时的标准。</a:t>
            </a:r>
            <a:endParaRPr lang="zh-CN" altLang="en-US"/>
          </a:p>
          <a:p>
            <a:r>
              <a:rPr lang="zh-CN" altLang="en-US"/>
              <a:t>该角色的定密责任人一般为业务部门行政、技术负责人</a:t>
            </a:r>
            <a:r>
              <a:rPr lang="en-US" altLang="zh-CN"/>
              <a:t>,</a:t>
            </a:r>
            <a:r>
              <a:rPr lang="zh-CN" altLang="en-US"/>
              <a:t>人数约为涉密人员数量的</a:t>
            </a:r>
            <a:r>
              <a:rPr lang="en-US" altLang="zh-CN"/>
              <a:t>1%~1.5%,</a:t>
            </a:r>
            <a:r>
              <a:rPr lang="zh-CN" altLang="en-US"/>
              <a:t>被调研单位中约有</a:t>
            </a:r>
            <a:r>
              <a:rPr lang="en-US" altLang="zh-CN"/>
              <a:t>10%</a:t>
            </a:r>
            <a:r>
              <a:rPr lang="zh-CN" altLang="en-US"/>
              <a:t>采用该</a:t>
            </a:r>
            <a:r>
              <a:rPr lang="zh-CN" altLang="en-US"/>
              <a:t>模式。</a:t>
            </a:r>
            <a:endParaRPr lang="zh-CN" altLang="en-US"/>
          </a:p>
          <a:p>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输出</a:t>
            </a:r>
            <a:r>
              <a:rPr lang="zh-CN" altLang="en-US"/>
              <a:t>审定者</a:t>
            </a:r>
            <a:endParaRPr lang="zh-CN" altLang="en-US"/>
          </a:p>
        </p:txBody>
      </p:sp>
      <p:sp>
        <p:nvSpPr>
          <p:cNvPr id="3" name="内容占位符 2"/>
          <p:cNvSpPr/>
          <p:nvPr>
            <p:ph idx="1"/>
          </p:nvPr>
        </p:nvSpPr>
        <p:spPr>
          <a:xfrm>
            <a:off x="457200" y="1600200"/>
            <a:ext cx="8229600" cy="4901565"/>
          </a:xfrm>
        </p:spPr>
        <p:txBody>
          <a:bodyPr>
            <a:normAutofit fontScale="60000"/>
          </a:bodyPr>
          <a:p>
            <a:r>
              <a:rPr lang="zh-CN" altLang="en-US" sz="3335"/>
              <a:t>输出审定者</a:t>
            </a:r>
            <a:r>
              <a:rPr lang="en-US" altLang="zh-CN" sz="3335"/>
              <a:t>,</a:t>
            </a:r>
            <a:r>
              <a:rPr lang="zh-CN" altLang="en-US" sz="3335"/>
              <a:t>是指定密责任人负责对单位</a:t>
            </a:r>
            <a:r>
              <a:rPr lang="en-US" altLang="zh-CN" sz="3335"/>
              <a:t>(</a:t>
            </a:r>
            <a:r>
              <a:rPr lang="zh-CN" altLang="en-US" sz="3335"/>
              <a:t>特指信息系统</a:t>
            </a:r>
            <a:r>
              <a:rPr lang="en-US" altLang="zh-CN" sz="3335"/>
              <a:t>)</a:t>
            </a:r>
            <a:r>
              <a:rPr lang="zh-CN" altLang="en-US" sz="3335"/>
              <a:t>输出载体涉密等级的确定、变更和解除进行审定</a:t>
            </a:r>
            <a:r>
              <a:rPr lang="en-US" altLang="zh-CN" sz="3335"/>
              <a:t>,</a:t>
            </a:r>
            <a:r>
              <a:rPr lang="zh-CN" altLang="en-US" sz="3335"/>
              <a:t>该角色的形成是依据信息系统分级防护的理念</a:t>
            </a:r>
            <a:r>
              <a:rPr lang="en-US" altLang="zh-CN" sz="3335"/>
              <a:t>,</a:t>
            </a:r>
            <a:r>
              <a:rPr lang="zh-CN" altLang="en-US" sz="3335"/>
              <a:t>对输出的信息密级进行关口式的审定。</a:t>
            </a:r>
            <a:endParaRPr lang="zh-CN" altLang="en-US" sz="3335"/>
          </a:p>
          <a:p>
            <a:r>
              <a:rPr lang="zh-CN" altLang="en-US" sz="3335"/>
              <a:t>该模式的定密责任人还有两种类型</a:t>
            </a:r>
            <a:r>
              <a:rPr lang="en-US" altLang="zh-CN" sz="3335"/>
              <a:t>:</a:t>
            </a:r>
            <a:r>
              <a:rPr lang="zh-CN" altLang="en-US" sz="3335"/>
              <a:t>一种是专职定密人员对输出文件密级进行界定</a:t>
            </a:r>
            <a:r>
              <a:rPr lang="en-US" altLang="zh-CN" sz="3335"/>
              <a:t>;</a:t>
            </a:r>
            <a:r>
              <a:rPr lang="zh-CN" altLang="en-US" sz="3335"/>
              <a:t>另一种是行政负责人兼职负责。</a:t>
            </a:r>
            <a:endParaRPr lang="zh-CN" altLang="en-US" sz="3335"/>
          </a:p>
          <a:p>
            <a:r>
              <a:rPr lang="zh-CN" altLang="en-US" sz="3335"/>
              <a:t>该角色的定密责任人一般为单位各部门行政负责人或者指定的特定人员</a:t>
            </a:r>
            <a:r>
              <a:rPr lang="en-US" altLang="zh-CN" sz="3335"/>
              <a:t>,</a:t>
            </a:r>
            <a:r>
              <a:rPr lang="zh-CN" altLang="en-US" sz="3335"/>
              <a:t>人数约为涉密人员总数的</a:t>
            </a:r>
            <a:r>
              <a:rPr lang="en-US" altLang="zh-CN" sz="3335"/>
              <a:t>2%~5%,</a:t>
            </a:r>
            <a:r>
              <a:rPr lang="zh-CN" altLang="en-US" sz="3335"/>
              <a:t>被调研单位中目前约有</a:t>
            </a:r>
            <a:r>
              <a:rPr lang="en-US" altLang="zh-CN" sz="3335"/>
              <a:t>1 0%</a:t>
            </a:r>
            <a:r>
              <a:rPr lang="zh-CN" altLang="en-US" sz="3335"/>
              <a:t>采取该模式。</a:t>
            </a:r>
            <a:endParaRPr lang="zh-CN" altLang="en-US" sz="3335"/>
          </a:p>
          <a:p>
            <a:r>
              <a:rPr lang="zh-CN" altLang="en-US" sz="3335"/>
              <a:t>该模式定密责任人针对载体输出环节进行重点审査监控</a:t>
            </a:r>
            <a:r>
              <a:rPr lang="en-US" altLang="zh-CN" sz="3335"/>
              <a:t>,</a:t>
            </a:r>
            <a:r>
              <a:rPr lang="zh-CN" altLang="en-US" sz="3335"/>
              <a:t>无论兼职还是专职</a:t>
            </a:r>
            <a:r>
              <a:rPr lang="en-US" altLang="zh-CN" sz="3335"/>
              <a:t>,</a:t>
            </a:r>
            <a:r>
              <a:rPr lang="zh-CN" altLang="en-US" sz="3335"/>
              <a:t>因其人员的相对固定</a:t>
            </a:r>
            <a:r>
              <a:rPr lang="en-US" altLang="zh-CN" sz="3335"/>
              <a:t>,</a:t>
            </a:r>
            <a:r>
              <a:rPr lang="zh-CN" altLang="en-US" sz="3335"/>
              <a:t>保障了输出文件密级的准确和规范。</a:t>
            </a:r>
            <a:endParaRPr lang="zh-CN" altLang="en-US" sz="3335"/>
          </a:p>
          <a:p>
            <a:r>
              <a:rPr lang="zh-CN" altLang="en-US" sz="3335"/>
              <a:t>缺点一是额外需要设置定密节点</a:t>
            </a:r>
            <a:r>
              <a:rPr lang="en-US" altLang="zh-CN" sz="3335"/>
              <a:t>,</a:t>
            </a:r>
            <a:r>
              <a:rPr lang="zh-CN" altLang="en-US" sz="3335"/>
              <a:t>增加管理流程</a:t>
            </a:r>
            <a:r>
              <a:rPr lang="en-US" altLang="zh-CN" sz="3335"/>
              <a:t>:</a:t>
            </a:r>
            <a:r>
              <a:rPr lang="zh-CN" altLang="en-US" sz="3335"/>
              <a:t>二是对信息系统内流转和其他领域流转的文件定密欠缺有效管控</a:t>
            </a:r>
            <a:r>
              <a:rPr lang="en-US" altLang="zh-CN" sz="3335"/>
              <a:t>:</a:t>
            </a:r>
            <a:r>
              <a:rPr lang="zh-CN" altLang="en-US" sz="3335"/>
              <a:t>三是对单位涉密事项细目的形成工作没有责任落实，定密工作缺乏系统性，</a:t>
            </a:r>
            <a:endParaRPr lang="zh-CN" altLang="en-US" sz="3335"/>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正式文件</a:t>
            </a:r>
            <a:r>
              <a:rPr lang="zh-CN" altLang="en-US"/>
              <a:t>审定者</a:t>
            </a:r>
            <a:endParaRPr lang="zh-CN" altLang="en-US"/>
          </a:p>
        </p:txBody>
      </p:sp>
      <p:sp>
        <p:nvSpPr>
          <p:cNvPr id="3" name="内容占位符 2"/>
          <p:cNvSpPr/>
          <p:nvPr>
            <p:ph idx="1"/>
          </p:nvPr>
        </p:nvSpPr>
        <p:spPr/>
        <p:txBody>
          <a:bodyPr>
            <a:normAutofit fontScale="70000"/>
          </a:bodyPr>
          <a:p>
            <a:pPr>
              <a:lnSpc>
                <a:spcPct val="110000"/>
              </a:lnSpc>
            </a:pPr>
            <a:r>
              <a:rPr lang="zh-CN" altLang="en-US"/>
              <a:t>正式文件审定者</a:t>
            </a:r>
            <a:r>
              <a:rPr lang="en-US" altLang="zh-CN"/>
              <a:t>,</a:t>
            </a:r>
            <a:r>
              <a:rPr lang="zh-CN" altLang="en-US"/>
              <a:t>是指定密责任人负责对单位的正式</a:t>
            </a:r>
            <a:r>
              <a:rPr lang="en-US" altLang="zh-CN"/>
              <a:t>(</a:t>
            </a:r>
            <a:r>
              <a:rPr lang="zh-CN" altLang="en-US"/>
              <a:t>行政和技术文件</a:t>
            </a:r>
            <a:r>
              <a:rPr lang="en-US" altLang="zh-CN"/>
              <a:t>)</a:t>
            </a:r>
            <a:r>
              <a:rPr lang="zh-CN" altLang="en-US"/>
              <a:t>载体涉密等级的确定、变更和解除进行审定</a:t>
            </a:r>
            <a:r>
              <a:rPr lang="en-US" altLang="zh-CN"/>
              <a:t>,</a:t>
            </a:r>
            <a:r>
              <a:rPr lang="zh-CN" altLang="en-US"/>
              <a:t>该角色的形成是相对保密资格认证标准中关于</a:t>
            </a:r>
            <a:r>
              <a:rPr lang="en-US" altLang="zh-CN"/>
              <a:t>“</a:t>
            </a:r>
            <a:r>
              <a:rPr lang="zh-CN" altLang="en-US"/>
              <a:t>过程文件</a:t>
            </a:r>
            <a:r>
              <a:rPr lang="en-US" altLang="zh-CN"/>
              <a:t>"</a:t>
            </a:r>
            <a:r>
              <a:rPr lang="zh-CN" altLang="en-US"/>
              <a:t>概念而提出的</a:t>
            </a:r>
            <a:r>
              <a:rPr lang="en-US" altLang="zh-CN"/>
              <a:t>,</a:t>
            </a:r>
            <a:r>
              <a:rPr lang="zh-CN" altLang="en-US"/>
              <a:t>是针对</a:t>
            </a:r>
            <a:r>
              <a:rPr lang="en-US" altLang="zh-CN"/>
              <a:t>“</a:t>
            </a:r>
            <a:r>
              <a:rPr lang="zh-CN" altLang="en-US"/>
              <a:t>正式</a:t>
            </a:r>
            <a:r>
              <a:rPr lang="en-US" altLang="zh-CN"/>
              <a:t>”</a:t>
            </a:r>
            <a:r>
              <a:rPr lang="zh-CN" altLang="en-US"/>
              <a:t>文件密级的规范性管理措施。</a:t>
            </a:r>
            <a:endParaRPr lang="zh-CN" altLang="en-US"/>
          </a:p>
          <a:p>
            <a:pPr>
              <a:lnSpc>
                <a:spcPct val="110000"/>
              </a:lnSpc>
            </a:pPr>
            <a:r>
              <a:rPr lang="zh-CN" altLang="en-US"/>
              <a:t>该角色的定密责任人一般为单位有正式文件批准权的行政、技术负责人</a:t>
            </a:r>
            <a:r>
              <a:rPr lang="en-US" altLang="zh-CN"/>
              <a:t>;</a:t>
            </a:r>
            <a:r>
              <a:rPr lang="zh-CN" altLang="en-US"/>
              <a:t>人数约为涉密人员总数的</a:t>
            </a:r>
            <a:r>
              <a:rPr lang="en-US" altLang="zh-CN"/>
              <a:t>5%~1 0%,</a:t>
            </a:r>
            <a:r>
              <a:rPr lang="zh-CN" altLang="en-US"/>
              <a:t>个别单位也有</a:t>
            </a:r>
            <a:r>
              <a:rPr lang="en-US" altLang="zh-CN"/>
              <a:t>3%</a:t>
            </a:r>
            <a:r>
              <a:rPr lang="zh-CN" altLang="en-US"/>
              <a:t>左右的，被调研单位中目前约有</a:t>
            </a:r>
            <a:r>
              <a:rPr lang="en-US" altLang="zh-CN"/>
              <a:t>45%</a:t>
            </a:r>
            <a:r>
              <a:rPr lang="zh-CN" altLang="en-US"/>
              <a:t>采取该模式。</a:t>
            </a:r>
            <a:endParaRPr lang="zh-CN" altLang="en-US"/>
          </a:p>
          <a:p>
            <a:pPr>
              <a:lnSpc>
                <a:spcPct val="110000"/>
              </a:lnSpc>
            </a:pPr>
            <a:r>
              <a:rPr lang="zh-CN" altLang="en-US"/>
              <a:t>这一模式在目前军工系统采用的单位较多</a:t>
            </a:r>
            <a:r>
              <a:rPr lang="en-US" altLang="zh-CN"/>
              <a:t>,</a:t>
            </a:r>
            <a:r>
              <a:rPr lang="zh-CN" altLang="en-US"/>
              <a:t>人数适中</a:t>
            </a:r>
            <a:r>
              <a:rPr lang="en-US" altLang="zh-CN"/>
              <a:t>,</a:t>
            </a:r>
            <a:r>
              <a:rPr lang="zh-CN" altLang="en-US"/>
              <a:t>依托正式文件形成流程</a:t>
            </a:r>
            <a:r>
              <a:rPr lang="en-US" altLang="zh-CN"/>
              <a:t>,</a:t>
            </a:r>
            <a:r>
              <a:rPr lang="zh-CN" altLang="en-US"/>
              <a:t>方便工作。</a:t>
            </a:r>
            <a:endParaRPr lang="zh-CN" altLang="en-US"/>
          </a:p>
          <a:p>
            <a:pPr>
              <a:lnSpc>
                <a:spcPct val="110000"/>
              </a:lnSpc>
            </a:pPr>
            <a:r>
              <a:rPr lang="zh-CN" altLang="en-US"/>
              <a:t>但是这个模式忽视了大量存在的</a:t>
            </a:r>
            <a:r>
              <a:rPr lang="en-US" altLang="zh-CN"/>
              <a:t>“</a:t>
            </a:r>
            <a:r>
              <a:rPr lang="zh-CN" altLang="en-US"/>
              <a:t>过程文件</a:t>
            </a:r>
            <a:r>
              <a:rPr lang="en-US" altLang="zh-CN"/>
              <a:t>”</a:t>
            </a:r>
            <a:r>
              <a:rPr lang="zh-CN" altLang="en-US"/>
              <a:t>定密问题的监督</a:t>
            </a:r>
            <a:r>
              <a:rPr lang="en-US" altLang="zh-CN"/>
              <a:t>:</a:t>
            </a:r>
            <a:r>
              <a:rPr lang="zh-CN" altLang="en-US"/>
              <a:t>而且</a:t>
            </a:r>
            <a:r>
              <a:rPr lang="en-US" altLang="zh-CN"/>
              <a:t>,</a:t>
            </a:r>
            <a:r>
              <a:rPr lang="zh-CN" altLang="en-US"/>
              <a:t>同样存在对单位涉密事项细目的形成工作没有落实责任者</a:t>
            </a:r>
            <a:r>
              <a:rPr lang="en-US" altLang="zh-CN"/>
              <a:t>,</a:t>
            </a:r>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载体</a:t>
            </a:r>
            <a:r>
              <a:rPr lang="zh-CN" altLang="en-US"/>
              <a:t>审定者</a:t>
            </a:r>
            <a:endParaRPr lang="zh-CN" altLang="en-US"/>
          </a:p>
        </p:txBody>
      </p:sp>
      <p:sp>
        <p:nvSpPr>
          <p:cNvPr id="3" name="内容占位符 2"/>
          <p:cNvSpPr/>
          <p:nvPr>
            <p:ph idx="1"/>
          </p:nvPr>
        </p:nvSpPr>
        <p:spPr/>
        <p:txBody>
          <a:bodyPr>
            <a:normAutofit fontScale="60000"/>
          </a:bodyPr>
          <a:p>
            <a:pPr>
              <a:lnSpc>
                <a:spcPct val="120000"/>
              </a:lnSpc>
            </a:pPr>
            <a:r>
              <a:rPr lang="zh-CN" altLang="en-US"/>
              <a:t>载体审定者</a:t>
            </a:r>
            <a:r>
              <a:rPr lang="en-US" altLang="zh-CN"/>
              <a:t>,</a:t>
            </a:r>
            <a:r>
              <a:rPr lang="zh-CN" altLang="en-US"/>
              <a:t>是指定密责任人负责对所有载体涉密等级的确定、变更和解除进行审定。该角色定义的法律渊源是《保密法》第十二条的第二款</a:t>
            </a:r>
            <a:r>
              <a:rPr lang="en-US" altLang="zh-CN"/>
              <a:t>:“</a:t>
            </a:r>
            <a:r>
              <a:rPr lang="zh-CN" altLang="en-US"/>
              <a:t>机关、单位确定、变更和解除本单位国家秘密</a:t>
            </a:r>
            <a:r>
              <a:rPr lang="en-US" altLang="zh-CN"/>
              <a:t>,</a:t>
            </a:r>
            <a:r>
              <a:rPr lang="zh-CN" altLang="en-US"/>
              <a:t>应当由承办人提出具体意见</a:t>
            </a:r>
            <a:r>
              <a:rPr lang="en-US" altLang="zh-CN"/>
              <a:t>,</a:t>
            </a:r>
            <a:r>
              <a:rPr lang="zh-CN" altLang="en-US"/>
              <a:t>经定密责任人审核批准</a:t>
            </a:r>
            <a:r>
              <a:rPr lang="en-US" altLang="zh-CN"/>
              <a:t>”,</a:t>
            </a:r>
            <a:r>
              <a:rPr lang="zh-CN" altLang="en-US"/>
              <a:t>其理论依据是美国定密官制度的一部分，即派生定密部分职责。</a:t>
            </a:r>
            <a:endParaRPr lang="zh-CN" altLang="en-US"/>
          </a:p>
          <a:p>
            <a:pPr>
              <a:lnSpc>
                <a:spcPct val="120000"/>
              </a:lnSpc>
            </a:pPr>
            <a:r>
              <a:rPr lang="zh-CN" altLang="en-US"/>
              <a:t>该角色的定密责任人一般为单位全部行政管理者</a:t>
            </a:r>
            <a:r>
              <a:rPr lang="en-US" altLang="zh-CN"/>
              <a:t>,</a:t>
            </a:r>
            <a:r>
              <a:rPr lang="zh-CN" altLang="en-US"/>
              <a:t>人数大于涉密人员数量的</a:t>
            </a:r>
            <a:r>
              <a:rPr lang="en-US" altLang="zh-CN"/>
              <a:t>10%,</a:t>
            </a:r>
            <a:r>
              <a:rPr lang="zh-CN" altLang="en-US"/>
              <a:t>被调研单位中目前约有</a:t>
            </a:r>
            <a:r>
              <a:rPr lang="en-US" altLang="zh-CN"/>
              <a:t>35%</a:t>
            </a:r>
            <a:r>
              <a:rPr lang="zh-CN" altLang="en-US"/>
              <a:t>采取该模式。</a:t>
            </a:r>
            <a:endParaRPr lang="zh-CN" altLang="en-US"/>
          </a:p>
          <a:p>
            <a:pPr>
              <a:lnSpc>
                <a:spcPct val="120000"/>
              </a:lnSpc>
            </a:pPr>
            <a:r>
              <a:rPr lang="zh-CN" altLang="en-US"/>
              <a:t>该模式借鉴了美国定密官工作模式</a:t>
            </a:r>
            <a:r>
              <a:rPr lang="en-US" altLang="zh-CN"/>
              <a:t>,</a:t>
            </a:r>
            <a:r>
              <a:rPr lang="zh-CN" altLang="en-US"/>
              <a:t>从理论上说实现了对所有载体定密的审查</a:t>
            </a:r>
            <a:r>
              <a:rPr lang="en-US" altLang="zh-CN"/>
              <a:t>,</a:t>
            </a:r>
            <a:r>
              <a:rPr lang="zh-CN" altLang="en-US"/>
              <a:t>确保了定密准确性。</a:t>
            </a:r>
            <a:endParaRPr lang="zh-CN" altLang="en-US"/>
          </a:p>
          <a:p>
            <a:pPr>
              <a:lnSpc>
                <a:spcPct val="120000"/>
              </a:lnSpc>
            </a:pPr>
            <a:r>
              <a:rPr lang="zh-CN" altLang="en-US"/>
              <a:t>但是因为工作机制的差异</a:t>
            </a:r>
            <a:r>
              <a:rPr lang="en-US" altLang="zh-CN"/>
              <a:t>,</a:t>
            </a:r>
            <a:r>
              <a:rPr lang="zh-CN" altLang="en-US"/>
              <a:t>针对较多的载体</a:t>
            </a:r>
            <a:r>
              <a:rPr lang="en-US" altLang="zh-CN"/>
              <a:t>,</a:t>
            </a:r>
            <a:r>
              <a:rPr lang="zh-CN" altLang="en-US"/>
              <a:t>一般必须指定较多的定密责任人来完成载体定密审定工作</a:t>
            </a:r>
            <a:r>
              <a:rPr lang="en-US" altLang="zh-CN"/>
              <a:t>,</a:t>
            </a:r>
            <a:r>
              <a:rPr lang="zh-CN" altLang="en-US"/>
              <a:t>因此其培训和工作质量难以保证</a:t>
            </a:r>
            <a:r>
              <a:rPr lang="en-US" altLang="zh-CN"/>
              <a:t>;</a:t>
            </a:r>
            <a:r>
              <a:rPr lang="zh-CN" altLang="en-US"/>
              <a:t>也存在对单位涉密事项细目的形成工作没有落实责任者的问题。</a:t>
            </a: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定密责任人</a:t>
            </a:r>
            <a:r>
              <a:rPr lang="en-US" altLang="zh-CN"/>
              <a:t>VS</a:t>
            </a:r>
            <a:r>
              <a:rPr lang="zh-CN" altLang="en-US"/>
              <a:t>涉密人员</a:t>
            </a:r>
            <a:endParaRPr lang="zh-CN" altLang="en-US"/>
          </a:p>
        </p:txBody>
      </p:sp>
      <p:sp>
        <p:nvSpPr>
          <p:cNvPr id="3" name="内容占位符 2"/>
          <p:cNvSpPr>
            <a:spLocks noGrp="1"/>
          </p:cNvSpPr>
          <p:nvPr>
            <p:ph idx="1"/>
          </p:nvPr>
        </p:nvSpPr>
        <p:spPr/>
        <p:txBody>
          <a:bodyPr/>
          <a:p>
            <a:r>
              <a:rPr lang="zh-CN" altLang="en-US"/>
              <a:t>从基本定义上，厘清定密责任人、涉密人员内涵</a:t>
            </a:r>
            <a:endParaRPr lang="zh-CN" altLang="en-US"/>
          </a:p>
          <a:p>
            <a:r>
              <a:rPr lang="zh-CN" altLang="en-US"/>
              <a:t>从政策规定变化上，注意涉密岗位确定标准的调整。</a:t>
            </a:r>
            <a:endParaRPr lang="zh-CN" altLang="en-US"/>
          </a:p>
          <a:p>
            <a:r>
              <a:rPr lang="zh-CN" altLang="en-US"/>
              <a:t>考虑特殊情况，加强人员</a:t>
            </a:r>
            <a:r>
              <a:rPr lang="zh-CN" altLang="en-US"/>
              <a:t>管理</a:t>
            </a:r>
            <a:endParaRPr lang="zh-CN" altLang="en-US"/>
          </a:p>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内涵</a:t>
            </a:r>
            <a:r>
              <a:rPr lang="zh-CN" altLang="en-US"/>
              <a:t>分析</a:t>
            </a:r>
            <a:endParaRPr lang="zh-CN" altLang="en-US"/>
          </a:p>
        </p:txBody>
      </p:sp>
      <p:sp>
        <p:nvSpPr>
          <p:cNvPr id="3" name="内容占位符 2"/>
          <p:cNvSpPr>
            <a:spLocks noGrp="1"/>
          </p:cNvSpPr>
          <p:nvPr>
            <p:ph sz="half" idx="1"/>
          </p:nvPr>
        </p:nvSpPr>
        <p:spPr/>
        <p:txBody>
          <a:bodyPr>
            <a:normAutofit fontScale="60000"/>
          </a:bodyPr>
          <a:p>
            <a:r>
              <a:rPr lang="zh-CN" altLang="en-US"/>
              <a:t>机关、单位主要负责人</a:t>
            </a:r>
            <a:r>
              <a:rPr lang="en-US" altLang="zh-CN"/>
              <a:t>(</a:t>
            </a:r>
            <a:r>
              <a:rPr lang="zh-CN" altLang="en-US"/>
              <a:t>新修订的保密法增加了</a:t>
            </a:r>
            <a:r>
              <a:rPr lang="en-US" altLang="zh-CN"/>
              <a:t>“</a:t>
            </a:r>
            <a:r>
              <a:rPr lang="zh-CN" altLang="en-US"/>
              <a:t>主要</a:t>
            </a:r>
            <a:r>
              <a:rPr lang="en-US" altLang="zh-CN"/>
              <a:t>”</a:t>
            </a:r>
            <a:r>
              <a:rPr lang="zh-CN" altLang="en-US"/>
              <a:t>一词</a:t>
            </a:r>
            <a:r>
              <a:rPr lang="en-US" altLang="zh-CN"/>
              <a:t>)</a:t>
            </a:r>
            <a:r>
              <a:rPr lang="zh-CN" altLang="en-US"/>
              <a:t>及其指定的人员为定密责任人，负责本机关、本单位的国家秘密确定、变更和解除工作。机关、单位主要负责人是法定的定密责任人，对本机关、本单位的业务有着全面的了解，对本机关、本单位保密工作负总责，承担确定、变更、解除国家秘密的职责。</a:t>
            </a:r>
            <a:endParaRPr lang="zh-CN" altLang="en-US"/>
          </a:p>
          <a:p>
            <a:r>
              <a:rPr lang="zh-CN" altLang="en-US"/>
              <a:t>同时根据工作需要，机关、单位主要负责人可以指定本机关、本单位其他负责人、内设机构负责人或其他工作人员为定密责任人，即指定定密责任人。</a:t>
            </a:r>
            <a:endParaRPr lang="zh-CN" altLang="en-US"/>
          </a:p>
        </p:txBody>
      </p:sp>
      <p:sp>
        <p:nvSpPr>
          <p:cNvPr id="4" name="内容占位符 3"/>
          <p:cNvSpPr>
            <a:spLocks noGrp="1"/>
          </p:cNvSpPr>
          <p:nvPr>
            <p:ph sz="half" idx="2"/>
          </p:nvPr>
        </p:nvSpPr>
        <p:spPr/>
        <p:txBody>
          <a:bodyPr>
            <a:normAutofit fontScale="60000"/>
          </a:bodyPr>
          <a:p>
            <a:r>
              <a:rPr lang="zh-CN" altLang="en-US"/>
              <a:t>关干涉密人员。新修订的保密法第四十三条，确立了我国涉密人员制度的基本框架，在涉密岗位工作的人员</a:t>
            </a:r>
            <a:r>
              <a:rPr lang="en-US" altLang="zh-CN"/>
              <a:t>(</a:t>
            </a:r>
            <a:r>
              <a:rPr lang="zh-CN" altLang="en-US"/>
              <a:t>以下简称涉密人员</a:t>
            </a:r>
            <a:r>
              <a:rPr lang="en-US" altLang="zh-CN"/>
              <a:t>)</a:t>
            </a:r>
            <a:r>
              <a:rPr lang="zh-CN" altLang="en-US"/>
              <a:t>，按照涉密程度分为核心涉密人员、重要涉密人员和一般涉密人员</a:t>
            </a:r>
            <a:endParaRPr lang="zh-CN" altLang="en-US"/>
          </a:p>
          <a:p>
            <a:r>
              <a:rPr lang="zh-CN" altLang="en-US"/>
              <a:t>确定涉密人员与确定涉密岗位</a:t>
            </a:r>
            <a:r>
              <a:rPr lang="en-US" altLang="zh-CN"/>
              <a:t>(</a:t>
            </a:r>
            <a:r>
              <a:rPr lang="zh-CN" altLang="en-US"/>
              <a:t>含涉密等级</a:t>
            </a:r>
            <a:r>
              <a:rPr lang="en-US" altLang="zh-CN"/>
              <a:t>)</a:t>
            </a:r>
            <a:r>
              <a:rPr lang="zh-CN" altLang="en-US"/>
              <a:t>存在一一对应关系。机关、单位根据工作岗位职责是否涉及保密事项范围规定事项</a:t>
            </a:r>
            <a:r>
              <a:rPr lang="en-US" altLang="zh-CN"/>
              <a:t>(</a:t>
            </a:r>
            <a:r>
              <a:rPr lang="zh-CN" altLang="en-US"/>
              <a:t>定性标准</a:t>
            </a:r>
            <a:r>
              <a:rPr lang="en-US" altLang="zh-CN"/>
              <a:t>)</a:t>
            </a:r>
            <a:r>
              <a:rPr lang="zh-CN" altLang="en-US"/>
              <a:t>，或者产生、办理、接触、使用国家秘密的数量和密级是否达到一定标准</a:t>
            </a:r>
            <a:r>
              <a:rPr lang="en-US" altLang="zh-CN"/>
              <a:t>(</a:t>
            </a:r>
            <a:r>
              <a:rPr lang="zh-CN" altLang="en-US"/>
              <a:t>定量标</a:t>
            </a:r>
            <a:endParaRPr lang="zh-CN" altLang="en-US"/>
          </a:p>
          <a:p>
            <a:r>
              <a:rPr lang="zh-CN" altLang="en-US"/>
              <a:t>准</a:t>
            </a:r>
            <a:r>
              <a:rPr lang="en-US" altLang="zh-CN"/>
              <a:t>)</a:t>
            </a:r>
            <a:r>
              <a:rPr lang="zh-CN" altLang="en-US"/>
              <a:t>，确定涉密岗位。涉密岗位的确定应当采用先定性、后定量，定性与定量相结合的方式进行。</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endParaRPr lang="zh-CN" altLang="en-US"/>
          </a:p>
        </p:txBody>
      </p:sp>
      <p:sp>
        <p:nvSpPr>
          <p:cNvPr id="6" name="内容占位符 5"/>
          <p:cNvSpPr>
            <a:spLocks noGrp="1"/>
          </p:cNvSpPr>
          <p:nvPr>
            <p:ph idx="1"/>
          </p:nvPr>
        </p:nvSpPr>
        <p:spPr>
          <a:xfrm>
            <a:off x="457200" y="1600200"/>
            <a:ext cx="8229600" cy="4829810"/>
          </a:xfrm>
        </p:spPr>
        <p:txBody>
          <a:bodyPr>
            <a:normAutofit fontScale="70000"/>
          </a:bodyPr>
          <a:p>
            <a:r>
              <a:rPr lang="zh-CN" altLang="en-US"/>
              <a:t>定密责任人岗位不是天然的涉密岗位，定密责任人也不是天然的涉密人员。确定涉密人员要依据一定的标准，如果所在工作岗位达不到规定的定性、定量标准，相关人员是不能被确定为涉密人员的。</a:t>
            </a:r>
            <a:endParaRPr lang="zh-CN" altLang="en-US"/>
          </a:p>
          <a:p>
            <a:r>
              <a:rPr lang="zh-CN" altLang="en-US"/>
              <a:t>因此，即使定密责任人</a:t>
            </a:r>
            <a:r>
              <a:rPr lang="en-US" altLang="zh-CN"/>
              <a:t>(</a:t>
            </a:r>
            <a:r>
              <a:rPr lang="zh-CN" altLang="en-US"/>
              <a:t>包括法定定密责任人和指定定密责任人</a:t>
            </a:r>
            <a:r>
              <a:rPr lang="en-US" altLang="zh-CN"/>
              <a:t>)</a:t>
            </a:r>
            <a:r>
              <a:rPr lang="zh-CN" altLang="en-US"/>
              <a:t>，负责本机关、本单位的国家秘密确定变更和解除工作，但达不到相应标准，其工作岗位也不能被确定为涉密岗位，其本人就不能被确定为涉密人</a:t>
            </a:r>
            <a:r>
              <a:rPr lang="zh-CN" altLang="en-US"/>
              <a:t>员。</a:t>
            </a:r>
            <a:endParaRPr lang="zh-CN" altLang="en-US"/>
          </a:p>
          <a:p>
            <a:r>
              <a:rPr lang="zh-CN" altLang="en-US"/>
              <a:t>举例来说，某单位主要负责人岗位不涉及保密事项范围规定事项</a:t>
            </a:r>
            <a:r>
              <a:rPr lang="en-US" altLang="zh-CN"/>
              <a:t>(</a:t>
            </a:r>
            <a:r>
              <a:rPr lang="zh-CN" altLang="en-US"/>
              <a:t>此类情况在基层单位较常见</a:t>
            </a:r>
            <a:r>
              <a:rPr lang="en-US" altLang="zh-CN"/>
              <a:t>)</a:t>
            </a:r>
            <a:r>
              <a:rPr lang="zh-CN" altLang="en-US"/>
              <a:t>，近</a:t>
            </a:r>
            <a:r>
              <a:rPr lang="en-US" altLang="zh-CN"/>
              <a:t>3</a:t>
            </a:r>
            <a:r>
              <a:rPr lang="zh-CN" altLang="en-US"/>
              <a:t>年年均仅产生、办理、接触、使用</a:t>
            </a:r>
            <a:r>
              <a:rPr lang="en-US" altLang="zh-CN"/>
              <a:t>1-8</a:t>
            </a:r>
            <a:r>
              <a:rPr lang="zh-CN" altLang="en-US"/>
              <a:t>件秘密级国家秘密，该单位法定定密责任人所在岗位就不能被确定为涉密皮位，该法定定密责任人也就不能被确定为涉密人员。</a:t>
            </a:r>
            <a:endParaRPr lang="zh-CN" altLang="en-US"/>
          </a:p>
          <a:p>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政策</a:t>
            </a:r>
            <a:r>
              <a:rPr lang="zh-CN" altLang="en-US"/>
              <a:t>分析</a:t>
            </a:r>
            <a:endParaRPr lang="zh-CN" altLang="en-US"/>
          </a:p>
        </p:txBody>
      </p:sp>
      <p:sp>
        <p:nvSpPr>
          <p:cNvPr id="3" name="内容占位符 2"/>
          <p:cNvSpPr>
            <a:spLocks noGrp="1"/>
          </p:cNvSpPr>
          <p:nvPr>
            <p:ph idx="1"/>
          </p:nvPr>
        </p:nvSpPr>
        <p:spPr>
          <a:xfrm>
            <a:off x="457200" y="1600200"/>
            <a:ext cx="8229600" cy="4820285"/>
          </a:xfrm>
        </p:spPr>
        <p:txBody>
          <a:bodyPr>
            <a:normAutofit fontScale="70000"/>
          </a:bodyPr>
          <a:p>
            <a:r>
              <a:rPr lang="zh-CN" altLang="en-US"/>
              <a:t>近年来，由于涉密人员保密管理新规定的出台，涉密岗位的确定标准也发生了调整变化。</a:t>
            </a:r>
            <a:endParaRPr lang="zh-CN" altLang="en-US"/>
          </a:p>
          <a:p>
            <a:r>
              <a:rPr lang="zh-CN" altLang="en-US"/>
              <a:t>旧规定采用特定岗位和量化岗位的标准来确定涉密岗位，明确</a:t>
            </a:r>
            <a:r>
              <a:rPr lang="en-US" altLang="zh-CN"/>
              <a:t>“</a:t>
            </a:r>
            <a:r>
              <a:rPr lang="zh-CN" altLang="en-US"/>
              <a:t>定密责任人岗位</a:t>
            </a:r>
            <a:r>
              <a:rPr lang="en-US" altLang="zh-CN"/>
              <a:t>”</a:t>
            </a:r>
            <a:r>
              <a:rPr lang="zh-CN" altLang="en-US"/>
              <a:t>属于特定岗位，应当被确定为涉密岗位，即定密责任人也应当被确定为涉密人员。实践中，特定岗位标准简便、易行，但也容易导致涉密人员确定较为泛化、不够精准的问题，不少单位特别是基层单位定密责任人，每年仅处理极少量的国家秘密，也要被确定为涉密人员，给后续管理带来一系列问题。</a:t>
            </a:r>
            <a:endParaRPr lang="zh-CN" altLang="en-US"/>
          </a:p>
          <a:p>
            <a:r>
              <a:rPr lang="zh-CN" altLang="en-US"/>
              <a:t>新规定对涉密岗位的确定标准作出了调整，采用前述的先定性、后定量，定性与定量相结合的方式。定量标准与原来的量化岗位标准类似，在此不再赘述。</a:t>
            </a:r>
            <a:endParaRPr lang="zh-CN" altLang="en-US"/>
          </a:p>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r>
              <a:rPr lang="zh-CN" altLang="en-US">
                <a:sym typeface="+mn-ea"/>
              </a:rPr>
              <a:t>重点是定性标准与原来的特定岗位标准在性质上有较大差别，前者是指工作岗位职责只要涉及有关保密事项范围规定事项的，就应当被确定为涉密岗位</a:t>
            </a:r>
            <a:r>
              <a:rPr lang="en-US" altLang="zh-CN">
                <a:sym typeface="+mn-ea"/>
              </a:rPr>
              <a:t>;</a:t>
            </a:r>
            <a:r>
              <a:rPr lang="zh-CN" altLang="en-US">
                <a:sym typeface="+mn-ea"/>
              </a:rPr>
              <a:t>后者是将几类经常产生、办理、接触、使用国家秘密的岗位直接确定为涉密岗位。</a:t>
            </a:r>
            <a:endParaRPr lang="zh-CN" altLang="en-US"/>
          </a:p>
          <a:p>
            <a:r>
              <a:rPr lang="zh-CN" altLang="en-US">
                <a:sym typeface="+mn-ea"/>
              </a:rPr>
              <a:t>在实践中，定密责任人工作岗位职责与保密事项范围规定事项没有必然联系，因此按照新规定，定密责任人岗位不一定为涉密岗位，定密责任人就不一定被确定为涉密人员。</a:t>
            </a:r>
            <a:endParaRPr lang="zh-CN" altLang="en-US"/>
          </a:p>
          <a:p>
            <a:r>
              <a:rPr lang="zh-CN" altLang="en-US">
                <a:sym typeface="+mn-ea"/>
              </a:rPr>
              <a:t>对比旧规定，新规定对涉密岗位的确定标准更加严格，既防止漏定漏管，又避免滥定扩大范围，这也表明涉密人员保密管理更加规范化、科学化，工作不断精准深入。</a:t>
            </a:r>
            <a:endParaRPr lang="zh-CN" altLang="en-US"/>
          </a:p>
          <a:p>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人员</a:t>
            </a:r>
            <a:r>
              <a:rPr lang="zh-CN" altLang="en-US"/>
              <a:t>管理</a:t>
            </a:r>
            <a:endParaRPr lang="zh-CN" altLang="en-US"/>
          </a:p>
        </p:txBody>
      </p:sp>
      <p:sp>
        <p:nvSpPr>
          <p:cNvPr id="3" name="内容占位符 2"/>
          <p:cNvSpPr>
            <a:spLocks noGrp="1"/>
          </p:cNvSpPr>
          <p:nvPr>
            <p:ph idx="1"/>
          </p:nvPr>
        </p:nvSpPr>
        <p:spPr/>
        <p:txBody>
          <a:bodyPr>
            <a:normAutofit/>
          </a:bodyPr>
          <a:p>
            <a:r>
              <a:rPr lang="zh-CN" altLang="en-US" sz="2800"/>
              <a:t>要考虑特殊情况，并加强对未被确定为涉密人员的定密责任人教育培训与监督管理。</a:t>
            </a:r>
            <a:endParaRPr lang="zh-CN" altLang="en-US" sz="2800"/>
          </a:p>
          <a:p>
            <a:r>
              <a:rPr lang="zh-CN" altLang="en-US" sz="2800"/>
              <a:t>定密责任人有可能是非涉密人员，但与此同时也应该考虑特殊情况，如某些定密责任人工作岗位虽然达不到定性、定量标准，但因工作需要，机关、单位认为确需确定为涉密岗位的，可以经本机关、本单位保密委员会</a:t>
            </a:r>
            <a:r>
              <a:rPr lang="en-US" altLang="zh-CN" sz="2800"/>
              <a:t>(</a:t>
            </a:r>
            <a:r>
              <a:rPr lang="zh-CN" altLang="en-US" sz="2800"/>
              <a:t>或者本机关、本单位</a:t>
            </a:r>
            <a:r>
              <a:rPr lang="en-US" altLang="zh-CN" sz="2800"/>
              <a:t>)</a:t>
            </a:r>
            <a:r>
              <a:rPr lang="zh-CN" altLang="en-US" sz="2800"/>
              <a:t>审批确定。</a:t>
            </a:r>
            <a:endParaRPr lang="en-US" altLang="zh-CN" sz="2800"/>
          </a:p>
          <a:p>
            <a:endParaRPr lang="zh-CN" altLang="en-US" sz="28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20000"/>
          </a:bodyPr>
          <a:p>
            <a:r>
              <a:rPr lang="zh-CN" altLang="en-US">
                <a:sym typeface="+mn-ea"/>
              </a:rPr>
              <a:t>值得注意的是，如果定密责任人不是涉密人员，并不意味着就可以放松管理。</a:t>
            </a:r>
            <a:endParaRPr lang="zh-CN" altLang="en-US">
              <a:sym typeface="+mn-ea"/>
            </a:endParaRPr>
          </a:p>
          <a:p>
            <a:r>
              <a:rPr lang="zh-CN" altLang="en-US">
                <a:sym typeface="+mn-ea"/>
              </a:rPr>
              <a:t>即使他们不是涉密人员，定密责任人特别是法定定密责任人，作为单位一把手，工作中一般能够知悉、处理少量的国家秘密或敏感事项就应当接受保密教育培训，切实增强保密意识与技能，规范保密行为，提高保密能力。</a:t>
            </a:r>
            <a:endParaRPr lang="zh-CN" altLang="en-US">
              <a:sym typeface="+mn-ea"/>
            </a:endParaRPr>
          </a:p>
          <a:p>
            <a:r>
              <a:rPr lang="zh-CN" altLang="en-US">
                <a:sym typeface="+mn-ea"/>
              </a:rPr>
              <a:t>各级保密行政管理部门和机关、单位应当按照有关保密法律法规，对其提出具体保密要求，通过加强教育培训、签订保密承诺书、强化责任追究等措施，加强保密管理。</a:t>
            </a: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七、定密责任人的管理</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rgbClr val="FF0000"/>
                </a:solidFill>
              </a:rPr>
              <a:t>建立定密责任人制度</a:t>
            </a:r>
            <a:endParaRPr lang="en-US" altLang="zh-CN" dirty="0" smtClean="0">
              <a:solidFill>
                <a:srgbClr val="FF0000"/>
              </a:solidFill>
            </a:endParaRPr>
          </a:p>
          <a:p>
            <a:r>
              <a:rPr lang="zh-CN" altLang="zh-CN" dirty="0" smtClean="0"/>
              <a:t>定期开展定密培训</a:t>
            </a:r>
            <a:endParaRPr lang="en-US" altLang="zh-CN" dirty="0" smtClean="0"/>
          </a:p>
          <a:p>
            <a:r>
              <a:rPr lang="zh-CN" altLang="zh-CN" dirty="0" smtClean="0"/>
              <a:t>明确定密责任人的任用条件</a:t>
            </a:r>
            <a:endParaRPr lang="en-US" altLang="zh-CN" dirty="0" smtClean="0"/>
          </a:p>
          <a:p>
            <a:r>
              <a:rPr lang="zh-CN" altLang="zh-CN" dirty="0" smtClean="0"/>
              <a:t>实施动态监督管理</a:t>
            </a:r>
            <a:endParaRPr lang="en-US" altLang="zh-CN" dirty="0" smtClean="0"/>
          </a:p>
          <a:p>
            <a:r>
              <a:rPr lang="zh-CN" altLang="zh-CN" dirty="0" smtClean="0"/>
              <a:t>运用科技手段提升工作效能</a:t>
            </a:r>
            <a:endParaRPr lang="zh-CN" altLang="en-US" dirty="0" smtClean="0"/>
          </a:p>
          <a:p>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77500" lnSpcReduction="20000"/>
          </a:bodyPr>
          <a:lstStyle/>
          <a:p>
            <a:r>
              <a:rPr lang="zh-CN" altLang="en-US" dirty="0">
                <a:solidFill>
                  <a:srgbClr val="FF0000"/>
                </a:solidFill>
              </a:rPr>
              <a:t>定密培训 </a:t>
            </a:r>
            <a:endParaRPr lang="zh-CN" altLang="en-US" dirty="0">
              <a:solidFill>
                <a:srgbClr val="FF0000"/>
              </a:solidFill>
            </a:endParaRPr>
          </a:p>
          <a:p>
            <a:r>
              <a:rPr lang="zh-CN" altLang="en-US" dirty="0"/>
              <a:t>定密是一项政策性、专业性很强的工作，机关、单位应当定期组织开展定密培训，以使定密责任人、承办人熟悉定密职责和保密事项范围，掌握定密程序和方法，具备做好定密工作的能力。 </a:t>
            </a:r>
            <a:endParaRPr lang="zh-CN" altLang="en-US" dirty="0"/>
          </a:p>
          <a:p>
            <a:r>
              <a:rPr lang="zh-CN" altLang="en-US" dirty="0"/>
              <a:t>机关、单位法定定密责任人，也就是机关、单位的一把手，应当依法履行定密职责。实施条例虽然没有对其参加定密培训作出硬性要求，但是，为确保其正确履行职责，机关、单位应当通过发放宣传资料、适时组织教育培训等方式，向负责人宣传定密知识，使其熟悉与本机关、本单位涉密业务工作相关的保密事项范围，了解掌握基本的定密专业知识，为提高机关、单位定密工作整体水平发挥好领导作用。  </a:t>
            </a:r>
            <a:endParaRPr kumimoji="1" lang="zh-CN" alt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二、我国的定密责任人制度</a:t>
            </a:r>
            <a:endParaRPr lang="zh-CN" altLang="en-US" dirty="0"/>
          </a:p>
        </p:txBody>
      </p:sp>
      <p:sp>
        <p:nvSpPr>
          <p:cNvPr id="3" name="内容占位符 2"/>
          <p:cNvSpPr>
            <a:spLocks noGrp="1"/>
          </p:cNvSpPr>
          <p:nvPr>
            <p:ph idx="1"/>
          </p:nvPr>
        </p:nvSpPr>
        <p:spPr/>
        <p:txBody>
          <a:bodyPr>
            <a:normAutofit/>
          </a:bodyPr>
          <a:lstStyle/>
          <a:p>
            <a:r>
              <a:rPr lang="zh-CN" altLang="en-US" dirty="0" smtClean="0"/>
              <a:t>我国的定密责任人制度，是产生国家秘密的机关、单位根据国家有关要求，授权具有一定资格的有关人员，依法负责本单位的国家秘密确定、变更与解密工作，其按照规定程序，行使确定国家秘密的权力。有关部门对其职责予以明确，要求其对确定的秘密事项正确与否，承担相应责任。</a:t>
            </a:r>
            <a:endParaRPr lang="zh-CN" alt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r>
              <a:rPr lang="zh-CN" altLang="en-US" dirty="0" smtClean="0"/>
              <a:t>为贯彻落实</a:t>
            </a:r>
            <a:r>
              <a:rPr lang="en-US" altLang="zh-CN" dirty="0" smtClean="0"/>
              <a:t>《</a:t>
            </a:r>
            <a:r>
              <a:rPr lang="zh-CN" altLang="en-US" dirty="0" smtClean="0"/>
              <a:t>中央决定</a:t>
            </a:r>
            <a:r>
              <a:rPr lang="en-US" altLang="zh-CN" dirty="0" smtClean="0"/>
              <a:t>》</a:t>
            </a:r>
            <a:r>
              <a:rPr lang="zh-CN" altLang="en-US" dirty="0" smtClean="0"/>
              <a:t>精神，各级保密工作部门和保密机构，积极探索改进和完善定密工作的新途径，结果殊途同归，认识的</a:t>
            </a:r>
            <a:r>
              <a:rPr lang="zh-CN" altLang="en-US" dirty="0" smtClean="0">
                <a:solidFill>
                  <a:srgbClr val="FF0000"/>
                </a:solidFill>
              </a:rPr>
              <a:t>焦点</a:t>
            </a:r>
            <a:r>
              <a:rPr lang="zh-CN" altLang="en-US" dirty="0" smtClean="0"/>
              <a:t>最终统一到了解决定密责任机制问题上，一些地区和部门根据</a:t>
            </a:r>
            <a:r>
              <a:rPr lang="en-US" altLang="zh-CN" dirty="0" smtClean="0"/>
              <a:t>《</a:t>
            </a:r>
            <a:r>
              <a:rPr lang="zh-CN" altLang="en-US" dirty="0" smtClean="0"/>
              <a:t>保密法</a:t>
            </a:r>
            <a:r>
              <a:rPr lang="en-US" altLang="zh-CN" dirty="0" smtClean="0"/>
              <a:t>》</a:t>
            </a:r>
            <a:r>
              <a:rPr lang="zh-CN" altLang="en-US" dirty="0" smtClean="0"/>
              <a:t>审核程序的规定，率先实行了“</a:t>
            </a:r>
            <a:r>
              <a:rPr lang="zh-CN" altLang="en-US" dirty="0" smtClean="0">
                <a:solidFill>
                  <a:srgbClr val="FF0000"/>
                </a:solidFill>
              </a:rPr>
              <a:t>定密审核员</a:t>
            </a:r>
            <a:r>
              <a:rPr lang="zh-CN" altLang="en-US" dirty="0" smtClean="0"/>
              <a:t>”制度。</a:t>
            </a:r>
            <a:endParaRPr lang="en-US" altLang="zh-CN" dirty="0" smtClean="0"/>
          </a:p>
          <a:p>
            <a:r>
              <a:rPr lang="zh-CN" altLang="en-US" dirty="0" smtClean="0"/>
              <a:t>由于这个制度</a:t>
            </a:r>
            <a:r>
              <a:rPr lang="zh-CN" altLang="en-US" dirty="0" smtClean="0">
                <a:solidFill>
                  <a:srgbClr val="FF0000"/>
                </a:solidFill>
              </a:rPr>
              <a:t>没有</a:t>
            </a:r>
            <a:r>
              <a:rPr lang="zh-CN" altLang="en-US" dirty="0" smtClean="0"/>
              <a:t>最终解决定密权利和定密责任统一的问题，建立定密责任人制度、实行授权定密的必要性就自然浮出水面。</a:t>
            </a:r>
            <a:endParaRPr lang="en-US" altLang="zh-CN" dirty="0" smtClean="0"/>
          </a:p>
          <a:p>
            <a:r>
              <a:rPr lang="zh-CN" altLang="en-US" dirty="0" smtClean="0"/>
              <a:t>在广泛调查研究的基础上，国家保密工作部门自</a:t>
            </a:r>
            <a:r>
              <a:rPr lang="en-US" dirty="0" smtClean="0"/>
              <a:t>2002</a:t>
            </a:r>
            <a:r>
              <a:rPr lang="zh-CN" altLang="en-US" dirty="0" smtClean="0"/>
              <a:t>年以来，先后在上海、江苏、山东、河南等省市和公安部、国土资源部、核工业集团公司等部门、单位开展了定密责任制度试点工作，解决了实行定密责任制一些理论和实践的难点问题，使定密责任人制度雏形基本形成。</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77500" lnSpcReduction="20000"/>
          </a:bodyPr>
          <a:lstStyle/>
          <a:p>
            <a:r>
              <a:rPr lang="zh-CN" altLang="en-US" dirty="0"/>
              <a:t>定密责任人制度是指</a:t>
            </a:r>
            <a:r>
              <a:rPr lang="zh-CN" altLang="en-US" dirty="0">
                <a:solidFill>
                  <a:srgbClr val="FF0000"/>
                </a:solidFill>
              </a:rPr>
              <a:t>明确定密责任主体和定密工作程序的制度</a:t>
            </a:r>
            <a:r>
              <a:rPr lang="zh-CN" altLang="en-US" dirty="0"/>
              <a:t>，实质要求就是定密权只能法定授权的人员行使</a:t>
            </a:r>
            <a:r>
              <a:rPr lang="zh-CN" altLang="en-US" dirty="0" smtClean="0"/>
              <a:t>。</a:t>
            </a:r>
            <a:endParaRPr lang="zh-CN" altLang="en-US" dirty="0" smtClean="0"/>
          </a:p>
          <a:p>
            <a:r>
              <a:rPr lang="zh-CN" altLang="en-US" dirty="0" smtClean="0"/>
              <a:t>主要</a:t>
            </a:r>
            <a:r>
              <a:rPr lang="zh-CN" altLang="en-US" dirty="0"/>
              <a:t>包括两个方面的内容</a:t>
            </a:r>
            <a:r>
              <a:rPr lang="zh-CN" altLang="en-US" dirty="0" smtClean="0"/>
              <a:t>：</a:t>
            </a:r>
            <a:endParaRPr lang="zh-CN" altLang="en-US" dirty="0" smtClean="0"/>
          </a:p>
          <a:p>
            <a:r>
              <a:rPr lang="zh-CN" altLang="en-US" dirty="0" smtClean="0"/>
              <a:t>一</a:t>
            </a:r>
            <a:r>
              <a:rPr lang="zh-CN" altLang="en-US" dirty="0"/>
              <a:t>是规定定密责任主体。明确定密责任人为机关、单位负责人及其指定的人员。机关、单位负责人是法定的定密责任人。定密工作量较大、业务工作具有特殊保密要求的机关、单位，可以由机关、单位负责人指定人员，履行定密责任人的职责。定密责任人职责既包括按照保密事项范围确定国家秘密，也包括根据情况变化变更和解除国家秘密</a:t>
            </a:r>
            <a:r>
              <a:rPr lang="zh-CN" altLang="en-US" dirty="0" smtClean="0"/>
              <a:t>。</a:t>
            </a:r>
            <a:endParaRPr lang="zh-CN" altLang="en-US" dirty="0" smtClean="0"/>
          </a:p>
          <a:p>
            <a:r>
              <a:rPr lang="zh-CN" altLang="en-US" dirty="0" smtClean="0"/>
              <a:t>二</a:t>
            </a:r>
            <a:r>
              <a:rPr lang="zh-CN" altLang="en-US" dirty="0"/>
              <a:t>是规定定密工作程序。即：定密应先由承办人对照保密事项范围提出国家秘密确定、变更和解除的具体意见，再由定密责任人审核批准并承担责任。</a:t>
            </a:r>
            <a:endParaRPr kumimoji="1"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理解和执行定密责任人制度的要点</a:t>
            </a:r>
            <a:endParaRPr lang="zh-CN" altLang="en-US" dirty="0"/>
          </a:p>
        </p:txBody>
      </p:sp>
      <p:sp>
        <p:nvSpPr>
          <p:cNvPr id="3" name="内容占位符 2"/>
          <p:cNvSpPr>
            <a:spLocks noGrp="1"/>
          </p:cNvSpPr>
          <p:nvPr>
            <p:ph idx="1"/>
          </p:nvPr>
        </p:nvSpPr>
        <p:spPr/>
        <p:txBody>
          <a:bodyPr/>
          <a:lstStyle/>
          <a:p>
            <a:r>
              <a:rPr lang="zh-CN" altLang="en-US" dirty="0" smtClean="0"/>
              <a:t>一是明确哪些机关、单位需要确定定密责任人</a:t>
            </a:r>
            <a:endParaRPr lang="en-US" altLang="zh-CN" dirty="0" smtClean="0"/>
          </a:p>
          <a:p>
            <a:r>
              <a:rPr lang="zh-CN" altLang="en-US" dirty="0" smtClean="0"/>
              <a:t>二是明确哪些人员可以确定为定密责任人</a:t>
            </a:r>
            <a:endParaRPr lang="en-US" altLang="zh-CN" dirty="0" smtClean="0"/>
          </a:p>
          <a:p>
            <a:r>
              <a:rPr lang="zh-CN" altLang="en-US" dirty="0" smtClean="0"/>
              <a:t>三要明确定密责任人的职责权限</a:t>
            </a:r>
            <a:endParaRPr lang="en-US" altLang="zh-CN" dirty="0" smtClean="0"/>
          </a:p>
          <a:p>
            <a:r>
              <a:rPr lang="zh-CN" altLang="en-US" dirty="0" smtClean="0"/>
              <a:t>四是对定密责任人要加强培训</a:t>
            </a:r>
            <a:endParaRPr lang="en-US" altLang="zh-CN" dirty="0" smtClean="0"/>
          </a:p>
          <a:p>
            <a:r>
              <a:rPr lang="zh-CN" altLang="en-US" dirty="0" smtClean="0"/>
              <a:t>五是对定密责任人的定密工作加强管理</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选定责任人</a:t>
            </a:r>
            <a:endParaRPr lang="zh-CN" altLang="en-US" dirty="0"/>
          </a:p>
        </p:txBody>
      </p:sp>
      <p:sp>
        <p:nvSpPr>
          <p:cNvPr id="3" name="内容占位符 2"/>
          <p:cNvSpPr>
            <a:spLocks noGrp="1"/>
          </p:cNvSpPr>
          <p:nvPr>
            <p:ph idx="1"/>
          </p:nvPr>
        </p:nvSpPr>
        <p:spPr/>
        <p:txBody>
          <a:bodyPr/>
          <a:lstStyle/>
          <a:p>
            <a:r>
              <a:rPr lang="zh-CN" altLang="en-US" dirty="0" smtClean="0"/>
              <a:t>做好定密责任人的确定，重点在于定密主体确定程序合法，关键则在于对拟定人选的筛选。</a:t>
            </a:r>
            <a:endParaRPr lang="en-US" altLang="zh-CN" dirty="0" smtClean="0"/>
          </a:p>
          <a:p>
            <a:r>
              <a:rPr lang="zh-CN" altLang="en-US" dirty="0" smtClean="0"/>
              <a:t>第一是政治素质，第二是业务能力</a:t>
            </a:r>
            <a:endParaRPr lang="en-US" altLang="zh-CN" dirty="0" smtClean="0"/>
          </a:p>
          <a:p>
            <a:r>
              <a:rPr lang="zh-CN" altLang="en-US" dirty="0" smtClean="0"/>
              <a:t>指定的定密责任人必须由中层以上干部担任，纠正了偏差，保证了定密决定的权威性。</a:t>
            </a:r>
            <a:endParaRPr lang="zh-CN" alt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培训</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smtClean="0"/>
              <a:t>1</a:t>
            </a:r>
            <a:r>
              <a:rPr lang="zh-CN" altLang="en-US" dirty="0" smtClean="0"/>
              <a:t>．综合性培训。主要是学习保密法等法律法规，使定密责任人增强国家安全意识和保密意识，时刻绷紧安全保密这根弦。</a:t>
            </a:r>
            <a:endParaRPr lang="en-US" altLang="zh-CN" dirty="0" smtClean="0"/>
          </a:p>
          <a:p>
            <a:r>
              <a:rPr lang="en-US" altLang="zh-CN" dirty="0" smtClean="0"/>
              <a:t>2</a:t>
            </a:r>
            <a:r>
              <a:rPr lang="zh-CN" altLang="en-US" dirty="0" smtClean="0"/>
              <a:t>．专业性培训。主要是学习</a:t>
            </a:r>
            <a:r>
              <a:rPr lang="en-US" altLang="zh-CN" dirty="0" smtClean="0"/>
              <a:t>《</a:t>
            </a:r>
            <a:r>
              <a:rPr lang="zh-CN" altLang="en-US" dirty="0" smtClean="0"/>
              <a:t>定密管理规定</a:t>
            </a:r>
            <a:r>
              <a:rPr lang="en-US" altLang="zh-CN" dirty="0" smtClean="0"/>
              <a:t>》</a:t>
            </a:r>
            <a:r>
              <a:rPr lang="zh-CN" altLang="en-US" dirty="0" smtClean="0"/>
              <a:t>、</a:t>
            </a:r>
            <a:r>
              <a:rPr lang="en-US" altLang="zh-CN" dirty="0" smtClean="0"/>
              <a:t>《</a:t>
            </a:r>
            <a:r>
              <a:rPr lang="zh-CN" altLang="en-US" dirty="0" smtClean="0"/>
              <a:t>定密工作简明手册</a:t>
            </a:r>
            <a:r>
              <a:rPr lang="en-US" altLang="zh-CN" dirty="0" smtClean="0"/>
              <a:t>》</a:t>
            </a:r>
            <a:r>
              <a:rPr lang="zh-CN" altLang="en-US" dirty="0" smtClean="0"/>
              <a:t>、</a:t>
            </a:r>
            <a:r>
              <a:rPr lang="en-US" altLang="zh-CN" dirty="0" smtClean="0"/>
              <a:t>《</a:t>
            </a:r>
            <a:r>
              <a:rPr lang="zh-CN" altLang="en-US" dirty="0" smtClean="0"/>
              <a:t>国家秘密及其密级具体范围的规定汇编</a:t>
            </a:r>
            <a:r>
              <a:rPr lang="en-US" altLang="zh-CN" dirty="0" smtClean="0"/>
              <a:t>》</a:t>
            </a:r>
            <a:r>
              <a:rPr lang="zh-CN" altLang="en-US" dirty="0" smtClean="0"/>
              <a:t>。试点单位的经验表明，对</a:t>
            </a:r>
            <a:r>
              <a:rPr lang="en-US" altLang="zh-CN" dirty="0" smtClean="0"/>
              <a:t>《</a:t>
            </a:r>
            <a:r>
              <a:rPr lang="zh-CN" altLang="en-US" dirty="0" smtClean="0"/>
              <a:t>定密管理规定</a:t>
            </a:r>
            <a:r>
              <a:rPr lang="en-US" altLang="zh-CN" dirty="0" smtClean="0"/>
              <a:t>》</a:t>
            </a:r>
            <a:r>
              <a:rPr lang="zh-CN" altLang="en-US" dirty="0" smtClean="0"/>
              <a:t>、</a:t>
            </a:r>
            <a:r>
              <a:rPr lang="en-US" altLang="zh-CN" dirty="0" smtClean="0"/>
              <a:t>《</a:t>
            </a:r>
            <a:r>
              <a:rPr lang="zh-CN" altLang="en-US" dirty="0" smtClean="0"/>
              <a:t>定密工作简明手册</a:t>
            </a:r>
            <a:r>
              <a:rPr lang="en-US" altLang="zh-CN" dirty="0" smtClean="0"/>
              <a:t>》</a:t>
            </a:r>
            <a:r>
              <a:rPr lang="zh-CN" altLang="en-US" dirty="0" smtClean="0"/>
              <a:t>进行精研细读，熟练掌握各行业国家秘密事项的具体范围、秘密等级、保密期限、知悉范围等规定，丰厚定密知识的积累，增加对定密“所以然”的感性认识，对提高定密质量和水平非常有帮助。</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加强监督管理</a:t>
            </a:r>
            <a:endParaRPr lang="zh-CN" altLang="en-US" dirty="0"/>
          </a:p>
        </p:txBody>
      </p:sp>
      <p:sp>
        <p:nvSpPr>
          <p:cNvPr id="3" name="内容占位符 2"/>
          <p:cNvSpPr>
            <a:spLocks noGrp="1"/>
          </p:cNvSpPr>
          <p:nvPr>
            <p:ph idx="1"/>
          </p:nvPr>
        </p:nvSpPr>
        <p:spPr/>
        <p:txBody>
          <a:bodyPr/>
          <a:lstStyle/>
          <a:p>
            <a:pPr>
              <a:lnSpc>
                <a:spcPct val="200000"/>
              </a:lnSpc>
            </a:pPr>
            <a:r>
              <a:rPr lang="zh-CN" altLang="en-US" dirty="0" smtClean="0"/>
              <a:t>完善奖惩激励机制</a:t>
            </a:r>
            <a:endParaRPr lang="en-US" altLang="zh-CN" dirty="0" smtClean="0"/>
          </a:p>
          <a:p>
            <a:pPr>
              <a:lnSpc>
                <a:spcPct val="200000"/>
              </a:lnSpc>
            </a:pPr>
            <a:r>
              <a:rPr lang="zh-CN" altLang="en-US" dirty="0" smtClean="0"/>
              <a:t>推进定密工作绩效管理</a:t>
            </a:r>
            <a:endParaRPr lang="en-US" altLang="zh-CN" dirty="0" smtClean="0"/>
          </a:p>
          <a:p>
            <a:pPr>
              <a:lnSpc>
                <a:spcPct val="200000"/>
              </a:lnSpc>
            </a:pPr>
            <a:r>
              <a:rPr lang="zh-CN" altLang="en-US" dirty="0" smtClean="0"/>
              <a:t>建立监督检查机制</a:t>
            </a:r>
            <a:endParaRPr lang="zh-CN"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定密责任人制度常见误区及</a:t>
            </a:r>
            <a:r>
              <a:rPr lang="zh-CN" altLang="en-US" dirty="0" smtClean="0"/>
              <a:t>辨析</a:t>
            </a:r>
            <a:endParaRPr kumimoji="1" lang="zh-CN" altLang="en-US" dirty="0"/>
          </a:p>
        </p:txBody>
      </p:sp>
      <p:sp>
        <p:nvSpPr>
          <p:cNvPr id="3" name="内容占位符 2"/>
          <p:cNvSpPr>
            <a:spLocks noGrp="1"/>
          </p:cNvSpPr>
          <p:nvPr>
            <p:ph idx="1"/>
          </p:nvPr>
        </p:nvSpPr>
        <p:spPr/>
        <p:txBody>
          <a:bodyPr>
            <a:normAutofit lnSpcReduction="10000"/>
          </a:bodyPr>
          <a:lstStyle/>
          <a:p>
            <a:pPr fontAlgn="ctr"/>
            <a:r>
              <a:rPr lang="zh-CN" altLang="en-US" dirty="0"/>
              <a:t>误区</a:t>
            </a:r>
            <a:r>
              <a:rPr lang="en-US" altLang="zh-CN" dirty="0"/>
              <a:t>1</a:t>
            </a:r>
            <a:r>
              <a:rPr lang="zh-CN" altLang="en-US" dirty="0"/>
              <a:t>：混淆法定定密责任人和指定定密</a:t>
            </a:r>
            <a:r>
              <a:rPr lang="zh-CN" altLang="en-US" dirty="0" smtClean="0"/>
              <a:t>责任人</a:t>
            </a:r>
            <a:endParaRPr lang="zh-CN" altLang="en-US" dirty="0" smtClean="0"/>
          </a:p>
          <a:p>
            <a:pPr fontAlgn="ctr"/>
            <a:r>
              <a:rPr lang="zh-CN" altLang="en-US" dirty="0"/>
              <a:t>具体表现：机关单位把除主要负责人之外的其他负责人作为法定定密责任人，把下属单位的主要负责人作为指定定密责任人。</a:t>
            </a:r>
            <a:endParaRPr lang="zh-CN" altLang="en-US" dirty="0" smtClean="0"/>
          </a:p>
          <a:p>
            <a:pPr fontAlgn="ctr"/>
            <a:r>
              <a:rPr lang="zh-CN" altLang="en-US" dirty="0"/>
              <a:t>规范示例：</a:t>
            </a:r>
            <a:r>
              <a:rPr lang="en-US" altLang="zh-CN" dirty="0"/>
              <a:t>A</a:t>
            </a:r>
            <a:r>
              <a:rPr lang="zh-CN" altLang="en-US" dirty="0"/>
              <a:t>中央机关明确党组书记、部长两人均为法定定密责任人，副部长为指定定密责任人；下属信息中心主任为法定定密责任人，副主任为指定定密责任人。</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620688"/>
            <a:ext cx="8229600" cy="5793507"/>
          </a:xfrm>
        </p:spPr>
        <p:txBody>
          <a:bodyPr>
            <a:normAutofit/>
          </a:bodyPr>
          <a:lstStyle/>
          <a:p>
            <a:r>
              <a:rPr lang="zh-CN" altLang="en-US" sz="2595" dirty="0"/>
              <a:t>在实际工作中，需要注意以下</a:t>
            </a:r>
            <a:r>
              <a:rPr lang="en-US" altLang="zh-CN" sz="2595" dirty="0"/>
              <a:t>3</a:t>
            </a:r>
            <a:r>
              <a:rPr lang="zh-CN" altLang="en-US" sz="2595" dirty="0"/>
              <a:t>点：一是一个单位法定定密责任人可能有两个，如，机关单位存在党、政各有“一把手”的情况，为便于工作，可以将两者均确定为法定定密责任人；二是机关单位主要负责人不需履行确定程序，一经任命即成为法定定密责任人；三是机关单位的下属单位只要具备独立的法人资格，其主要负责人就是法定定密责任人，不需要上级机关进行指定</a:t>
            </a:r>
            <a:r>
              <a:rPr lang="zh-CN" altLang="en-US" sz="2595" dirty="0" smtClean="0"/>
              <a:t>。</a:t>
            </a:r>
            <a:endParaRPr lang="zh-CN" altLang="en-US" sz="2595" dirty="0" smtClean="0"/>
          </a:p>
          <a:p>
            <a:r>
              <a:rPr lang="zh-CN" altLang="en-US" sz="2595" dirty="0" smtClean="0"/>
              <a:t>实际</a:t>
            </a:r>
            <a:r>
              <a:rPr lang="zh-CN" altLang="en-US" sz="2595" dirty="0"/>
              <a:t>工作中，机关单位把除主要负责人之外的其他负责人作为法定定密责任人，把下属单位的主要负责人作为指定定密责任人的情况较为普遍，一定要注意区分，不同性质的定密责任人的责任和权限存在较大差别。</a:t>
            </a:r>
            <a:endParaRPr kumimoji="1" lang="zh-CN" altLang="en-US" sz="259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误区</a:t>
            </a:r>
            <a:r>
              <a:rPr lang="en-US" altLang="zh-CN" dirty="0"/>
              <a:t>2</a:t>
            </a:r>
            <a:r>
              <a:rPr lang="zh-CN" altLang="en-US" dirty="0"/>
              <a:t>：定密责任人定密权限不做</a:t>
            </a:r>
            <a:r>
              <a:rPr lang="zh-CN" altLang="en-US" dirty="0" smtClean="0"/>
              <a:t>区分</a:t>
            </a:r>
            <a:endParaRPr kumimoji="1" lang="zh-CN" altLang="en-US" dirty="0"/>
          </a:p>
        </p:txBody>
      </p:sp>
      <p:sp>
        <p:nvSpPr>
          <p:cNvPr id="3" name="内容占位符 2"/>
          <p:cNvSpPr>
            <a:spLocks noGrp="1"/>
          </p:cNvSpPr>
          <p:nvPr>
            <p:ph idx="1"/>
          </p:nvPr>
        </p:nvSpPr>
        <p:spPr/>
        <p:txBody>
          <a:bodyPr/>
          <a:lstStyle/>
          <a:p>
            <a:r>
              <a:rPr lang="zh-CN" altLang="en-US" dirty="0" smtClean="0"/>
              <a:t>具体</a:t>
            </a:r>
            <a:r>
              <a:rPr lang="zh-CN" altLang="en-US" dirty="0"/>
              <a:t>表现：具有绝密级或者机密级定密权的机关单位，所有的定密责任人定密权限完全相同。</a:t>
            </a:r>
            <a:endParaRPr lang="zh-CN" altLang="en-US" dirty="0"/>
          </a:p>
          <a:p>
            <a:r>
              <a:rPr lang="zh-CN" altLang="en-US" dirty="0"/>
              <a:t>规范示例：</a:t>
            </a:r>
            <a:r>
              <a:rPr lang="en-US" altLang="zh-CN" dirty="0"/>
              <a:t>B</a:t>
            </a:r>
            <a:r>
              <a:rPr lang="zh-CN" altLang="en-US" dirty="0"/>
              <a:t>省教育厅厅长作为法定定密责任人，根据工作实际，明确副厅长及办公室主任具有机密级、秘密级定密权，其他内设各处室处长具有秘密级定密权。</a:t>
            </a:r>
            <a:endParaRPr kumimoji="1"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lnSpcReduction="10000"/>
          </a:bodyPr>
          <a:lstStyle/>
          <a:p>
            <a:r>
              <a:rPr lang="zh-CN" altLang="en-US" dirty="0"/>
              <a:t>在规定指定定密责任人时强调了两点：一要根据工作需要指定有关人员为定密责任人，二要明确指定定密责任人相应的定密权限。因此，机关单位要全面准确地理解、落实上述规定，法定定密责任人应当根据工作需要，综合考虑岗位职责、工作内容、分管领域、职务层次等因素，对指定定密责任人定密权限进行适当区分。合理、精准地明确定密权限是解决“低密高定”问题的有效措施。</a:t>
            </a:r>
            <a:endParaRPr kumimoji="1"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误区</a:t>
            </a:r>
            <a:r>
              <a:rPr lang="en-US" altLang="zh-CN" dirty="0"/>
              <a:t>3:</a:t>
            </a:r>
            <a:r>
              <a:rPr lang="zh-CN" altLang="en-US" dirty="0"/>
              <a:t>定密责任人数量、范围没有</a:t>
            </a:r>
            <a:r>
              <a:rPr lang="zh-CN" altLang="en-US" dirty="0" smtClean="0"/>
              <a:t>限制</a:t>
            </a:r>
            <a:endParaRPr kumimoji="1" lang="zh-CN" altLang="en-US" dirty="0"/>
          </a:p>
        </p:txBody>
      </p:sp>
      <p:sp>
        <p:nvSpPr>
          <p:cNvPr id="3" name="内容占位符 2"/>
          <p:cNvSpPr>
            <a:spLocks noGrp="1"/>
          </p:cNvSpPr>
          <p:nvPr>
            <p:ph idx="1"/>
          </p:nvPr>
        </p:nvSpPr>
        <p:spPr/>
        <p:txBody>
          <a:bodyPr>
            <a:normAutofit lnSpcReduction="10000"/>
          </a:bodyPr>
          <a:lstStyle/>
          <a:p>
            <a:pPr latinLnBrk="1"/>
            <a:r>
              <a:rPr lang="zh-CN" altLang="en-US" dirty="0"/>
              <a:t>具体表现：机关单位把全部或者大部分领导干部确定为指定定密责任人。</a:t>
            </a:r>
            <a:endParaRPr lang="zh-CN" altLang="en-US" dirty="0"/>
          </a:p>
          <a:p>
            <a:pPr marL="0" indent="0" latinLnBrk="1">
              <a:buNone/>
            </a:pPr>
            <a:endParaRPr lang="zh-CN" altLang="en-US" dirty="0"/>
          </a:p>
          <a:p>
            <a:pPr latinLnBrk="1"/>
            <a:r>
              <a:rPr lang="zh-CN" altLang="en-US" dirty="0"/>
              <a:t>规范示例：</a:t>
            </a:r>
            <a:r>
              <a:rPr lang="en-US" altLang="zh-CN" dirty="0"/>
              <a:t>C</a:t>
            </a:r>
            <a:r>
              <a:rPr lang="zh-CN" altLang="en-US" dirty="0"/>
              <a:t>省商务厅每年实际产生的国家秘密数量只有数十份，涉密岗位和涉密人员也较少，该厅厅长根据工作需要，仅将</a:t>
            </a:r>
            <a:r>
              <a:rPr lang="en-US" altLang="zh-CN" dirty="0"/>
              <a:t>1</a:t>
            </a:r>
            <a:r>
              <a:rPr lang="zh-CN" altLang="en-US" dirty="0"/>
              <a:t>名分管涉密业务的副厅长、</a:t>
            </a:r>
            <a:r>
              <a:rPr lang="en-US" altLang="zh-CN" dirty="0"/>
              <a:t>1</a:t>
            </a:r>
            <a:r>
              <a:rPr lang="zh-CN" altLang="en-US" dirty="0"/>
              <a:t>名办公室主任、</a:t>
            </a:r>
            <a:r>
              <a:rPr lang="en-US" altLang="zh-CN" dirty="0"/>
              <a:t>1</a:t>
            </a:r>
            <a:r>
              <a:rPr lang="zh-CN" altLang="en-US" dirty="0"/>
              <a:t>名涉密业务处室处长</a:t>
            </a:r>
            <a:r>
              <a:rPr lang="en-US" altLang="zh-CN" dirty="0"/>
              <a:t>(</a:t>
            </a:r>
            <a:r>
              <a:rPr lang="zh-CN" altLang="en-US" dirty="0"/>
              <a:t>共</a:t>
            </a:r>
            <a:r>
              <a:rPr lang="en-US" altLang="zh-CN" dirty="0"/>
              <a:t>3</a:t>
            </a:r>
            <a:r>
              <a:rPr lang="zh-CN" altLang="en-US" dirty="0"/>
              <a:t>人</a:t>
            </a:r>
            <a:r>
              <a:rPr lang="en-US" altLang="zh-CN" dirty="0"/>
              <a:t>)</a:t>
            </a:r>
            <a:r>
              <a:rPr lang="zh-CN" altLang="en-US" dirty="0"/>
              <a:t>指定为定密责任人。</a:t>
            </a:r>
            <a:endParaRPr lang="zh-CN" altLang="en-US" dirty="0"/>
          </a:p>
          <a:p>
            <a:endParaRPr kumimoji="1"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6336704"/>
          </a:xfrm>
        </p:spPr>
        <p:txBody>
          <a:bodyPr>
            <a:normAutofit fontScale="70000"/>
          </a:bodyPr>
          <a:lstStyle/>
          <a:p>
            <a:r>
              <a:rPr lang="zh-CN" altLang="en-US" sz="2965" dirty="0"/>
              <a:t>辨析：</a:t>
            </a:r>
            <a:r>
              <a:rPr lang="en-US" altLang="zh-CN" sz="2965" dirty="0"/>
              <a:t>《</a:t>
            </a:r>
            <a:r>
              <a:rPr lang="zh-CN" altLang="en-US" sz="2965" dirty="0"/>
              <a:t>暂行规定</a:t>
            </a:r>
            <a:r>
              <a:rPr lang="en-US" altLang="zh-CN" sz="2965" dirty="0"/>
              <a:t>》</a:t>
            </a:r>
            <a:r>
              <a:rPr lang="zh-CN" altLang="en-US" sz="2965" dirty="0"/>
              <a:t>第四条明确规定，机关单位定密应当坚持最小化、精准化原则。这里的最小化、精准化原则在定密责任人制度的一个重要体现，就是对定密责任人数量和范围的适当限制，即定密责任人应当根据需要，限定在最小范围。</a:t>
            </a:r>
            <a:endParaRPr lang="zh-CN" altLang="en-US" sz="2965" dirty="0"/>
          </a:p>
          <a:p>
            <a:r>
              <a:rPr lang="zh-CN" altLang="en-US" sz="2965" dirty="0"/>
              <a:t>实践中发现，一些机关单位为图方便，不考虑不同层级、不同部门的差异性，将除主要负责人以外的所有领导干部一律明确为指定定密责任人。这种做法虽然操作简便，但极容易造成定密过多过滥的问题，也严重损害了定密权的规范性、科学性和权威性。</a:t>
            </a:r>
            <a:endParaRPr lang="zh-CN" altLang="en-US" sz="2965" dirty="0"/>
          </a:p>
          <a:p>
            <a:r>
              <a:rPr lang="zh-CN" altLang="en-US" sz="2965" dirty="0"/>
              <a:t>一方面，定密作为行政权力的延伸，只有具有一定行政权力的人才具备这一资格；另一方面，定密工作日趋专业化、规范化，必须有一定专业能力和专业水平的人才能准确确定、变更和解除国家秘密。</a:t>
            </a:r>
            <a:endParaRPr lang="zh-CN" altLang="en-US" sz="2965" dirty="0"/>
          </a:p>
          <a:p>
            <a:r>
              <a:rPr lang="zh-CN" altLang="en-US" sz="2965" dirty="0"/>
              <a:t>因此，对指定定密责任人的确定须以一定的资格和能力作为基本前提。工作中，机关单位应当从实际出发，确定指定定密责任人范围，主要包括以下几类人员：机关单位分管涉及国家秘密业务工作的其他负责人、机关单位产生国家秘密较多的内设机构负责人；由于岗位职责需要，经常产生国家秘密事项的内设机构综合处</a:t>
            </a:r>
            <a:r>
              <a:rPr lang="en-US" altLang="zh-CN" sz="2965" dirty="0"/>
              <a:t>(</a:t>
            </a:r>
            <a:r>
              <a:rPr lang="zh-CN" altLang="en-US" sz="2965" dirty="0"/>
              <a:t>科</a:t>
            </a:r>
            <a:r>
              <a:rPr lang="en-US" altLang="zh-CN" sz="2965" dirty="0"/>
              <a:t>)</a:t>
            </a:r>
            <a:r>
              <a:rPr lang="zh-CN" altLang="en-US" sz="2965" dirty="0"/>
              <a:t>室、业务处</a:t>
            </a:r>
            <a:r>
              <a:rPr lang="en-US" altLang="zh-CN" sz="2965" dirty="0"/>
              <a:t>(</a:t>
            </a:r>
            <a:r>
              <a:rPr lang="zh-CN" altLang="en-US" sz="2965" dirty="0"/>
              <a:t>科</a:t>
            </a:r>
            <a:r>
              <a:rPr lang="en-US" altLang="zh-CN" sz="2965" dirty="0"/>
              <a:t>)</a:t>
            </a:r>
            <a:r>
              <a:rPr lang="zh-CN" altLang="en-US" sz="2965" dirty="0"/>
              <a:t>室负责人或者工作人员</a:t>
            </a:r>
            <a:endParaRPr kumimoji="1" lang="zh-CN" altLang="en-US" sz="2965"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误区</a:t>
            </a:r>
            <a:r>
              <a:rPr lang="en-US" altLang="zh-CN" dirty="0"/>
              <a:t>4:</a:t>
            </a:r>
            <a:r>
              <a:rPr lang="zh-CN" altLang="en-US" dirty="0"/>
              <a:t>定密责任人名单不需要在内部</a:t>
            </a:r>
            <a:r>
              <a:rPr lang="zh-CN" altLang="en-US" dirty="0" smtClean="0"/>
              <a:t>公布</a:t>
            </a:r>
            <a:endParaRPr kumimoji="1" lang="zh-CN" altLang="en-US" dirty="0"/>
          </a:p>
        </p:txBody>
      </p:sp>
      <p:sp>
        <p:nvSpPr>
          <p:cNvPr id="3" name="内容占位符 2"/>
          <p:cNvSpPr>
            <a:spLocks noGrp="1"/>
          </p:cNvSpPr>
          <p:nvPr>
            <p:ph idx="1"/>
          </p:nvPr>
        </p:nvSpPr>
        <p:spPr>
          <a:xfrm>
            <a:off x="457200" y="1600200"/>
            <a:ext cx="8229600" cy="4925144"/>
          </a:xfrm>
        </p:spPr>
        <p:txBody>
          <a:bodyPr>
            <a:normAutofit fontScale="85000" lnSpcReduction="10000"/>
          </a:bodyPr>
          <a:lstStyle/>
          <a:p>
            <a:pPr latinLnBrk="1"/>
            <a:r>
              <a:rPr lang="zh-CN" altLang="en-US" dirty="0"/>
              <a:t>具体表现：机关单位理所当然地把本机关单位负责人、内设机构负责人作为定密责任人，直接行使定密权，指定定密责任人没有经过法定定密责任人的指定；没有制定定密责任人名单，或者即使制定也未在内部公布，未履行备案程序。</a:t>
            </a:r>
            <a:endParaRPr lang="zh-CN" altLang="en-US" dirty="0"/>
          </a:p>
          <a:p>
            <a:pPr latinLnBrk="1"/>
            <a:r>
              <a:rPr lang="zh-CN" altLang="en-US" dirty="0" smtClean="0"/>
              <a:t>规范</a:t>
            </a:r>
            <a:r>
              <a:rPr lang="zh-CN" altLang="en-US" dirty="0"/>
              <a:t>示例：</a:t>
            </a:r>
            <a:r>
              <a:rPr lang="en-US" altLang="zh-CN" dirty="0"/>
              <a:t>D</a:t>
            </a:r>
            <a:r>
              <a:rPr lang="zh-CN" altLang="en-US" dirty="0"/>
              <a:t>市</a:t>
            </a:r>
            <a:r>
              <a:rPr lang="en-US" altLang="zh-CN" dirty="0"/>
              <a:t>(</a:t>
            </a:r>
            <a:r>
              <a:rPr lang="zh-CN" altLang="en-US" dirty="0"/>
              <a:t>地级市</a:t>
            </a:r>
            <a:r>
              <a:rPr lang="en-US" altLang="zh-CN" dirty="0"/>
              <a:t>)</a:t>
            </a:r>
            <a:r>
              <a:rPr lang="zh-CN" altLang="en-US" dirty="0"/>
              <a:t>中级人民法院保密办根据实际情况，在充分征求内部意见建议基础上，提出指定定密责任人人选名单及其定密权限，报院长</a:t>
            </a:r>
            <a:r>
              <a:rPr lang="en-US" altLang="zh-CN" dirty="0"/>
              <a:t>(</a:t>
            </a:r>
            <a:r>
              <a:rPr lang="zh-CN" altLang="en-US" dirty="0"/>
              <a:t>法定定密责任人</a:t>
            </a:r>
            <a:r>
              <a:rPr lang="en-US" altLang="zh-CN" dirty="0"/>
              <a:t>)</a:t>
            </a:r>
            <a:r>
              <a:rPr lang="zh-CN" altLang="en-US" dirty="0"/>
              <a:t>批准。院长批准后，及时在内网公布，并及时向该市保密局备案。同时，在日常工作中，根据人员变动情况，重新履行指定、公布和报备程序。</a:t>
            </a:r>
            <a:endParaRPr lang="zh-CN" altLang="en-US" dirty="0"/>
          </a:p>
          <a:p>
            <a:endParaRPr kumimoji="1"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lnSpcReduction="20000"/>
          </a:bodyPr>
          <a:lstStyle/>
          <a:p>
            <a:r>
              <a:rPr lang="zh-CN" altLang="en-US" dirty="0"/>
              <a:t>辨析：</a:t>
            </a:r>
            <a:r>
              <a:rPr lang="en-US" altLang="zh-CN" dirty="0"/>
              <a:t>《</a:t>
            </a:r>
            <a:r>
              <a:rPr lang="zh-CN" altLang="en-US" dirty="0"/>
              <a:t>暂行规定</a:t>
            </a:r>
            <a:r>
              <a:rPr lang="en-US" altLang="zh-CN" dirty="0"/>
              <a:t>》</a:t>
            </a:r>
            <a:r>
              <a:rPr lang="zh-CN" altLang="en-US" dirty="0"/>
              <a:t>第十五条规定：“机关、单位应当在本机关、本单位内部公布定密责任人名单及其定密权限，并报同级保密行政管理部门备案。”实际工作中，一些机关单位指定定密责任人没有履行指定程序，名单制定后不通过内部文件或者公示等书面形式在内部予以公布，也不履行报备程序，一定程度影响了机关单位的内部监督和保密行政管理部门的外部监督，不利于定密工作的开展。此外，机关单位还应当根据人员调整变动情况，重新履行指定、公布和报备程序。</a:t>
            </a:r>
            <a:endParaRPr lang="zh-CN" altLang="en-US" dirty="0"/>
          </a:p>
          <a:p>
            <a:endParaRPr kumimoji="1"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误区</a:t>
            </a:r>
            <a:r>
              <a:rPr lang="en-US" altLang="zh-CN" dirty="0"/>
              <a:t>5</a:t>
            </a:r>
            <a:r>
              <a:rPr lang="zh-CN" altLang="en-US" dirty="0"/>
              <a:t>：定密责任人和承办人没有必要接受定密</a:t>
            </a:r>
            <a:r>
              <a:rPr lang="zh-CN" altLang="en-US" dirty="0" smtClean="0"/>
              <a:t>培训</a:t>
            </a:r>
            <a:endParaRPr kumimoji="1" lang="zh-CN" altLang="en-US" dirty="0"/>
          </a:p>
        </p:txBody>
      </p:sp>
      <p:sp>
        <p:nvSpPr>
          <p:cNvPr id="3" name="内容占位符 2"/>
          <p:cNvSpPr>
            <a:spLocks noGrp="1"/>
          </p:cNvSpPr>
          <p:nvPr>
            <p:ph idx="1"/>
          </p:nvPr>
        </p:nvSpPr>
        <p:spPr/>
        <p:txBody>
          <a:bodyPr>
            <a:normAutofit lnSpcReduction="10000"/>
          </a:bodyPr>
          <a:lstStyle/>
          <a:p>
            <a:pPr latinLnBrk="1"/>
            <a:r>
              <a:rPr lang="zh-CN" altLang="en-US" dirty="0"/>
              <a:t>具体表现：机关单位认为定密培训不重要也没必要，日常不开展定密培训，或者开展保密培训但其中缺少定密内容。</a:t>
            </a:r>
            <a:endParaRPr lang="zh-CN" altLang="en-US" dirty="0"/>
          </a:p>
          <a:p>
            <a:pPr latinLnBrk="1"/>
            <a:r>
              <a:rPr lang="zh-CN" altLang="en-US" dirty="0" smtClean="0"/>
              <a:t>规范</a:t>
            </a:r>
            <a:r>
              <a:rPr lang="zh-CN" altLang="en-US" dirty="0"/>
              <a:t>示例：</a:t>
            </a:r>
            <a:r>
              <a:rPr lang="en-US" altLang="zh-CN" dirty="0"/>
              <a:t>E</a:t>
            </a:r>
            <a:r>
              <a:rPr lang="zh-CN" altLang="en-US" dirty="0"/>
              <a:t>机关每年至少举办一次定密培训班，邀请保密行政管理部门专家，从定密责任人职责、定密权限、保密事项范围使用、定密程序、解密、定密监督等方面，对机关内部及下属单位定密责任人和承办人进行全员培训。</a:t>
            </a:r>
            <a:endParaRPr lang="zh-CN" altLang="en-US" dirty="0"/>
          </a:p>
          <a:p>
            <a:endParaRPr kumimoji="1"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6912768"/>
          </a:xfrm>
        </p:spPr>
        <p:txBody>
          <a:bodyPr>
            <a:normAutofit lnSpcReduction="10000"/>
          </a:bodyPr>
          <a:lstStyle/>
          <a:p>
            <a:r>
              <a:rPr lang="zh-CN" altLang="en-US" sz="2325" dirty="0"/>
              <a:t>辨析：</a:t>
            </a:r>
            <a:r>
              <a:rPr lang="en-US" altLang="zh-CN" sz="2325" dirty="0"/>
              <a:t>《</a:t>
            </a:r>
            <a:r>
              <a:rPr lang="zh-CN" altLang="en-US" sz="2325" dirty="0"/>
              <a:t>保密法实施条例</a:t>
            </a:r>
            <a:r>
              <a:rPr lang="en-US" altLang="zh-CN" sz="2325" dirty="0"/>
              <a:t>》</a:t>
            </a:r>
            <a:r>
              <a:rPr lang="zh-CN" altLang="en-US" sz="2325" dirty="0"/>
              <a:t>第九条规定：“专门负责定密的工作人员应当接受定密培训，熟悉定密职责和保密事项范围，掌握定密程序和方法。”</a:t>
            </a:r>
            <a:r>
              <a:rPr lang="en-US" altLang="zh-CN" sz="2325" dirty="0"/>
              <a:t>《</a:t>
            </a:r>
            <a:r>
              <a:rPr lang="zh-CN" altLang="en-US" sz="2325" dirty="0"/>
              <a:t>暂行规定</a:t>
            </a:r>
            <a:r>
              <a:rPr lang="en-US" altLang="zh-CN" sz="2325" dirty="0"/>
              <a:t>》</a:t>
            </a:r>
            <a:r>
              <a:rPr lang="zh-CN" altLang="en-US" sz="2325" dirty="0"/>
              <a:t>第十六条规定：“机关、单位定密责任人和承办人应当接受定密培训，熟悉定密职责和保密事项范围，掌握定密程序和方法。”</a:t>
            </a:r>
            <a:endParaRPr lang="zh-CN" altLang="en-US" sz="2325" dirty="0"/>
          </a:p>
          <a:p>
            <a:r>
              <a:rPr lang="zh-CN" altLang="en-US" sz="2325" dirty="0"/>
              <a:t>定密工作政策性、专业性强，开展定密培训是做好定密管理工作的基础。如果承办人不熟悉定密依据，不掌握正确使用保密事项范围的方法，对所办理事项的敏感程度、重要性程度缺乏判断力，就难以履行定密程序、把好定密的“第一关”；如果定密责任人不了解定密基础知识，不清楚定密基本常识，对机关单位各类业务涉及国家秘密的性质缺乏总体把握，就无法真正做好定密审核批准工作，导致定密的“最后一关”失守。</a:t>
            </a:r>
            <a:endParaRPr lang="zh-CN" altLang="en-US" sz="2325" dirty="0"/>
          </a:p>
          <a:p>
            <a:r>
              <a:rPr lang="zh-CN" altLang="en-US" sz="2325" dirty="0"/>
              <a:t>机关单位应当每年定期组织开展定密培训或者参加上级部门、保密行政管理部门举办的定密培训班，加强对定密授权，定密责任人职责，国家秘密确定、变更和解除等内容的培训，切实提高定密责任人和承办人依法定密意识，使其熟悉与本机关单位涉密业务工作相关的保密事项范围，了解掌握基本定密专业知识，不断提高定密管理能力和水平。</a:t>
            </a:r>
            <a:endParaRPr lang="zh-CN" altLang="en-US" sz="2325" dirty="0"/>
          </a:p>
          <a:p>
            <a:endParaRPr kumimoji="1" lang="zh-CN" altLang="en-US" sz="2325"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smtClean="0"/>
              <a:t>第三章</a:t>
            </a:r>
            <a:r>
              <a:rPr kumimoji="1" lang="zh-CN" altLang="en-US" dirty="0"/>
              <a:t> </a:t>
            </a:r>
            <a:r>
              <a:rPr kumimoji="1" lang="zh-CN" altLang="en-US" dirty="0" smtClean="0"/>
              <a:t> 定密责任人相关问题解答</a:t>
            </a:r>
            <a:endParaRPr kumimoji="1" lang="zh-CN" altLang="en-US" dirty="0"/>
          </a:p>
        </p:txBody>
      </p:sp>
      <p:sp>
        <p:nvSpPr>
          <p:cNvPr id="3" name="内容占位符 2"/>
          <p:cNvSpPr>
            <a:spLocks noGrp="1"/>
          </p:cNvSpPr>
          <p:nvPr>
            <p:ph idx="1"/>
          </p:nvPr>
        </p:nvSpPr>
        <p:spPr/>
        <p:txBody>
          <a:bodyPr>
            <a:normAutofit/>
          </a:bodyPr>
          <a:lstStyle/>
          <a:p>
            <a:r>
              <a:rPr lang="en-US" altLang="zh-CN" dirty="0" smtClean="0">
                <a:solidFill>
                  <a:srgbClr val="FF0000"/>
                </a:solidFill>
              </a:rPr>
              <a:t>1.</a:t>
            </a:r>
            <a:r>
              <a:rPr lang="zh-CN" altLang="en-US" dirty="0">
                <a:solidFill>
                  <a:srgbClr val="FF0000"/>
                </a:solidFill>
              </a:rPr>
              <a:t>省级机关的法定定密责任人是谁？</a:t>
            </a:r>
            <a:endParaRPr lang="zh-CN" altLang="en-US" dirty="0">
              <a:solidFill>
                <a:srgbClr val="FF0000"/>
              </a:solidFill>
            </a:endParaRPr>
          </a:p>
          <a:p>
            <a:endParaRPr lang="zh-CN" altLang="en-US" dirty="0"/>
          </a:p>
          <a:p>
            <a:r>
              <a:rPr lang="zh-CN" altLang="en-US" dirty="0"/>
              <a:t>    “省级机关”包括省（区、市）党委、人大、政府、政协机关，以及人民法院、人民检察院。因此，省级机关的定密责任人分别是它们的主要负责人。</a:t>
            </a:r>
            <a:endParaRPr lang="zh-CN" altLang="en-US"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85000" lnSpcReduction="20000"/>
          </a:bodyPr>
          <a:lstStyle/>
          <a:p>
            <a:r>
              <a:rPr lang="zh-CN" altLang="en-US" dirty="0"/>
              <a:t>    </a:t>
            </a:r>
            <a:r>
              <a:rPr lang="en-US" altLang="zh-CN" dirty="0" smtClean="0">
                <a:solidFill>
                  <a:srgbClr val="FF0000"/>
                </a:solidFill>
              </a:rPr>
              <a:t>2.</a:t>
            </a:r>
            <a:r>
              <a:rPr lang="zh-CN" altLang="en-US" dirty="0">
                <a:solidFill>
                  <a:srgbClr val="FF0000"/>
                </a:solidFill>
              </a:rPr>
              <a:t>法定定密责任人可否为两人？</a:t>
            </a:r>
            <a:endParaRPr lang="zh-CN" altLang="en-US" dirty="0">
              <a:solidFill>
                <a:srgbClr val="FF0000"/>
              </a:solidFill>
            </a:endParaRPr>
          </a:p>
          <a:p>
            <a:endParaRPr lang="zh-CN" altLang="en-US" dirty="0"/>
          </a:p>
          <a:p>
            <a:r>
              <a:rPr lang="zh-CN" altLang="en-US" dirty="0"/>
              <a:t>    可以。根据保密法，机关、单位负责人，即机关、单位一把手，是机关、单位的法定定密责任人。但在实际工作中，一些单位存在党、政各有一把手的情况。为便于工作，这些单位可以将法定定密责任人确定为两人。</a:t>
            </a:r>
            <a:endParaRPr lang="zh-CN" altLang="en-US" dirty="0"/>
          </a:p>
          <a:p>
            <a:endParaRPr lang="zh-CN" altLang="en-US" dirty="0"/>
          </a:p>
          <a:p>
            <a:r>
              <a:rPr lang="zh-CN" altLang="en-US" dirty="0"/>
              <a:t>    对于法定定密责任人为两人的单位，在指定定密责任人，确定、变更和解除国家秘密等具体定密工作中，应当加强协调沟通，避免出现因两人意见不一致，导致定密工作难以有效开展的情况</a:t>
            </a:r>
            <a:r>
              <a:rPr lang="zh-CN" altLang="en-US" dirty="0" smtClean="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77500" lnSpcReduction="20000"/>
          </a:bodyPr>
          <a:lstStyle/>
          <a:p>
            <a:endParaRPr lang="zh-CN" altLang="en-US" dirty="0"/>
          </a:p>
          <a:p>
            <a:r>
              <a:rPr lang="zh-CN" altLang="en-US" dirty="0"/>
              <a:t>  </a:t>
            </a:r>
            <a:r>
              <a:rPr lang="zh-CN" altLang="en-US" dirty="0">
                <a:solidFill>
                  <a:srgbClr val="FF0000"/>
                </a:solidFill>
              </a:rPr>
              <a:t> </a:t>
            </a:r>
            <a:r>
              <a:rPr lang="en-US" altLang="zh-CN" dirty="0" smtClean="0">
                <a:solidFill>
                  <a:srgbClr val="FF0000"/>
                </a:solidFill>
              </a:rPr>
              <a:t>3.</a:t>
            </a:r>
            <a:r>
              <a:rPr lang="zh-CN" altLang="en-US" dirty="0" smtClean="0">
                <a:solidFill>
                  <a:srgbClr val="FF0000"/>
                </a:solidFill>
              </a:rPr>
              <a:t>法定</a:t>
            </a:r>
            <a:r>
              <a:rPr lang="zh-CN" altLang="en-US" dirty="0">
                <a:solidFill>
                  <a:srgbClr val="FF0000"/>
                </a:solidFill>
              </a:rPr>
              <a:t>定密责任人日常工作繁忙，难以兼顾具体定密工作，如何指定定密责任人？</a:t>
            </a:r>
            <a:endParaRPr lang="zh-CN" altLang="en-US" dirty="0">
              <a:solidFill>
                <a:srgbClr val="FF0000"/>
              </a:solidFill>
            </a:endParaRPr>
          </a:p>
          <a:p>
            <a:endParaRPr lang="zh-CN" altLang="en-US" dirty="0"/>
          </a:p>
          <a:p>
            <a:r>
              <a:rPr lang="zh-CN" altLang="en-US" dirty="0"/>
              <a:t>    指定定密责任人必须由法定定密责任人指定，这是保密法明确规定的。实际工作中，机关、单位保密办或者综合部门应当主动承担起定密责任人确定相关工作，及时向机关、单位负责人汇报法律法规规定和相关工作要求，在广泛征求业务部门意见建议的基础上，提出指定定密责任人人选名单及其定密权限的建议，报法定定密责任人批准，即可视为履行了指定定密责任人程序。</a:t>
            </a:r>
            <a:endParaRPr lang="zh-CN" altLang="en-US" dirty="0"/>
          </a:p>
          <a:p>
            <a:endParaRPr lang="zh-CN" altLang="en-US" dirty="0"/>
          </a:p>
          <a:p>
            <a:r>
              <a:rPr lang="zh-CN" altLang="en-US" dirty="0"/>
              <a:t>    </a:t>
            </a:r>
            <a:endParaRPr kumimoji="1" lang="zh-CN" altLang="en-US" dirty="0"/>
          </a:p>
          <a:p>
            <a:endParaRPr kumimoji="1" lang="zh-CN" altLang="en-US" dirty="0"/>
          </a:p>
          <a:p>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70000" lnSpcReduction="20000"/>
          </a:bodyPr>
          <a:lstStyle/>
          <a:p>
            <a:r>
              <a:rPr lang="en-US" altLang="zh-CN" dirty="0" smtClean="0">
                <a:solidFill>
                  <a:srgbClr val="FF0000"/>
                </a:solidFill>
              </a:rPr>
              <a:t>4..</a:t>
            </a:r>
            <a:r>
              <a:rPr lang="zh-CN" altLang="en-US" dirty="0">
                <a:solidFill>
                  <a:srgbClr val="FF0000"/>
                </a:solidFill>
              </a:rPr>
              <a:t>指定定密责任人可否以岗确定？机关、单位可否确定定密责任岗？</a:t>
            </a:r>
            <a:endParaRPr lang="zh-CN" altLang="en-US" dirty="0">
              <a:solidFill>
                <a:srgbClr val="FF0000"/>
              </a:solidFill>
            </a:endParaRPr>
          </a:p>
          <a:p>
            <a:endParaRPr lang="zh-CN" altLang="en-US" dirty="0"/>
          </a:p>
          <a:p>
            <a:r>
              <a:rPr lang="zh-CN" altLang="en-US" dirty="0"/>
              <a:t>    可以。根据</a:t>
            </a:r>
            <a:r>
              <a:rPr lang="en-US" altLang="zh-CN" dirty="0"/>
              <a:t>《</a:t>
            </a:r>
            <a:r>
              <a:rPr lang="zh-CN" altLang="en-US" dirty="0"/>
              <a:t>国家秘密定密管理暂行规定</a:t>
            </a:r>
            <a:r>
              <a:rPr lang="en-US" altLang="zh-CN" dirty="0"/>
              <a:t>》</a:t>
            </a:r>
            <a:r>
              <a:rPr lang="zh-CN" altLang="en-US" dirty="0"/>
              <a:t>，机关、单位指定的定密责任人应当熟悉涉密业务工作，符合在涉密岗位工作的基本条件。因此，机关、单位在确定定密责任人的过程中，把“以岗定人”作为一条原则或标准，方便内部管理工作，不违反法规规定精神。</a:t>
            </a:r>
            <a:endParaRPr lang="zh-CN" altLang="en-US" dirty="0"/>
          </a:p>
          <a:p>
            <a:endParaRPr lang="zh-CN" altLang="en-US" dirty="0"/>
          </a:p>
          <a:p>
            <a:r>
              <a:rPr lang="zh-CN" altLang="en-US" dirty="0"/>
              <a:t>    但是，按照保密法及其实施条例，指定定密责任人必须经过法定定密责任人的指定。也就是说，在定密责任岗工作的人员只是具备了成为指定定密责任人的条件，要成为指定定密责任人必须履行一定程序，即经法定定密责任人的同意，在机关、单位内部公示，且名单报同级保密行政管理部门备案。</a:t>
            </a:r>
            <a:endParaRPr lang="zh-CN" altLang="en-US" dirty="0"/>
          </a:p>
          <a:p>
            <a:endParaRPr lang="zh-CN" altLang="en-US" dirty="0"/>
          </a:p>
          <a:p>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11560" y="476672"/>
            <a:ext cx="7886700" cy="3263504"/>
          </a:xfrm>
        </p:spPr>
        <p:txBody>
          <a:bodyPr>
            <a:noAutofit/>
          </a:bodyPr>
          <a:lstStyle/>
          <a:p>
            <a:pPr>
              <a:lnSpc>
                <a:spcPct val="100000"/>
              </a:lnSpc>
              <a:defRPr/>
            </a:pPr>
            <a:r>
              <a:rPr lang="zh-CN" altLang="en-US" sz="2400" dirty="0"/>
              <a:t>   </a:t>
            </a:r>
            <a:r>
              <a:rPr lang="zh-CN" altLang="en-US" sz="2400" dirty="0">
                <a:solidFill>
                  <a:srgbClr val="FF0000"/>
                </a:solidFill>
              </a:rPr>
              <a:t>  </a:t>
            </a:r>
            <a:r>
              <a:rPr lang="en-US" altLang="zh-CN" sz="2400" dirty="0" smtClean="0">
                <a:solidFill>
                  <a:srgbClr val="FF0000"/>
                </a:solidFill>
              </a:rPr>
              <a:t>5</a:t>
            </a:r>
            <a:r>
              <a:rPr lang="en-US" altLang="zh-CN" sz="2400" dirty="0">
                <a:solidFill>
                  <a:srgbClr val="FF0000"/>
                </a:solidFill>
              </a:rPr>
              <a:t>.</a:t>
            </a:r>
            <a:r>
              <a:rPr lang="zh-CN" altLang="en-US" sz="2400" dirty="0" smtClean="0">
                <a:solidFill>
                  <a:srgbClr val="FF0000"/>
                </a:solidFill>
              </a:rPr>
              <a:t> 指定</a:t>
            </a:r>
            <a:r>
              <a:rPr lang="zh-CN" altLang="en-US" sz="2400" dirty="0">
                <a:solidFill>
                  <a:srgbClr val="FF0000"/>
                </a:solidFill>
              </a:rPr>
              <a:t>定密责任人有数量限制或者级别要求吗</a:t>
            </a:r>
            <a:r>
              <a:rPr lang="zh-CN" altLang="en-US" sz="2400" dirty="0" smtClean="0">
                <a:solidFill>
                  <a:srgbClr val="FF0000"/>
                </a:solidFill>
              </a:rPr>
              <a:t>？</a:t>
            </a:r>
            <a:endParaRPr lang="zh-CN" altLang="en-US" sz="2400" dirty="0">
              <a:solidFill>
                <a:srgbClr val="FF0000"/>
              </a:solidFill>
            </a:endParaRPr>
          </a:p>
          <a:p>
            <a:pPr>
              <a:defRPr/>
            </a:pPr>
            <a:r>
              <a:rPr lang="zh-CN" altLang="en-US" sz="2400" dirty="0"/>
              <a:t>   </a:t>
            </a:r>
            <a:r>
              <a:rPr lang="zh-CN" altLang="en-US" sz="2400" dirty="0" smtClean="0"/>
              <a:t>保密法</a:t>
            </a:r>
            <a:r>
              <a:rPr lang="zh-CN" altLang="en-US" sz="2400" dirty="0"/>
              <a:t>及其实施条例、</a:t>
            </a:r>
            <a:r>
              <a:rPr lang="en-US" altLang="zh-CN" sz="2400" dirty="0"/>
              <a:t>《</a:t>
            </a:r>
            <a:r>
              <a:rPr lang="zh-CN" altLang="en-US" sz="2400" dirty="0" smtClean="0"/>
              <a:t>国家秘密</a:t>
            </a:r>
            <a:r>
              <a:rPr lang="zh-CN" altLang="en-US" sz="2400" dirty="0"/>
              <a:t>定密管理暂行规定</a:t>
            </a:r>
            <a:r>
              <a:rPr lang="en-US" altLang="zh-CN" sz="2400" dirty="0"/>
              <a:t>》</a:t>
            </a:r>
            <a:r>
              <a:rPr lang="zh-CN" altLang="en-US" sz="2400" dirty="0"/>
              <a:t>对指定</a:t>
            </a:r>
            <a:r>
              <a:rPr lang="zh-CN" altLang="en-US" sz="2400" dirty="0" smtClean="0"/>
              <a:t>定密</a:t>
            </a:r>
            <a:r>
              <a:rPr lang="zh-CN" altLang="en-US" sz="2400" dirty="0"/>
              <a:t>责任人的职级、数量、权限</a:t>
            </a:r>
            <a:r>
              <a:rPr lang="zh-CN" altLang="en-US" sz="2400" dirty="0" smtClean="0"/>
              <a:t>没有作出</a:t>
            </a:r>
            <a:r>
              <a:rPr lang="zh-CN" altLang="en-US" sz="2400" dirty="0"/>
              <a:t>限制。根据定密工作最小化</a:t>
            </a:r>
            <a:r>
              <a:rPr lang="zh-CN" altLang="en-US" sz="2400" dirty="0" smtClean="0"/>
              <a:t>、精准化</a:t>
            </a:r>
            <a:r>
              <a:rPr lang="zh-CN" altLang="en-US" sz="2400" dirty="0"/>
              <a:t>原则，指定定密责任人的</a:t>
            </a:r>
            <a:r>
              <a:rPr lang="zh-CN" altLang="en-US" sz="2400" dirty="0" smtClean="0"/>
              <a:t>数量</a:t>
            </a:r>
            <a:r>
              <a:rPr lang="zh-CN" altLang="en-US" sz="2400" dirty="0"/>
              <a:t>应当参照本机关、本单位实际</a:t>
            </a:r>
            <a:r>
              <a:rPr lang="zh-CN" altLang="en-US" sz="2400" dirty="0" smtClean="0"/>
              <a:t>产生</a:t>
            </a:r>
            <a:r>
              <a:rPr lang="zh-CN" altLang="en-US" sz="2400" dirty="0"/>
              <a:t>国家秘密的数量、涉密岗位和</a:t>
            </a:r>
            <a:r>
              <a:rPr lang="zh-CN" altLang="en-US" sz="2400" dirty="0" smtClean="0"/>
              <a:t>涉密</a:t>
            </a:r>
            <a:r>
              <a:rPr lang="zh-CN" altLang="en-US" sz="2400" dirty="0"/>
              <a:t>人员数量，以实际工作需要</a:t>
            </a:r>
            <a:r>
              <a:rPr lang="zh-CN" altLang="en-US" sz="2400" dirty="0" smtClean="0"/>
              <a:t>为据确定</a:t>
            </a:r>
            <a:r>
              <a:rPr lang="zh-CN" altLang="en-US" sz="2400" dirty="0"/>
              <a:t>。</a:t>
            </a:r>
            <a:endParaRPr lang="zh-CN" altLang="en-US" sz="2400" dirty="0"/>
          </a:p>
          <a:p>
            <a:pPr>
              <a:defRPr/>
            </a:pPr>
            <a:r>
              <a:rPr lang="zh-CN" altLang="en-US" sz="2400" dirty="0"/>
              <a:t>原则上，指定定密责任人</a:t>
            </a:r>
            <a:r>
              <a:rPr lang="zh-CN" altLang="en-US" sz="2400" dirty="0" smtClean="0"/>
              <a:t>不必</a:t>
            </a:r>
            <a:r>
              <a:rPr lang="zh-CN" altLang="en-US" sz="2400" dirty="0"/>
              <a:t>按照机关单位内部管理层级</a:t>
            </a:r>
            <a:r>
              <a:rPr lang="zh-CN" altLang="en-US" sz="2400" dirty="0" smtClean="0"/>
              <a:t>层层设置</a:t>
            </a:r>
            <a:r>
              <a:rPr lang="zh-CN" altLang="en-US" sz="2400" dirty="0"/>
              <a:t>，</a:t>
            </a:r>
            <a:r>
              <a:rPr lang="zh-CN" altLang="en-US" sz="2400" dirty="0">
                <a:solidFill>
                  <a:srgbClr val="FF0000"/>
                </a:solidFill>
              </a:rPr>
              <a:t>数量不宜过多</a:t>
            </a:r>
            <a:r>
              <a:rPr lang="zh-CN" altLang="en-US" sz="2400" dirty="0"/>
              <a:t>。一般包括</a:t>
            </a:r>
            <a:r>
              <a:rPr lang="zh-CN" altLang="en-US" sz="2400" dirty="0" smtClean="0"/>
              <a:t>机关</a:t>
            </a:r>
            <a:r>
              <a:rPr lang="zh-CN" altLang="en-US" sz="2400" dirty="0"/>
              <a:t>单位分管涉密业务的负责同志</a:t>
            </a:r>
            <a:r>
              <a:rPr lang="zh-CN" altLang="en-US" sz="2400" dirty="0" smtClean="0"/>
              <a:t>和办公厅</a:t>
            </a:r>
            <a:r>
              <a:rPr lang="zh-CN" altLang="en-US" sz="2400" dirty="0"/>
              <a:t>（室）负责同志。必要时</a:t>
            </a:r>
            <a:r>
              <a:rPr lang="zh-CN" altLang="en-US" sz="2400" dirty="0" smtClean="0"/>
              <a:t>，业务</a:t>
            </a:r>
            <a:r>
              <a:rPr lang="zh-CN" altLang="en-US" sz="2400" dirty="0"/>
              <a:t>部门负责同志和其他同志也</a:t>
            </a:r>
            <a:r>
              <a:rPr lang="zh-CN" altLang="en-US" sz="2400" dirty="0" smtClean="0"/>
              <a:t>可以</a:t>
            </a:r>
            <a:r>
              <a:rPr lang="zh-CN" altLang="en-US" sz="2400" dirty="0"/>
              <a:t>被指定为定密责任人。这样既</a:t>
            </a:r>
            <a:r>
              <a:rPr lang="zh-CN" altLang="en-US" sz="2400" dirty="0" smtClean="0"/>
              <a:t>有利于</a:t>
            </a:r>
            <a:r>
              <a:rPr lang="zh-CN" altLang="en-US" sz="2400" dirty="0"/>
              <a:t>机关单位建立内部定密</a:t>
            </a:r>
            <a:r>
              <a:rPr lang="zh-CN" altLang="en-US" sz="2400" dirty="0" smtClean="0"/>
              <a:t>工作机制</a:t>
            </a:r>
            <a:r>
              <a:rPr lang="zh-CN" altLang="en-US" sz="2400" dirty="0"/>
              <a:t>，又有利于推动相关领导</a:t>
            </a:r>
            <a:r>
              <a:rPr lang="zh-CN" altLang="en-US" sz="2400" dirty="0" smtClean="0"/>
              <a:t>同志了解</a:t>
            </a:r>
            <a:r>
              <a:rPr lang="zh-CN" altLang="en-US" sz="2400" dirty="0"/>
              <a:t>定密工作，切实履行定密</a:t>
            </a:r>
            <a:r>
              <a:rPr lang="zh-CN" altLang="en-US" sz="2400" dirty="0" smtClean="0"/>
              <a:t>责任人</a:t>
            </a:r>
            <a:r>
              <a:rPr lang="zh-CN" altLang="en-US" sz="2400" dirty="0"/>
              <a:t>职责。承担专业性较强的涉密</a:t>
            </a:r>
            <a:r>
              <a:rPr lang="zh-CN" altLang="en-US" sz="2400" dirty="0" smtClean="0"/>
              <a:t>科研</a:t>
            </a:r>
            <a:r>
              <a:rPr lang="zh-CN" altLang="en-US" sz="2400" dirty="0"/>
              <a:t>、生产或者涉密任务的单位，</a:t>
            </a:r>
            <a:r>
              <a:rPr lang="zh-CN" altLang="en-US" sz="2400" dirty="0" smtClean="0"/>
              <a:t>可以</a:t>
            </a:r>
            <a:r>
              <a:rPr lang="zh-CN" altLang="en-US" sz="2400" dirty="0"/>
              <a:t>指定项目组负责同志为定密</a:t>
            </a:r>
            <a:r>
              <a:rPr lang="zh-CN" altLang="en-US" sz="2400" dirty="0" smtClean="0"/>
              <a:t>责任人</a:t>
            </a:r>
            <a:r>
              <a:rPr lang="zh-CN" altLang="en-US" sz="2400" dirty="0"/>
              <a:t>，确有需要的，也可以指定</a:t>
            </a:r>
            <a:r>
              <a:rPr lang="zh-CN" altLang="en-US" sz="2400" dirty="0" smtClean="0"/>
              <a:t>项目组</a:t>
            </a:r>
            <a:r>
              <a:rPr lang="zh-CN" altLang="en-US" sz="2400" dirty="0"/>
              <a:t>工作人员为定密责任人。</a:t>
            </a:r>
            <a:endParaRPr lang="zh-CN" altLang="en-US" sz="2400" dirty="0"/>
          </a:p>
          <a:p>
            <a:pPr marL="0" indent="0">
              <a:buNone/>
              <a:defRPr/>
            </a:pPr>
            <a:r>
              <a:rPr lang="zh-CN" altLang="en-US" sz="2400" dirty="0" smtClean="0"/>
              <a:t> </a:t>
            </a:r>
            <a:r>
              <a:rPr lang="zh-CN" altLang="en-US" sz="2400" dirty="0"/>
              <a:t>  </a:t>
            </a:r>
            <a:endParaRPr kumimoji="1"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47564" y="847626"/>
            <a:ext cx="7848872" cy="5544616"/>
          </a:xfrm>
        </p:spPr>
        <p:txBody>
          <a:bodyPr>
            <a:normAutofit fontScale="85000" lnSpcReduction="20000"/>
          </a:bodyPr>
          <a:lstStyle/>
          <a:p>
            <a:pPr>
              <a:lnSpc>
                <a:spcPct val="100000"/>
              </a:lnSpc>
            </a:pPr>
            <a:r>
              <a:rPr lang="en-US" altLang="zh-CN" dirty="0" smtClean="0">
                <a:solidFill>
                  <a:srgbClr val="FF0000"/>
                </a:solidFill>
              </a:rPr>
              <a:t>6.</a:t>
            </a:r>
            <a:r>
              <a:rPr lang="zh-CN" altLang="en-US" dirty="0" smtClean="0">
                <a:solidFill>
                  <a:srgbClr val="FF0000"/>
                </a:solidFill>
              </a:rPr>
              <a:t> 是否</a:t>
            </a:r>
            <a:r>
              <a:rPr lang="zh-CN" altLang="en-US" dirty="0">
                <a:solidFill>
                  <a:srgbClr val="FF0000"/>
                </a:solidFill>
              </a:rPr>
              <a:t>所有的机关、单位都要确定定密责任人？</a:t>
            </a:r>
            <a:endParaRPr lang="zh-CN" altLang="en-US" dirty="0">
              <a:solidFill>
                <a:srgbClr val="FF0000"/>
              </a:solidFill>
            </a:endParaRPr>
          </a:p>
          <a:p>
            <a:pPr>
              <a:lnSpc>
                <a:spcPct val="100000"/>
              </a:lnSpc>
            </a:pPr>
            <a:r>
              <a:rPr lang="zh-CN" altLang="en-US" dirty="0"/>
              <a:t>    不一定。是否需要确定定密责任人要以机关、单位是否有定密事项为前提。这里的定密既包括原始定密，也包括派生定密。国家机关和涉及国家秘密的单位（简称机关、单位）或多或少产生或者派生一定数量的国家秘密，其负责人作为法定定密责任人，应当依法承担定密职责，并根据工作需要指定若干其他人员作为定密责任人。对于产生国家秘密数量极少，或者只有派生定密且数量较少的机关、单位，可以根据实际工作，不指定定密责任人，仅由机关、单位一把手负责具体定密工作，或者仅指定办公厅（室）主任等一名人员具体负责定密工作，以保证定密工作合规性、稳定性。对于不涉及国家秘密的单位，一般不存在定密问题，也就不需要开展定密责任人确定工作。</a:t>
            </a:r>
            <a:endParaRPr lang="zh-CN" altLang="en-US" dirty="0"/>
          </a:p>
          <a:p>
            <a:pPr>
              <a:lnSpc>
                <a:spcPct val="100000"/>
              </a:lnSpc>
            </a:pP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57200" y="274638"/>
            <a:ext cx="8229600" cy="5890666"/>
          </a:xfrm>
        </p:spPr>
        <p:txBody>
          <a:bodyPr>
            <a:normAutofit fontScale="85000" lnSpcReduction="10000"/>
          </a:bodyPr>
          <a:lstStyle/>
          <a:p>
            <a:r>
              <a:rPr lang="en-US" altLang="zh-CN" dirty="0" smtClean="0">
                <a:solidFill>
                  <a:srgbClr val="FF0000"/>
                </a:solidFill>
              </a:rPr>
              <a:t>7.</a:t>
            </a:r>
            <a:r>
              <a:rPr lang="zh-CN" altLang="en-US" dirty="0">
                <a:solidFill>
                  <a:srgbClr val="FF0000"/>
                </a:solidFill>
              </a:rPr>
              <a:t>关于定密责任人之间定密权限的区分</a:t>
            </a:r>
            <a:endParaRPr lang="zh-CN" altLang="en-US" dirty="0">
              <a:solidFill>
                <a:srgbClr val="FF0000"/>
              </a:solidFill>
            </a:endParaRPr>
          </a:p>
          <a:p>
            <a:r>
              <a:rPr lang="zh-CN" altLang="en-US" dirty="0"/>
              <a:t>法定定密责任人的定密权与所在机关单位的定密权一致。指定定密责任人的定密权由法定定密责任人确定。</a:t>
            </a:r>
            <a:endParaRPr lang="zh-CN" altLang="en-US" dirty="0"/>
          </a:p>
          <a:p>
            <a:r>
              <a:rPr lang="zh-CN" altLang="en-US" dirty="0"/>
              <a:t>按照定密工作权责明确的要求，不同定密责任人的定密权限可以作出区分。</a:t>
            </a:r>
            <a:endParaRPr lang="zh-CN" altLang="en-US" dirty="0"/>
          </a:p>
          <a:p>
            <a:r>
              <a:rPr lang="zh-CN" altLang="en-US" dirty="0"/>
              <a:t>一是区分不同密级的定密权。指定定密责任人的定密权可以与法定定密责任人一致，也可以小于法定定密责任人。不同指定定密责任人之间也可以明确不同密级的定密权。</a:t>
            </a:r>
            <a:endParaRPr lang="zh-CN" altLang="en-US" dirty="0"/>
          </a:p>
          <a:p>
            <a:r>
              <a:rPr lang="zh-CN" altLang="en-US" dirty="0"/>
              <a:t>二是区分行使定密权的范围。法定定密责任人有权对所在机关单位产生的所有国家秘密事项行使定密权。对指定定密责任人可以限定其行使定密权的范围，要求其在分管工作或者特定工作领域定密。</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39552" y="620688"/>
            <a:ext cx="7992888" cy="5400600"/>
          </a:xfrm>
        </p:spPr>
        <p:txBody>
          <a:bodyPr>
            <a:normAutofit fontScale="92500" lnSpcReduction="10000"/>
          </a:bodyPr>
          <a:lstStyle/>
          <a:p>
            <a:r>
              <a:rPr lang="en-US" altLang="zh-CN" dirty="0" smtClean="0">
                <a:solidFill>
                  <a:srgbClr val="FF0000"/>
                </a:solidFill>
              </a:rPr>
              <a:t>8.</a:t>
            </a:r>
            <a:r>
              <a:rPr lang="zh-CN" altLang="en-US" dirty="0" smtClean="0">
                <a:solidFill>
                  <a:srgbClr val="FF0000"/>
                </a:solidFill>
              </a:rPr>
              <a:t>关于</a:t>
            </a:r>
            <a:r>
              <a:rPr lang="zh-CN" altLang="en-US" dirty="0">
                <a:solidFill>
                  <a:srgbClr val="FF0000"/>
                </a:solidFill>
              </a:rPr>
              <a:t>多个定密责任人签署同一份涉密文件时的定密责任人认定</a:t>
            </a:r>
            <a:endParaRPr lang="zh-CN" altLang="en-US" dirty="0">
              <a:solidFill>
                <a:srgbClr val="FF0000"/>
              </a:solidFill>
            </a:endParaRPr>
          </a:p>
          <a:p>
            <a:r>
              <a:rPr lang="zh-CN" altLang="en-US" dirty="0"/>
              <a:t>机关单位定密应当就定密责任人、承办人等作出书面记录。因此，多个定密责任人签署同一份涉密文件时，在书面记录“定密责任人”一栏签字的人员为相关文件的定密责任人。</a:t>
            </a:r>
            <a:endParaRPr lang="zh-CN" altLang="en-US" dirty="0"/>
          </a:p>
          <a:p>
            <a:r>
              <a:rPr lang="zh-CN" altLang="en-US" dirty="0"/>
              <a:t>没有定密书面记录或者书面记录没有特别注明“定密责任人”的，第一个签字的定密责任人视为该文件的定密责任人。后签字的定密责任人对之前签字定密责任人的定密决定作出更改且生效的，作出该更改决定的定密责任人为该文件定密责任人。</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8"/>
          <p:cNvSpPr>
            <a:spLocks noGrp="1"/>
          </p:cNvSpPr>
          <p:nvPr>
            <p:ph type="title"/>
          </p:nvPr>
        </p:nvSpPr>
        <p:spPr/>
        <p:txBody>
          <a:bodyPr/>
          <a:lstStyle/>
          <a:p>
            <a:endParaRPr lang="zh-CN" altLang="en-US">
              <a:solidFill>
                <a:srgbClr val="850606"/>
              </a:solidFill>
              <a:latin typeface="方正大黑_GBK" charset="0"/>
              <a:ea typeface="方正大黑_GBK" charset="0"/>
              <a:sym typeface="方正大黑_GBK" charset="0"/>
            </a:endParaRPr>
          </a:p>
        </p:txBody>
      </p:sp>
      <p:sp>
        <p:nvSpPr>
          <p:cNvPr id="92162" name="内容占位符 9"/>
          <p:cNvSpPr>
            <a:spLocks noGrp="1"/>
          </p:cNvSpPr>
          <p:nvPr>
            <p:ph idx="1"/>
          </p:nvPr>
        </p:nvSpPr>
        <p:spPr/>
        <p:txBody>
          <a:bodyPr>
            <a:normAutofit fontScale="92500" lnSpcReduction="10000"/>
          </a:bodyPr>
          <a:lstStyle/>
          <a:p>
            <a:r>
              <a:rPr lang="en-US" altLang="zh-CN" dirty="0" smtClean="0">
                <a:solidFill>
                  <a:srgbClr val="FF0000"/>
                </a:solidFill>
              </a:rPr>
              <a:t>9.</a:t>
            </a:r>
            <a:r>
              <a:rPr lang="zh-CN" altLang="en-US" dirty="0" smtClean="0">
                <a:solidFill>
                  <a:srgbClr val="FF0000"/>
                </a:solidFill>
              </a:rPr>
              <a:t>承办</a:t>
            </a:r>
            <a:r>
              <a:rPr lang="zh-CN" altLang="en-US" dirty="0">
                <a:solidFill>
                  <a:srgbClr val="FF0000"/>
                </a:solidFill>
              </a:rPr>
              <a:t>人与定密责任人之间是否可添加其他人员</a:t>
            </a:r>
            <a:endParaRPr lang="zh-CN" altLang="en-US" dirty="0">
              <a:solidFill>
                <a:srgbClr val="FF0000"/>
              </a:solidFill>
            </a:endParaRPr>
          </a:p>
          <a:p>
            <a:r>
              <a:rPr lang="zh-CN" altLang="en-US" dirty="0"/>
              <a:t>机关单位可以根据实际工作或者公文运转流程需要，增加其他人员（如定密审核人、定密专家等）或者其他程序（如提请定密小组研究），对定密提出意见建议，作为本机关单位内部定密工作程序的一部分。</a:t>
            </a:r>
            <a:endParaRPr lang="zh-CN" altLang="en-US" dirty="0"/>
          </a:p>
          <a:p>
            <a:r>
              <a:rPr lang="zh-CN" altLang="en-US" dirty="0"/>
              <a:t>经过其他人员和程序提出的定密意见，供定密责任人作出定密决定时参考，相关事项的定密仍由定密责任人负责。</a:t>
            </a:r>
            <a:endParaRPr lang="en-US" altLang="zh-CN" dirty="0"/>
          </a:p>
        </p:txBody>
      </p:sp>
      <p:sp>
        <p:nvSpPr>
          <p:cNvPr id="92163"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D8729C2B-8197-B84E-9F38-9C79F66EED17}" type="slidenum">
              <a:rPr lang="zh-CN" altLang="en-US" sz="900">
                <a:solidFill>
                  <a:srgbClr val="898989"/>
                </a:solidFill>
              </a:rPr>
            </a:fld>
            <a:endParaRPr lang="en-US" altLang="zh-CN" sz="135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sz="4000"/>
              <a:t>实施定密责任人制度需要处理的</a:t>
            </a:r>
            <a:r>
              <a:rPr lang="zh-CN" altLang="en-US" sz="4000"/>
              <a:t>关系</a:t>
            </a:r>
            <a:endParaRPr lang="zh-CN" altLang="en-US" sz="4000"/>
          </a:p>
        </p:txBody>
      </p:sp>
      <p:sp>
        <p:nvSpPr>
          <p:cNvPr id="44" name="Freeform 5"/>
          <p:cNvSpPr/>
          <p:nvPr>
            <p:custDataLst>
              <p:tags r:id="rId1"/>
            </p:custDataLst>
          </p:nvPr>
        </p:nvSpPr>
        <p:spPr bwMode="auto">
          <a:xfrm>
            <a:off x="1574800" y="1755846"/>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1D6DC2"/>
          </a:solidFill>
          <a:ln>
            <a:noFill/>
          </a:ln>
        </p:spPr>
        <p:txBody>
          <a:bodyPr vert="horz" wrap="square" lIns="68580" tIns="34290" rIns="68580" bIns="34290" numCol="1" anchor="t" anchorCtr="0" compatLnSpc="1"/>
          <a:lstStyle/>
          <a:p>
            <a:endParaRPr lang="zh-CN" altLang="en-US" sz="1350" dirty="0"/>
          </a:p>
        </p:txBody>
      </p:sp>
      <p:sp>
        <p:nvSpPr>
          <p:cNvPr id="45" name="文本框 60"/>
          <p:cNvSpPr txBox="1"/>
          <p:nvPr>
            <p:custDataLst>
              <p:tags r:id="rId2"/>
            </p:custDataLst>
          </p:nvPr>
        </p:nvSpPr>
        <p:spPr>
          <a:xfrm>
            <a:off x="946150" y="2133195"/>
            <a:ext cx="1539240" cy="956786"/>
          </a:xfrm>
          <a:prstGeom prst="rect">
            <a:avLst/>
          </a:prstGeom>
          <a:noFill/>
        </p:spPr>
        <p:txBody>
          <a:bodyPr wrap="square" rtlCol="0">
            <a:normAutofit lnSpcReduction="1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厘清指定</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性质</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厘清定密</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效力</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厘清权限</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范围</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厘清权利</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关系</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6" name="文本框 61"/>
          <p:cNvSpPr txBox="1"/>
          <p:nvPr>
            <p:custDataLst>
              <p:tags r:id="rId3"/>
            </p:custDataLst>
          </p:nvPr>
        </p:nvSpPr>
        <p:spPr>
          <a:xfrm>
            <a:off x="946150" y="1770134"/>
            <a:ext cx="1539240" cy="350520"/>
          </a:xfrm>
          <a:prstGeom prst="rect">
            <a:avLst/>
          </a:prstGeom>
          <a:noFill/>
        </p:spPr>
        <p:txBody>
          <a:bodyPr wrap="square" rtlCol="0">
            <a:normAutofit fontScale="3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法定责任人与指定</a:t>
            </a:r>
            <a:r>
              <a:rPr lang="zh-CN" altLang="en-US" b="1" spc="300" dirty="0">
                <a:solidFill>
                  <a:srgbClr val="000000">
                    <a:lumMod val="75000"/>
                    <a:lumOff val="25000"/>
                  </a:srgbClr>
                </a:solidFill>
                <a:latin typeface="Arial" panose="020B0604020202020204" pitchFamily="34" charset="0"/>
                <a:ea typeface="微软雅黑" panose="020B0503020204020204" charset="-122"/>
              </a:rPr>
              <a:t>责任人</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
        <p:nvSpPr>
          <p:cNvPr id="47" name="Freeform 5"/>
          <p:cNvSpPr/>
          <p:nvPr>
            <p:custDataLst>
              <p:tags r:id="rId4"/>
            </p:custDataLst>
          </p:nvPr>
        </p:nvSpPr>
        <p:spPr bwMode="auto">
          <a:xfrm>
            <a:off x="3466571" y="1755846"/>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38445E"/>
          </a:solidFill>
          <a:ln>
            <a:noFill/>
          </a:ln>
        </p:spPr>
        <p:txBody>
          <a:bodyPr vert="horz" wrap="square" lIns="68580" tIns="34290" rIns="68580" bIns="34290" numCol="1" anchor="t" anchorCtr="0" compatLnSpc="1"/>
          <a:lstStyle/>
          <a:p>
            <a:endParaRPr lang="zh-CN" altLang="en-US" sz="1350" dirty="0"/>
          </a:p>
        </p:txBody>
      </p:sp>
      <p:sp>
        <p:nvSpPr>
          <p:cNvPr id="48" name="文本框 60"/>
          <p:cNvSpPr txBox="1"/>
          <p:nvPr>
            <p:custDataLst>
              <p:tags r:id="rId5"/>
            </p:custDataLst>
          </p:nvPr>
        </p:nvSpPr>
        <p:spPr>
          <a:xfrm>
            <a:off x="2837921" y="2222095"/>
            <a:ext cx="1539240" cy="956786"/>
          </a:xfrm>
          <a:prstGeom prst="rect">
            <a:avLst/>
          </a:prstGeom>
          <a:noFill/>
        </p:spPr>
        <p:txBody>
          <a:bodyPr wrap="square" rtlCol="0">
            <a:normAutofit fontScale="8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不是领导与被领导</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关系</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指定定密责任人既可以是其他负责人也可以是一般</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人员</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其他负责人具有</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监督权</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9" name="文本框 61"/>
          <p:cNvSpPr txBox="1"/>
          <p:nvPr>
            <p:custDataLst>
              <p:tags r:id="rId6"/>
            </p:custDataLst>
          </p:nvPr>
        </p:nvSpPr>
        <p:spPr>
          <a:xfrm>
            <a:off x="2837921" y="1770134"/>
            <a:ext cx="1539240" cy="350520"/>
          </a:xfrm>
          <a:prstGeom prst="rect">
            <a:avLst/>
          </a:prstGeom>
          <a:noFill/>
        </p:spPr>
        <p:txBody>
          <a:bodyPr wrap="square" rtlCol="0">
            <a:normAutofit fontScale="3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指定定密责任人与其他</a:t>
            </a:r>
            <a:r>
              <a:rPr lang="zh-CN" altLang="en-US" b="1" spc="300" dirty="0">
                <a:solidFill>
                  <a:srgbClr val="000000">
                    <a:lumMod val="75000"/>
                    <a:lumOff val="25000"/>
                  </a:srgbClr>
                </a:solidFill>
                <a:latin typeface="Arial" panose="020B0604020202020204" pitchFamily="34" charset="0"/>
                <a:ea typeface="微软雅黑" panose="020B0503020204020204" charset="-122"/>
              </a:rPr>
              <a:t>责任人</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
        <p:nvSpPr>
          <p:cNvPr id="50" name="Freeform 5"/>
          <p:cNvSpPr/>
          <p:nvPr>
            <p:custDataLst>
              <p:tags r:id="rId7"/>
            </p:custDataLst>
          </p:nvPr>
        </p:nvSpPr>
        <p:spPr bwMode="auto">
          <a:xfrm>
            <a:off x="5358341" y="1755846"/>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1D6DC2"/>
          </a:solidFill>
          <a:ln>
            <a:noFill/>
          </a:ln>
        </p:spPr>
        <p:txBody>
          <a:bodyPr vert="horz" wrap="square" lIns="68580" tIns="34290" rIns="68580" bIns="34290" numCol="1" anchor="t" anchorCtr="0" compatLnSpc="1"/>
          <a:lstStyle/>
          <a:p>
            <a:endParaRPr lang="zh-CN" altLang="en-US" sz="1350" dirty="0"/>
          </a:p>
        </p:txBody>
      </p:sp>
      <p:sp>
        <p:nvSpPr>
          <p:cNvPr id="51" name="文本框 60"/>
          <p:cNvSpPr txBox="1"/>
          <p:nvPr>
            <p:custDataLst>
              <p:tags r:id="rId8"/>
            </p:custDataLst>
          </p:nvPr>
        </p:nvSpPr>
        <p:spPr>
          <a:xfrm>
            <a:off x="4729691" y="2222095"/>
            <a:ext cx="1539240" cy="956786"/>
          </a:xfrm>
          <a:prstGeom prst="rect">
            <a:avLst/>
          </a:prstGeom>
          <a:noFill/>
        </p:spPr>
        <p:txBody>
          <a:bodyPr wrap="square" rtlCol="0">
            <a:normAutofit fontScale="8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初始定密都是</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承办人</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变更、解除也需</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承办人</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定密责任人的审批、</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培训</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定密责任人启动定密纠错、责任追究</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程序</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52" name="文本框 61"/>
          <p:cNvSpPr txBox="1"/>
          <p:nvPr>
            <p:custDataLst>
              <p:tags r:id="rId9"/>
            </p:custDataLst>
          </p:nvPr>
        </p:nvSpPr>
        <p:spPr>
          <a:xfrm>
            <a:off x="4756361" y="1755529"/>
            <a:ext cx="1539240" cy="350520"/>
          </a:xfrm>
          <a:prstGeom prst="rect">
            <a:avLst/>
          </a:prstGeom>
          <a:noFill/>
        </p:spPr>
        <p:txBody>
          <a:bodyPr wrap="square" rtlCol="0">
            <a:normAutofit fontScale="4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定密责任人与</a:t>
            </a:r>
            <a:r>
              <a:rPr lang="zh-CN" altLang="en-US" b="1" spc="300" dirty="0">
                <a:solidFill>
                  <a:srgbClr val="000000">
                    <a:lumMod val="75000"/>
                    <a:lumOff val="25000"/>
                  </a:srgbClr>
                </a:solidFill>
                <a:latin typeface="Arial" panose="020B0604020202020204" pitchFamily="34" charset="0"/>
                <a:ea typeface="微软雅黑" panose="020B0503020204020204" charset="-122"/>
              </a:rPr>
              <a:t>承办人</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
        <p:nvSpPr>
          <p:cNvPr id="53" name="Freeform 5"/>
          <p:cNvSpPr/>
          <p:nvPr>
            <p:custDataLst>
              <p:tags r:id="rId10"/>
            </p:custDataLst>
          </p:nvPr>
        </p:nvSpPr>
        <p:spPr bwMode="auto">
          <a:xfrm>
            <a:off x="7250113" y="1755846"/>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38445E"/>
          </a:solidFill>
          <a:ln>
            <a:noFill/>
          </a:ln>
        </p:spPr>
        <p:txBody>
          <a:bodyPr vert="horz" wrap="square" lIns="68580" tIns="34290" rIns="68580" bIns="34290" numCol="1" anchor="t" anchorCtr="0" compatLnSpc="1"/>
          <a:lstStyle/>
          <a:p>
            <a:endParaRPr lang="zh-CN" altLang="en-US" sz="1350" dirty="0"/>
          </a:p>
        </p:txBody>
      </p:sp>
      <p:sp>
        <p:nvSpPr>
          <p:cNvPr id="54" name="文本框 60"/>
          <p:cNvSpPr txBox="1"/>
          <p:nvPr>
            <p:custDataLst>
              <p:tags r:id="rId11"/>
            </p:custDataLst>
          </p:nvPr>
        </p:nvSpPr>
        <p:spPr>
          <a:xfrm>
            <a:off x="6621463" y="2222095"/>
            <a:ext cx="1539240" cy="956786"/>
          </a:xfrm>
          <a:prstGeom prst="rect">
            <a:avLst/>
          </a:prstGeom>
          <a:noFill/>
        </p:spPr>
        <p:txBody>
          <a:bodyPr wrap="square" rtlCol="0">
            <a:normAutofit fontScale="90000" lnSpcReduction="1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不高于法定或授权</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权限</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不超过规定事项范围</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派生定密不受</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限制</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定密责任人不</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缺失</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55" name="文本框 61"/>
          <p:cNvSpPr txBox="1"/>
          <p:nvPr>
            <p:custDataLst>
              <p:tags r:id="rId12"/>
            </p:custDataLst>
          </p:nvPr>
        </p:nvSpPr>
        <p:spPr>
          <a:xfrm>
            <a:off x="6621463" y="1770134"/>
            <a:ext cx="1539240" cy="350520"/>
          </a:xfrm>
          <a:prstGeom prst="rect">
            <a:avLst/>
          </a:prstGeom>
          <a:noFill/>
        </p:spPr>
        <p:txBody>
          <a:bodyPr wrap="square" rtlCol="0">
            <a:normAutofit fontScale="4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定密责任人与定密</a:t>
            </a:r>
            <a:r>
              <a:rPr lang="zh-CN" altLang="en-US" b="1" spc="300" dirty="0">
                <a:solidFill>
                  <a:srgbClr val="000000">
                    <a:lumMod val="75000"/>
                    <a:lumOff val="25000"/>
                  </a:srgbClr>
                </a:solidFill>
                <a:latin typeface="Arial" panose="020B0604020202020204" pitchFamily="34" charset="0"/>
                <a:ea typeface="微软雅黑" panose="020B0503020204020204" charset="-122"/>
              </a:rPr>
              <a:t>权限</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
        <p:nvSpPr>
          <p:cNvPr id="56" name="Freeform 5"/>
          <p:cNvSpPr/>
          <p:nvPr>
            <p:custDataLst>
              <p:tags r:id="rId13"/>
            </p:custDataLst>
          </p:nvPr>
        </p:nvSpPr>
        <p:spPr bwMode="auto">
          <a:xfrm>
            <a:off x="1574800" y="3653649"/>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1D6DC2"/>
          </a:solidFill>
          <a:ln>
            <a:noFill/>
          </a:ln>
        </p:spPr>
        <p:txBody>
          <a:bodyPr vert="horz" wrap="square" lIns="68580" tIns="34290" rIns="68580" bIns="34290" numCol="1" anchor="t" anchorCtr="0" compatLnSpc="1"/>
          <a:lstStyle/>
          <a:p>
            <a:endParaRPr lang="zh-CN" altLang="en-US" sz="1350" dirty="0"/>
          </a:p>
        </p:txBody>
      </p:sp>
      <p:sp>
        <p:nvSpPr>
          <p:cNvPr id="57" name="文本框 60"/>
          <p:cNvSpPr txBox="1"/>
          <p:nvPr>
            <p:custDataLst>
              <p:tags r:id="rId14"/>
            </p:custDataLst>
          </p:nvPr>
        </p:nvSpPr>
        <p:spPr>
          <a:xfrm>
            <a:off x="946150" y="4119898"/>
            <a:ext cx="1539240" cy="956786"/>
          </a:xfrm>
          <a:prstGeom prst="rect">
            <a:avLst/>
          </a:prstGeom>
          <a:noFill/>
        </p:spPr>
        <p:txBody>
          <a:bodyPr wrap="square" rtlCol="0">
            <a:normAutofit fontScale="7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不是简单的领导与被领导，管理与被</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管理</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独立履行定密权</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保密机构主要是定密制度、定密责任人选定培训、</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监督</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58" name="文本框 61"/>
          <p:cNvSpPr txBox="1"/>
          <p:nvPr>
            <p:custDataLst>
              <p:tags r:id="rId15"/>
            </p:custDataLst>
          </p:nvPr>
        </p:nvSpPr>
        <p:spPr>
          <a:xfrm>
            <a:off x="946150" y="3667937"/>
            <a:ext cx="1539240" cy="350520"/>
          </a:xfrm>
          <a:prstGeom prst="rect">
            <a:avLst/>
          </a:prstGeom>
          <a:noFill/>
        </p:spPr>
        <p:txBody>
          <a:bodyPr wrap="square" rtlCol="0">
            <a:normAutofit fontScale="4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保密机构与定密</a:t>
            </a:r>
            <a:r>
              <a:rPr lang="zh-CN" altLang="en-US" b="1" spc="300" dirty="0">
                <a:solidFill>
                  <a:srgbClr val="000000">
                    <a:lumMod val="75000"/>
                    <a:lumOff val="25000"/>
                  </a:srgbClr>
                </a:solidFill>
                <a:latin typeface="Arial" panose="020B0604020202020204" pitchFamily="34" charset="0"/>
                <a:ea typeface="微软雅黑" panose="020B0503020204020204" charset="-122"/>
              </a:rPr>
              <a:t>责任人</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
        <p:nvSpPr>
          <p:cNvPr id="59" name="Freeform 5"/>
          <p:cNvSpPr/>
          <p:nvPr>
            <p:custDataLst>
              <p:tags r:id="rId16"/>
            </p:custDataLst>
          </p:nvPr>
        </p:nvSpPr>
        <p:spPr bwMode="auto">
          <a:xfrm>
            <a:off x="3466571" y="3653649"/>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38445E"/>
          </a:solidFill>
          <a:ln>
            <a:noFill/>
          </a:ln>
        </p:spPr>
        <p:txBody>
          <a:bodyPr vert="horz" wrap="square" lIns="68580" tIns="34290" rIns="68580" bIns="34290" numCol="1" anchor="t" anchorCtr="0" compatLnSpc="1"/>
          <a:lstStyle/>
          <a:p>
            <a:endParaRPr lang="zh-CN" altLang="en-US" sz="1350" dirty="0"/>
          </a:p>
        </p:txBody>
      </p:sp>
      <p:sp>
        <p:nvSpPr>
          <p:cNvPr id="60" name="文本框 60"/>
          <p:cNvSpPr txBox="1"/>
          <p:nvPr>
            <p:custDataLst>
              <p:tags r:id="rId17"/>
            </p:custDataLst>
          </p:nvPr>
        </p:nvSpPr>
        <p:spPr>
          <a:xfrm>
            <a:off x="2837921" y="4119898"/>
            <a:ext cx="1539240" cy="956786"/>
          </a:xfrm>
          <a:prstGeom prst="rect">
            <a:avLst/>
          </a:prstGeom>
          <a:noFill/>
        </p:spPr>
        <p:txBody>
          <a:bodyPr wrap="square" rtlCol="0">
            <a:normAutofit fontScale="8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保密干部支持定密</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责任人</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定密责任人接受</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保密干部管理和</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监督</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保密干部不适合做</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61" name="文本框 61"/>
          <p:cNvSpPr txBox="1"/>
          <p:nvPr>
            <p:custDataLst>
              <p:tags r:id="rId18"/>
            </p:custDataLst>
          </p:nvPr>
        </p:nvSpPr>
        <p:spPr>
          <a:xfrm>
            <a:off x="2837921" y="3667937"/>
            <a:ext cx="1539240" cy="350520"/>
          </a:xfrm>
          <a:prstGeom prst="rect">
            <a:avLst/>
          </a:prstGeom>
          <a:noFill/>
        </p:spPr>
        <p:txBody>
          <a:bodyPr wrap="square" rtlCol="0">
            <a:normAutofit fontScale="4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保密干部与定密</a:t>
            </a:r>
            <a:r>
              <a:rPr lang="zh-CN" altLang="en-US" b="1" spc="300" dirty="0">
                <a:solidFill>
                  <a:srgbClr val="000000">
                    <a:lumMod val="75000"/>
                    <a:lumOff val="25000"/>
                  </a:srgbClr>
                </a:solidFill>
                <a:latin typeface="Arial" panose="020B0604020202020204" pitchFamily="34" charset="0"/>
                <a:ea typeface="微软雅黑" panose="020B0503020204020204" charset="-122"/>
              </a:rPr>
              <a:t>责任人</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
        <p:nvSpPr>
          <p:cNvPr id="62" name="Freeform 5"/>
          <p:cNvSpPr/>
          <p:nvPr>
            <p:custDataLst>
              <p:tags r:id="rId19"/>
            </p:custDataLst>
          </p:nvPr>
        </p:nvSpPr>
        <p:spPr bwMode="auto">
          <a:xfrm>
            <a:off x="5358341" y="3653649"/>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1D6DC2"/>
          </a:solidFill>
          <a:ln>
            <a:noFill/>
          </a:ln>
        </p:spPr>
        <p:txBody>
          <a:bodyPr vert="horz" wrap="square" lIns="68580" tIns="34290" rIns="68580" bIns="34290" numCol="1" anchor="t" anchorCtr="0" compatLnSpc="1"/>
          <a:lstStyle/>
          <a:p>
            <a:endParaRPr lang="zh-CN" altLang="en-US" sz="1350" dirty="0"/>
          </a:p>
        </p:txBody>
      </p:sp>
      <p:sp>
        <p:nvSpPr>
          <p:cNvPr id="63" name="文本框 60"/>
          <p:cNvSpPr txBox="1"/>
          <p:nvPr>
            <p:custDataLst>
              <p:tags r:id="rId20"/>
            </p:custDataLst>
          </p:nvPr>
        </p:nvSpPr>
        <p:spPr>
          <a:xfrm>
            <a:off x="4729691" y="4119898"/>
            <a:ext cx="1539240" cy="956786"/>
          </a:xfrm>
          <a:prstGeom prst="rect">
            <a:avLst/>
          </a:prstGeom>
          <a:noFill/>
        </p:spPr>
        <p:txBody>
          <a:bodyPr wrap="square" rtlCol="0">
            <a:norm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定密职责与岗位职责</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契合</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契合点是涉密</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业务</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64" name="文本框 61"/>
          <p:cNvSpPr txBox="1"/>
          <p:nvPr>
            <p:custDataLst>
              <p:tags r:id="rId21"/>
            </p:custDataLst>
          </p:nvPr>
        </p:nvSpPr>
        <p:spPr>
          <a:xfrm>
            <a:off x="4729691" y="3667937"/>
            <a:ext cx="1539240" cy="350520"/>
          </a:xfrm>
          <a:prstGeom prst="rect">
            <a:avLst/>
          </a:prstGeom>
          <a:noFill/>
        </p:spPr>
        <p:txBody>
          <a:bodyPr wrap="square" rtlCol="0">
            <a:normAutofit fontScale="4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定密职责与岗位</a:t>
            </a:r>
            <a:r>
              <a:rPr lang="zh-CN" altLang="en-US" b="1" spc="300" dirty="0">
                <a:solidFill>
                  <a:srgbClr val="000000">
                    <a:lumMod val="75000"/>
                    <a:lumOff val="25000"/>
                  </a:srgbClr>
                </a:solidFill>
                <a:latin typeface="Arial" panose="020B0604020202020204" pitchFamily="34" charset="0"/>
                <a:ea typeface="微软雅黑" panose="020B0503020204020204" charset="-122"/>
              </a:rPr>
              <a:t>职责</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
        <p:nvSpPr>
          <p:cNvPr id="65" name="Freeform 5"/>
          <p:cNvSpPr/>
          <p:nvPr>
            <p:custDataLst>
              <p:tags r:id="rId22"/>
            </p:custDataLst>
          </p:nvPr>
        </p:nvSpPr>
        <p:spPr bwMode="auto">
          <a:xfrm>
            <a:off x="7250113" y="3653649"/>
            <a:ext cx="334328" cy="379095"/>
          </a:xfrm>
          <a:custGeom>
            <a:avLst/>
            <a:gdLst>
              <a:gd name="T0" fmla="*/ 28 w 308"/>
              <a:gd name="T1" fmla="*/ 280 h 308"/>
              <a:gd name="T2" fmla="*/ 28 w 308"/>
              <a:gd name="T3" fmla="*/ 280 h 308"/>
              <a:gd name="T4" fmla="*/ 28 w 308"/>
              <a:gd name="T5" fmla="*/ 177 h 308"/>
              <a:gd name="T6" fmla="*/ 177 w 308"/>
              <a:gd name="T7" fmla="*/ 28 h 308"/>
              <a:gd name="T8" fmla="*/ 280 w 308"/>
              <a:gd name="T9" fmla="*/ 28 h 308"/>
              <a:gd name="T10" fmla="*/ 280 w 308"/>
              <a:gd name="T11" fmla="*/ 28 h 308"/>
              <a:gd name="T12" fmla="*/ 280 w 308"/>
              <a:gd name="T13" fmla="*/ 131 h 308"/>
              <a:gd name="T14" fmla="*/ 131 w 308"/>
              <a:gd name="T15" fmla="*/ 280 h 308"/>
              <a:gd name="T16" fmla="*/ 28 w 308"/>
              <a:gd name="T17" fmla="*/ 28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308">
                <a:moveTo>
                  <a:pt x="28" y="280"/>
                </a:moveTo>
                <a:cubicBezTo>
                  <a:pt x="28" y="280"/>
                  <a:pt x="28" y="280"/>
                  <a:pt x="28" y="280"/>
                </a:cubicBezTo>
                <a:cubicBezTo>
                  <a:pt x="0" y="251"/>
                  <a:pt x="0" y="205"/>
                  <a:pt x="28" y="177"/>
                </a:cubicBezTo>
                <a:cubicBezTo>
                  <a:pt x="177" y="28"/>
                  <a:pt x="177" y="28"/>
                  <a:pt x="177" y="28"/>
                </a:cubicBezTo>
                <a:cubicBezTo>
                  <a:pt x="205" y="0"/>
                  <a:pt x="252" y="0"/>
                  <a:pt x="280" y="28"/>
                </a:cubicBezTo>
                <a:cubicBezTo>
                  <a:pt x="280" y="28"/>
                  <a:pt x="280" y="28"/>
                  <a:pt x="280" y="28"/>
                </a:cubicBezTo>
                <a:cubicBezTo>
                  <a:pt x="308" y="57"/>
                  <a:pt x="308" y="103"/>
                  <a:pt x="280" y="131"/>
                </a:cubicBezTo>
                <a:cubicBezTo>
                  <a:pt x="131" y="280"/>
                  <a:pt x="131" y="280"/>
                  <a:pt x="131" y="280"/>
                </a:cubicBezTo>
                <a:cubicBezTo>
                  <a:pt x="103" y="308"/>
                  <a:pt x="57" y="308"/>
                  <a:pt x="28" y="280"/>
                </a:cubicBezTo>
                <a:close/>
              </a:path>
            </a:pathLst>
          </a:custGeom>
          <a:solidFill>
            <a:srgbClr val="38445E"/>
          </a:solidFill>
          <a:ln>
            <a:noFill/>
          </a:ln>
        </p:spPr>
        <p:txBody>
          <a:bodyPr vert="horz" wrap="square" lIns="68580" tIns="34290" rIns="68580" bIns="34290" numCol="1" anchor="t" anchorCtr="0" compatLnSpc="1"/>
          <a:lstStyle/>
          <a:p>
            <a:endParaRPr lang="zh-CN" altLang="en-US" sz="1350" dirty="0"/>
          </a:p>
        </p:txBody>
      </p:sp>
      <p:sp>
        <p:nvSpPr>
          <p:cNvPr id="66" name="文本框 60"/>
          <p:cNvSpPr txBox="1"/>
          <p:nvPr>
            <p:custDataLst>
              <p:tags r:id="rId23"/>
            </p:custDataLst>
          </p:nvPr>
        </p:nvSpPr>
        <p:spPr>
          <a:xfrm>
            <a:off x="6621463" y="4119898"/>
            <a:ext cx="1539240" cy="956786"/>
          </a:xfrm>
          <a:prstGeom prst="rect">
            <a:avLst/>
          </a:prstGeom>
          <a:noFill/>
        </p:spPr>
        <p:txBody>
          <a:bodyPr wrap="square" rtlCol="0">
            <a:norm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岗位</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职责</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定密职责是</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额外</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岗位</a:t>
            </a:r>
            <a:r>
              <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津贴</a:t>
            </a:r>
            <a:endParaRPr lang="zh-CN" altLang="en-US" sz="1050"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67" name="文本框 61"/>
          <p:cNvSpPr txBox="1"/>
          <p:nvPr>
            <p:custDataLst>
              <p:tags r:id="rId24"/>
            </p:custDataLst>
          </p:nvPr>
        </p:nvSpPr>
        <p:spPr>
          <a:xfrm>
            <a:off x="6621463" y="3667937"/>
            <a:ext cx="1539240" cy="350520"/>
          </a:xfrm>
          <a:prstGeom prst="rect">
            <a:avLst/>
          </a:prstGeom>
          <a:noFill/>
        </p:spPr>
        <p:txBody>
          <a:bodyPr wrap="square" rtlCol="0">
            <a:normAutofit fontScale="40000"/>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r>
              <a:rPr lang="zh-CN" altLang="en-US" b="1" spc="300" dirty="0">
                <a:solidFill>
                  <a:srgbClr val="000000">
                    <a:lumMod val="75000"/>
                    <a:lumOff val="25000"/>
                  </a:srgbClr>
                </a:solidFill>
                <a:latin typeface="Arial" panose="020B0604020202020204" pitchFamily="34" charset="0"/>
                <a:ea typeface="微软雅黑" panose="020B0503020204020204" charset="-122"/>
              </a:rPr>
              <a:t>定密责任与权益</a:t>
            </a:r>
            <a:r>
              <a:rPr lang="zh-CN" altLang="en-US" b="1" spc="300" dirty="0">
                <a:solidFill>
                  <a:srgbClr val="000000">
                    <a:lumMod val="75000"/>
                    <a:lumOff val="25000"/>
                  </a:srgbClr>
                </a:solidFill>
                <a:latin typeface="Arial" panose="020B0604020202020204" pitchFamily="34" charset="0"/>
                <a:ea typeface="微软雅黑" panose="020B0503020204020204" charset="-122"/>
              </a:rPr>
              <a:t>保障</a:t>
            </a:r>
            <a:endParaRPr lang="zh-CN" altLang="en-US" b="1" spc="300" dirty="0">
              <a:solidFill>
                <a:srgbClr val="000000">
                  <a:lumMod val="75000"/>
                  <a:lumOff val="25000"/>
                </a:srgbClr>
              </a:solidFill>
              <a:latin typeface="Arial" panose="020B0604020202020204" pitchFamily="34" charset="0"/>
              <a:ea typeface="微软雅黑" panose="020B050302020402020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sz="4000">
                <a:sym typeface="+mn-ea"/>
              </a:rPr>
              <a:t>实施定密责任人制度需要处理的关系</a:t>
            </a:r>
            <a:endParaRPr lang="zh-CN" altLang="en-US" sz="4000">
              <a:sym typeface="+mn-ea"/>
            </a:endParaRPr>
          </a:p>
        </p:txBody>
      </p:sp>
      <p:sp>
        <p:nvSpPr>
          <p:cNvPr id="30" name="矩形: 圆角 29"/>
          <p:cNvSpPr/>
          <p:nvPr>
            <p:custDataLst>
              <p:tags r:id="rId1"/>
            </p:custDataLst>
          </p:nvPr>
        </p:nvSpPr>
        <p:spPr>
          <a:xfrm>
            <a:off x="5153" y="2379986"/>
            <a:ext cx="4417972" cy="1697952"/>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厘清指定性质</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厘清定密效力</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厘清权限范围</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厘清权利关系</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marL="0" algn="just" rtl="0" eaLnBrk="1" latinLnBrk="0" hangingPunct="1">
              <a:lnSpc>
                <a:spcPct val="150000"/>
              </a:lnSpc>
              <a:spcBef>
                <a:spcPts val="0"/>
              </a:spcBef>
              <a:spcAft>
                <a:spcPts val="0"/>
              </a:spcAft>
            </a:pPr>
            <a:endParaRPr lang="zh-CN" altLang="zh-CN" sz="1355" kern="1200" dirty="0">
              <a:ln>
                <a:noFill/>
              </a:ln>
              <a:solidFill>
                <a:schemeClr val="tx1">
                  <a:lumMod val="85000"/>
                  <a:lumOff val="15000"/>
                </a:schemeClr>
              </a:solidFill>
              <a:effectLst/>
              <a:latin typeface="+mn-ea"/>
              <a:cs typeface="+mn-ea"/>
              <a:sym typeface="+mn-ea"/>
            </a:endParaRPr>
          </a:p>
        </p:txBody>
      </p:sp>
      <p:sp>
        <p:nvSpPr>
          <p:cNvPr id="15" name="标题"/>
          <p:cNvSpPr/>
          <p:nvPr>
            <p:custDataLst>
              <p:tags r:id="rId2"/>
            </p:custDataLst>
          </p:nvPr>
        </p:nvSpPr>
        <p:spPr>
          <a:xfrm>
            <a:off x="966945" y="2086613"/>
            <a:ext cx="2494357" cy="551147"/>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600" b="1" spc="300" dirty="0">
                <a:solidFill>
                  <a:srgbClr val="000000">
                    <a:lumMod val="75000"/>
                    <a:lumOff val="25000"/>
                  </a:srgbClr>
                </a:solidFill>
                <a:latin typeface="Arial" panose="020B0604020202020204" pitchFamily="34" charset="0"/>
                <a:ea typeface="微软雅黑" panose="020B0503020204020204" charset="-122"/>
                <a:sym typeface="+mn-ea"/>
              </a:rPr>
              <a:t>法定责任人与指定责任人</a:t>
            </a:r>
            <a:endParaRPr lang="zh-CN" altLang="en-US" sz="1600" b="1">
              <a:solidFill>
                <a:srgbClr val="FFFFFF"/>
              </a:solidFill>
              <a:uFillTx/>
              <a:latin typeface="+mn-ea"/>
              <a:cs typeface="+mn-ea"/>
              <a:sym typeface="+mn-ea"/>
            </a:endParaRPr>
          </a:p>
        </p:txBody>
      </p:sp>
      <p:sp>
        <p:nvSpPr>
          <p:cNvPr id="33" name="矩形: 圆角 32"/>
          <p:cNvSpPr/>
          <p:nvPr>
            <p:custDataLst>
              <p:tags r:id="rId3"/>
            </p:custDataLst>
          </p:nvPr>
        </p:nvSpPr>
        <p:spPr>
          <a:xfrm>
            <a:off x="4721691" y="2379986"/>
            <a:ext cx="4417972" cy="1697952"/>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不是领导与被领导关系</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指定定密责任人既可以是其他负责人也可以是一般人员</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其他负责人具有监督权</a:t>
            </a:r>
            <a:endParaRPr lang="zh-CN" altLang="zh-CN" sz="1355" dirty="0">
              <a:ln>
                <a:noFill/>
              </a:ln>
              <a:solidFill>
                <a:schemeClr val="tx1">
                  <a:lumMod val="85000"/>
                  <a:lumOff val="15000"/>
                </a:schemeClr>
              </a:solidFill>
              <a:effectLst/>
              <a:latin typeface="+mn-ea"/>
              <a:cs typeface="+mn-ea"/>
              <a:sym typeface="+mn-ea"/>
            </a:endParaRPr>
          </a:p>
        </p:txBody>
      </p:sp>
      <p:sp>
        <p:nvSpPr>
          <p:cNvPr id="34" name="标题"/>
          <p:cNvSpPr/>
          <p:nvPr>
            <p:custDataLst>
              <p:tags r:id="rId4"/>
            </p:custDataLst>
          </p:nvPr>
        </p:nvSpPr>
        <p:spPr>
          <a:xfrm>
            <a:off x="5683482" y="2086613"/>
            <a:ext cx="2494357" cy="551147"/>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525" b="1" spc="300" dirty="0">
                <a:solidFill>
                  <a:srgbClr val="000000">
                    <a:lumMod val="75000"/>
                    <a:lumOff val="25000"/>
                  </a:srgbClr>
                </a:solidFill>
                <a:latin typeface="Arial" panose="020B0604020202020204" pitchFamily="34" charset="0"/>
                <a:ea typeface="微软雅黑" panose="020B0503020204020204" charset="-122"/>
                <a:sym typeface="+mn-ea"/>
              </a:rPr>
              <a:t>指定定密责任人与其他责任人</a:t>
            </a:r>
            <a:endParaRPr lang="zh-CN" altLang="en-US" sz="1525" b="1">
              <a:solidFill>
                <a:srgbClr val="FFFFFF"/>
              </a:solidFill>
              <a:uFillTx/>
              <a:latin typeface="+mn-ea"/>
              <a:cs typeface="+mn-ea"/>
              <a:sym typeface="+mn-ea"/>
            </a:endParaRPr>
          </a:p>
        </p:txBody>
      </p:sp>
      <p:sp>
        <p:nvSpPr>
          <p:cNvPr id="37" name="矩形: 圆角 36"/>
          <p:cNvSpPr/>
          <p:nvPr>
            <p:custDataLst>
              <p:tags r:id="rId5"/>
            </p:custDataLst>
          </p:nvPr>
        </p:nvSpPr>
        <p:spPr>
          <a:xfrm>
            <a:off x="5153" y="4563090"/>
            <a:ext cx="4417972" cy="1697952"/>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初始定密都是承办人</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变更、解除也需承办人</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定密责任人的审批、培训</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定密责任人启动定密纠错、责任追究程序</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lvl="0" algn="just">
              <a:lnSpc>
                <a:spcPct val="150000"/>
              </a:lnSpc>
              <a:spcBef>
                <a:spcPts val="0"/>
              </a:spcBef>
              <a:spcAft>
                <a:spcPts val="0"/>
              </a:spcAft>
              <a:buClrTx/>
              <a:buSzTx/>
              <a:buFontTx/>
            </a:pPr>
            <a:endParaRPr lang="zh-CN" altLang="zh-CN" sz="1355" dirty="0">
              <a:ln>
                <a:noFill/>
              </a:ln>
              <a:solidFill>
                <a:schemeClr val="tx1">
                  <a:lumMod val="85000"/>
                  <a:lumOff val="15000"/>
                </a:schemeClr>
              </a:solidFill>
              <a:effectLst/>
              <a:latin typeface="+mn-ea"/>
              <a:cs typeface="+mn-ea"/>
              <a:sym typeface="+mn-ea"/>
            </a:endParaRPr>
          </a:p>
        </p:txBody>
      </p:sp>
      <p:sp>
        <p:nvSpPr>
          <p:cNvPr id="38" name="标题"/>
          <p:cNvSpPr/>
          <p:nvPr>
            <p:custDataLst>
              <p:tags r:id="rId6"/>
            </p:custDataLst>
          </p:nvPr>
        </p:nvSpPr>
        <p:spPr>
          <a:xfrm>
            <a:off x="966945" y="4269180"/>
            <a:ext cx="2494357" cy="551147"/>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525" b="1" spc="300" dirty="0">
                <a:solidFill>
                  <a:srgbClr val="000000">
                    <a:lumMod val="75000"/>
                    <a:lumOff val="25000"/>
                  </a:srgbClr>
                </a:solidFill>
                <a:latin typeface="Arial" panose="020B0604020202020204" pitchFamily="34" charset="0"/>
                <a:ea typeface="微软雅黑" panose="020B0503020204020204" charset="-122"/>
                <a:sym typeface="+mn-ea"/>
              </a:rPr>
              <a:t>定密责任人与承办人</a:t>
            </a:r>
            <a:endParaRPr lang="zh-CN" altLang="en-US" sz="1525" b="1">
              <a:solidFill>
                <a:srgbClr val="FFFFFF"/>
              </a:solidFill>
              <a:uFillTx/>
              <a:latin typeface="+mn-ea"/>
              <a:cs typeface="+mn-ea"/>
              <a:sym typeface="+mn-ea"/>
            </a:endParaRPr>
          </a:p>
        </p:txBody>
      </p:sp>
      <p:sp>
        <p:nvSpPr>
          <p:cNvPr id="4" name="矩形: 圆角 2"/>
          <p:cNvSpPr/>
          <p:nvPr>
            <p:custDataLst>
              <p:tags r:id="rId7"/>
            </p:custDataLst>
          </p:nvPr>
        </p:nvSpPr>
        <p:spPr>
          <a:xfrm>
            <a:off x="4721691" y="4563090"/>
            <a:ext cx="4417972" cy="1697952"/>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不高于法定或授权权限</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不超过规定事项范围定密</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派生定密不受限制</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定密责任人不缺失</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lvl="0" algn="just">
              <a:lnSpc>
                <a:spcPct val="150000"/>
              </a:lnSpc>
              <a:spcBef>
                <a:spcPts val="0"/>
              </a:spcBef>
              <a:spcAft>
                <a:spcPts val="0"/>
              </a:spcAft>
              <a:buClrTx/>
              <a:buSzTx/>
              <a:buFontTx/>
            </a:pPr>
            <a:endParaRPr lang="zh-CN" altLang="zh-CN" sz="1355" dirty="0">
              <a:ln>
                <a:noFill/>
              </a:ln>
              <a:solidFill>
                <a:schemeClr val="tx1">
                  <a:lumMod val="85000"/>
                  <a:lumOff val="15000"/>
                </a:schemeClr>
              </a:solidFill>
              <a:effectLst/>
              <a:latin typeface="+mn-ea"/>
              <a:cs typeface="+mn-ea"/>
              <a:sym typeface="+mn-ea"/>
            </a:endParaRPr>
          </a:p>
        </p:txBody>
      </p:sp>
      <p:sp>
        <p:nvSpPr>
          <p:cNvPr id="5" name="标题"/>
          <p:cNvSpPr/>
          <p:nvPr>
            <p:custDataLst>
              <p:tags r:id="rId8"/>
            </p:custDataLst>
          </p:nvPr>
        </p:nvSpPr>
        <p:spPr>
          <a:xfrm>
            <a:off x="5683482" y="4269180"/>
            <a:ext cx="2494357" cy="551147"/>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525" b="1" spc="300" dirty="0">
                <a:solidFill>
                  <a:srgbClr val="000000">
                    <a:lumMod val="75000"/>
                    <a:lumOff val="25000"/>
                  </a:srgbClr>
                </a:solidFill>
                <a:latin typeface="Arial" panose="020B0604020202020204" pitchFamily="34" charset="0"/>
                <a:ea typeface="微软雅黑" panose="020B0503020204020204" charset="-122"/>
                <a:sym typeface="+mn-ea"/>
              </a:rPr>
              <a:t>定密责任人与定密权限</a:t>
            </a:r>
            <a:endParaRPr lang="zh-CN" altLang="en-US" sz="1525" b="1">
              <a:solidFill>
                <a:srgbClr val="FFFFFF"/>
              </a:solidFill>
              <a:uFillTx/>
              <a:latin typeface="+mn-ea"/>
              <a:cs typeface="+mn-ea"/>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0" name="矩形: 圆角 29"/>
          <p:cNvSpPr/>
          <p:nvPr>
            <p:custDataLst>
              <p:tags r:id="rId1"/>
            </p:custDataLst>
          </p:nvPr>
        </p:nvSpPr>
        <p:spPr>
          <a:xfrm>
            <a:off x="5153" y="2379986"/>
            <a:ext cx="4417972" cy="1697952"/>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不是简单的领导与被领导，管理与被管理</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定密责任人独立履行定密权</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保密机构主要是定密制度、定密责任人选定培训、监督</a:t>
            </a:r>
            <a:endParaRPr lang="zh-CN" altLang="zh-CN" sz="1355" kern="1200" dirty="0">
              <a:ln>
                <a:noFill/>
              </a:ln>
              <a:solidFill>
                <a:schemeClr val="tx1">
                  <a:lumMod val="85000"/>
                  <a:lumOff val="15000"/>
                </a:schemeClr>
              </a:solidFill>
              <a:effectLst/>
              <a:latin typeface="+mn-ea"/>
              <a:cs typeface="+mn-ea"/>
              <a:sym typeface="+mn-ea"/>
            </a:endParaRPr>
          </a:p>
        </p:txBody>
      </p:sp>
      <p:sp>
        <p:nvSpPr>
          <p:cNvPr id="15" name="标题"/>
          <p:cNvSpPr/>
          <p:nvPr>
            <p:custDataLst>
              <p:tags r:id="rId2"/>
            </p:custDataLst>
          </p:nvPr>
        </p:nvSpPr>
        <p:spPr>
          <a:xfrm>
            <a:off x="966945" y="2086613"/>
            <a:ext cx="2494357" cy="551147"/>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525" b="1" spc="300" dirty="0">
                <a:solidFill>
                  <a:srgbClr val="000000">
                    <a:lumMod val="75000"/>
                    <a:lumOff val="25000"/>
                  </a:srgbClr>
                </a:solidFill>
                <a:latin typeface="Arial" panose="020B0604020202020204" pitchFamily="34" charset="0"/>
                <a:ea typeface="微软雅黑" panose="020B0503020204020204" charset="-122"/>
                <a:sym typeface="+mn-ea"/>
              </a:rPr>
              <a:t>保密机构与定密责任人</a:t>
            </a:r>
            <a:endParaRPr lang="zh-CN" altLang="en-US" sz="1525" b="1">
              <a:solidFill>
                <a:srgbClr val="FFFFFF"/>
              </a:solidFill>
              <a:uFillTx/>
              <a:latin typeface="+mn-ea"/>
              <a:cs typeface="+mn-ea"/>
              <a:sym typeface="+mn-ea"/>
            </a:endParaRPr>
          </a:p>
        </p:txBody>
      </p:sp>
      <p:sp>
        <p:nvSpPr>
          <p:cNvPr id="33" name="矩形: 圆角 32"/>
          <p:cNvSpPr/>
          <p:nvPr>
            <p:custDataLst>
              <p:tags r:id="rId3"/>
            </p:custDataLst>
          </p:nvPr>
        </p:nvSpPr>
        <p:spPr>
          <a:xfrm>
            <a:off x="4721691" y="2379986"/>
            <a:ext cx="4417972" cy="1697952"/>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保密干部支持定密责任人</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定密责任人接受保密干部管理和监督</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保密干部不适合做定密责任人</a:t>
            </a:r>
            <a:endParaRPr lang="zh-CN" altLang="zh-CN" sz="1355" dirty="0">
              <a:ln>
                <a:noFill/>
              </a:ln>
              <a:solidFill>
                <a:schemeClr val="tx1">
                  <a:lumMod val="85000"/>
                  <a:lumOff val="15000"/>
                </a:schemeClr>
              </a:solidFill>
              <a:effectLst/>
              <a:latin typeface="+mn-ea"/>
              <a:cs typeface="+mn-ea"/>
              <a:sym typeface="+mn-ea"/>
            </a:endParaRPr>
          </a:p>
        </p:txBody>
      </p:sp>
      <p:sp>
        <p:nvSpPr>
          <p:cNvPr id="34" name="标题"/>
          <p:cNvSpPr/>
          <p:nvPr>
            <p:custDataLst>
              <p:tags r:id="rId4"/>
            </p:custDataLst>
          </p:nvPr>
        </p:nvSpPr>
        <p:spPr>
          <a:xfrm>
            <a:off x="5683482" y="2086613"/>
            <a:ext cx="2494357" cy="551147"/>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525" b="1" spc="300" dirty="0">
                <a:solidFill>
                  <a:srgbClr val="000000">
                    <a:lumMod val="75000"/>
                    <a:lumOff val="25000"/>
                  </a:srgbClr>
                </a:solidFill>
                <a:latin typeface="Arial" panose="020B0604020202020204" pitchFamily="34" charset="0"/>
                <a:ea typeface="微软雅黑" panose="020B0503020204020204" charset="-122"/>
                <a:sym typeface="+mn-ea"/>
              </a:rPr>
              <a:t>保密干部与定密责任人</a:t>
            </a:r>
            <a:endParaRPr lang="zh-CN" altLang="en-US" sz="1525" b="1">
              <a:solidFill>
                <a:srgbClr val="FFFFFF"/>
              </a:solidFill>
              <a:uFillTx/>
              <a:latin typeface="+mn-ea"/>
              <a:cs typeface="+mn-ea"/>
              <a:sym typeface="+mn-ea"/>
            </a:endParaRPr>
          </a:p>
        </p:txBody>
      </p:sp>
      <p:sp>
        <p:nvSpPr>
          <p:cNvPr id="37" name="矩形: 圆角 36"/>
          <p:cNvSpPr/>
          <p:nvPr>
            <p:custDataLst>
              <p:tags r:id="rId5"/>
            </p:custDataLst>
          </p:nvPr>
        </p:nvSpPr>
        <p:spPr>
          <a:xfrm>
            <a:off x="5153" y="4563090"/>
            <a:ext cx="4417972" cy="1697952"/>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定密职责与岗位职责契合</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契合点是涉密业务</a:t>
            </a:r>
            <a:endParaRPr lang="zh-CN" altLang="zh-CN" sz="1355" dirty="0">
              <a:ln>
                <a:noFill/>
              </a:ln>
              <a:solidFill>
                <a:schemeClr val="tx1">
                  <a:lumMod val="85000"/>
                  <a:lumOff val="15000"/>
                </a:schemeClr>
              </a:solidFill>
              <a:effectLst/>
              <a:latin typeface="+mn-ea"/>
              <a:cs typeface="+mn-ea"/>
              <a:sym typeface="+mn-ea"/>
            </a:endParaRPr>
          </a:p>
        </p:txBody>
      </p:sp>
      <p:sp>
        <p:nvSpPr>
          <p:cNvPr id="38" name="标题"/>
          <p:cNvSpPr/>
          <p:nvPr>
            <p:custDataLst>
              <p:tags r:id="rId6"/>
            </p:custDataLst>
          </p:nvPr>
        </p:nvSpPr>
        <p:spPr>
          <a:xfrm>
            <a:off x="966945" y="4269180"/>
            <a:ext cx="2494357" cy="551147"/>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525" b="1" spc="300" dirty="0">
                <a:solidFill>
                  <a:srgbClr val="000000">
                    <a:lumMod val="75000"/>
                    <a:lumOff val="25000"/>
                  </a:srgbClr>
                </a:solidFill>
                <a:latin typeface="Arial" panose="020B0604020202020204" pitchFamily="34" charset="0"/>
                <a:ea typeface="微软雅黑" panose="020B0503020204020204" charset="-122"/>
                <a:sym typeface="+mn-ea"/>
              </a:rPr>
              <a:t>定密职责与岗位职责</a:t>
            </a:r>
            <a:endParaRPr lang="zh-CN" altLang="en-US" sz="1525" b="1">
              <a:solidFill>
                <a:srgbClr val="FFFFFF"/>
              </a:solidFill>
              <a:uFillTx/>
              <a:latin typeface="+mn-ea"/>
              <a:cs typeface="+mn-ea"/>
              <a:sym typeface="+mn-ea"/>
            </a:endParaRPr>
          </a:p>
        </p:txBody>
      </p:sp>
      <p:sp>
        <p:nvSpPr>
          <p:cNvPr id="4" name="矩形: 圆角 2"/>
          <p:cNvSpPr/>
          <p:nvPr>
            <p:custDataLst>
              <p:tags r:id="rId7"/>
            </p:custDataLst>
          </p:nvPr>
        </p:nvSpPr>
        <p:spPr>
          <a:xfrm>
            <a:off x="4721691" y="4563090"/>
            <a:ext cx="4417972" cy="1697952"/>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11194" tIns="365373" rIns="411192" bIns="182686" numCol="1" spcCol="0" rtlCol="0" fromWordArt="0" anchor="ctr" anchorCtr="0" forceAA="0" compatLnSpc="1">
            <a:noAutofit/>
          </a:bodyPr>
          <a:lstStyle/>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岗位职责</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定密职责是额外</a:t>
            </a:r>
            <a:endPar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a:p>
            <a:pPr algn="ctr">
              <a:lnSpc>
                <a:spcPct val="130000"/>
              </a:lnSpc>
            </a:pPr>
            <a:r>
              <a:rPr lang="zh-CN" altLang="en-US" sz="1355" kern="0" spc="150" dirty="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岗位津贴</a:t>
            </a:r>
            <a:endParaRPr lang="zh-CN" altLang="zh-CN" sz="1355" dirty="0">
              <a:ln>
                <a:noFill/>
              </a:ln>
              <a:solidFill>
                <a:schemeClr val="tx1">
                  <a:lumMod val="85000"/>
                  <a:lumOff val="15000"/>
                </a:schemeClr>
              </a:solidFill>
              <a:effectLst/>
              <a:latin typeface="+mn-ea"/>
              <a:cs typeface="+mn-ea"/>
              <a:sym typeface="+mn-ea"/>
            </a:endParaRPr>
          </a:p>
        </p:txBody>
      </p:sp>
      <p:sp>
        <p:nvSpPr>
          <p:cNvPr id="5" name="标题"/>
          <p:cNvSpPr/>
          <p:nvPr>
            <p:custDataLst>
              <p:tags r:id="rId8"/>
            </p:custDataLst>
          </p:nvPr>
        </p:nvSpPr>
        <p:spPr>
          <a:xfrm>
            <a:off x="5683482" y="4269180"/>
            <a:ext cx="2494357" cy="551147"/>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525" b="1" spc="300" dirty="0">
                <a:solidFill>
                  <a:srgbClr val="000000">
                    <a:lumMod val="75000"/>
                    <a:lumOff val="25000"/>
                  </a:srgbClr>
                </a:solidFill>
                <a:latin typeface="Arial" panose="020B0604020202020204" pitchFamily="34" charset="0"/>
                <a:ea typeface="微软雅黑" panose="020B0503020204020204" charset="-122"/>
                <a:sym typeface="+mn-ea"/>
              </a:rPr>
              <a:t>定密责任与权益保障</a:t>
            </a:r>
            <a:endParaRPr lang="zh-CN" altLang="en-US" sz="1525" b="1">
              <a:solidFill>
                <a:srgbClr val="FFFFFF"/>
              </a:solidFill>
              <a:uFillTx/>
              <a:latin typeface="+mn-ea"/>
              <a:cs typeface="+mn-ea"/>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9276_7*l_h_i*1_1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2.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9276_7*l_h_f*1_1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3.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9276_7*l_h_a*1_1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9276_7*l_h_i*1_2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5.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9276_7*l_h_f*1_2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6.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19276_7*l_h_a*1_2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9276_7*l_h_i*1_3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8.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9276_7*l_h_f*1_3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9.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19276_7*l_h_a*1_3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19276_7*l_h_i*1_4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11.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19276_7*l_h_f*1_4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12.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19276_7*l_h_a*1_4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19276_7*l_h_i*1_5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14.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19276_7*l_h_f*1_5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15.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19276_7*l_h_a*1_5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219276_7*l_h_i*1_6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17.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19276_7*l_h_f*1_6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18.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6_1"/>
  <p:tag name="KSO_WM_UNIT_ID" val="diagram20219276_7*l_h_a*1_6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7_1"/>
  <p:tag name="KSO_WM_UNIT_ID" val="diagram20219276_7*l_h_i*1_7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20.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7_1"/>
  <p:tag name="KSO_WM_UNIT_ID" val="diagram20219276_7*l_h_f*1_7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21.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7_1"/>
  <p:tag name="KSO_WM_UNIT_ID" val="diagram20219276_7*l_h_a*1_7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8_1"/>
  <p:tag name="KSO_WM_UNIT_ID" val="diagram20219276_7*l_h_i*1_8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
  <p:tag name="KSO_WM_UNIT_TEXT_FILL_FORE_SCHEMECOLOR_INDEX" val="13"/>
  <p:tag name="KSO_WM_UNIT_TEXT_FILL_TYPE" val="1"/>
  <p:tag name="KSO_WM_UNIT_VALUE" val="2"/>
  <p:tag name="KSO_WM_DIAGRAM_VIRTUALLY_FRAME" val="{&quot;height&quot;:261.50826771653544,&quot;left&quot;:74.5,&quot;top&quot;:138.23062992125983,&quot;width&quot;:568.0750393700788}"/>
</p:tagLst>
</file>

<file path=ppt/tags/tag23.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8_1"/>
  <p:tag name="KSO_WM_UNIT_ID" val="diagram20219276_7*l_h_f*1_8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72"/>
  <p:tag name="KSO_WM_DIAGRAM_VIRTUALLY_FRAME" val="{&quot;height&quot;:261.50826771653544,&quot;left&quot;:74.5,&quot;top&quot;:138.23062992125983,&quot;width&quot;:568.0750393700788}"/>
</p:tagLst>
</file>

<file path=ppt/tags/tag24.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8_1"/>
  <p:tag name="KSO_WM_UNIT_ID" val="diagram20219276_7*l_h_a*1_8_1"/>
  <p:tag name="KSO_WM_TEMPLATE_CATEGORY" val="diagram"/>
  <p:tag name="KSO_WM_TEMPLATE_INDEX" val="20219276"/>
  <p:tag name="KSO_WM_UNIT_LAYERLEVEL" val="1_1_1"/>
  <p:tag name="KSO_WM_TAG_VERSION" val="1.0"/>
  <p:tag name="KSO_WM_BEAUTIFY_FLAG" val="#wm#"/>
  <p:tag name="KSO_WM_CHIP_GROUPID" val="60b9e7d565103b6cf1b2863b"/>
  <p:tag name="KSO_WM_CHIP_XID" val="60b9e7d565103b6cf1b2863c"/>
  <p:tag name="KSO_WM_ASSEMBLE_CHIP_INDEX" val="62b29b7fbf05441fae3907c8dff8d4a6"/>
  <p:tag name="KSO_WM_UNIT_TEXT_FILL_FORE_SCHEMECOLOR_INDEX_BRIGHTNESS" val="0.25"/>
  <p:tag name="KSO_WM_UNIT_TEXT_FILL_FORE_SCHEMECOLOR_INDEX" val="13"/>
  <p:tag name="KSO_WM_UNIT_TEXT_FILL_TYPE" val="1"/>
  <p:tag name="KSO_WM_UNIT_VALUE" val="8"/>
  <p:tag name="KSO_WM_DIAGRAM_VIRTUALLY_FRAME" val="{&quot;height&quot;:261.50826771653544,&quot;left&quot;:74.5,&quot;top&quot;:138.23062992125983,&quot;width&quot;:568.0750393700788}"/>
</p:tagLst>
</file>

<file path=ppt/tags/tag25.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1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1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3*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7.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2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2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3*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29.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3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3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1_3*l_h_a*1_3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1.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4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4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51_3*l_h_a*1_4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33.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1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1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3*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5.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2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2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3*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37.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3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3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1_3*l_h_a*1_3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9.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4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4_1"/>
  <p:tag name="KSO_WM_TEMPLATE_INDEX" val="20231751"/>
  <p:tag name="KSO_WM_TAG_VERSION" val="3.0"/>
  <p:tag name="KSO_WM_DIAGRAM_VERSION" val="3"/>
  <p:tag name="KSO_WM_DIAGRAM_COLOR_TEXT_CAN_REMOVE" val="n"/>
  <p:tag name="KSO_WM_DIAGRAM_MAX_ITEMCNT" val="6"/>
  <p:tag name="KSO_WM_DIAGRAM_VIRTUALLY_FRAME" val="{&quot;height&quot;:328.7283881474374,&quot;left&quot;:0,&quot;top&quot;:164.28580592628128,&quot;width&quot;:720}"/>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51_3*l_h_a*1_4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8.7283881474374,&quot;left&quot;:0,&quot;top&quot;:164.28580592628128,&quot;width&quot;:720}"/>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41.xml><?xml version="1.0" encoding="utf-8"?>
<p:tagLst xmlns:p="http://schemas.openxmlformats.org/presentationml/2006/main">
  <p:tag name="resource_record_key" val="{&quot;70&quot;:[3314336,3327011,3321638]}"/>
</p:tagLst>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17803</Words>
  <Application>WPS 演示</Application>
  <PresentationFormat>全屏显示(4:3)</PresentationFormat>
  <Paragraphs>675</Paragraphs>
  <Slides>94</Slides>
  <Notes>11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94</vt:i4>
      </vt:variant>
    </vt:vector>
  </HeadingPairs>
  <TitlesOfParts>
    <vt:vector size="110" baseType="lpstr">
      <vt:lpstr>Arial</vt:lpstr>
      <vt:lpstr>宋体</vt:lpstr>
      <vt:lpstr>Wingdings</vt:lpstr>
      <vt:lpstr>Wingdings 2</vt:lpstr>
      <vt:lpstr>Arial</vt:lpstr>
      <vt:lpstr>Maiandra GD</vt:lpstr>
      <vt:lpstr>隶书</vt:lpstr>
      <vt:lpstr>华文楷体</vt:lpstr>
      <vt:lpstr>Cambria</vt:lpstr>
      <vt:lpstr>微软雅黑</vt:lpstr>
      <vt:lpstr>Arial Unicode MS</vt:lpstr>
      <vt:lpstr>Calibri</vt:lpstr>
      <vt:lpstr>方正大黑_GBK</vt:lpstr>
      <vt:lpstr>黑体</vt:lpstr>
      <vt:lpstr>方正兰亭大黑_GBK</vt:lpstr>
      <vt:lpstr>龙腾四海</vt:lpstr>
      <vt:lpstr>PowerPoint 演示文稿</vt:lpstr>
      <vt:lpstr>第一章 定密责任人</vt:lpstr>
      <vt:lpstr>一、法律法规中的定密责任人规定</vt:lpstr>
      <vt:lpstr>（一）《保密法》</vt:lpstr>
      <vt:lpstr>《保密法》释义</vt:lpstr>
      <vt:lpstr>PowerPoint 演示文稿</vt:lpstr>
      <vt:lpstr>PowerPoint 演示文稿</vt:lpstr>
      <vt:lpstr>定密责任人管理</vt:lpstr>
      <vt:lpstr>定密责任人职责</vt:lpstr>
      <vt:lpstr>定密工作程序</vt:lpstr>
      <vt:lpstr>（二）《保密法实施条例》</vt:lpstr>
      <vt:lpstr>《保密法实施条例》释义</vt:lpstr>
      <vt:lpstr>指代定密责任人的来源</vt:lpstr>
      <vt:lpstr>定密责任人的权限</vt:lpstr>
      <vt:lpstr>定密责任人的确定程序</vt:lpstr>
      <vt:lpstr>定密责任人及承办人履职条件</vt:lpstr>
      <vt:lpstr>《保密法实施条例》之二</vt:lpstr>
      <vt:lpstr>PowerPoint 演示文稿</vt:lpstr>
      <vt:lpstr>第一项，对承办人拟定的国家秘密的密级、保密期限和知悉范围进行审核批准。</vt:lpstr>
      <vt:lpstr>第二项，对尚在保密期限内的国家秘密进行审核，作出是否变更或者解除的决定。</vt:lpstr>
      <vt:lpstr>第三项，参与制定修订本机关、本单位国家秘密事项一览表。</vt:lpstr>
      <vt:lpstr>第四项，对是否属于国家秘密和属于何种密级不明确的事项先行拟定密级、保密期限和知悉范围，采取保密措施，并按照规定的程序，及时报请相应的保密行政管理部门确定。</vt:lpstr>
      <vt:lpstr>定密责任人其他职责</vt:lpstr>
      <vt:lpstr>（三）国家秘密定密管理规定</vt:lpstr>
      <vt:lpstr>PowerPoint 演示文稿</vt:lpstr>
      <vt:lpstr>PowerPoint 演示文稿</vt:lpstr>
      <vt:lpstr>二、定密责任人的类型</vt:lpstr>
      <vt:lpstr>PowerPoint 演示文稿</vt:lpstr>
      <vt:lpstr>PowerPoint 演示文稿</vt:lpstr>
      <vt:lpstr>PowerPoint 演示文稿</vt:lpstr>
      <vt:lpstr>（三）两者之间的关系</vt:lpstr>
      <vt:lpstr>强化的表现</vt:lpstr>
      <vt:lpstr>承办人</vt:lpstr>
      <vt:lpstr>定密责任人 VS 承办人</vt:lpstr>
      <vt:lpstr>三、定密责任人的职责 提法（一）</vt:lpstr>
      <vt:lpstr>提法（二）</vt:lpstr>
      <vt:lpstr>提法（三）</vt:lpstr>
      <vt:lpstr>PowerPoint 演示文稿</vt:lpstr>
      <vt:lpstr>提法（四）</vt:lpstr>
      <vt:lpstr>PowerPoint 演示文稿</vt:lpstr>
      <vt:lpstr>提法（五）</vt:lpstr>
      <vt:lpstr>准确理解这一规定，要从以下三个方面进行把握：</vt:lpstr>
      <vt:lpstr>承担与定密工作相关的其他工作任务，主要是：</vt:lpstr>
      <vt:lpstr>四、定密责任人的确定程序</vt:lpstr>
      <vt:lpstr>（一）定密责任人的指定</vt:lpstr>
      <vt:lpstr>2.指定定密责任人的条件</vt:lpstr>
      <vt:lpstr>3.指定定密责任人的数量</vt:lpstr>
      <vt:lpstr>4.指定定密责任人的程序</vt:lpstr>
      <vt:lpstr>PowerPoint 演示文稿</vt:lpstr>
      <vt:lpstr>定密责任人的公布和备案 </vt:lpstr>
      <vt:lpstr>五、定密责任人的定密效力</vt:lpstr>
      <vt:lpstr>六、定密责任人的角色</vt:lpstr>
      <vt:lpstr>信息审定者</vt:lpstr>
      <vt:lpstr>输出审定者</vt:lpstr>
      <vt:lpstr>正式文件审定者</vt:lpstr>
      <vt:lpstr>载体审定者</vt:lpstr>
      <vt:lpstr>定密责任人VS涉密人员</vt:lpstr>
      <vt:lpstr>内涵分析</vt:lpstr>
      <vt:lpstr>PowerPoint 演示文稿</vt:lpstr>
      <vt:lpstr>政策分析</vt:lpstr>
      <vt:lpstr>PowerPoint 演示文稿</vt:lpstr>
      <vt:lpstr>人员管理</vt:lpstr>
      <vt:lpstr>PowerPoint 演示文稿</vt:lpstr>
      <vt:lpstr>七、定密责任人的管理</vt:lpstr>
      <vt:lpstr>PowerPoint 演示文稿</vt:lpstr>
      <vt:lpstr>二、我国的定密责任人制度</vt:lpstr>
      <vt:lpstr>PowerPoint 演示文稿</vt:lpstr>
      <vt:lpstr>PowerPoint 演示文稿</vt:lpstr>
      <vt:lpstr>理解和执行定密责任人制度的要点</vt:lpstr>
      <vt:lpstr>选定责任人</vt:lpstr>
      <vt:lpstr>培训</vt:lpstr>
      <vt:lpstr>加强监督管理</vt:lpstr>
      <vt:lpstr>定密责任人制度常见误区及辨析</vt:lpstr>
      <vt:lpstr>PowerPoint 演示文稿</vt:lpstr>
      <vt:lpstr>误区2：定密责任人定密权限不做区分</vt:lpstr>
      <vt:lpstr>PowerPoint 演示文稿</vt:lpstr>
      <vt:lpstr>误区3:定密责任人数量、范围没有限制</vt:lpstr>
      <vt:lpstr>PowerPoint 演示文稿</vt:lpstr>
      <vt:lpstr>误区4:定密责任人名单不需要在内部公布</vt:lpstr>
      <vt:lpstr>PowerPoint 演示文稿</vt:lpstr>
      <vt:lpstr>误区5：定密责任人和承办人没有必要接受定密培训</vt:lpstr>
      <vt:lpstr>PowerPoint 演示文稿</vt:lpstr>
      <vt:lpstr>第三章  定密责任人相关问题解答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实施定密责任人制度需要处理的关系</vt:lpstr>
      <vt:lpstr>实施定密责任人制度需要处理的关系</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第三讲 </dc:title>
  <dc:creator>lenovo</dc:creator>
  <cp:lastModifiedBy>王泰然</cp:lastModifiedBy>
  <cp:revision>77</cp:revision>
  <dcterms:created xsi:type="dcterms:W3CDTF">2026-05-07T23:33:00Z</dcterms:created>
  <dcterms:modified xsi:type="dcterms:W3CDTF">2026-06-26T12:49:26Z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B2C99B1D41474068760FEA69E941D6F0_43</vt:lpwstr>
  </property>
  <property fmtid="{D5CDD505-2E9C-101B-9397-08002B2CF9AE}" pid="3" name="KSOProductBuildVer">
    <vt:lpwstr>2052-12.1.0.26375</vt:lpwstr>
  </property>
</Properties>
</file>