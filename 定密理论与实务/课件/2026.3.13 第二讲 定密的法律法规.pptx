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318" r:id="rId3"/>
    <p:sldId id="319" r:id="rId4"/>
    <p:sldId id="320" r:id="rId5"/>
    <p:sldId id="321" r:id="rId6"/>
    <p:sldId id="322" r:id="rId7"/>
    <p:sldId id="323" r:id="rId8"/>
    <p:sldId id="324" r:id="rId9"/>
    <p:sldId id="346" r:id="rId10"/>
    <p:sldId id="347" r:id="rId11"/>
    <p:sldId id="348" r:id="rId12"/>
    <p:sldId id="349" r:id="rId13"/>
    <p:sldId id="350" r:id="rId14"/>
    <p:sldId id="351" r:id="rId15"/>
    <p:sldId id="385" r:id="rId16"/>
    <p:sldId id="386" r:id="rId17"/>
    <p:sldId id="387" r:id="rId18"/>
    <p:sldId id="388" r:id="rId19"/>
    <p:sldId id="389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74" r:id="rId28"/>
    <p:sldId id="382" r:id="rId29"/>
    <p:sldId id="383" r:id="rId30"/>
    <p:sldId id="384" r:id="rId31"/>
    <p:sldId id="390" r:id="rId32"/>
    <p:sldId id="391" r:id="rId33"/>
    <p:sldId id="352" r:id="rId34"/>
    <p:sldId id="302" r:id="rId36"/>
    <p:sldId id="360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25" r:id="rId47"/>
    <p:sldId id="304" r:id="rId48"/>
    <p:sldId id="305" r:id="rId49"/>
    <p:sldId id="353" r:id="rId50"/>
    <p:sldId id="355" r:id="rId51"/>
    <p:sldId id="357" r:id="rId52"/>
    <p:sldId id="327" r:id="rId53"/>
    <p:sldId id="331" r:id="rId54"/>
    <p:sldId id="297" r:id="rId55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2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2630"/>
    <a:srgbClr val="9916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55"/>
    <p:restoredTop sz="83621"/>
  </p:normalViewPr>
  <p:slideViewPr>
    <p:cSldViewPr showGuides="1">
      <p:cViewPr>
        <p:scale>
          <a:sx n="100" d="100"/>
          <a:sy n="100" d="100"/>
        </p:scale>
        <p:origin x="928" y="56"/>
      </p:cViewPr>
      <p:guideLst>
        <p:guide orient="horz" pos="2104"/>
        <p:guide pos="28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gs" Target="tags/tag2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A596CE-3444-2444-AAF3-1D6369FE22E5}" type="doc">
      <dgm:prSet loTypeId="urn:microsoft.com/office/officeart/2008/layout/VerticalAccent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BEA6C7B-2984-7B40-8E9A-3AACC1CC81CC}">
      <dgm:prSet phldrT="[文本]"/>
      <dgm:spPr/>
      <dgm:t>
        <a:bodyPr/>
        <a:lstStyle/>
        <a:p>
          <a:r>
            <a:rPr lang="zh-CN" altLang="en-US" dirty="0" smtClean="0"/>
            <a:t>保密要点</a:t>
          </a:r>
          <a:endParaRPr lang="zh-CN" altLang="en-US" dirty="0"/>
        </a:p>
      </dgm:t>
    </dgm:pt>
    <dgm:pt modelId="{E729A856-CB3F-F544-B8C6-F56DF27966E9}" cxnId="{97B775BA-8E68-644A-8897-6721B2484342}" type="parTrans">
      <dgm:prSet/>
      <dgm:spPr/>
      <dgm:t>
        <a:bodyPr/>
        <a:lstStyle/>
        <a:p>
          <a:endParaRPr lang="zh-CN" altLang="en-US"/>
        </a:p>
      </dgm:t>
    </dgm:pt>
    <dgm:pt modelId="{29B912ED-8C42-BD45-97FA-B69DC75784FA}" cxnId="{97B775BA-8E68-644A-8897-6721B2484342}" type="sibTrans">
      <dgm:prSet/>
      <dgm:spPr/>
      <dgm:t>
        <a:bodyPr/>
        <a:lstStyle/>
        <a:p>
          <a:endParaRPr lang="zh-CN" altLang="en-US"/>
        </a:p>
      </dgm:t>
    </dgm:pt>
    <dgm:pt modelId="{83A76C3C-2059-4442-BB0B-FCA4106D4597}">
      <dgm:prSet phldrT="[文本]"/>
      <dgm:spPr/>
      <dgm:t>
        <a:bodyPr/>
        <a:lstStyle/>
        <a:p>
          <a:r>
            <a:rPr lang="zh-CN" altLang="en-US" dirty="0" smtClean="0"/>
            <a:t>科学技术保密规定</a:t>
          </a:r>
          <a:endParaRPr lang="zh-CN" altLang="en-US" dirty="0"/>
        </a:p>
      </dgm:t>
    </dgm:pt>
    <dgm:pt modelId="{0FAB3431-0783-FF40-9900-57F4F0A7D5D7}" cxnId="{ECA63A6C-0F6C-2D44-AC9B-8B2121F930F2}" type="parTrans">
      <dgm:prSet/>
      <dgm:spPr/>
      <dgm:t>
        <a:bodyPr/>
        <a:lstStyle/>
        <a:p>
          <a:endParaRPr lang="zh-CN" altLang="en-US"/>
        </a:p>
      </dgm:t>
    </dgm:pt>
    <dgm:pt modelId="{06707E4B-490C-7547-82EC-CABF0FE5EAAB}" cxnId="{ECA63A6C-0F6C-2D44-AC9B-8B2121F930F2}" type="sibTrans">
      <dgm:prSet/>
      <dgm:spPr/>
      <dgm:t>
        <a:bodyPr/>
        <a:lstStyle/>
        <a:p>
          <a:endParaRPr lang="zh-CN" altLang="en-US"/>
        </a:p>
      </dgm:t>
    </dgm:pt>
    <dgm:pt modelId="{A7F33729-0E7A-4049-A26D-1B9ED4D63AB2}">
      <dgm:prSet phldrT="[文本]"/>
      <dgm:spPr/>
      <dgm:t>
        <a:bodyPr/>
        <a:lstStyle/>
        <a:p>
          <a:r>
            <a:rPr lang="zh-CN" altLang="en-US" dirty="0" smtClean="0"/>
            <a:t>警务秘密</a:t>
          </a:r>
          <a:endParaRPr lang="zh-CN" altLang="en-US" dirty="0"/>
        </a:p>
      </dgm:t>
    </dgm:pt>
    <dgm:pt modelId="{B59360D8-D857-E747-956B-96F0B6CCC27F}" cxnId="{4F6DE687-AAC1-0946-AF75-8D732E11C461}" type="parTrans">
      <dgm:prSet/>
      <dgm:spPr/>
      <dgm:t>
        <a:bodyPr/>
        <a:lstStyle/>
        <a:p>
          <a:endParaRPr lang="zh-CN" altLang="en-US"/>
        </a:p>
      </dgm:t>
    </dgm:pt>
    <dgm:pt modelId="{F5F17F14-275C-664C-BFCC-E30348434144}" cxnId="{4F6DE687-AAC1-0946-AF75-8D732E11C461}" type="sibTrans">
      <dgm:prSet/>
      <dgm:spPr/>
      <dgm:t>
        <a:bodyPr/>
        <a:lstStyle/>
        <a:p>
          <a:endParaRPr lang="zh-CN" altLang="en-US"/>
        </a:p>
      </dgm:t>
    </dgm:pt>
    <dgm:pt modelId="{CC182095-07C8-A845-A53F-4FAE8E15DC51}">
      <dgm:prSet phldrT="[文本]"/>
      <dgm:spPr/>
      <dgm:t>
        <a:bodyPr/>
        <a:lstStyle/>
        <a:p>
          <a:r>
            <a:rPr lang="zh-CN" altLang="en-US" dirty="0" smtClean="0"/>
            <a:t>公安机关定密管理暂行规定</a:t>
          </a:r>
          <a:endParaRPr lang="zh-CN" altLang="en-US" dirty="0"/>
        </a:p>
      </dgm:t>
    </dgm:pt>
    <dgm:pt modelId="{9CEE7F18-4051-1048-ACD8-2B01A5559E90}" cxnId="{676510E3-0E7E-504E-B73B-5BE5AE3732DE}" type="parTrans">
      <dgm:prSet/>
      <dgm:spPr/>
      <dgm:t>
        <a:bodyPr/>
        <a:lstStyle/>
        <a:p>
          <a:endParaRPr lang="zh-CN" altLang="en-US"/>
        </a:p>
      </dgm:t>
    </dgm:pt>
    <dgm:pt modelId="{AD0A3B3E-FB6F-5142-B961-A5826CD5FB18}" cxnId="{676510E3-0E7E-504E-B73B-5BE5AE3732DE}" type="sibTrans">
      <dgm:prSet/>
      <dgm:spPr/>
      <dgm:t>
        <a:bodyPr/>
        <a:lstStyle/>
        <a:p>
          <a:endParaRPr lang="zh-CN" altLang="en-US"/>
        </a:p>
      </dgm:t>
    </dgm:pt>
    <dgm:pt modelId="{4A53FA58-B9A8-A84B-8954-EB5EAC250742}">
      <dgm:prSet/>
      <dgm:spPr/>
      <dgm:t>
        <a:bodyPr/>
        <a:lstStyle/>
        <a:p>
          <a:r>
            <a:rPr lang="zh-CN" altLang="en-US" dirty="0" smtClean="0"/>
            <a:t>权利还给机关单位、法定定密责任人、找出密点</a:t>
          </a:r>
          <a:endParaRPr lang="zh-CN" altLang="en-US" dirty="0"/>
        </a:p>
      </dgm:t>
    </dgm:pt>
    <dgm:pt modelId="{D81741DE-32E9-7E47-ADA6-691B6FD237CA}" cxnId="{1A1ED0C0-6B38-034F-AFDE-4615946E1D12}" type="parTrans">
      <dgm:prSet/>
      <dgm:spPr/>
      <dgm:t>
        <a:bodyPr/>
        <a:lstStyle/>
        <a:p>
          <a:endParaRPr lang="zh-CN" altLang="en-US"/>
        </a:p>
      </dgm:t>
    </dgm:pt>
    <dgm:pt modelId="{F145D91B-7A62-7440-9018-B4459CAD668B}" cxnId="{1A1ED0C0-6B38-034F-AFDE-4615946E1D12}" type="sibTrans">
      <dgm:prSet/>
      <dgm:spPr/>
      <dgm:t>
        <a:bodyPr/>
        <a:lstStyle/>
        <a:p>
          <a:endParaRPr lang="zh-CN" altLang="en-US"/>
        </a:p>
      </dgm:t>
    </dgm:pt>
    <dgm:pt modelId="{F1D39F5F-EB8F-0145-8C34-E2C9967DD7E6}">
      <dgm:prSet phldrT="[文本]"/>
      <dgm:spPr/>
      <dgm:t>
        <a:bodyPr/>
        <a:lstStyle/>
        <a:p>
          <a:r>
            <a:rPr lang="zh-CN" altLang="en-US" smtClean="0"/>
            <a:t>涉密工程确定和保密管理办法</a:t>
          </a:r>
          <a:endParaRPr lang="zh-CN" altLang="en-US" dirty="0"/>
        </a:p>
      </dgm:t>
    </dgm:pt>
    <dgm:pt modelId="{DEA83360-B1A8-A444-B284-DCF6913E8E30}" cxnId="{B8DD2B84-100A-DB43-B7F5-9F39616A9478}" type="parTrans">
      <dgm:prSet/>
      <dgm:spPr/>
      <dgm:t>
        <a:bodyPr/>
        <a:lstStyle/>
        <a:p>
          <a:endParaRPr lang="zh-CN" altLang="en-US"/>
        </a:p>
      </dgm:t>
    </dgm:pt>
    <dgm:pt modelId="{183EEA9F-FEB9-2240-BBF7-7251101E751C}" cxnId="{B8DD2B84-100A-DB43-B7F5-9F39616A9478}" type="sibTrans">
      <dgm:prSet/>
      <dgm:spPr/>
      <dgm:t>
        <a:bodyPr/>
        <a:lstStyle/>
        <a:p>
          <a:endParaRPr lang="zh-CN" altLang="en-US"/>
        </a:p>
      </dgm:t>
    </dgm:pt>
    <dgm:pt modelId="{C9FCA43A-D135-3442-B2BB-790BF521B701}" type="pres">
      <dgm:prSet presAssocID="{36A596CE-3444-2444-AAF3-1D6369FE22E5}" presName="Name0" presStyleCnt="0">
        <dgm:presLayoutVars>
          <dgm:chMax/>
          <dgm:chPref/>
          <dgm:dir/>
        </dgm:presLayoutVars>
      </dgm:prSet>
      <dgm:spPr/>
    </dgm:pt>
    <dgm:pt modelId="{FF015DAE-0E58-2040-9CF4-055A8807608B}" type="pres">
      <dgm:prSet presAssocID="{4BEA6C7B-2984-7B40-8E9A-3AACC1CC81CC}" presName="parenttextcomposite" presStyleCnt="0"/>
      <dgm:spPr/>
    </dgm:pt>
    <dgm:pt modelId="{126BBDC0-D170-514E-9B8A-FE12AB4C4D73}" type="pres">
      <dgm:prSet presAssocID="{4BEA6C7B-2984-7B40-8E9A-3AACC1CC81CC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7FF9ACBC-697D-434E-9493-CB381EF88980}" type="pres">
      <dgm:prSet presAssocID="{4BEA6C7B-2984-7B40-8E9A-3AACC1CC81CC}" presName="composite" presStyleCnt="0"/>
      <dgm:spPr/>
    </dgm:pt>
    <dgm:pt modelId="{F56EDF01-C908-D345-B7DF-56CE92D7A2A0}" type="pres">
      <dgm:prSet presAssocID="{4BEA6C7B-2984-7B40-8E9A-3AACC1CC81CC}" presName="chevron1" presStyleLbl="alignNode1" presStyleIdx="0" presStyleCnt="21"/>
      <dgm:spPr/>
    </dgm:pt>
    <dgm:pt modelId="{17593DD2-6D98-6446-AC7C-0B83126F94D7}" type="pres">
      <dgm:prSet presAssocID="{4BEA6C7B-2984-7B40-8E9A-3AACC1CC81CC}" presName="chevron2" presStyleLbl="alignNode1" presStyleIdx="1" presStyleCnt="21"/>
      <dgm:spPr/>
    </dgm:pt>
    <dgm:pt modelId="{5D1B8EDF-A6D1-E440-B8E4-B53390E4E711}" type="pres">
      <dgm:prSet presAssocID="{4BEA6C7B-2984-7B40-8E9A-3AACC1CC81CC}" presName="chevron3" presStyleLbl="alignNode1" presStyleIdx="2" presStyleCnt="21"/>
      <dgm:spPr/>
    </dgm:pt>
    <dgm:pt modelId="{D75515F3-6444-5F4B-8355-DDC5E861F171}" type="pres">
      <dgm:prSet presAssocID="{4BEA6C7B-2984-7B40-8E9A-3AACC1CC81CC}" presName="chevron4" presStyleLbl="alignNode1" presStyleIdx="3" presStyleCnt="21"/>
      <dgm:spPr/>
    </dgm:pt>
    <dgm:pt modelId="{BAB22E49-60DA-4643-9430-12AB1EC3BB46}" type="pres">
      <dgm:prSet presAssocID="{4BEA6C7B-2984-7B40-8E9A-3AACC1CC81CC}" presName="chevron5" presStyleLbl="alignNode1" presStyleIdx="4" presStyleCnt="21"/>
      <dgm:spPr/>
    </dgm:pt>
    <dgm:pt modelId="{624A87A5-1FA9-384E-8EF6-23FF8C874E6B}" type="pres">
      <dgm:prSet presAssocID="{4BEA6C7B-2984-7B40-8E9A-3AACC1CC81CC}" presName="chevron6" presStyleLbl="alignNode1" presStyleIdx="5" presStyleCnt="21"/>
      <dgm:spPr/>
    </dgm:pt>
    <dgm:pt modelId="{8289A789-49C8-A840-9D64-894A8F45EE25}" type="pres">
      <dgm:prSet presAssocID="{4BEA6C7B-2984-7B40-8E9A-3AACC1CC81CC}" presName="chevron7" presStyleLbl="alignNode1" presStyleIdx="6" presStyleCnt="21"/>
      <dgm:spPr/>
    </dgm:pt>
    <dgm:pt modelId="{4FD31E98-C68B-D347-96CC-A5F0C78A5847}" type="pres">
      <dgm:prSet presAssocID="{4BEA6C7B-2984-7B40-8E9A-3AACC1CC81CC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0C9D2752-87B4-074C-BC19-699120659C58}" type="pres">
      <dgm:prSet presAssocID="{29B912ED-8C42-BD45-97FA-B69DC75784FA}" presName="sibTrans" presStyleCnt="0"/>
      <dgm:spPr/>
    </dgm:pt>
    <dgm:pt modelId="{56271441-9810-974A-ADC1-F87BB80B1A21}" type="pres">
      <dgm:prSet presAssocID="{A7F33729-0E7A-4049-A26D-1B9ED4D63AB2}" presName="parenttextcomposite" presStyleCnt="0"/>
      <dgm:spPr/>
    </dgm:pt>
    <dgm:pt modelId="{78637AC6-553E-494F-9185-9E4DAE749E2F}" type="pres">
      <dgm:prSet presAssocID="{A7F33729-0E7A-4049-A26D-1B9ED4D63AB2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A58FD972-AB19-B549-AF61-2B2AB3E72BF0}" type="pres">
      <dgm:prSet presAssocID="{A7F33729-0E7A-4049-A26D-1B9ED4D63AB2}" presName="composite" presStyleCnt="0"/>
      <dgm:spPr/>
    </dgm:pt>
    <dgm:pt modelId="{592AC459-2B77-D64F-9058-80DFFC88B723}" type="pres">
      <dgm:prSet presAssocID="{A7F33729-0E7A-4049-A26D-1B9ED4D63AB2}" presName="chevron1" presStyleLbl="alignNode1" presStyleIdx="7" presStyleCnt="21"/>
      <dgm:spPr/>
    </dgm:pt>
    <dgm:pt modelId="{D1E49F10-4388-2148-BCE5-A4E770234613}" type="pres">
      <dgm:prSet presAssocID="{A7F33729-0E7A-4049-A26D-1B9ED4D63AB2}" presName="chevron2" presStyleLbl="alignNode1" presStyleIdx="8" presStyleCnt="21"/>
      <dgm:spPr/>
    </dgm:pt>
    <dgm:pt modelId="{82030C9C-3619-D742-9814-F3144E2850BA}" type="pres">
      <dgm:prSet presAssocID="{A7F33729-0E7A-4049-A26D-1B9ED4D63AB2}" presName="chevron3" presStyleLbl="alignNode1" presStyleIdx="9" presStyleCnt="21"/>
      <dgm:spPr/>
    </dgm:pt>
    <dgm:pt modelId="{E4D2DC84-8DAA-E446-96A3-EE051DD32C5F}" type="pres">
      <dgm:prSet presAssocID="{A7F33729-0E7A-4049-A26D-1B9ED4D63AB2}" presName="chevron4" presStyleLbl="alignNode1" presStyleIdx="10" presStyleCnt="21"/>
      <dgm:spPr/>
    </dgm:pt>
    <dgm:pt modelId="{ECC8A154-C4A0-B84A-8505-6C6BEF5948D4}" type="pres">
      <dgm:prSet presAssocID="{A7F33729-0E7A-4049-A26D-1B9ED4D63AB2}" presName="chevron5" presStyleLbl="alignNode1" presStyleIdx="11" presStyleCnt="21"/>
      <dgm:spPr/>
    </dgm:pt>
    <dgm:pt modelId="{93AE8EA1-BA74-454B-932A-B1EC31C64272}" type="pres">
      <dgm:prSet presAssocID="{A7F33729-0E7A-4049-A26D-1B9ED4D63AB2}" presName="chevron6" presStyleLbl="alignNode1" presStyleIdx="12" presStyleCnt="21"/>
      <dgm:spPr/>
    </dgm:pt>
    <dgm:pt modelId="{B02ED0DE-92FD-9B46-A734-C2D6E8DF7826}" type="pres">
      <dgm:prSet presAssocID="{A7F33729-0E7A-4049-A26D-1B9ED4D63AB2}" presName="chevron7" presStyleLbl="alignNode1" presStyleIdx="13" presStyleCnt="21"/>
      <dgm:spPr/>
    </dgm:pt>
    <dgm:pt modelId="{BB0C2EEC-9380-F94F-9126-E71BC3F4CFD4}" type="pres">
      <dgm:prSet presAssocID="{A7F33729-0E7A-4049-A26D-1B9ED4D63AB2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8DBF5F7F-A91E-0F40-9517-BFC3AC7BBF6C}" type="pres">
      <dgm:prSet presAssocID="{F5F17F14-275C-664C-BFCC-E30348434144}" presName="sibTrans" presStyleCnt="0"/>
      <dgm:spPr/>
    </dgm:pt>
    <dgm:pt modelId="{9F7DC06F-DEA7-4743-BFBE-AF0ABE134214}" type="pres">
      <dgm:prSet presAssocID="{4A53FA58-B9A8-A84B-8954-EB5EAC250742}" presName="parenttextcomposite" presStyleCnt="0"/>
      <dgm:spPr/>
    </dgm:pt>
    <dgm:pt modelId="{A946F586-F0C1-BE4B-9124-BFCD7AC30C22}" type="pres">
      <dgm:prSet presAssocID="{4A53FA58-B9A8-A84B-8954-EB5EAC250742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09883AF-E156-0D49-B7C6-2A5512D3D7B8}" type="pres">
      <dgm:prSet presAssocID="{4A53FA58-B9A8-A84B-8954-EB5EAC250742}" presName="composite" presStyleCnt="0"/>
      <dgm:spPr/>
    </dgm:pt>
    <dgm:pt modelId="{31CE809F-6F76-964D-8351-90C54845E3C8}" type="pres">
      <dgm:prSet presAssocID="{4A53FA58-B9A8-A84B-8954-EB5EAC250742}" presName="chevron1" presStyleLbl="alignNode1" presStyleIdx="14" presStyleCnt="21"/>
      <dgm:spPr/>
    </dgm:pt>
    <dgm:pt modelId="{B2DA29B0-4515-3A46-8E6D-8E00681C0892}" type="pres">
      <dgm:prSet presAssocID="{4A53FA58-B9A8-A84B-8954-EB5EAC250742}" presName="chevron2" presStyleLbl="alignNode1" presStyleIdx="15" presStyleCnt="21"/>
      <dgm:spPr/>
    </dgm:pt>
    <dgm:pt modelId="{C2AA3F91-784D-C348-AF27-3C742924836A}" type="pres">
      <dgm:prSet presAssocID="{4A53FA58-B9A8-A84B-8954-EB5EAC250742}" presName="chevron3" presStyleLbl="alignNode1" presStyleIdx="16" presStyleCnt="21"/>
      <dgm:spPr/>
    </dgm:pt>
    <dgm:pt modelId="{94FAD579-1C54-A245-AF22-671FFB7175EC}" type="pres">
      <dgm:prSet presAssocID="{4A53FA58-B9A8-A84B-8954-EB5EAC250742}" presName="chevron4" presStyleLbl="alignNode1" presStyleIdx="17" presStyleCnt="21"/>
      <dgm:spPr/>
    </dgm:pt>
    <dgm:pt modelId="{98C4DDD9-070C-A44D-9ACD-C4C1C1B44A16}" type="pres">
      <dgm:prSet presAssocID="{4A53FA58-B9A8-A84B-8954-EB5EAC250742}" presName="chevron5" presStyleLbl="alignNode1" presStyleIdx="18" presStyleCnt="21"/>
      <dgm:spPr/>
    </dgm:pt>
    <dgm:pt modelId="{881EB5C7-9E03-8946-B274-E51C66258BA5}" type="pres">
      <dgm:prSet presAssocID="{4A53FA58-B9A8-A84B-8954-EB5EAC250742}" presName="chevron6" presStyleLbl="alignNode1" presStyleIdx="19" presStyleCnt="21"/>
      <dgm:spPr/>
    </dgm:pt>
    <dgm:pt modelId="{2132B9D4-DCF6-FD4A-B935-C54CBA997E01}" type="pres">
      <dgm:prSet presAssocID="{4A53FA58-B9A8-A84B-8954-EB5EAC250742}" presName="chevron7" presStyleLbl="alignNode1" presStyleIdx="20" presStyleCnt="21"/>
      <dgm:spPr/>
    </dgm:pt>
    <dgm:pt modelId="{50900374-EED4-FD43-A1F2-B94E8D357CDD}" type="pres">
      <dgm:prSet presAssocID="{4A53FA58-B9A8-A84B-8954-EB5EAC250742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76510E3-0E7E-504E-B73B-5BE5AE3732DE}" srcId="{A7F33729-0E7A-4049-A26D-1B9ED4D63AB2}" destId="{CC182095-07C8-A845-A53F-4FAE8E15DC51}" srcOrd="0" destOrd="0" parTransId="{9CEE7F18-4051-1048-ACD8-2B01A5559E90}" sibTransId="{AD0A3B3E-FB6F-5142-B961-A5826CD5FB18}"/>
    <dgm:cxn modelId="{ECA63A6C-0F6C-2D44-AC9B-8B2121F930F2}" srcId="{4BEA6C7B-2984-7B40-8E9A-3AACC1CC81CC}" destId="{83A76C3C-2059-4442-BB0B-FCA4106D4597}" srcOrd="0" destOrd="0" parTransId="{0FAB3431-0783-FF40-9900-57F4F0A7D5D7}" sibTransId="{06707E4B-490C-7547-82EC-CABF0FE5EAAB}"/>
    <dgm:cxn modelId="{723FC05E-B0A1-E046-BE0F-759D5D265986}" type="presOf" srcId="{4A53FA58-B9A8-A84B-8954-EB5EAC250742}" destId="{A946F586-F0C1-BE4B-9124-BFCD7AC30C22}" srcOrd="0" destOrd="0" presId="urn:microsoft.com/office/officeart/2008/layout/VerticalAccentList"/>
    <dgm:cxn modelId="{4F6DE687-AAC1-0946-AF75-8D732E11C461}" srcId="{36A596CE-3444-2444-AAF3-1D6369FE22E5}" destId="{A7F33729-0E7A-4049-A26D-1B9ED4D63AB2}" srcOrd="1" destOrd="0" parTransId="{B59360D8-D857-E747-956B-96F0B6CCC27F}" sibTransId="{F5F17F14-275C-664C-BFCC-E30348434144}"/>
    <dgm:cxn modelId="{B8DD2B84-100A-DB43-B7F5-9F39616A9478}" srcId="{4A53FA58-B9A8-A84B-8954-EB5EAC250742}" destId="{F1D39F5F-EB8F-0145-8C34-E2C9967DD7E6}" srcOrd="0" destOrd="0" parTransId="{DEA83360-B1A8-A444-B284-DCF6913E8E30}" sibTransId="{183EEA9F-FEB9-2240-BBF7-7251101E751C}"/>
    <dgm:cxn modelId="{BA56B76E-9480-BA4E-AB0D-C2D3C0187836}" type="presOf" srcId="{CC182095-07C8-A845-A53F-4FAE8E15DC51}" destId="{BB0C2EEC-9380-F94F-9126-E71BC3F4CFD4}" srcOrd="0" destOrd="0" presId="urn:microsoft.com/office/officeart/2008/layout/VerticalAccentList"/>
    <dgm:cxn modelId="{0FE2E8D4-5577-0941-A4D9-03C3D5E2BC27}" type="presOf" srcId="{A7F33729-0E7A-4049-A26D-1B9ED4D63AB2}" destId="{78637AC6-553E-494F-9185-9E4DAE749E2F}" srcOrd="0" destOrd="0" presId="urn:microsoft.com/office/officeart/2008/layout/VerticalAccentList"/>
    <dgm:cxn modelId="{4A3076A2-D96A-B649-B54C-A6BF349CA941}" type="presOf" srcId="{36A596CE-3444-2444-AAF3-1D6369FE22E5}" destId="{C9FCA43A-D135-3442-B2BB-790BF521B701}" srcOrd="0" destOrd="0" presId="urn:microsoft.com/office/officeart/2008/layout/VerticalAccentList"/>
    <dgm:cxn modelId="{D8F2F9C1-4487-D24C-9D6A-27449B021928}" type="presOf" srcId="{83A76C3C-2059-4442-BB0B-FCA4106D4597}" destId="{4FD31E98-C68B-D347-96CC-A5F0C78A5847}" srcOrd="0" destOrd="0" presId="urn:microsoft.com/office/officeart/2008/layout/VerticalAccentList"/>
    <dgm:cxn modelId="{3C3E4041-71C2-9B48-8E95-3DD903C572A8}" type="presOf" srcId="{F1D39F5F-EB8F-0145-8C34-E2C9967DD7E6}" destId="{50900374-EED4-FD43-A1F2-B94E8D357CDD}" srcOrd="0" destOrd="0" presId="urn:microsoft.com/office/officeart/2008/layout/VerticalAccentList"/>
    <dgm:cxn modelId="{1A1ED0C0-6B38-034F-AFDE-4615946E1D12}" srcId="{36A596CE-3444-2444-AAF3-1D6369FE22E5}" destId="{4A53FA58-B9A8-A84B-8954-EB5EAC250742}" srcOrd="2" destOrd="0" parTransId="{D81741DE-32E9-7E47-ADA6-691B6FD237CA}" sibTransId="{F145D91B-7A62-7440-9018-B4459CAD668B}"/>
    <dgm:cxn modelId="{52173A23-BD60-CE44-9014-EEC074666FD3}" type="presOf" srcId="{4BEA6C7B-2984-7B40-8E9A-3AACC1CC81CC}" destId="{126BBDC0-D170-514E-9B8A-FE12AB4C4D73}" srcOrd="0" destOrd="0" presId="urn:microsoft.com/office/officeart/2008/layout/VerticalAccentList"/>
    <dgm:cxn modelId="{97B775BA-8E68-644A-8897-6721B2484342}" srcId="{36A596CE-3444-2444-AAF3-1D6369FE22E5}" destId="{4BEA6C7B-2984-7B40-8E9A-3AACC1CC81CC}" srcOrd="0" destOrd="0" parTransId="{E729A856-CB3F-F544-B8C6-F56DF27966E9}" sibTransId="{29B912ED-8C42-BD45-97FA-B69DC75784FA}"/>
    <dgm:cxn modelId="{F28DDC93-D2A5-924E-A98B-74E4C57E617C}" type="presParOf" srcId="{C9FCA43A-D135-3442-B2BB-790BF521B701}" destId="{FF015DAE-0E58-2040-9CF4-055A8807608B}" srcOrd="0" destOrd="0" presId="urn:microsoft.com/office/officeart/2008/layout/VerticalAccentList"/>
    <dgm:cxn modelId="{967D5631-8BA0-0041-BC66-EF13525AB65F}" type="presParOf" srcId="{FF015DAE-0E58-2040-9CF4-055A8807608B}" destId="{126BBDC0-D170-514E-9B8A-FE12AB4C4D73}" srcOrd="0" destOrd="0" presId="urn:microsoft.com/office/officeart/2008/layout/VerticalAccentList"/>
    <dgm:cxn modelId="{A8239B76-136C-5846-A5B9-B00A7E3141E1}" type="presParOf" srcId="{C9FCA43A-D135-3442-B2BB-790BF521B701}" destId="{7FF9ACBC-697D-434E-9493-CB381EF88980}" srcOrd="1" destOrd="0" presId="urn:microsoft.com/office/officeart/2008/layout/VerticalAccentList"/>
    <dgm:cxn modelId="{D1FCE06C-3966-2048-82E5-9C51B5737EDE}" type="presParOf" srcId="{7FF9ACBC-697D-434E-9493-CB381EF88980}" destId="{F56EDF01-C908-D345-B7DF-56CE92D7A2A0}" srcOrd="0" destOrd="0" presId="urn:microsoft.com/office/officeart/2008/layout/VerticalAccentList"/>
    <dgm:cxn modelId="{3BD7C23F-0D58-4B44-9F25-F3CEB16E4E91}" type="presParOf" srcId="{7FF9ACBC-697D-434E-9493-CB381EF88980}" destId="{17593DD2-6D98-6446-AC7C-0B83126F94D7}" srcOrd="1" destOrd="0" presId="urn:microsoft.com/office/officeart/2008/layout/VerticalAccentList"/>
    <dgm:cxn modelId="{1556A391-C6C3-404B-B0FD-6738238FD51D}" type="presParOf" srcId="{7FF9ACBC-697D-434E-9493-CB381EF88980}" destId="{5D1B8EDF-A6D1-E440-B8E4-B53390E4E711}" srcOrd="2" destOrd="0" presId="urn:microsoft.com/office/officeart/2008/layout/VerticalAccentList"/>
    <dgm:cxn modelId="{6A8D481D-0F14-584A-8E92-ADF175499683}" type="presParOf" srcId="{7FF9ACBC-697D-434E-9493-CB381EF88980}" destId="{D75515F3-6444-5F4B-8355-DDC5E861F171}" srcOrd="3" destOrd="0" presId="urn:microsoft.com/office/officeart/2008/layout/VerticalAccentList"/>
    <dgm:cxn modelId="{935A7E4C-6154-D94F-879D-7769D966A11F}" type="presParOf" srcId="{7FF9ACBC-697D-434E-9493-CB381EF88980}" destId="{BAB22E49-60DA-4643-9430-12AB1EC3BB46}" srcOrd="4" destOrd="0" presId="urn:microsoft.com/office/officeart/2008/layout/VerticalAccentList"/>
    <dgm:cxn modelId="{4F2C39AD-74B4-3A40-B564-A66702995E73}" type="presParOf" srcId="{7FF9ACBC-697D-434E-9493-CB381EF88980}" destId="{624A87A5-1FA9-384E-8EF6-23FF8C874E6B}" srcOrd="5" destOrd="0" presId="urn:microsoft.com/office/officeart/2008/layout/VerticalAccentList"/>
    <dgm:cxn modelId="{A5611173-AB59-0947-A457-8B993EFA96EF}" type="presParOf" srcId="{7FF9ACBC-697D-434E-9493-CB381EF88980}" destId="{8289A789-49C8-A840-9D64-894A8F45EE25}" srcOrd="6" destOrd="0" presId="urn:microsoft.com/office/officeart/2008/layout/VerticalAccentList"/>
    <dgm:cxn modelId="{82B6517F-4E86-D34A-9E3D-D093D7A9902C}" type="presParOf" srcId="{7FF9ACBC-697D-434E-9493-CB381EF88980}" destId="{4FD31E98-C68B-D347-96CC-A5F0C78A5847}" srcOrd="7" destOrd="0" presId="urn:microsoft.com/office/officeart/2008/layout/VerticalAccentList"/>
    <dgm:cxn modelId="{3F1E94A5-4BAD-6B46-8506-D89B7969F552}" type="presParOf" srcId="{C9FCA43A-D135-3442-B2BB-790BF521B701}" destId="{0C9D2752-87B4-074C-BC19-699120659C58}" srcOrd="2" destOrd="0" presId="urn:microsoft.com/office/officeart/2008/layout/VerticalAccentList"/>
    <dgm:cxn modelId="{58D43F0C-BDB2-1449-B1BB-4537B03BCDE6}" type="presParOf" srcId="{C9FCA43A-D135-3442-B2BB-790BF521B701}" destId="{56271441-9810-974A-ADC1-F87BB80B1A21}" srcOrd="3" destOrd="0" presId="urn:microsoft.com/office/officeart/2008/layout/VerticalAccentList"/>
    <dgm:cxn modelId="{8A007E23-772F-0F48-89F1-1609E59CC9AE}" type="presParOf" srcId="{56271441-9810-974A-ADC1-F87BB80B1A21}" destId="{78637AC6-553E-494F-9185-9E4DAE749E2F}" srcOrd="0" destOrd="0" presId="urn:microsoft.com/office/officeart/2008/layout/VerticalAccentList"/>
    <dgm:cxn modelId="{83386879-945D-914C-91C1-AC781192551C}" type="presParOf" srcId="{C9FCA43A-D135-3442-B2BB-790BF521B701}" destId="{A58FD972-AB19-B549-AF61-2B2AB3E72BF0}" srcOrd="4" destOrd="0" presId="urn:microsoft.com/office/officeart/2008/layout/VerticalAccentList"/>
    <dgm:cxn modelId="{C60A0342-9BDF-6D46-ADFD-8CEE79889604}" type="presParOf" srcId="{A58FD972-AB19-B549-AF61-2B2AB3E72BF0}" destId="{592AC459-2B77-D64F-9058-80DFFC88B723}" srcOrd="0" destOrd="0" presId="urn:microsoft.com/office/officeart/2008/layout/VerticalAccentList"/>
    <dgm:cxn modelId="{8502964C-FE1E-5949-9D3D-94C3F7F9C60A}" type="presParOf" srcId="{A58FD972-AB19-B549-AF61-2B2AB3E72BF0}" destId="{D1E49F10-4388-2148-BCE5-A4E770234613}" srcOrd="1" destOrd="0" presId="urn:microsoft.com/office/officeart/2008/layout/VerticalAccentList"/>
    <dgm:cxn modelId="{9EBD3B7A-460F-6347-94E2-4C3070F2C22B}" type="presParOf" srcId="{A58FD972-AB19-B549-AF61-2B2AB3E72BF0}" destId="{82030C9C-3619-D742-9814-F3144E2850BA}" srcOrd="2" destOrd="0" presId="urn:microsoft.com/office/officeart/2008/layout/VerticalAccentList"/>
    <dgm:cxn modelId="{32E79151-673C-7E42-99D3-23A26272257E}" type="presParOf" srcId="{A58FD972-AB19-B549-AF61-2B2AB3E72BF0}" destId="{E4D2DC84-8DAA-E446-96A3-EE051DD32C5F}" srcOrd="3" destOrd="0" presId="urn:microsoft.com/office/officeart/2008/layout/VerticalAccentList"/>
    <dgm:cxn modelId="{36CD3043-392B-D348-A417-30C76CF44412}" type="presParOf" srcId="{A58FD972-AB19-B549-AF61-2B2AB3E72BF0}" destId="{ECC8A154-C4A0-B84A-8505-6C6BEF5948D4}" srcOrd="4" destOrd="0" presId="urn:microsoft.com/office/officeart/2008/layout/VerticalAccentList"/>
    <dgm:cxn modelId="{B8B8D95A-5989-C346-93D2-A1E4E4BFF339}" type="presParOf" srcId="{A58FD972-AB19-B549-AF61-2B2AB3E72BF0}" destId="{93AE8EA1-BA74-454B-932A-B1EC31C64272}" srcOrd="5" destOrd="0" presId="urn:microsoft.com/office/officeart/2008/layout/VerticalAccentList"/>
    <dgm:cxn modelId="{29A2FDE3-4F06-DF40-94F5-14E83271F0AC}" type="presParOf" srcId="{A58FD972-AB19-B549-AF61-2B2AB3E72BF0}" destId="{B02ED0DE-92FD-9B46-A734-C2D6E8DF7826}" srcOrd="6" destOrd="0" presId="urn:microsoft.com/office/officeart/2008/layout/VerticalAccentList"/>
    <dgm:cxn modelId="{ED7CCEBC-4C87-D74B-B299-7DF7CC1F3FD4}" type="presParOf" srcId="{A58FD972-AB19-B549-AF61-2B2AB3E72BF0}" destId="{BB0C2EEC-9380-F94F-9126-E71BC3F4CFD4}" srcOrd="7" destOrd="0" presId="urn:microsoft.com/office/officeart/2008/layout/VerticalAccentList"/>
    <dgm:cxn modelId="{A9003185-20E3-F542-8C57-239450CA679D}" type="presParOf" srcId="{C9FCA43A-D135-3442-B2BB-790BF521B701}" destId="{8DBF5F7F-A91E-0F40-9517-BFC3AC7BBF6C}" srcOrd="5" destOrd="0" presId="urn:microsoft.com/office/officeart/2008/layout/VerticalAccentList"/>
    <dgm:cxn modelId="{F3325D0F-7554-6143-BC1C-31DF6287C6C0}" type="presParOf" srcId="{C9FCA43A-D135-3442-B2BB-790BF521B701}" destId="{9F7DC06F-DEA7-4743-BFBE-AF0ABE134214}" srcOrd="6" destOrd="0" presId="urn:microsoft.com/office/officeart/2008/layout/VerticalAccentList"/>
    <dgm:cxn modelId="{83A24C87-8B88-2347-9EAD-3174B9591F17}" type="presParOf" srcId="{9F7DC06F-DEA7-4743-BFBE-AF0ABE134214}" destId="{A946F586-F0C1-BE4B-9124-BFCD7AC30C22}" srcOrd="0" destOrd="0" presId="urn:microsoft.com/office/officeart/2008/layout/VerticalAccentList"/>
    <dgm:cxn modelId="{D90F7DC8-AA74-DA4D-AC5E-6FB69F406D27}" type="presParOf" srcId="{C9FCA43A-D135-3442-B2BB-790BF521B701}" destId="{709883AF-E156-0D49-B7C6-2A5512D3D7B8}" srcOrd="7" destOrd="0" presId="urn:microsoft.com/office/officeart/2008/layout/VerticalAccentList"/>
    <dgm:cxn modelId="{337896D6-E6A9-0C42-AFB0-27986B4E24CF}" type="presParOf" srcId="{709883AF-E156-0D49-B7C6-2A5512D3D7B8}" destId="{31CE809F-6F76-964D-8351-90C54845E3C8}" srcOrd="0" destOrd="0" presId="urn:microsoft.com/office/officeart/2008/layout/VerticalAccentList"/>
    <dgm:cxn modelId="{3B46B2DD-9FB5-BB41-B688-6E610D61CA1D}" type="presParOf" srcId="{709883AF-E156-0D49-B7C6-2A5512D3D7B8}" destId="{B2DA29B0-4515-3A46-8E6D-8E00681C0892}" srcOrd="1" destOrd="0" presId="urn:microsoft.com/office/officeart/2008/layout/VerticalAccentList"/>
    <dgm:cxn modelId="{4F57DA13-E23E-6146-BD6A-DFC575F7D056}" type="presParOf" srcId="{709883AF-E156-0D49-B7C6-2A5512D3D7B8}" destId="{C2AA3F91-784D-C348-AF27-3C742924836A}" srcOrd="2" destOrd="0" presId="urn:microsoft.com/office/officeart/2008/layout/VerticalAccentList"/>
    <dgm:cxn modelId="{229746C4-EAFE-C04D-970B-96C4F63D6F1D}" type="presParOf" srcId="{709883AF-E156-0D49-B7C6-2A5512D3D7B8}" destId="{94FAD579-1C54-A245-AF22-671FFB7175EC}" srcOrd="3" destOrd="0" presId="urn:microsoft.com/office/officeart/2008/layout/VerticalAccentList"/>
    <dgm:cxn modelId="{2C8F1570-72F7-4846-A19F-6572CEB2FEF2}" type="presParOf" srcId="{709883AF-E156-0D49-B7C6-2A5512D3D7B8}" destId="{98C4DDD9-070C-A44D-9ACD-C4C1C1B44A16}" srcOrd="4" destOrd="0" presId="urn:microsoft.com/office/officeart/2008/layout/VerticalAccentList"/>
    <dgm:cxn modelId="{1FD0C632-61AD-4245-A8D1-1B457E9087DA}" type="presParOf" srcId="{709883AF-E156-0D49-B7C6-2A5512D3D7B8}" destId="{881EB5C7-9E03-8946-B274-E51C66258BA5}" srcOrd="5" destOrd="0" presId="urn:microsoft.com/office/officeart/2008/layout/VerticalAccentList"/>
    <dgm:cxn modelId="{4E67B6FF-A452-3B4C-995F-7F1840F36544}" type="presParOf" srcId="{709883AF-E156-0D49-B7C6-2A5512D3D7B8}" destId="{2132B9D4-DCF6-FD4A-B935-C54CBA997E01}" srcOrd="6" destOrd="0" presId="urn:microsoft.com/office/officeart/2008/layout/VerticalAccentList"/>
    <dgm:cxn modelId="{EAE726D0-0A99-0241-A3B2-752A7D144333}" type="presParOf" srcId="{709883AF-E156-0D49-B7C6-2A5512D3D7B8}" destId="{50900374-EED4-FD43-A1F2-B94E8D357CDD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229600" cy="4525963"/>
        <a:chOff x="0" y="0"/>
        <a:chExt cx="8229600" cy="4525963"/>
      </a:xfrm>
    </dsp:grpSpPr>
    <dsp:sp modelId="{126BBDC0-D170-514E-9B8A-FE12AB4C4D73}">
      <dsp:nvSpPr>
        <dsp:cNvPr id="3" name="矩形 2"/>
        <dsp:cNvSpPr/>
      </dsp:nvSpPr>
      <dsp:spPr bwMode="white">
        <a:xfrm>
          <a:off x="1166109" y="0"/>
          <a:ext cx="5307643" cy="48251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2390" tIns="72390" rIns="72390" bIns="72390" anchor="b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</a:rPr>
            <a:t>保密要点</a:t>
          </a:r>
          <a:endParaRPr lang="zh-CN" altLang="en-US" dirty="0">
            <a:solidFill>
              <a:schemeClr val="tx1"/>
            </a:solidFill>
          </a:endParaRPr>
        </a:p>
      </dsp:txBody>
      <dsp:txXfrm>
        <a:off x="1166109" y="0"/>
        <a:ext cx="5307643" cy="482513"/>
      </dsp:txXfrm>
    </dsp:sp>
    <dsp:sp modelId="{F56EDF01-C908-D345-B7DF-56CE92D7A2A0}">
      <dsp:nvSpPr>
        <dsp:cNvPr id="4" name="燕尾形 3"/>
        <dsp:cNvSpPr/>
      </dsp:nvSpPr>
      <dsp:spPr bwMode="white">
        <a:xfrm>
          <a:off x="1254865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254865" y="482513"/>
        <a:ext cx="1241989" cy="982897"/>
      </dsp:txXfrm>
    </dsp:sp>
    <dsp:sp modelId="{17593DD2-6D98-6446-AC7C-0B83126F94D7}">
      <dsp:nvSpPr>
        <dsp:cNvPr id="5" name="燕尾形 4"/>
        <dsp:cNvSpPr/>
      </dsp:nvSpPr>
      <dsp:spPr bwMode="white">
        <a:xfrm>
          <a:off x="2000884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2000884" y="482513"/>
        <a:ext cx="1241989" cy="982897"/>
      </dsp:txXfrm>
    </dsp:sp>
    <dsp:sp modelId="{5D1B8EDF-A6D1-E440-B8E4-B53390E4E711}">
      <dsp:nvSpPr>
        <dsp:cNvPr id="6" name="燕尾形 5"/>
        <dsp:cNvSpPr/>
      </dsp:nvSpPr>
      <dsp:spPr bwMode="white">
        <a:xfrm>
          <a:off x="2747492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2747492" y="482513"/>
        <a:ext cx="1241989" cy="982897"/>
      </dsp:txXfrm>
    </dsp:sp>
    <dsp:sp modelId="{D75515F3-6444-5F4B-8355-DDC5E861F171}">
      <dsp:nvSpPr>
        <dsp:cNvPr id="7" name="燕尾形 6"/>
        <dsp:cNvSpPr/>
      </dsp:nvSpPr>
      <dsp:spPr bwMode="white">
        <a:xfrm>
          <a:off x="3493511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3493511" y="482513"/>
        <a:ext cx="1241989" cy="982897"/>
      </dsp:txXfrm>
    </dsp:sp>
    <dsp:sp modelId="{BAB22E49-60DA-4643-9430-12AB1EC3BB46}">
      <dsp:nvSpPr>
        <dsp:cNvPr id="8" name="燕尾形 7"/>
        <dsp:cNvSpPr/>
      </dsp:nvSpPr>
      <dsp:spPr bwMode="white">
        <a:xfrm>
          <a:off x="4240119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4240119" y="482513"/>
        <a:ext cx="1241989" cy="982897"/>
      </dsp:txXfrm>
    </dsp:sp>
    <dsp:sp modelId="{624A87A5-1FA9-384E-8EF6-23FF8C874E6B}">
      <dsp:nvSpPr>
        <dsp:cNvPr id="9" name="燕尾形 8"/>
        <dsp:cNvSpPr/>
      </dsp:nvSpPr>
      <dsp:spPr bwMode="white">
        <a:xfrm>
          <a:off x="4986138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4986138" y="482513"/>
        <a:ext cx="1241989" cy="982897"/>
      </dsp:txXfrm>
    </dsp:sp>
    <dsp:sp modelId="{8289A789-49C8-A840-9D64-894A8F45EE25}">
      <dsp:nvSpPr>
        <dsp:cNvPr id="10" name="燕尾形 9"/>
        <dsp:cNvSpPr/>
      </dsp:nvSpPr>
      <dsp:spPr bwMode="white">
        <a:xfrm>
          <a:off x="5732747" y="482513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5732747" y="482513"/>
        <a:ext cx="1241989" cy="982897"/>
      </dsp:txXfrm>
    </dsp:sp>
    <dsp:sp modelId="{4FD31E98-C68B-D347-96CC-A5F0C78A5847}">
      <dsp:nvSpPr>
        <dsp:cNvPr id="11" name="矩形 10"/>
        <dsp:cNvSpPr/>
      </dsp:nvSpPr>
      <dsp:spPr bwMode="white">
        <a:xfrm>
          <a:off x="1254865" y="580803"/>
          <a:ext cx="5376643" cy="786318"/>
        </a:xfrm>
        <a:prstGeom prst="rect">
          <a:avLst/>
        </a:prstGeom>
      </dsp:spPr>
      <dsp:style>
        <a:lnRef idx="1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Body>
        <a:bodyPr lIns="48260" tIns="48260" rIns="48260" bIns="4826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科学技术保密规定</a:t>
          </a:r>
          <a:endParaRPr lang="zh-CN" altLang="en-US" dirty="0">
            <a:solidFill>
              <a:schemeClr val="dk1"/>
            </a:solidFill>
          </a:endParaRPr>
        </a:p>
      </dsp:txBody>
      <dsp:txXfrm>
        <a:off x="1254865" y="580803"/>
        <a:ext cx="5376643" cy="786318"/>
      </dsp:txXfrm>
    </dsp:sp>
    <dsp:sp modelId="{78637AC6-553E-494F-9185-9E4DAE749E2F}">
      <dsp:nvSpPr>
        <dsp:cNvPr id="12" name="矩形 11"/>
        <dsp:cNvSpPr/>
      </dsp:nvSpPr>
      <dsp:spPr bwMode="white">
        <a:xfrm>
          <a:off x="1166109" y="1530277"/>
          <a:ext cx="5307643" cy="48251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2390" tIns="72390" rIns="72390" bIns="72390" anchor="b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</a:rPr>
            <a:t>警务秘密</a:t>
          </a:r>
          <a:endParaRPr lang="zh-CN" altLang="en-US" dirty="0">
            <a:solidFill>
              <a:schemeClr val="tx1"/>
            </a:solidFill>
          </a:endParaRPr>
        </a:p>
      </dsp:txBody>
      <dsp:txXfrm>
        <a:off x="1166109" y="1530277"/>
        <a:ext cx="5307643" cy="482513"/>
      </dsp:txXfrm>
    </dsp:sp>
    <dsp:sp modelId="{592AC459-2B77-D64F-9058-80DFFC88B723}">
      <dsp:nvSpPr>
        <dsp:cNvPr id="13" name="燕尾形 12"/>
        <dsp:cNvSpPr/>
      </dsp:nvSpPr>
      <dsp:spPr bwMode="white">
        <a:xfrm>
          <a:off x="1254865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254865" y="2012790"/>
        <a:ext cx="1241989" cy="982897"/>
      </dsp:txXfrm>
    </dsp:sp>
    <dsp:sp modelId="{D1E49F10-4388-2148-BCE5-A4E770234613}">
      <dsp:nvSpPr>
        <dsp:cNvPr id="14" name="燕尾形 13"/>
        <dsp:cNvSpPr/>
      </dsp:nvSpPr>
      <dsp:spPr bwMode="white">
        <a:xfrm>
          <a:off x="2000884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2000884" y="2012790"/>
        <a:ext cx="1241989" cy="982897"/>
      </dsp:txXfrm>
    </dsp:sp>
    <dsp:sp modelId="{82030C9C-3619-D742-9814-F3144E2850BA}">
      <dsp:nvSpPr>
        <dsp:cNvPr id="15" name="燕尾形 14"/>
        <dsp:cNvSpPr/>
      </dsp:nvSpPr>
      <dsp:spPr bwMode="white">
        <a:xfrm>
          <a:off x="2747492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2747492" y="2012790"/>
        <a:ext cx="1241989" cy="982897"/>
      </dsp:txXfrm>
    </dsp:sp>
    <dsp:sp modelId="{E4D2DC84-8DAA-E446-96A3-EE051DD32C5F}">
      <dsp:nvSpPr>
        <dsp:cNvPr id="16" name="燕尾形 15"/>
        <dsp:cNvSpPr/>
      </dsp:nvSpPr>
      <dsp:spPr bwMode="white">
        <a:xfrm>
          <a:off x="3493511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3493511" y="2012790"/>
        <a:ext cx="1241989" cy="982897"/>
      </dsp:txXfrm>
    </dsp:sp>
    <dsp:sp modelId="{ECC8A154-C4A0-B84A-8505-6C6BEF5948D4}">
      <dsp:nvSpPr>
        <dsp:cNvPr id="17" name="燕尾形 16"/>
        <dsp:cNvSpPr/>
      </dsp:nvSpPr>
      <dsp:spPr bwMode="white">
        <a:xfrm>
          <a:off x="4240119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4240119" y="2012790"/>
        <a:ext cx="1241989" cy="982897"/>
      </dsp:txXfrm>
    </dsp:sp>
    <dsp:sp modelId="{93AE8EA1-BA74-454B-932A-B1EC31C64272}">
      <dsp:nvSpPr>
        <dsp:cNvPr id="18" name="燕尾形 17"/>
        <dsp:cNvSpPr/>
      </dsp:nvSpPr>
      <dsp:spPr bwMode="white">
        <a:xfrm>
          <a:off x="4986138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4986138" y="2012790"/>
        <a:ext cx="1241989" cy="982897"/>
      </dsp:txXfrm>
    </dsp:sp>
    <dsp:sp modelId="{B02ED0DE-92FD-9B46-A734-C2D6E8DF7826}">
      <dsp:nvSpPr>
        <dsp:cNvPr id="19" name="燕尾形 18"/>
        <dsp:cNvSpPr/>
      </dsp:nvSpPr>
      <dsp:spPr bwMode="white">
        <a:xfrm>
          <a:off x="5732747" y="2012790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5732747" y="2012790"/>
        <a:ext cx="1241989" cy="982897"/>
      </dsp:txXfrm>
    </dsp:sp>
    <dsp:sp modelId="{BB0C2EEC-9380-F94F-9126-E71BC3F4CFD4}">
      <dsp:nvSpPr>
        <dsp:cNvPr id="20" name="矩形 19"/>
        <dsp:cNvSpPr/>
      </dsp:nvSpPr>
      <dsp:spPr bwMode="white">
        <a:xfrm>
          <a:off x="1254865" y="2111079"/>
          <a:ext cx="5376643" cy="786318"/>
        </a:xfrm>
        <a:prstGeom prst="rect">
          <a:avLst/>
        </a:prstGeom>
      </dsp:spPr>
      <dsp:style>
        <a:lnRef idx="1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Body>
        <a:bodyPr lIns="48260" tIns="48260" rIns="48260" bIns="4826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公安机关定密管理暂行规定</a:t>
          </a:r>
          <a:endParaRPr lang="zh-CN" altLang="en-US" dirty="0">
            <a:solidFill>
              <a:schemeClr val="dk1"/>
            </a:solidFill>
          </a:endParaRPr>
        </a:p>
      </dsp:txBody>
      <dsp:txXfrm>
        <a:off x="1254865" y="2111079"/>
        <a:ext cx="5376643" cy="786318"/>
      </dsp:txXfrm>
    </dsp:sp>
    <dsp:sp modelId="{A946F586-F0C1-BE4B-9124-BFCD7AC30C22}">
      <dsp:nvSpPr>
        <dsp:cNvPr id="21" name="矩形 20"/>
        <dsp:cNvSpPr/>
      </dsp:nvSpPr>
      <dsp:spPr bwMode="white">
        <a:xfrm>
          <a:off x="1166109" y="3060553"/>
          <a:ext cx="5307643" cy="48251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2390" tIns="72390" rIns="72390" bIns="72390" anchor="b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tx1"/>
              </a:solidFill>
            </a:rPr>
            <a:t>权利还给机关单位、法定定密责任人、找出密点</a:t>
          </a:r>
          <a:endParaRPr lang="zh-CN" altLang="en-US" dirty="0">
            <a:solidFill>
              <a:schemeClr val="tx1"/>
            </a:solidFill>
          </a:endParaRPr>
        </a:p>
      </dsp:txBody>
      <dsp:txXfrm>
        <a:off x="1166109" y="3060553"/>
        <a:ext cx="5307643" cy="482513"/>
      </dsp:txXfrm>
    </dsp:sp>
    <dsp:sp modelId="{31CE809F-6F76-964D-8351-90C54845E3C8}">
      <dsp:nvSpPr>
        <dsp:cNvPr id="22" name="燕尾形 21"/>
        <dsp:cNvSpPr/>
      </dsp:nvSpPr>
      <dsp:spPr bwMode="white">
        <a:xfrm>
          <a:off x="1254865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1254865" y="3543066"/>
        <a:ext cx="1241989" cy="982897"/>
      </dsp:txXfrm>
    </dsp:sp>
    <dsp:sp modelId="{B2DA29B0-4515-3A46-8E6D-8E00681C0892}">
      <dsp:nvSpPr>
        <dsp:cNvPr id="23" name="燕尾形 22"/>
        <dsp:cNvSpPr/>
      </dsp:nvSpPr>
      <dsp:spPr bwMode="white">
        <a:xfrm>
          <a:off x="2000884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2000884" y="3543066"/>
        <a:ext cx="1241989" cy="982897"/>
      </dsp:txXfrm>
    </dsp:sp>
    <dsp:sp modelId="{C2AA3F91-784D-C348-AF27-3C742924836A}">
      <dsp:nvSpPr>
        <dsp:cNvPr id="24" name="燕尾形 23"/>
        <dsp:cNvSpPr/>
      </dsp:nvSpPr>
      <dsp:spPr bwMode="white">
        <a:xfrm>
          <a:off x="2747492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2747492" y="3543066"/>
        <a:ext cx="1241989" cy="982897"/>
      </dsp:txXfrm>
    </dsp:sp>
    <dsp:sp modelId="{94FAD579-1C54-A245-AF22-671FFB7175EC}">
      <dsp:nvSpPr>
        <dsp:cNvPr id="25" name="燕尾形 24"/>
        <dsp:cNvSpPr/>
      </dsp:nvSpPr>
      <dsp:spPr bwMode="white">
        <a:xfrm>
          <a:off x="3493511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3493511" y="3543066"/>
        <a:ext cx="1241989" cy="982897"/>
      </dsp:txXfrm>
    </dsp:sp>
    <dsp:sp modelId="{98C4DDD9-070C-A44D-9ACD-C4C1C1B44A16}">
      <dsp:nvSpPr>
        <dsp:cNvPr id="26" name="燕尾形 25"/>
        <dsp:cNvSpPr/>
      </dsp:nvSpPr>
      <dsp:spPr bwMode="white">
        <a:xfrm>
          <a:off x="4240119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4240119" y="3543066"/>
        <a:ext cx="1241989" cy="982897"/>
      </dsp:txXfrm>
    </dsp:sp>
    <dsp:sp modelId="{881EB5C7-9E03-8946-B274-E51C66258BA5}">
      <dsp:nvSpPr>
        <dsp:cNvPr id="27" name="燕尾形 26"/>
        <dsp:cNvSpPr/>
      </dsp:nvSpPr>
      <dsp:spPr bwMode="white">
        <a:xfrm>
          <a:off x="4986138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4986138" y="3543066"/>
        <a:ext cx="1241989" cy="982897"/>
      </dsp:txXfrm>
    </dsp:sp>
    <dsp:sp modelId="{2132B9D4-DCF6-FD4A-B935-C54CBA997E01}">
      <dsp:nvSpPr>
        <dsp:cNvPr id="28" name="燕尾形 27"/>
        <dsp:cNvSpPr/>
      </dsp:nvSpPr>
      <dsp:spPr bwMode="white">
        <a:xfrm>
          <a:off x="5732747" y="3543066"/>
          <a:ext cx="1241989" cy="982897"/>
        </a:xfrm>
        <a:prstGeom prst="chevron">
          <a:avLst>
            <a:gd name="adj" fmla="val 70610"/>
          </a:avLst>
        </a:prstGeom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Xfrm>
        <a:off x="5732747" y="3543066"/>
        <a:ext cx="1241989" cy="982897"/>
      </dsp:txXfrm>
    </dsp:sp>
    <dsp:sp modelId="{50900374-EED4-FD43-A1F2-B94E8D357CDD}">
      <dsp:nvSpPr>
        <dsp:cNvPr id="29" name="矩形 28"/>
        <dsp:cNvSpPr/>
      </dsp:nvSpPr>
      <dsp:spPr bwMode="white">
        <a:xfrm>
          <a:off x="1254865" y="3641356"/>
          <a:ext cx="5376643" cy="786318"/>
        </a:xfrm>
        <a:prstGeom prst="rect">
          <a:avLst/>
        </a:prstGeom>
      </dsp:spPr>
      <dsp:style>
        <a:lnRef idx="1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Body>
        <a:bodyPr lIns="48260" tIns="48260" rIns="48260" bIns="4826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mtClean="0">
              <a:solidFill>
                <a:schemeClr val="dk1"/>
              </a:solidFill>
            </a:rPr>
            <a:t>涉密工程确定和保密管理办法</a:t>
          </a:r>
          <a:endParaRPr lang="zh-CN" altLang="en-US" dirty="0">
            <a:solidFill>
              <a:schemeClr val="dk1"/>
            </a:solidFill>
          </a:endParaRPr>
        </a:p>
      </dsp:txBody>
      <dsp:txXfrm>
        <a:off x="1254865" y="3641356"/>
        <a:ext cx="5376643" cy="786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type="chevron" r:blip="" rot="180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11F64-1FF5-CA42-B501-58DD5844098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FAFA5-1032-A343-946D-FD83B269366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.qq.com/x/page/d30130mm274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http://bmj.gd.gov.cn/content/detail/1057.html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派生定密解读</a:t>
            </a:r>
            <a:r>
              <a:rPr lang="en-US" altLang="zh-CN"/>
              <a:t>https://mp.weixin.qq.com/s?__biz=MzA5MjM2NzY3Ng==&amp;mid=2452561790&amp;idx=1&amp;sn=2af388a872a4bef63d9e364a72c5a107&amp;chksm=87b5812db0c2083bf9505eb3f42a69269316197f50e8c921e289bdd5b780ecf0efcabac9a03b&amp;scene=27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http://bmj.nanning.gov.cn/xcjy/t4549511.html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FAFA5-1032-A343-946D-FD83B269366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>
                <a:hlinkClick r:id="rId3"/>
              </a:rPr>
              <a:t>涉密载体的制作 </a:t>
            </a:r>
            <a:endParaRPr kumimoji="1" lang="zh-CN" altLang="en-US" dirty="0" smtClean="0"/>
          </a:p>
          <a:p>
            <a:r>
              <a:rPr kumimoji="1" lang="en-US" altLang="zh-CN" dirty="0" smtClean="0">
                <a:hlinkClick r:id="rId3"/>
              </a:rPr>
              <a:t>https://v.qq.com/x/page/d30130mm274.html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 smtClean="0"/>
              <a:t>图说保密法  </a:t>
            </a:r>
            <a:r>
              <a:rPr kumimoji="1" lang="en-US" altLang="zh-CN" dirty="0" smtClean="0"/>
              <a:t>http://</a:t>
            </a:r>
            <a:r>
              <a:rPr kumimoji="1" lang="en-US" altLang="zh-CN" dirty="0" err="1" smtClean="0"/>
              <a:t>wsjsw.qingdao.gov.cn</a:t>
            </a:r>
            <a:r>
              <a:rPr kumimoji="1" lang="en-US" altLang="zh-CN" dirty="0" smtClean="0"/>
              <a:t>/n28356065/n32563093/n32563094/150826000000403500.html</a:t>
            </a:r>
            <a:endParaRPr kumimoji="1" lang="zh-CN" altLang="en-US" dirty="0" smtClean="0"/>
          </a:p>
          <a:p>
            <a:endParaRPr kumimoji="1" lang="zh-CN" altLang="en-US" dirty="0" smtClean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FAFA5-1032-A343-946D-FD83B269366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08761"/>
            <a:ext cx="5616623" cy="6633587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84262"/>
            <a:ext cx="5256584" cy="6432514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99" y="17884"/>
            <a:ext cx="7917401" cy="6840116"/>
          </a:xfrm>
        </p:spPr>
      </p:pic>
      <p:sp>
        <p:nvSpPr>
          <p:cNvPr id="3" name="文本框 2"/>
          <p:cNvSpPr txBox="1"/>
          <p:nvPr/>
        </p:nvSpPr>
        <p:spPr>
          <a:xfrm>
            <a:off x="8676640" y="2186305"/>
            <a:ext cx="3194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国家秘密的基本范围</a:t>
            </a:r>
            <a:endParaRPr lang="zh-C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67" y="30832"/>
            <a:ext cx="7926265" cy="6858000"/>
          </a:xfrm>
        </p:spPr>
      </p:pic>
      <p:sp>
        <p:nvSpPr>
          <p:cNvPr id="3" name="文本框 2"/>
          <p:cNvSpPr txBox="1"/>
          <p:nvPr/>
        </p:nvSpPr>
        <p:spPr>
          <a:xfrm>
            <a:off x="8613140" y="782955"/>
            <a:ext cx="351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密级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79485" y="2778125"/>
            <a:ext cx="3854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保密</a:t>
            </a:r>
            <a:r>
              <a:rPr lang="zh-CN" altLang="en-US"/>
              <a:t>事项范围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05520" y="5276850"/>
            <a:ext cx="358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定密</a:t>
            </a:r>
            <a:r>
              <a:rPr lang="zh-CN" altLang="en-US"/>
              <a:t>责任人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64" y="29840"/>
            <a:ext cx="6752071" cy="6842100"/>
          </a:xfrm>
        </p:spPr>
      </p:pic>
      <p:sp>
        <p:nvSpPr>
          <p:cNvPr id="3" name="文本框 2"/>
          <p:cNvSpPr txBox="1"/>
          <p:nvPr/>
        </p:nvSpPr>
        <p:spPr>
          <a:xfrm>
            <a:off x="8081010" y="1403350"/>
            <a:ext cx="1631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定密权限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8021955" y="4766310"/>
            <a:ext cx="8705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派生</a:t>
            </a:r>
            <a:endParaRPr lang="zh-CN" altLang="en-US" sz="2400"/>
          </a:p>
          <a:p>
            <a:r>
              <a:rPr lang="zh-CN" altLang="en-US" sz="2400"/>
              <a:t>定密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8070850" y="5984240"/>
            <a:ext cx="821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密点标注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7940"/>
            <a:ext cx="5616624" cy="6800060"/>
          </a:xfrm>
        </p:spPr>
      </p:pic>
      <p:sp>
        <p:nvSpPr>
          <p:cNvPr id="3" name="文本框 2"/>
          <p:cNvSpPr txBox="1"/>
          <p:nvPr/>
        </p:nvSpPr>
        <p:spPr>
          <a:xfrm>
            <a:off x="7918450" y="664210"/>
            <a:ext cx="3257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保密期限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7950200" y="3032760"/>
            <a:ext cx="3663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知悉范围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7933690" y="5025390"/>
            <a:ext cx="3663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秘密标志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0" y="0"/>
            <a:ext cx="7927979" cy="6846292"/>
          </a:xfrm>
        </p:spPr>
      </p:pic>
      <p:sp>
        <p:nvSpPr>
          <p:cNvPr id="3" name="文本框 2"/>
          <p:cNvSpPr txBox="1"/>
          <p:nvPr/>
        </p:nvSpPr>
        <p:spPr>
          <a:xfrm>
            <a:off x="8524240" y="5328920"/>
            <a:ext cx="3663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定级</a:t>
            </a:r>
            <a:r>
              <a:rPr lang="zh-CN" altLang="en-US" sz="2400"/>
              <a:t>监督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8524240" y="162560"/>
            <a:ext cx="3663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国家秘密</a:t>
            </a:r>
            <a:r>
              <a:rPr lang="zh-CN" altLang="en-US" sz="2400"/>
              <a:t>变更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8507730" y="2657475"/>
            <a:ext cx="3663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国家秘密</a:t>
            </a:r>
            <a:r>
              <a:rPr lang="zh-CN" altLang="en-US" sz="2400"/>
              <a:t>解除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 fontScale="7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kumimoji="1" lang="en-US" altLang="zh-CN" dirty="0" smtClean="0"/>
              <a:t>2.《</a:t>
            </a:r>
            <a:r>
              <a:rPr kumimoji="1" lang="zh-CN" altLang="en-US" dirty="0" smtClean="0"/>
              <a:t>保密法实施条例</a:t>
            </a:r>
            <a:r>
              <a:rPr kumimoji="1" lang="en-US" altLang="zh-CN" dirty="0" smtClean="0"/>
              <a:t>》</a:t>
            </a:r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2024</a:t>
            </a:r>
            <a:r>
              <a:rPr kumimoji="1" lang="zh-CN" altLang="en-US" dirty="0" smtClean="0"/>
              <a:t>年</a:t>
            </a:r>
            <a:r>
              <a:rPr kumimoji="1" lang="en-US" altLang="zh-CN" dirty="0" smtClean="0"/>
              <a:t>9</a:t>
            </a:r>
            <a:r>
              <a:rPr kumimoji="1" lang="zh-CN" altLang="en-US" dirty="0" smtClean="0"/>
              <a:t>月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日）</a:t>
            </a:r>
            <a:br>
              <a:rPr kumimoji="1" lang="zh-CN" altLang="en-US" dirty="0" smtClean="0"/>
            </a:br>
            <a:r>
              <a:rPr kumimoji="1" lang="zh-CN" altLang="en-US" dirty="0" smtClean="0"/>
              <a:t>第二</a:t>
            </a:r>
            <a:r>
              <a:rPr kumimoji="1" lang="zh-CN" altLang="en-US" dirty="0"/>
              <a:t>章 国家秘密的范围和密级</a:t>
            </a:r>
            <a:endParaRPr kumimoji="1" lang="zh-CN" altLang="en-US" dirty="0"/>
          </a:p>
        </p:txBody>
      </p:sp>
      <p:pic>
        <p:nvPicPr>
          <p:cNvPr id="3" name="图片 2" descr="截屏2025-03-04 上午10.17.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" y="1426210"/>
            <a:ext cx="7647940" cy="54317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07400" y="3573145"/>
            <a:ext cx="7086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定密</a:t>
            </a:r>
            <a:r>
              <a:rPr lang="zh-CN" altLang="en-US"/>
              <a:t>事项一览表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5-03-04 上午10.17.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0"/>
            <a:ext cx="72834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5-03-04 上午10.17.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735" y="0"/>
            <a:ext cx="754253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57260" y="4121150"/>
            <a:ext cx="4070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派生定密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8612505" y="1664970"/>
            <a:ext cx="4070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无权定密</a:t>
            </a:r>
            <a:endParaRPr lang="zh-CN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截屏2025-03-04 上午10.18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0" y="0"/>
            <a:ext cx="68675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5-03-04 上午10.18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0"/>
            <a:ext cx="72478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5-03-04 上午10.18.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60" y="0"/>
            <a:ext cx="71170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国家秘密定密管理</a:t>
            </a:r>
            <a:r>
              <a:rPr kumimoji="1" lang="zh-CN" altLang="en-US" dirty="0"/>
              <a:t>规定</a:t>
            </a:r>
            <a:endParaRPr kumimoji="1" lang="zh-CN" altLang="en-US" dirty="0"/>
          </a:p>
        </p:txBody>
      </p:sp>
      <p:pic>
        <p:nvPicPr>
          <p:cNvPr id="5" name="内容占位符 4" descr="截屏2025-05-29 下午8.57.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92275" y="1600200"/>
            <a:ext cx="57581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29 下午8.58.4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14500" y="1600200"/>
            <a:ext cx="571436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29 下午8.57.3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4575" y="1600200"/>
            <a:ext cx="705421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29 下午8.58.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0420" y="1052830"/>
            <a:ext cx="750252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29 下午9.00.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9530" y="516890"/>
            <a:ext cx="6090285" cy="56095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《</a:t>
            </a:r>
            <a:r>
              <a:rPr kumimoji="1" lang="zh-CN" altLang="en-US" dirty="0" smtClean="0"/>
              <a:t>国家</a:t>
            </a:r>
            <a:r>
              <a:rPr kumimoji="1" lang="zh-CN" altLang="en-US" dirty="0" smtClean="0"/>
              <a:t>秘密定密</a:t>
            </a:r>
            <a:r>
              <a:rPr kumimoji="1" lang="zh-CN" altLang="en-US" dirty="0" smtClean="0"/>
              <a:t>管理规定</a:t>
            </a:r>
            <a:r>
              <a:rPr kumimoji="1" lang="en-US" altLang="zh-CN" dirty="0" smtClean="0"/>
              <a:t>》</a:t>
            </a:r>
            <a:endParaRPr kumimoji="1" lang="zh-CN" altLang="en-US" dirty="0"/>
          </a:p>
        </p:txBody>
      </p:sp>
      <p:pic>
        <p:nvPicPr>
          <p:cNvPr id="5" name="内容占位符 4" descr="截屏2025-05-13 下午9.19.28"/>
          <p:cNvPicPr>
            <a:picLocks noChangeAspect="1"/>
          </p:cNvPicPr>
          <p:nvPr>
            <p:ph idx="1"/>
          </p:nvPr>
        </p:nvPicPr>
        <p:blipFill>
          <a:blip r:embed="rId1"/>
          <a:srcRect b="3914"/>
          <a:stretch>
            <a:fillRect/>
          </a:stretch>
        </p:blipFill>
        <p:spPr>
          <a:xfrm>
            <a:off x="1391285" y="1600200"/>
            <a:ext cx="6360795" cy="46443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 descr="截屏2025-05-13 下午9.20.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8365" y="2383155"/>
            <a:ext cx="7366000" cy="2959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1.0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7415" y="1945005"/>
            <a:ext cx="7327900" cy="3835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1.3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1065" y="2402205"/>
            <a:ext cx="73406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2.0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0135" y="1600200"/>
            <a:ext cx="69824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2.3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2700" y="1600200"/>
            <a:ext cx="657796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3.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7415" y="2834005"/>
            <a:ext cx="73279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3.4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1065" y="2395855"/>
            <a:ext cx="73406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4.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7415" y="2078355"/>
            <a:ext cx="732790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4.5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1065" y="2554605"/>
            <a:ext cx="73406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5-13 下午9.24.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0115" y="2268855"/>
            <a:ext cx="73025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71767"/>
            <a:ext cx="8229600" cy="1143000"/>
          </a:xfrm>
        </p:spPr>
        <p:txBody>
          <a:bodyPr/>
          <a:lstStyle/>
          <a:p>
            <a:r>
              <a:rPr kumimoji="1" lang="zh-CN" altLang="en-US" dirty="0" smtClean="0"/>
              <a:t>二、</a:t>
            </a:r>
            <a:r>
              <a:rPr kumimoji="1" lang="en-US" altLang="zh-CN" dirty="0" smtClean="0"/>
              <a:t>《</a:t>
            </a:r>
            <a:r>
              <a:rPr kumimoji="1" lang="zh-CN" altLang="en-US" dirty="0" smtClean="0"/>
              <a:t>国家秘密</a:t>
            </a:r>
            <a:r>
              <a:rPr kumimoji="1" lang="zh-CN" altLang="en-US" dirty="0"/>
              <a:t>定密</a:t>
            </a:r>
            <a:r>
              <a:rPr kumimoji="1" lang="zh-CN" altLang="en-US" dirty="0"/>
              <a:t>管理规定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pic>
        <p:nvPicPr>
          <p:cNvPr id="5" name="内容占位符 4" descr="截屏2025-06-11 下午8.46.5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8220" y="683260"/>
            <a:ext cx="4575810" cy="61131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5-06-11 下午8.47.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1685" y="260985"/>
            <a:ext cx="452247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截屏2026-03-12 下午5.27.5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755" y="621665"/>
            <a:ext cx="9024620" cy="52660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/>
              <a:t>（</a:t>
            </a:r>
            <a:r>
              <a:rPr lang="zh-CN" altLang="en-US" b="1" dirty="0" smtClean="0"/>
              <a:t>三）</a:t>
            </a:r>
            <a:r>
              <a:rPr lang="en-US" altLang="zh-CN" b="1" dirty="0" smtClean="0"/>
              <a:t>《</a:t>
            </a:r>
            <a:r>
              <a:rPr lang="zh-CN" altLang="en-US" b="1" dirty="0" smtClean="0"/>
              <a:t>国家</a:t>
            </a:r>
            <a:r>
              <a:rPr lang="zh-CN" altLang="en-US" b="1" dirty="0"/>
              <a:t>秘密定密管理</a:t>
            </a:r>
            <a:r>
              <a:rPr lang="zh-CN" altLang="en-US" b="1" dirty="0" smtClean="0"/>
              <a:t>规定</a:t>
            </a:r>
            <a:r>
              <a:rPr lang="en-US" altLang="zh-CN" b="1" dirty="0" smtClean="0"/>
              <a:t>》</a:t>
            </a:r>
            <a:br>
              <a:rPr lang="en-US" altLang="zh-CN" b="1" dirty="0" smtClean="0"/>
            </a:br>
            <a:r>
              <a:rPr lang="en-US" altLang="zh-CN" sz="2665" b="1" dirty="0" smtClean="0"/>
              <a:t>2025</a:t>
            </a:r>
            <a:r>
              <a:rPr lang="zh-CN" altLang="en-US" sz="2665" b="1" dirty="0" smtClean="0"/>
              <a:t>年</a:t>
            </a:r>
            <a:r>
              <a:rPr lang="en-US" altLang="zh-CN" sz="2665" b="1" dirty="0" smtClean="0"/>
              <a:t>5</a:t>
            </a:r>
            <a:r>
              <a:rPr lang="zh-CN" altLang="en-US" sz="2665" b="1" dirty="0" smtClean="0"/>
              <a:t>月</a:t>
            </a:r>
            <a:r>
              <a:rPr lang="en-US" altLang="zh-CN" sz="2665" b="1" dirty="0" smtClean="0"/>
              <a:t>1</a:t>
            </a:r>
            <a:r>
              <a:rPr lang="zh-CN" altLang="en-US" sz="2665" b="1" dirty="0" smtClean="0"/>
              <a:t>日</a:t>
            </a:r>
            <a:r>
              <a:rPr lang="zh-CN" altLang="en-US" sz="2665" b="1" dirty="0" smtClean="0"/>
              <a:t>施行</a:t>
            </a:r>
            <a:endParaRPr lang="zh-CN" altLang="en-US" sz="2665" b="1" dirty="0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600200"/>
            <a:ext cx="4281805" cy="4565015"/>
          </a:xfrm>
        </p:spPr>
        <p:txBody>
          <a:bodyPr>
            <a:normAutofit fontScale="82500"/>
          </a:bodyPr>
          <a:lstStyle/>
          <a:p>
            <a:r>
              <a:rPr lang="zh-CN" altLang="en-US" dirty="0"/>
              <a:t>第一章　总　　</a:t>
            </a:r>
            <a:r>
              <a:rPr lang="zh-CN" altLang="en-US" dirty="0" smtClean="0"/>
              <a:t>则</a:t>
            </a:r>
            <a:endParaRPr lang="zh-CN" altLang="en-US" dirty="0" smtClean="0"/>
          </a:p>
          <a:p>
            <a:r>
              <a:rPr lang="zh-CN" altLang="en-US" dirty="0"/>
              <a:t>第二章　定密</a:t>
            </a:r>
            <a:r>
              <a:rPr lang="zh-CN" altLang="en-US" dirty="0" smtClean="0"/>
              <a:t>授权</a:t>
            </a:r>
            <a:endParaRPr lang="zh-CN" altLang="en-US" dirty="0" smtClean="0"/>
          </a:p>
          <a:p>
            <a:r>
              <a:rPr lang="zh-CN" altLang="en-US" dirty="0"/>
              <a:t>第三章　定密</a:t>
            </a:r>
            <a:r>
              <a:rPr lang="zh-CN" altLang="en-US" dirty="0" smtClean="0"/>
              <a:t>责任人</a:t>
            </a:r>
            <a:endParaRPr lang="zh-CN" altLang="en-US" dirty="0" smtClean="0"/>
          </a:p>
          <a:p>
            <a:r>
              <a:rPr lang="zh-CN" altLang="en-US" dirty="0"/>
              <a:t>第四章　国家秘密</a:t>
            </a:r>
            <a:r>
              <a:rPr lang="zh-CN" altLang="en-US" dirty="0" smtClean="0"/>
              <a:t>确定</a:t>
            </a:r>
            <a:endParaRPr lang="zh-CN" altLang="en-US" dirty="0" smtClean="0"/>
          </a:p>
          <a:p>
            <a:r>
              <a:rPr lang="zh-CN" altLang="en-US" dirty="0"/>
              <a:t>第五章　国家秘密</a:t>
            </a:r>
            <a:r>
              <a:rPr lang="zh-CN" altLang="en-US" dirty="0" smtClean="0"/>
              <a:t>变更</a:t>
            </a:r>
            <a:endParaRPr lang="zh-CN" altLang="en-US" dirty="0" smtClean="0"/>
          </a:p>
          <a:p>
            <a:r>
              <a:rPr lang="zh-CN" altLang="en-US" dirty="0"/>
              <a:t>第六章　国家秘密</a:t>
            </a:r>
            <a:r>
              <a:rPr lang="zh-CN" altLang="en-US" dirty="0" smtClean="0"/>
              <a:t>解除</a:t>
            </a:r>
            <a:endParaRPr lang="zh-CN" altLang="en-US" dirty="0" smtClean="0"/>
          </a:p>
          <a:p>
            <a:r>
              <a:rPr lang="zh-CN" altLang="en-US" dirty="0"/>
              <a:t>第七章　定密</a:t>
            </a:r>
            <a:r>
              <a:rPr lang="zh-CN" altLang="en-US" dirty="0" smtClean="0"/>
              <a:t>监督</a:t>
            </a:r>
            <a:endParaRPr lang="zh-CN" altLang="en-US" dirty="0" smtClean="0"/>
          </a:p>
          <a:p>
            <a:r>
              <a:rPr lang="zh-CN" altLang="en-US" dirty="0"/>
              <a:t>第八章　法律</a:t>
            </a:r>
            <a:r>
              <a:rPr lang="zh-CN" altLang="en-US" dirty="0" smtClean="0"/>
              <a:t>责任</a:t>
            </a:r>
            <a:endParaRPr lang="zh-CN" altLang="en-US" dirty="0" smtClean="0"/>
          </a:p>
          <a:p>
            <a:r>
              <a:rPr lang="zh-CN" altLang="en-US" dirty="0"/>
              <a:t>第九章　附　　则</a:t>
            </a:r>
            <a:endParaRPr kumimoji="1" lang="zh-CN" altLang="en-US" dirty="0"/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4387215" y="1583690"/>
            <a:ext cx="4281805" cy="5018405"/>
          </a:xfrm>
          <a:prstGeom prst="rect">
            <a:avLst/>
          </a:prstGeom>
        </p:spPr>
        <p:txBody>
          <a:bodyPr vert="horz" rtlCol="0">
            <a:normAutofit fontScale="825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第一章　总　　</a:t>
            </a:r>
            <a:r>
              <a:rPr lang="zh-CN" altLang="en-US" dirty="0" smtClean="0"/>
              <a:t>则</a:t>
            </a:r>
            <a:endParaRPr lang="zh-CN" altLang="en-US" dirty="0" smtClean="0"/>
          </a:p>
          <a:p>
            <a:r>
              <a:rPr lang="zh-CN" altLang="en-US" dirty="0" smtClean="0">
                <a:solidFill>
                  <a:srgbClr val="C00000"/>
                </a:solidFill>
              </a:rPr>
              <a:t>第二章</a:t>
            </a:r>
            <a:r>
              <a:rPr lang="en-US" altLang="zh-CN" dirty="0" smtClean="0">
                <a:solidFill>
                  <a:srgbClr val="C00000"/>
                </a:solidFill>
              </a:rPr>
              <a:t>   </a:t>
            </a:r>
            <a:r>
              <a:rPr lang="zh-CN" altLang="en-US" dirty="0" smtClean="0">
                <a:solidFill>
                  <a:srgbClr val="C00000"/>
                </a:solidFill>
              </a:rPr>
              <a:t>定密依据</a:t>
            </a:r>
            <a:endParaRPr lang="zh-CN" altLang="en-US" dirty="0" smtClean="0"/>
          </a:p>
          <a:p>
            <a:r>
              <a:rPr lang="zh-CN" altLang="en-US" dirty="0"/>
              <a:t>第三章　定密</a:t>
            </a:r>
            <a:r>
              <a:rPr lang="zh-CN" altLang="en-US" dirty="0" smtClean="0">
                <a:solidFill>
                  <a:srgbClr val="C00000"/>
                </a:solidFill>
              </a:rPr>
              <a:t>权限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四章　定密</a:t>
            </a:r>
            <a:r>
              <a:rPr lang="zh-CN" altLang="en-US" dirty="0" smtClean="0"/>
              <a:t>责任人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五章　国家秘密</a:t>
            </a:r>
            <a:r>
              <a:rPr lang="zh-CN" altLang="en-US" dirty="0" smtClean="0"/>
              <a:t>确定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六章　国家秘密</a:t>
            </a:r>
            <a:r>
              <a:rPr lang="zh-CN" altLang="en-US" dirty="0" smtClean="0"/>
              <a:t>变更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七章　国家秘密</a:t>
            </a:r>
            <a:r>
              <a:rPr lang="zh-CN" altLang="en-US" dirty="0" smtClean="0"/>
              <a:t>解除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八章　定密</a:t>
            </a:r>
            <a:r>
              <a:rPr lang="zh-CN" altLang="en-US" dirty="0" smtClean="0"/>
              <a:t>监督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九章　法律</a:t>
            </a:r>
            <a:r>
              <a:rPr lang="zh-CN" altLang="en-US" dirty="0" smtClean="0"/>
              <a:t>责任</a:t>
            </a:r>
            <a:endParaRPr lang="zh-CN" altLang="en-US" dirty="0" smtClean="0"/>
          </a:p>
          <a:p>
            <a:r>
              <a:rPr lang="zh-CN" altLang="en-US" dirty="0"/>
              <a:t>第</a:t>
            </a:r>
            <a:r>
              <a:rPr lang="zh-CN" altLang="en-US" dirty="0"/>
              <a:t>十章　附　　则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405" y="405130"/>
            <a:ext cx="8229600" cy="4525963"/>
          </a:xfrm>
        </p:spPr>
        <p:txBody>
          <a:bodyPr>
            <a:noAutofit/>
          </a:bodyPr>
          <a:p>
            <a:r>
              <a:rPr lang="zh-CN" altLang="en-US" sz="1900"/>
              <a:t>一是适应保密工作形势任务的必然要求。在世界百年未有之大变局加速演进背景下，保密工作面临的形势更加复杂严峻，风险挑战前所未有。定密作为保密管理的重要基础，也面临很多新情况新挑战。精准定密是维护国家秘密安全的基础，及时解密是便利信息资源合理利用的客观要求，这次修订围绕着力构建更加科学、完备的定密管理制度体系，对于推动保密工作高质量发展，切实维护好国家主权、安全和发展利益具有重要意义。</a:t>
            </a:r>
            <a:endParaRPr lang="zh-CN" altLang="en-US" sz="1900"/>
          </a:p>
          <a:p>
            <a:endParaRPr lang="zh-CN" altLang="en-US" sz="1900"/>
          </a:p>
          <a:p>
            <a:r>
              <a:rPr lang="zh-CN" altLang="en-US" sz="1900"/>
              <a:t>二是贯彻依法治密的重要举措。修订后的《规定》注重与新保密法及其实施条例的衔接，特别是聚焦定密依据、解密审核等方面，对《暂行规定》进行系统地修改完善，细化实化各项定密制度的具体要求，使法律法规在定密实践中更具实操性和针对性。</a:t>
            </a:r>
            <a:endParaRPr lang="zh-CN" altLang="en-US" sz="1900"/>
          </a:p>
          <a:p>
            <a:endParaRPr lang="zh-CN" altLang="en-US" sz="1900"/>
          </a:p>
          <a:p>
            <a:r>
              <a:rPr lang="zh-CN" altLang="en-US" sz="1900"/>
              <a:t>三是提炼和固化定密工作经验的重要成果。近年来，各级机关、单位在认真执行《暂行规定》基础上，结合实际，探索形成了许多好的经验和做法。我们对这些经验和做法加以提炼和固化，先后在</a:t>
            </a:r>
            <a:r>
              <a:rPr lang="en-US" altLang="zh-CN" sz="1900"/>
              <a:t>2020</a:t>
            </a:r>
            <a:r>
              <a:rPr lang="zh-CN" altLang="en-US" sz="1900"/>
              <a:t>年和</a:t>
            </a:r>
            <a:r>
              <a:rPr lang="en-US" altLang="zh-CN" sz="1900"/>
              <a:t>2023</a:t>
            </a:r>
            <a:r>
              <a:rPr lang="zh-CN" altLang="en-US" sz="1900"/>
              <a:t>年制定出台了《国家秘密解密暂行办法》《派生国家秘密定密管理暂行办法》。通过这次修订吸收整合了这些规范性文件有关要求，进一步健全定密管理法律制度体系。</a:t>
            </a:r>
            <a:endParaRPr lang="zh-CN" altLang="en-US" sz="1900"/>
          </a:p>
        </p:txBody>
      </p:sp>
      <p:sp>
        <p:nvSpPr>
          <p:cNvPr id="4" name="文本框 3"/>
          <p:cNvSpPr txBox="1"/>
          <p:nvPr/>
        </p:nvSpPr>
        <p:spPr>
          <a:xfrm>
            <a:off x="199390" y="1657350"/>
            <a:ext cx="4845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2.</a:t>
            </a:r>
            <a:r>
              <a:rPr lang="zh-CN" altLang="en-US" sz="3600"/>
              <a:t>修订的意义</a:t>
            </a:r>
            <a:endParaRPr lang="zh-CN" altLang="en-US" sz="3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）定密依据的</a:t>
            </a:r>
            <a:r>
              <a:rPr lang="zh-CN" altLang="en-US"/>
              <a:t>修订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zh-CN" altLang="en-US" sz="2300">
                <a:solidFill>
                  <a:srgbClr val="C00000"/>
                </a:solidFill>
              </a:rPr>
              <a:t>一是完善保密事项范围制定主体</a:t>
            </a:r>
            <a:r>
              <a:rPr lang="zh-CN" altLang="en-US" sz="2300"/>
              <a:t>。针对一些特定区域、特定领域需要对国家秘密事项作出专门规定，或者涉及多个行业、领域，需要协调多家业务主管部门等特殊情况，明确国家保密行政管理部门可以单独规定保密事项范围，进一步完善保密事项范围制定主体。</a:t>
            </a:r>
            <a:endParaRPr lang="zh-CN" altLang="en-US" sz="2300"/>
          </a:p>
          <a:p>
            <a:endParaRPr lang="zh-CN" altLang="en-US" sz="2300"/>
          </a:p>
          <a:p>
            <a:r>
              <a:rPr lang="zh-CN" altLang="en-US" sz="2300">
                <a:solidFill>
                  <a:srgbClr val="C00000"/>
                </a:solidFill>
              </a:rPr>
              <a:t>二是规范保密事项范围制定、修订要求</a:t>
            </a:r>
            <a:r>
              <a:rPr lang="zh-CN" altLang="en-US" sz="2300"/>
              <a:t>。这次修订明确，确定保密事项范围应当充分听取有关部门和专家意见，要综合考量各方面因素，全面评估泄露后的危害程度，不得超过维护国家安全和利益的必要限度，从而在源头上保障定密的精准性、科学性。保密事项范围应当在有关范围内公布，但对于本身就是国家秘密的保密事项范围，应当确定密级和保密期限，限定知悉范围。</a:t>
            </a:r>
            <a:endParaRPr lang="zh-CN" altLang="en-US" sz="2300"/>
          </a:p>
          <a:p>
            <a:r>
              <a:rPr lang="en-US" altLang="zh-CN" sz="2300"/>
              <a:t>  </a:t>
            </a:r>
            <a:endParaRPr lang="en-US" altLang="zh-CN" sz="2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4937760"/>
          </a:xfrm>
        </p:spPr>
        <p:txBody>
          <a:bodyPr>
            <a:noAutofit/>
          </a:bodyPr>
          <a:p>
            <a:r>
              <a:rPr lang="zh-CN" altLang="en-US" sz="2400">
                <a:solidFill>
                  <a:srgbClr val="C00000"/>
                </a:solidFill>
                <a:sym typeface="+mn-ea"/>
              </a:rPr>
              <a:t>三是明确保密事项范围的培训解读要求</a:t>
            </a:r>
            <a:r>
              <a:rPr lang="zh-CN" altLang="en-US" sz="2400">
                <a:sym typeface="+mn-ea"/>
              </a:rPr>
              <a:t>。中央和国家机关应当在职责范围内加强对本行业、本领域使用保密事项范围的管理或者指导，特别是对于产生层级涉及基层单位的相关条款，应当开展系统性的解读，确保所在行业、领域全面准确理解保密事项范围的内容和使用要求。</a:t>
            </a:r>
            <a:endParaRPr lang="zh-CN" altLang="en-US" sz="2400">
              <a:sym typeface="+mn-ea"/>
            </a:endParaRPr>
          </a:p>
          <a:p>
            <a:endParaRPr lang="zh-CN" altLang="en-US" sz="2400"/>
          </a:p>
          <a:p>
            <a:r>
              <a:rPr lang="zh-CN" altLang="en-US" sz="2400">
                <a:solidFill>
                  <a:srgbClr val="C00000"/>
                </a:solidFill>
                <a:sym typeface="+mn-ea"/>
              </a:rPr>
              <a:t>四是规定国家秘密事项一览表制定要求</a:t>
            </a:r>
            <a:r>
              <a:rPr lang="zh-CN" altLang="en-US" sz="2400">
                <a:sym typeface="+mn-ea"/>
              </a:rPr>
              <a:t>。新保密法实施条例明确规定，有定密权的机关、单位应当制定国家秘密事项一览表。一方面，明确国家秘密事项一览表的内容要素，应当包括国家秘密事项的具体内容、密级、保密期限、知悉范围、产生部门或者岗位、制定依据等；另一方面，明确制定国家秘密事项一览表的程序要求，即应当经本机关、本单位负责人审定后实施，并报同级保密行政管理部门备案。</a:t>
            </a:r>
            <a:endParaRPr lang="zh-CN" altLang="en-US" sz="2400">
              <a:sym typeface="+mn-ea"/>
            </a:endParaRPr>
          </a:p>
          <a:p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）定密授权的</a:t>
            </a:r>
            <a:r>
              <a:rPr lang="zh-CN" altLang="en-US"/>
              <a:t>修订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78917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zh-CN" altLang="en-US" sz="2300"/>
              <a:t>将原章节</a:t>
            </a:r>
            <a:r>
              <a:rPr lang="en-US" altLang="zh-CN" sz="2300"/>
              <a:t>“</a:t>
            </a:r>
            <a:r>
              <a:rPr lang="zh-CN" altLang="en-US" sz="2300"/>
              <a:t>定密授权</a:t>
            </a:r>
            <a:r>
              <a:rPr lang="en-US" altLang="zh-CN" sz="2300"/>
              <a:t>”</a:t>
            </a:r>
            <a:r>
              <a:rPr lang="zh-CN" altLang="en-US" sz="2300"/>
              <a:t>修订为</a:t>
            </a:r>
            <a:r>
              <a:rPr lang="en-US" altLang="zh-CN" sz="2300"/>
              <a:t>“</a:t>
            </a:r>
            <a:r>
              <a:rPr lang="zh-CN" altLang="en-US" sz="2300"/>
              <a:t>定密权限</a:t>
            </a:r>
            <a:r>
              <a:rPr lang="en-US" altLang="zh-CN" sz="2300"/>
              <a:t>”</a:t>
            </a:r>
            <a:r>
              <a:rPr lang="zh-CN" altLang="en-US" sz="2300"/>
              <a:t>，重申了保密法规定的法定定密权限，明确了定密授权权限以及无权定密的处理方法。</a:t>
            </a:r>
            <a:endParaRPr lang="zh-CN" altLang="en-US" sz="2300"/>
          </a:p>
          <a:p>
            <a:pPr>
              <a:lnSpc>
                <a:spcPct val="130000"/>
              </a:lnSpc>
            </a:pPr>
            <a:r>
              <a:rPr lang="zh-CN" altLang="en-US" sz="2300"/>
              <a:t>新保密法实施条例规定省级以上保密行政管理部门在特殊情形下，可以根据保密工作需要或者有关机关、单位申请，单独作出定密授权。</a:t>
            </a:r>
            <a:endParaRPr lang="zh-CN" altLang="en-US" sz="2300"/>
          </a:p>
          <a:p>
            <a:pPr>
              <a:lnSpc>
                <a:spcPct val="130000"/>
              </a:lnSpc>
            </a:pPr>
            <a:r>
              <a:rPr lang="zh-CN" altLang="en-US" sz="2300"/>
              <a:t>细化了省级以上保密行政管理部门作出定密授权的</a:t>
            </a:r>
            <a:r>
              <a:rPr lang="en-US" altLang="zh-CN" sz="2300"/>
              <a:t>3</a:t>
            </a:r>
            <a:r>
              <a:rPr lang="zh-CN" altLang="en-US" sz="2300"/>
              <a:t>种情形，一是申请定密授权的机关、单位没有上级机关或者业务主管部门不明确；二是定密授权申请涉及多个行业、领域国家秘密事项；三是保密行政管理部门认为需要授予定密权的其他情形。</a:t>
            </a:r>
            <a:endParaRPr lang="zh-CN" altLang="en-US" sz="2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）解密制度的</a:t>
            </a:r>
            <a:r>
              <a:rPr lang="zh-CN" altLang="en-US"/>
              <a:t>修订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2230"/>
            <a:ext cx="8229600" cy="5361305"/>
          </a:xfrm>
        </p:spPr>
        <p:txBody>
          <a:bodyPr>
            <a:normAutofit fontScale="70000"/>
          </a:bodyPr>
          <a:p>
            <a:r>
              <a:rPr lang="zh-CN" altLang="en-US" sz="3430">
                <a:solidFill>
                  <a:srgbClr val="C00000"/>
                </a:solidFill>
              </a:rPr>
              <a:t>一是完善解密审核条件</a:t>
            </a:r>
            <a:r>
              <a:rPr lang="zh-CN" altLang="en-US" sz="3430"/>
              <a:t>。根据有关法律法规规定和保密工作实践，增加</a:t>
            </a:r>
            <a:r>
              <a:rPr lang="en-US" altLang="zh-CN" sz="3430"/>
              <a:t>“</a:t>
            </a:r>
            <a:r>
              <a:rPr lang="zh-CN" altLang="en-US" sz="3430"/>
              <a:t>根据现行法律法规应予公开或需要社会公众广泛知晓</a:t>
            </a:r>
            <a:r>
              <a:rPr lang="en-US" altLang="zh-CN" sz="3430"/>
              <a:t>”</a:t>
            </a:r>
            <a:r>
              <a:rPr lang="zh-CN" altLang="en-US" sz="3430"/>
              <a:t>和</a:t>
            </a:r>
            <a:r>
              <a:rPr lang="en-US" altLang="zh-CN" sz="3430"/>
              <a:t>“</a:t>
            </a:r>
            <a:r>
              <a:rPr lang="zh-CN" altLang="en-US" sz="3430"/>
              <a:t>派生定密所执行或者办理的已定密事项已经解密</a:t>
            </a:r>
            <a:r>
              <a:rPr lang="en-US" altLang="zh-CN" sz="3430"/>
              <a:t>”</a:t>
            </a:r>
            <a:r>
              <a:rPr lang="zh-CN" altLang="en-US" sz="3430"/>
              <a:t>作为应当及时解密的情形，为机关、单位开展解密工作提供更加科学、完备的制度支撑。</a:t>
            </a:r>
            <a:endParaRPr lang="zh-CN" altLang="en-US" sz="3430"/>
          </a:p>
          <a:p>
            <a:r>
              <a:rPr lang="zh-CN" altLang="en-US" sz="3430">
                <a:solidFill>
                  <a:srgbClr val="C00000"/>
                </a:solidFill>
              </a:rPr>
              <a:t>二是细化自行解密制度</a:t>
            </a:r>
            <a:r>
              <a:rPr lang="zh-CN" altLang="en-US" sz="3430"/>
              <a:t>。按照新保密法规定的</a:t>
            </a:r>
            <a:r>
              <a:rPr lang="en-US" altLang="zh-CN" sz="3430"/>
              <a:t>“</a:t>
            </a:r>
            <a:r>
              <a:rPr lang="zh-CN" altLang="en-US" sz="3430"/>
              <a:t>机关、单位应当每年审核所确定的国家秘密</a:t>
            </a:r>
            <a:r>
              <a:rPr lang="en-US" altLang="zh-CN" sz="3430"/>
              <a:t>”</a:t>
            </a:r>
            <a:r>
              <a:rPr lang="zh-CN" altLang="en-US" sz="3430"/>
              <a:t>要求，强调明确标注具体保密期限的国家秘密事项，保密期限已满，经原定密机关、单位审核未延长保密期限的，自行解密。</a:t>
            </a:r>
            <a:endParaRPr lang="zh-CN" altLang="en-US" sz="3430"/>
          </a:p>
          <a:p>
            <a:r>
              <a:rPr lang="zh-CN" altLang="en-US" sz="3430">
                <a:solidFill>
                  <a:srgbClr val="C00000"/>
                </a:solidFill>
              </a:rPr>
              <a:t>三是健全保密期限制度</a:t>
            </a:r>
            <a:r>
              <a:rPr lang="zh-CN" altLang="en-US" sz="3430"/>
              <a:t>。针对定密工作实践中未标注保密期限导致解密难的问题，这次修订规定未明确标注保密期限的国家秘密，应当按照保密法规定的相应密级的最长保密期限进行处理。</a:t>
            </a:r>
            <a:endParaRPr lang="zh-CN" altLang="en-US" sz="3430"/>
          </a:p>
          <a:p>
            <a:endParaRPr lang="zh-CN" altLang="en-US" sz="343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 sz="2400">
                <a:solidFill>
                  <a:srgbClr val="C00000"/>
                </a:solidFill>
                <a:sym typeface="+mn-ea"/>
              </a:rPr>
              <a:t>四是增加解密通知的形式</a:t>
            </a:r>
            <a:r>
              <a:rPr lang="zh-CN" altLang="en-US" sz="2400">
                <a:sym typeface="+mn-ea"/>
              </a:rPr>
              <a:t>。为落实解密通知制度，方便国家秘密知悉范围内的机关、单位做好国家秘密载体保密管理、派生国家秘密解密等工作，本次修订增加了解密通知的形式，即解密通知可以单独发布或者以目录形式集中发布。</a:t>
            </a:r>
            <a:endParaRPr lang="zh-CN" altLang="en-US" sz="2400"/>
          </a:p>
          <a:p>
            <a:r>
              <a:rPr lang="zh-CN" altLang="en-US" sz="2400">
                <a:solidFill>
                  <a:srgbClr val="C00000"/>
                </a:solidFill>
                <a:sym typeface="+mn-ea"/>
              </a:rPr>
              <a:t>五是明确未履行解密审核的法律责任</a:t>
            </a:r>
            <a:r>
              <a:rPr lang="zh-CN" altLang="en-US" sz="2400">
                <a:sym typeface="+mn-ea"/>
              </a:rPr>
              <a:t>。为进一步压实解密审核责任，明确定密责任人和承办人未履行解密审核责任的，机关、单位应当及时纠正并进行批评教育；造成严重后果的，依纪依法给予处分并予以通报。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）派生</a:t>
            </a:r>
            <a:r>
              <a:rPr lang="zh-CN" altLang="en-US"/>
              <a:t>定密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zh-CN"/>
              <a:t>2023</a:t>
            </a:r>
            <a:r>
              <a:rPr lang="zh-CN" altLang="en-US"/>
              <a:t>年</a:t>
            </a:r>
            <a:r>
              <a:rPr lang="en-US" altLang="zh-CN"/>
              <a:t>2</a:t>
            </a:r>
            <a:r>
              <a:rPr lang="zh-CN" altLang="en-US"/>
              <a:t>月，国家保密局印发《派生国家秘密定密管理暂行办法》，就派生定密的概念、定密权限、主要情形、定密程序等内容作出规定，对规范派生定密管理工作发挥了重要作用。</a:t>
            </a:r>
            <a:endParaRPr lang="zh-CN" altLang="en-US"/>
          </a:p>
          <a:p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2</a:t>
            </a:r>
            <a:r>
              <a:rPr lang="zh-CN" altLang="en-US"/>
              <a:t>月，新保密法明确了派生定密相关规定；</a:t>
            </a:r>
            <a:endParaRPr lang="zh-CN" altLang="en-US"/>
          </a:p>
          <a:p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7</a:t>
            </a:r>
            <a:r>
              <a:rPr lang="zh-CN" altLang="en-US"/>
              <a:t>月，新保密法实施条例进一步明确了派生定密的</a:t>
            </a:r>
            <a:r>
              <a:rPr lang="en-US" altLang="zh-CN"/>
              <a:t>4</a:t>
            </a:r>
            <a:r>
              <a:rPr lang="zh-CN" altLang="en-US"/>
              <a:t>种主要情形。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zh-CN" altLang="en-US" sz="3430">
                <a:sym typeface="+mn-ea"/>
              </a:rPr>
              <a:t>这次修订落实上述规定，固化派生定密管理工作的实践经验，分别在</a:t>
            </a:r>
            <a:r>
              <a:rPr lang="zh-CN" altLang="en-US" sz="3430">
                <a:solidFill>
                  <a:srgbClr val="C00000"/>
                </a:solidFill>
                <a:sym typeface="+mn-ea"/>
              </a:rPr>
              <a:t>概念、权限、确定、变更和解除程</a:t>
            </a:r>
            <a:r>
              <a:rPr lang="zh-CN" altLang="en-US" sz="3430">
                <a:sym typeface="+mn-ea"/>
              </a:rPr>
              <a:t>序等方面对派生定密进行了细化规定，为机关、单位派生定密提供更加科学、细致的指引。</a:t>
            </a:r>
            <a:endParaRPr lang="zh-CN" altLang="en-US" sz="3430">
              <a:sym typeface="+mn-ea"/>
            </a:endParaRPr>
          </a:p>
          <a:p>
            <a:endParaRPr lang="zh-CN" altLang="en-US" sz="3430"/>
          </a:p>
          <a:p>
            <a:r>
              <a:rPr lang="zh-CN" altLang="en-US" sz="3430">
                <a:sym typeface="+mn-ea"/>
              </a:rPr>
              <a:t>特别需要指出的是，针对派生国家秘密确定不准确、解密困难等问题，《规定》明确了</a:t>
            </a:r>
            <a:r>
              <a:rPr lang="zh-CN" altLang="en-US" sz="3430">
                <a:solidFill>
                  <a:srgbClr val="C00000"/>
                </a:solidFill>
                <a:sym typeface="+mn-ea"/>
              </a:rPr>
              <a:t>请示函询机制</a:t>
            </a:r>
            <a:r>
              <a:rPr lang="zh-CN" altLang="en-US" sz="3430">
                <a:sym typeface="+mn-ea"/>
              </a:rPr>
              <a:t>，规定派生定密的机关、单位对已定密事项是否变更或者解除不明确的，可以向原定密机关、单位请示或者函询，原定密机关、单位应当及时予以答复，对于推动基层机关、单位开展派生国家秘密的变更和解除工作将发挥积极作用。</a:t>
            </a:r>
            <a:endParaRPr lang="zh-CN" altLang="en-US" sz="3430"/>
          </a:p>
          <a:p>
            <a:endParaRPr lang="zh-CN" altLang="en-US" sz="343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）数据汇集保密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随着云计算、大数据、人工智能等新技术的广泛应用，数据信息采集、处理、应用方式发生革命性变革，数据信息汇聚、关联后引发的泄密风险日益凸显。</a:t>
            </a:r>
            <a:endParaRPr lang="zh-CN" altLang="en-US"/>
          </a:p>
          <a:p>
            <a:r>
              <a:rPr lang="zh-CN" altLang="en-US"/>
              <a:t>新保密法及其实施条例新增加了对汇聚、关联后涉及国家秘密数据管理的原则性规定。</a:t>
            </a:r>
            <a:endParaRPr lang="zh-CN" altLang="en-US"/>
          </a:p>
          <a:p>
            <a:r>
              <a:rPr lang="zh-CN" altLang="en-US"/>
              <a:t>这次《规定》修订呼应上述要求，结合工作实际，首次明确了数据汇聚在定密方面的具体要求。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095"/>
            <a:ext cx="8229600" cy="4858385"/>
          </a:xfrm>
        </p:spPr>
        <p:txBody>
          <a:bodyPr>
            <a:normAutofit fontScale="70000"/>
          </a:bodyPr>
          <a:p>
            <a:pPr>
              <a:lnSpc>
                <a:spcPct val="110000"/>
              </a:lnSpc>
            </a:pPr>
            <a:r>
              <a:rPr lang="zh-CN" altLang="en-US" sz="3430">
                <a:sym typeface="+mn-ea"/>
              </a:rPr>
              <a:t>机关、单位对汇聚、关联后属于国家秘密的数据，应当依法加强安全管理，防范数据泄露。</a:t>
            </a:r>
            <a:endParaRPr lang="zh-CN" altLang="en-US" sz="3430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430">
                <a:sym typeface="+mn-ea"/>
              </a:rPr>
              <a:t>经汇聚、关联后，有关数据符合保密事项范围有关规定的，应当依法确定为国家秘密；</a:t>
            </a:r>
            <a:endParaRPr lang="zh-CN" altLang="en-US" sz="3430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430">
                <a:sym typeface="+mn-ea"/>
              </a:rPr>
              <a:t>有关数据达到一定精度或者规模，泄露后可能损害国家安全和利益，但现行保密事项范围没有相关规定的，机关、单位应当先行采取保护措施，并报主管该行业、领域的有关中央和国家机关确定。</a:t>
            </a:r>
            <a:endParaRPr lang="zh-CN" altLang="en-US" sz="3430"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430">
                <a:sym typeface="+mn-ea"/>
              </a:rPr>
              <a:t>中央和国家机关应当加强对本行业、本领域数据汇聚、关联定密工作的指导，制定、修订保密事项范围时，积极完善数据汇聚定密依据。</a:t>
            </a:r>
            <a:endParaRPr lang="zh-CN" altLang="en-US" sz="3430"/>
          </a:p>
          <a:p>
            <a:endParaRPr lang="zh-CN" altLang="en-US" sz="343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600" dirty="0" smtClean="0"/>
              <a:t>（</a:t>
            </a:r>
            <a:r>
              <a:rPr kumimoji="1" lang="zh-CN" altLang="en-US" sz="3600" dirty="0" smtClean="0"/>
              <a:t>四）</a:t>
            </a:r>
            <a:r>
              <a:rPr kumimoji="1" lang="en-US" altLang="zh-CN" sz="3600" dirty="0" smtClean="0"/>
              <a:t>《</a:t>
            </a:r>
            <a:r>
              <a:rPr lang="zh-CN" altLang="en-US" sz="3600" b="1" dirty="0"/>
              <a:t>派生国家秘密定密管理暂行</a:t>
            </a:r>
            <a:r>
              <a:rPr lang="zh-CN" altLang="en-US" sz="3600" b="1" dirty="0" smtClean="0"/>
              <a:t>办法</a:t>
            </a:r>
            <a:r>
              <a:rPr kumimoji="1" lang="en-US" altLang="zh-CN" sz="3600" dirty="0" smtClean="0"/>
              <a:t>》</a:t>
            </a:r>
            <a:endParaRPr kumimoji="1" lang="zh-CN" altLang="en-US" sz="3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8157"/>
            <a:ext cx="8229600" cy="4390049"/>
          </a:xfr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5.</a:t>
            </a:r>
            <a:r>
              <a:rPr lang="zh-CN" altLang="en-US" b="1" dirty="0" smtClean="0"/>
              <a:t>国家</a:t>
            </a:r>
            <a:r>
              <a:rPr lang="zh-CN" altLang="en-US" b="1" dirty="0"/>
              <a:t>秘密解密暂行</a:t>
            </a:r>
            <a:r>
              <a:rPr lang="zh-CN" altLang="en-US" b="1" dirty="0" smtClean="0"/>
              <a:t>办法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第一章 </a:t>
            </a:r>
            <a:r>
              <a:rPr lang="zh-CN" altLang="en-US" dirty="0" smtClean="0"/>
              <a:t>总则</a:t>
            </a:r>
            <a:endParaRPr lang="zh-CN" altLang="en-US" dirty="0" smtClean="0"/>
          </a:p>
          <a:p>
            <a:r>
              <a:rPr lang="zh-CN" altLang="en-US" dirty="0"/>
              <a:t>第二章 解密</a:t>
            </a:r>
            <a:r>
              <a:rPr lang="zh-CN" altLang="en-US" dirty="0" smtClean="0"/>
              <a:t>主体</a:t>
            </a:r>
            <a:endParaRPr lang="zh-CN" altLang="en-US" dirty="0" smtClean="0"/>
          </a:p>
          <a:p>
            <a:r>
              <a:rPr lang="zh-CN" altLang="en-US" dirty="0"/>
              <a:t>第三章 解密</a:t>
            </a:r>
            <a:r>
              <a:rPr lang="zh-CN" altLang="en-US" dirty="0" smtClean="0"/>
              <a:t>条件</a:t>
            </a:r>
            <a:endParaRPr lang="zh-CN" altLang="en-US" dirty="0" smtClean="0"/>
          </a:p>
          <a:p>
            <a:r>
              <a:rPr lang="zh-CN" altLang="en-US" dirty="0"/>
              <a:t>第四章 解密</a:t>
            </a:r>
            <a:r>
              <a:rPr lang="zh-CN" altLang="en-US" dirty="0" smtClean="0"/>
              <a:t>程序</a:t>
            </a:r>
            <a:endParaRPr lang="zh-CN" altLang="en-US" dirty="0" smtClean="0"/>
          </a:p>
          <a:p>
            <a:r>
              <a:rPr lang="zh-CN" altLang="en-US" dirty="0"/>
              <a:t>第五章 解密后</a:t>
            </a:r>
            <a:r>
              <a:rPr lang="zh-CN" altLang="en-US" dirty="0" smtClean="0"/>
              <a:t>管理</a:t>
            </a:r>
            <a:endParaRPr lang="zh-CN" altLang="en-US" dirty="0" smtClean="0"/>
          </a:p>
          <a:p>
            <a:r>
              <a:rPr lang="zh-CN" altLang="en-US" dirty="0"/>
              <a:t>第六章 附则</a:t>
            </a:r>
            <a:endParaRPr lang="zh-CN" altLang="en-US" dirty="0" smtClean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88" y="404664"/>
            <a:ext cx="8229600" cy="2656286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56992"/>
            <a:ext cx="8212088" cy="312465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6.</a:t>
            </a:r>
            <a:r>
              <a:rPr lang="zh-CN" altLang="en-US"/>
              <a:t>各地方、各行业定密管理</a:t>
            </a:r>
            <a:r>
              <a:rPr lang="zh-CN" altLang="en-US"/>
              <a:t>规定</a:t>
            </a:r>
            <a:endParaRPr lang="zh-CN" altLang="en-US"/>
          </a:p>
        </p:txBody>
      </p:sp>
      <p:pic>
        <p:nvPicPr>
          <p:cNvPr id="4" name="内容占位符 3" descr="截屏2025-03-04 上午10.28.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25600"/>
            <a:ext cx="8229600" cy="447484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5-03-04 上午10.32.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4025"/>
            <a:ext cx="9144000" cy="594931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5-03-04 上午11.15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645" y="0"/>
            <a:ext cx="64420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7.</a:t>
            </a:r>
            <a:r>
              <a:rPr kumimoji="1" lang="zh-CN" altLang="en-US" dirty="0" smtClean="0"/>
              <a:t>各行业、领域保密事项范围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1410335"/>
            <a:ext cx="42227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国家秘密载体保密管理规定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32" y="2079985"/>
            <a:ext cx="8229600" cy="475635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2" y="3025476"/>
            <a:ext cx="8532440" cy="49090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68" y="3751311"/>
            <a:ext cx="8184232" cy="4698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608" y="51571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resource_record_key" val="{&quot;65&quot;:[20227929],&quot;70&quot;:[3314378,3314370,3321638]}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3033</Words>
  <Application>WPS 演示</Application>
  <PresentationFormat>全屏显示(4:3)</PresentationFormat>
  <Paragraphs>144</Paragraphs>
  <Slides>52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5" baseType="lpstr">
      <vt:lpstr>Arial</vt:lpstr>
      <vt:lpstr>宋体</vt:lpstr>
      <vt:lpstr>Wingdings</vt:lpstr>
      <vt:lpstr>Wingdings 2</vt:lpstr>
      <vt:lpstr>Arial</vt:lpstr>
      <vt:lpstr>Cambria</vt:lpstr>
      <vt:lpstr>Maiandra GD</vt:lpstr>
      <vt:lpstr>隶书</vt:lpstr>
      <vt:lpstr>微软雅黑</vt:lpstr>
      <vt:lpstr>Arial Unicode MS</vt:lpstr>
      <vt:lpstr>华文楷体</vt:lpstr>
      <vt:lpstr>Calibri</vt:lpstr>
      <vt:lpstr>龙腾四海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国家秘密定密管理规定</vt:lpstr>
      <vt:lpstr>PowerPoint 演示文稿</vt:lpstr>
      <vt:lpstr>PowerPoint 演示文稿</vt:lpstr>
      <vt:lpstr>PowerPoint 演示文稿</vt:lpstr>
      <vt:lpstr>PowerPoint 演示文稿</vt:lpstr>
      <vt:lpstr>《国家秘密定密管理规定》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二、《国家秘密定密管理规定》</vt:lpstr>
      <vt:lpstr>PowerPoint 演示文稿</vt:lpstr>
      <vt:lpstr>PowerPoint 演示文稿</vt:lpstr>
      <vt:lpstr>（三）《国家秘密定密管理规定》 2025年5月1日施行</vt:lpstr>
      <vt:lpstr>PowerPoint 演示文稿</vt:lpstr>
      <vt:lpstr>（1）定密依据的修订</vt:lpstr>
      <vt:lpstr>PowerPoint 演示文稿</vt:lpstr>
      <vt:lpstr>（2）定密授权的修订</vt:lpstr>
      <vt:lpstr>（3）解密制度的修订</vt:lpstr>
      <vt:lpstr>PowerPoint 演示文稿</vt:lpstr>
      <vt:lpstr>（4）派生定密</vt:lpstr>
      <vt:lpstr>PowerPoint 演示文稿</vt:lpstr>
      <vt:lpstr>（5）数据汇集保密管理</vt:lpstr>
      <vt:lpstr>PowerPoint 演示文稿</vt:lpstr>
      <vt:lpstr>（四）《派生国家秘密定密管理暂行办法》</vt:lpstr>
      <vt:lpstr>5.国家秘密解密暂行办法</vt:lpstr>
      <vt:lpstr>PowerPoint 演示文稿</vt:lpstr>
      <vt:lpstr>6.各地方、各行业定密管理规定</vt:lpstr>
      <vt:lpstr>PowerPoint 演示文稿</vt:lpstr>
      <vt:lpstr>PowerPoint 演示文稿</vt:lpstr>
      <vt:lpstr>7.各行业、领域保密事项范围</vt:lpstr>
      <vt:lpstr>PowerPoint 演示文稿</vt:lpstr>
      <vt:lpstr>国家秘密载体保密管理规定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定密与定密工作</dc:title>
  <dc:creator>lenovo</dc:creator>
  <cp:lastModifiedBy>王泰然</cp:lastModifiedBy>
  <cp:revision>57</cp:revision>
  <dcterms:created xsi:type="dcterms:W3CDTF">2026-03-12T11:50:00Z</dcterms:created>
  <dcterms:modified xsi:type="dcterms:W3CDTF">2026-06-27T04:29:03Z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F62878EC99C0A1FDC48AB269E11624C5_43</vt:lpwstr>
  </property>
  <property fmtid="{D5CDD505-2E9C-101B-9397-08002B2CF9AE}" pid="3" name="KSOProductBuildVer">
    <vt:lpwstr>2052-12.1.0.26375</vt:lpwstr>
  </property>
</Properties>
</file>