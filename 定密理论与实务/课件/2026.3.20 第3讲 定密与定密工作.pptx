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8" r:id="rId3"/>
    <p:sldId id="297" r:id="rId4"/>
    <p:sldId id="343" r:id="rId5"/>
    <p:sldId id="342" r:id="rId6"/>
    <p:sldId id="259" r:id="rId7"/>
    <p:sldId id="296" r:id="rId8"/>
    <p:sldId id="293" r:id="rId9"/>
    <p:sldId id="260" r:id="rId10"/>
    <p:sldId id="294" r:id="rId11"/>
    <p:sldId id="292" r:id="rId12"/>
    <p:sldId id="263" r:id="rId13"/>
    <p:sldId id="264" r:id="rId14"/>
    <p:sldId id="265" r:id="rId15"/>
    <p:sldId id="266" r:id="rId16"/>
    <p:sldId id="267" r:id="rId17"/>
    <p:sldId id="268" r:id="rId19"/>
    <p:sldId id="269" r:id="rId20"/>
    <p:sldId id="270" r:id="rId21"/>
    <p:sldId id="285" r:id="rId22"/>
    <p:sldId id="286" r:id="rId23"/>
    <p:sldId id="287" r:id="rId24"/>
    <p:sldId id="288" r:id="rId25"/>
    <p:sldId id="271" r:id="rId26"/>
    <p:sldId id="272" r:id="rId27"/>
    <p:sldId id="273" r:id="rId28"/>
    <p:sldId id="339" r:id="rId29"/>
    <p:sldId id="340" r:id="rId30"/>
    <p:sldId id="341" r:id="rId31"/>
    <p:sldId id="274" r:id="rId32"/>
    <p:sldId id="275" r:id="rId33"/>
    <p:sldId id="276" r:id="rId34"/>
    <p:sldId id="277" r:id="rId35"/>
    <p:sldId id="278" r:id="rId36"/>
    <p:sldId id="279" r:id="rId37"/>
    <p:sldId id="280" r:id="rId38"/>
    <p:sldId id="281" r:id="rId39"/>
    <p:sldId id="282" r:id="rId40"/>
    <p:sldId id="289" r:id="rId41"/>
    <p:sldId id="290" r:id="rId42"/>
    <p:sldId id="283" r:id="rId43"/>
    <p:sldId id="333" r:id="rId44"/>
    <p:sldId id="334" r:id="rId4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5"/>
    <p:restoredTop sz="75627"/>
  </p:normalViewPr>
  <p:slideViewPr>
    <p:cSldViewPr showGuides="1">
      <p:cViewPr varScale="1">
        <p:scale>
          <a:sx n="81" d="100"/>
          <a:sy n="81" d="100"/>
        </p:scale>
        <p:origin x="1488"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4EF2455-B651-8545-AAA8-83322AF91B46}" type="doc">
      <dgm:prSet loTypeId="urn:microsoft.com/office/officeart/2005/8/layout/vList5" loCatId="" qsTypeId="urn:microsoft.com/office/officeart/2005/8/quickstyle/simple4" qsCatId="simple" csTypeId="urn:microsoft.com/office/officeart/2005/8/colors/accent1_2" csCatId="accent1" phldr="1"/>
      <dgm:spPr/>
      <dgm:t>
        <a:bodyPr/>
        <a:lstStyle/>
        <a:p>
          <a:endParaRPr lang="zh-CN" altLang="en-US"/>
        </a:p>
      </dgm:t>
    </dgm:pt>
    <dgm:pt modelId="{925A2E4B-13AE-3240-B2E3-E89B290FF26C}">
      <dgm:prSet phldrT="[文本]"/>
      <dgm:spPr/>
      <dgm:t>
        <a:bodyPr/>
        <a:lstStyle/>
        <a:p>
          <a:r>
            <a:rPr lang="zh-CN" altLang="en-US" dirty="0"/>
            <a:t>定密权力与法律责任相统一</a:t>
          </a:r>
        </a:p>
      </dgm:t>
    </dgm:pt>
    <dgm:pt modelId="{3774FDFE-1567-F246-B72A-B9B7DC7D705F}" cxnId="{087B89D3-77E3-104A-A013-AA1795201AAA}" type="parTrans">
      <dgm:prSet/>
      <dgm:spPr/>
      <dgm:t>
        <a:bodyPr/>
        <a:lstStyle/>
        <a:p>
          <a:endParaRPr lang="zh-CN" altLang="en-US"/>
        </a:p>
      </dgm:t>
    </dgm:pt>
    <dgm:pt modelId="{44D5FE40-89E5-384D-A1F1-7F6FFF44DC40}" cxnId="{087B89D3-77E3-104A-A013-AA1795201AAA}" type="sibTrans">
      <dgm:prSet/>
      <dgm:spPr/>
      <dgm:t>
        <a:bodyPr/>
        <a:lstStyle/>
        <a:p>
          <a:endParaRPr lang="zh-CN" altLang="en-US"/>
        </a:p>
      </dgm:t>
    </dgm:pt>
    <dgm:pt modelId="{13C340B9-1A48-9148-BEAB-683DC63F4519}">
      <dgm:prSet phldrT="[文本]"/>
      <dgm:spPr/>
      <dgm:t>
        <a:bodyPr/>
        <a:lstStyle/>
        <a:p>
          <a:r>
            <a:rPr lang="zh-CN" altLang="en-US" dirty="0"/>
            <a:t>滥用定密权，导致定密结果不准</a:t>
          </a:r>
        </a:p>
      </dgm:t>
    </dgm:pt>
    <dgm:pt modelId="{6F5E953B-070F-5244-A456-559361BEFAE6}" cxnId="{131FCF43-D227-0146-8226-6AC487042B35}" type="parTrans">
      <dgm:prSet/>
      <dgm:spPr/>
      <dgm:t>
        <a:bodyPr/>
        <a:lstStyle/>
        <a:p>
          <a:endParaRPr lang="zh-CN" altLang="en-US"/>
        </a:p>
      </dgm:t>
    </dgm:pt>
    <dgm:pt modelId="{9C9B4D09-57E2-6A42-9EBC-3B7FA06515F6}" cxnId="{131FCF43-D227-0146-8226-6AC487042B35}" type="sibTrans">
      <dgm:prSet/>
      <dgm:spPr/>
      <dgm:t>
        <a:bodyPr/>
        <a:lstStyle/>
        <a:p>
          <a:endParaRPr lang="zh-CN" altLang="en-US"/>
        </a:p>
      </dgm:t>
    </dgm:pt>
    <dgm:pt modelId="{6777DB81-BD1B-4342-AC2E-A42A008837A4}">
      <dgm:prSet phldrT="[文本]"/>
      <dgm:spPr/>
      <dgm:t>
        <a:bodyPr/>
        <a:lstStyle/>
        <a:p>
          <a:r>
            <a:rPr lang="zh-CN" altLang="en-US" dirty="0"/>
            <a:t>不依法履行定密职责或行政不作为</a:t>
          </a:r>
        </a:p>
      </dgm:t>
    </dgm:pt>
    <dgm:pt modelId="{312A417A-3411-7243-8195-997D78B09186}" cxnId="{95D3D5B2-C234-CC4A-AEF4-7BDAEEC861E9}" type="parTrans">
      <dgm:prSet/>
      <dgm:spPr/>
      <dgm:t>
        <a:bodyPr/>
        <a:lstStyle/>
        <a:p>
          <a:endParaRPr lang="zh-CN" altLang="en-US"/>
        </a:p>
      </dgm:t>
    </dgm:pt>
    <dgm:pt modelId="{422FAE25-D33F-784B-929B-BA4C532E0DB3}" cxnId="{95D3D5B2-C234-CC4A-AEF4-7BDAEEC861E9}" type="sibTrans">
      <dgm:prSet/>
      <dgm:spPr/>
      <dgm:t>
        <a:bodyPr/>
        <a:lstStyle/>
        <a:p>
          <a:endParaRPr lang="zh-CN" altLang="en-US"/>
        </a:p>
      </dgm:t>
    </dgm:pt>
    <dgm:pt modelId="{108531A2-76DB-0F42-B394-D71540F23AB3}">
      <dgm:prSet phldrT="[文本]"/>
      <dgm:spPr/>
      <dgm:t>
        <a:bodyPr/>
        <a:lstStyle/>
        <a:p>
          <a:r>
            <a:rPr lang="zh-CN" altLang="en-US" dirty="0"/>
            <a:t>定密程序与定密结果相统一</a:t>
          </a:r>
        </a:p>
      </dgm:t>
    </dgm:pt>
    <dgm:pt modelId="{F58706AB-5792-2E49-B2F2-C4F3EAD37C45}" cxnId="{DB845594-A9EF-0246-9950-597D5D18D60A}" type="parTrans">
      <dgm:prSet/>
      <dgm:spPr/>
      <dgm:t>
        <a:bodyPr/>
        <a:lstStyle/>
        <a:p>
          <a:endParaRPr lang="zh-CN" altLang="en-US"/>
        </a:p>
      </dgm:t>
    </dgm:pt>
    <dgm:pt modelId="{70FA859D-0450-494C-A6D0-794DCC615560}" cxnId="{DB845594-A9EF-0246-9950-597D5D18D60A}" type="sibTrans">
      <dgm:prSet/>
      <dgm:spPr/>
      <dgm:t>
        <a:bodyPr/>
        <a:lstStyle/>
        <a:p>
          <a:endParaRPr lang="zh-CN" altLang="en-US"/>
        </a:p>
      </dgm:t>
    </dgm:pt>
    <dgm:pt modelId="{85C2E969-EA40-8148-9051-1A9AFB3442E7}">
      <dgm:prSet phldrT="[文本]"/>
      <dgm:spPr/>
      <dgm:t>
        <a:bodyPr/>
        <a:lstStyle/>
        <a:p>
          <a:r>
            <a:rPr lang="zh-CN" altLang="en-US" dirty="0"/>
            <a:t>严格落实定密责任</a:t>
          </a:r>
        </a:p>
      </dgm:t>
    </dgm:pt>
    <dgm:pt modelId="{96020DFF-2005-AE40-889F-213D934FCF42}" cxnId="{F72A9006-0699-9545-A9E7-3A4D49BD22DF}" type="parTrans">
      <dgm:prSet/>
      <dgm:spPr/>
      <dgm:t>
        <a:bodyPr/>
        <a:lstStyle/>
        <a:p>
          <a:endParaRPr lang="zh-CN" altLang="en-US"/>
        </a:p>
      </dgm:t>
    </dgm:pt>
    <dgm:pt modelId="{05CCCEB7-C375-C346-80F7-91BAF02D700B}" cxnId="{F72A9006-0699-9545-A9E7-3A4D49BD22DF}" type="sibTrans">
      <dgm:prSet/>
      <dgm:spPr/>
      <dgm:t>
        <a:bodyPr/>
        <a:lstStyle/>
        <a:p>
          <a:endParaRPr lang="zh-CN" altLang="en-US"/>
        </a:p>
      </dgm:t>
    </dgm:pt>
    <dgm:pt modelId="{5E1135D6-514B-5546-BD5B-311B05CAFA11}">
      <dgm:prSet phldrT="[文本]"/>
      <dgm:spPr/>
      <dgm:t>
        <a:bodyPr/>
        <a:lstStyle/>
        <a:p>
          <a:r>
            <a:rPr lang="zh-CN" altLang="en-US" dirty="0"/>
            <a:t>严格执行保密事项范围</a:t>
          </a:r>
        </a:p>
      </dgm:t>
    </dgm:pt>
    <dgm:pt modelId="{2F277F0F-1ADD-5A48-BBBF-2F827B87C462}" cxnId="{A861ABA2-82E0-C64E-B113-12F2671BCC9A}" type="parTrans">
      <dgm:prSet/>
      <dgm:spPr/>
      <dgm:t>
        <a:bodyPr/>
        <a:lstStyle/>
        <a:p>
          <a:endParaRPr lang="zh-CN" altLang="en-US"/>
        </a:p>
      </dgm:t>
    </dgm:pt>
    <dgm:pt modelId="{CE6ACA2F-9E57-B642-BFE7-613BFD5FF41C}" cxnId="{A861ABA2-82E0-C64E-B113-12F2671BCC9A}" type="sibTrans">
      <dgm:prSet/>
      <dgm:spPr/>
      <dgm:t>
        <a:bodyPr/>
        <a:lstStyle/>
        <a:p>
          <a:endParaRPr lang="zh-CN" altLang="en-US"/>
        </a:p>
      </dgm:t>
    </dgm:pt>
    <dgm:pt modelId="{A7D005FC-018A-B241-92A7-5205EDC5E08C}">
      <dgm:prSet phldrT="[文本]"/>
      <dgm:spPr/>
      <dgm:t>
        <a:bodyPr/>
        <a:lstStyle/>
        <a:p>
          <a:r>
            <a:rPr lang="zh-CN" altLang="en-US" dirty="0"/>
            <a:t>主观判断和客观标准相统一</a:t>
          </a:r>
        </a:p>
      </dgm:t>
    </dgm:pt>
    <dgm:pt modelId="{D9CBE370-7C3B-1341-BE8B-B781B0E339E5}" cxnId="{1C8331BC-9347-734F-9500-E15F1F90C59D}" type="parTrans">
      <dgm:prSet/>
      <dgm:spPr/>
      <dgm:t>
        <a:bodyPr/>
        <a:lstStyle/>
        <a:p>
          <a:endParaRPr lang="zh-CN" altLang="en-US"/>
        </a:p>
      </dgm:t>
    </dgm:pt>
    <dgm:pt modelId="{43E04C00-A53F-1741-988E-6610702C4606}" cxnId="{1C8331BC-9347-734F-9500-E15F1F90C59D}" type="sibTrans">
      <dgm:prSet/>
      <dgm:spPr/>
      <dgm:t>
        <a:bodyPr/>
        <a:lstStyle/>
        <a:p>
          <a:endParaRPr lang="zh-CN" altLang="en-US"/>
        </a:p>
      </dgm:t>
    </dgm:pt>
    <dgm:pt modelId="{856CADF4-5281-8546-924C-C029E11FCF08}">
      <dgm:prSet phldrT="[文本]"/>
      <dgm:spPr/>
      <dgm:t>
        <a:bodyPr/>
        <a:lstStyle/>
        <a:p>
          <a:r>
            <a:rPr lang="zh-CN" altLang="en-US" dirty="0"/>
            <a:t>正确使用自由裁量权</a:t>
          </a:r>
        </a:p>
      </dgm:t>
    </dgm:pt>
    <dgm:pt modelId="{E3EA1EA5-1B50-C946-9DCF-2A17765FC437}" cxnId="{718C4190-771A-324B-8C1A-F93C10A53FFF}" type="parTrans">
      <dgm:prSet/>
      <dgm:spPr/>
      <dgm:t>
        <a:bodyPr/>
        <a:lstStyle/>
        <a:p>
          <a:endParaRPr lang="zh-CN" altLang="en-US"/>
        </a:p>
      </dgm:t>
    </dgm:pt>
    <dgm:pt modelId="{1ABA8370-C925-8C48-8D8A-4DD659B1250D}" cxnId="{718C4190-771A-324B-8C1A-F93C10A53FFF}" type="sibTrans">
      <dgm:prSet/>
      <dgm:spPr/>
      <dgm:t>
        <a:bodyPr/>
        <a:lstStyle/>
        <a:p>
          <a:endParaRPr lang="zh-CN" altLang="en-US"/>
        </a:p>
      </dgm:t>
    </dgm:pt>
    <dgm:pt modelId="{B8A7268E-F787-F846-A07D-023082F58310}">
      <dgm:prSet phldrT="[文本]"/>
      <dgm:spPr/>
      <dgm:t>
        <a:bodyPr/>
        <a:lstStyle/>
        <a:p>
          <a:r>
            <a:rPr lang="zh-CN" altLang="en-US" dirty="0"/>
            <a:t>准确判断保密事项范围的特指性</a:t>
          </a:r>
        </a:p>
      </dgm:t>
    </dgm:pt>
    <dgm:pt modelId="{C4132A11-31EE-6844-94DA-94B1075845C9}" cxnId="{28B4F847-9123-7D45-AA4E-61DC73113716}" type="parTrans">
      <dgm:prSet/>
      <dgm:spPr/>
      <dgm:t>
        <a:bodyPr/>
        <a:lstStyle/>
        <a:p>
          <a:endParaRPr lang="zh-CN" altLang="en-US"/>
        </a:p>
      </dgm:t>
    </dgm:pt>
    <dgm:pt modelId="{69E6C45D-977B-4F42-8C78-3C8517BC0FEC}" cxnId="{28B4F847-9123-7D45-AA4E-61DC73113716}" type="sibTrans">
      <dgm:prSet/>
      <dgm:spPr/>
      <dgm:t>
        <a:bodyPr/>
        <a:lstStyle/>
        <a:p>
          <a:endParaRPr lang="zh-CN" altLang="en-US"/>
        </a:p>
      </dgm:t>
    </dgm:pt>
    <dgm:pt modelId="{752EE12B-FA36-784A-B3E1-891D902317AA}">
      <dgm:prSet phldrT="[文本]"/>
      <dgm:spPr/>
      <dgm:t>
        <a:bodyPr/>
        <a:lstStyle/>
        <a:p>
          <a:r>
            <a:rPr lang="zh-CN" altLang="en-US" dirty="0"/>
            <a:t>定密工作乱作为</a:t>
          </a:r>
        </a:p>
      </dgm:t>
    </dgm:pt>
    <dgm:pt modelId="{90EBC576-7248-1245-B587-9697B18BFBB5}" cxnId="{E314B18C-A88B-8A43-9C33-F845FF448C93}" type="parTrans">
      <dgm:prSet/>
      <dgm:spPr/>
      <dgm:t>
        <a:bodyPr/>
        <a:lstStyle/>
        <a:p>
          <a:endParaRPr lang="zh-CN" altLang="en-US"/>
        </a:p>
      </dgm:t>
    </dgm:pt>
    <dgm:pt modelId="{529F4AD3-AF44-8046-A11E-639029041D6E}" cxnId="{E314B18C-A88B-8A43-9C33-F845FF448C93}" type="sibTrans">
      <dgm:prSet/>
      <dgm:spPr/>
      <dgm:t>
        <a:bodyPr/>
        <a:lstStyle/>
        <a:p>
          <a:endParaRPr lang="zh-CN" altLang="en-US"/>
        </a:p>
      </dgm:t>
    </dgm:pt>
    <dgm:pt modelId="{B899953B-5FAD-CF48-A52B-844565095ADC}">
      <dgm:prSet phldrT="[文本]"/>
      <dgm:spPr/>
      <dgm:t>
        <a:bodyPr/>
        <a:lstStyle/>
        <a:p>
          <a:r>
            <a:rPr lang="zh-CN" altLang="en-US" dirty="0"/>
            <a:t>切实加强定密监督</a:t>
          </a:r>
        </a:p>
      </dgm:t>
    </dgm:pt>
    <dgm:pt modelId="{583D9A63-2DE4-FE47-AB95-93F6BEBB4A67}" cxnId="{2AF78741-2487-7547-89B8-448520A74C88}" type="parTrans">
      <dgm:prSet/>
      <dgm:spPr/>
      <dgm:t>
        <a:bodyPr/>
        <a:lstStyle/>
        <a:p>
          <a:endParaRPr lang="zh-CN" altLang="en-US"/>
        </a:p>
      </dgm:t>
    </dgm:pt>
    <dgm:pt modelId="{8F1A0200-7CAC-F34B-8D99-343B99A5382C}" cxnId="{2AF78741-2487-7547-89B8-448520A74C88}" type="sibTrans">
      <dgm:prSet/>
      <dgm:spPr/>
      <dgm:t>
        <a:bodyPr/>
        <a:lstStyle/>
        <a:p>
          <a:endParaRPr lang="zh-CN" altLang="en-US"/>
        </a:p>
      </dgm:t>
    </dgm:pt>
    <dgm:pt modelId="{E99DB24B-B8FD-1646-A0FB-89836A1E5D18}">
      <dgm:prSet phldrT="[文本]"/>
      <dgm:spPr/>
      <dgm:t>
        <a:bodyPr/>
        <a:lstStyle/>
        <a:p>
          <a:r>
            <a:rPr lang="zh-CN" altLang="en-US" dirty="0"/>
            <a:t>及时修正主观判断误差</a:t>
          </a:r>
        </a:p>
      </dgm:t>
    </dgm:pt>
    <dgm:pt modelId="{A24F8410-1281-2648-BB4F-1D4A81AF70CE}" cxnId="{347A386B-6EB1-554F-B158-1BCF92A6D206}" type="parTrans">
      <dgm:prSet/>
      <dgm:spPr/>
      <dgm:t>
        <a:bodyPr/>
        <a:lstStyle/>
        <a:p>
          <a:endParaRPr lang="zh-CN" altLang="en-US"/>
        </a:p>
      </dgm:t>
    </dgm:pt>
    <dgm:pt modelId="{2C28FFA2-AA28-0F44-AF24-BC93BE95BDA8}" cxnId="{347A386B-6EB1-554F-B158-1BCF92A6D206}" type="sibTrans">
      <dgm:prSet/>
      <dgm:spPr/>
      <dgm:t>
        <a:bodyPr/>
        <a:lstStyle/>
        <a:p>
          <a:endParaRPr lang="zh-CN" altLang="en-US"/>
        </a:p>
      </dgm:t>
    </dgm:pt>
    <dgm:pt modelId="{28CAD982-4C2E-DC4F-B8E9-FF86353D7221}" type="pres">
      <dgm:prSet presAssocID="{14EF2455-B651-8545-AAA8-83322AF91B46}" presName="Name0" presStyleCnt="0">
        <dgm:presLayoutVars>
          <dgm:dir/>
          <dgm:animLvl val="lvl"/>
          <dgm:resizeHandles val="exact"/>
        </dgm:presLayoutVars>
      </dgm:prSet>
      <dgm:spPr/>
      <dgm:t>
        <a:bodyPr/>
        <a:lstStyle/>
        <a:p>
          <a:endParaRPr lang="zh-CN" altLang="en-US"/>
        </a:p>
      </dgm:t>
    </dgm:pt>
    <dgm:pt modelId="{25587BB7-8D7D-C647-9715-898D0AB7F7DA}" type="pres">
      <dgm:prSet presAssocID="{925A2E4B-13AE-3240-B2E3-E89B290FF26C}" presName="linNode" presStyleCnt="0"/>
      <dgm:spPr/>
    </dgm:pt>
    <dgm:pt modelId="{D622100A-A2DC-7940-A2A3-4039DB37765E}" type="pres">
      <dgm:prSet presAssocID="{925A2E4B-13AE-3240-B2E3-E89B290FF26C}" presName="parentText" presStyleLbl="node1" presStyleIdx="0" presStyleCnt="3">
        <dgm:presLayoutVars>
          <dgm:chMax val="1"/>
          <dgm:bulletEnabled val="1"/>
        </dgm:presLayoutVars>
      </dgm:prSet>
      <dgm:spPr/>
      <dgm:t>
        <a:bodyPr/>
        <a:lstStyle/>
        <a:p>
          <a:endParaRPr lang="zh-CN" altLang="en-US"/>
        </a:p>
      </dgm:t>
    </dgm:pt>
    <dgm:pt modelId="{BCF8A816-48A4-D94B-BC16-206D3F6FF6AF}" type="pres">
      <dgm:prSet presAssocID="{925A2E4B-13AE-3240-B2E3-E89B290FF26C}" presName="descendantText" presStyleLbl="alignAccFollowNode1" presStyleIdx="0" presStyleCnt="3">
        <dgm:presLayoutVars>
          <dgm:bulletEnabled val="1"/>
        </dgm:presLayoutVars>
      </dgm:prSet>
      <dgm:spPr/>
      <dgm:t>
        <a:bodyPr/>
        <a:lstStyle/>
        <a:p>
          <a:endParaRPr lang="zh-CN" altLang="en-US"/>
        </a:p>
      </dgm:t>
    </dgm:pt>
    <dgm:pt modelId="{345CAECD-BFE6-6E47-8280-BECE66AA993F}" type="pres">
      <dgm:prSet presAssocID="{44D5FE40-89E5-384D-A1F1-7F6FFF44DC40}" presName="sp" presStyleCnt="0"/>
      <dgm:spPr/>
    </dgm:pt>
    <dgm:pt modelId="{589BA605-DB2A-5745-BCF5-DFB686284FFE}" type="pres">
      <dgm:prSet presAssocID="{108531A2-76DB-0F42-B394-D71540F23AB3}" presName="linNode" presStyleCnt="0"/>
      <dgm:spPr/>
    </dgm:pt>
    <dgm:pt modelId="{E5AB982F-ADDA-D94D-A282-6CA5C3E94AED}" type="pres">
      <dgm:prSet presAssocID="{108531A2-76DB-0F42-B394-D71540F23AB3}" presName="parentText" presStyleLbl="node1" presStyleIdx="1" presStyleCnt="3">
        <dgm:presLayoutVars>
          <dgm:chMax val="1"/>
          <dgm:bulletEnabled val="1"/>
        </dgm:presLayoutVars>
      </dgm:prSet>
      <dgm:spPr/>
      <dgm:t>
        <a:bodyPr/>
        <a:lstStyle/>
        <a:p>
          <a:endParaRPr lang="zh-CN" altLang="en-US"/>
        </a:p>
      </dgm:t>
    </dgm:pt>
    <dgm:pt modelId="{740D3BF3-FC6E-9340-BAD6-C5F2CBB4E496}" type="pres">
      <dgm:prSet presAssocID="{108531A2-76DB-0F42-B394-D71540F23AB3}" presName="descendantText" presStyleLbl="alignAccFollowNode1" presStyleIdx="1" presStyleCnt="3">
        <dgm:presLayoutVars>
          <dgm:bulletEnabled val="1"/>
        </dgm:presLayoutVars>
      </dgm:prSet>
      <dgm:spPr/>
      <dgm:t>
        <a:bodyPr/>
        <a:lstStyle/>
        <a:p>
          <a:endParaRPr lang="zh-CN" altLang="en-US"/>
        </a:p>
      </dgm:t>
    </dgm:pt>
    <dgm:pt modelId="{B1817EE5-299C-2E48-B3BC-87D4644C841C}" type="pres">
      <dgm:prSet presAssocID="{70FA859D-0450-494C-A6D0-794DCC615560}" presName="sp" presStyleCnt="0"/>
      <dgm:spPr/>
    </dgm:pt>
    <dgm:pt modelId="{95F230E4-019D-7C4F-ABC7-B8C9AFC8356D}" type="pres">
      <dgm:prSet presAssocID="{A7D005FC-018A-B241-92A7-5205EDC5E08C}" presName="linNode" presStyleCnt="0"/>
      <dgm:spPr/>
    </dgm:pt>
    <dgm:pt modelId="{A6E60409-28B3-744D-ADA4-B25C596F5049}" type="pres">
      <dgm:prSet presAssocID="{A7D005FC-018A-B241-92A7-5205EDC5E08C}" presName="parentText" presStyleLbl="node1" presStyleIdx="2" presStyleCnt="3">
        <dgm:presLayoutVars>
          <dgm:chMax val="1"/>
          <dgm:bulletEnabled val="1"/>
        </dgm:presLayoutVars>
      </dgm:prSet>
      <dgm:spPr/>
      <dgm:t>
        <a:bodyPr/>
        <a:lstStyle/>
        <a:p>
          <a:endParaRPr lang="zh-CN" altLang="en-US"/>
        </a:p>
      </dgm:t>
    </dgm:pt>
    <dgm:pt modelId="{85B319A0-34AC-A04B-9303-3BA5E5FB8CC4}" type="pres">
      <dgm:prSet presAssocID="{A7D005FC-018A-B241-92A7-5205EDC5E08C}" presName="descendantText" presStyleLbl="alignAccFollowNode1" presStyleIdx="2" presStyleCnt="3">
        <dgm:presLayoutVars>
          <dgm:bulletEnabled val="1"/>
        </dgm:presLayoutVars>
      </dgm:prSet>
      <dgm:spPr/>
      <dgm:t>
        <a:bodyPr/>
        <a:lstStyle/>
        <a:p>
          <a:endParaRPr lang="zh-CN" altLang="en-US"/>
        </a:p>
      </dgm:t>
    </dgm:pt>
  </dgm:ptLst>
  <dgm:cxnLst>
    <dgm:cxn modelId="{DB845594-A9EF-0246-9950-597D5D18D60A}" srcId="{14EF2455-B651-8545-AAA8-83322AF91B46}" destId="{108531A2-76DB-0F42-B394-D71540F23AB3}" srcOrd="1" destOrd="0" parTransId="{F58706AB-5792-2E49-B2F2-C4F3EAD37C45}" sibTransId="{70FA859D-0450-494C-A6D0-794DCC615560}"/>
    <dgm:cxn modelId="{1C8331BC-9347-734F-9500-E15F1F90C59D}" srcId="{14EF2455-B651-8545-AAA8-83322AF91B46}" destId="{A7D005FC-018A-B241-92A7-5205EDC5E08C}" srcOrd="2" destOrd="0" parTransId="{D9CBE370-7C3B-1341-BE8B-B781B0E339E5}" sibTransId="{43E04C00-A53F-1741-988E-6610702C4606}"/>
    <dgm:cxn modelId="{6A23497F-A749-7D43-A62D-32D61F09E9DA}" type="presOf" srcId="{85C2E969-EA40-8148-9051-1A9AFB3442E7}" destId="{740D3BF3-FC6E-9340-BAD6-C5F2CBB4E496}" srcOrd="0" destOrd="0" presId="urn:microsoft.com/office/officeart/2005/8/layout/vList5"/>
    <dgm:cxn modelId="{95D3D5B2-C234-CC4A-AEF4-7BDAEEC861E9}" srcId="{925A2E4B-13AE-3240-B2E3-E89B290FF26C}" destId="{6777DB81-BD1B-4342-AC2E-A42A008837A4}" srcOrd="1" destOrd="0" parTransId="{312A417A-3411-7243-8195-997D78B09186}" sibTransId="{422FAE25-D33F-784B-929B-BA4C532E0DB3}"/>
    <dgm:cxn modelId="{52EF8D4A-CB31-9446-B717-ED3E0333DFC2}" type="presOf" srcId="{E99DB24B-B8FD-1646-A0FB-89836A1E5D18}" destId="{85B319A0-34AC-A04B-9303-3BA5E5FB8CC4}" srcOrd="0" destOrd="2" presId="urn:microsoft.com/office/officeart/2005/8/layout/vList5"/>
    <dgm:cxn modelId="{509530EB-BA00-C043-9445-4819C0496995}" type="presOf" srcId="{14EF2455-B651-8545-AAA8-83322AF91B46}" destId="{28CAD982-4C2E-DC4F-B8E9-FF86353D7221}" srcOrd="0" destOrd="0" presId="urn:microsoft.com/office/officeart/2005/8/layout/vList5"/>
    <dgm:cxn modelId="{B157F162-1E93-3544-8B6D-3000051BD321}" type="presOf" srcId="{B899953B-5FAD-CF48-A52B-844565095ADC}" destId="{740D3BF3-FC6E-9340-BAD6-C5F2CBB4E496}" srcOrd="0" destOrd="2" presId="urn:microsoft.com/office/officeart/2005/8/layout/vList5"/>
    <dgm:cxn modelId="{131FCF43-D227-0146-8226-6AC487042B35}" srcId="{925A2E4B-13AE-3240-B2E3-E89B290FF26C}" destId="{13C340B9-1A48-9148-BEAB-683DC63F4519}" srcOrd="0" destOrd="0" parTransId="{6F5E953B-070F-5244-A456-559361BEFAE6}" sibTransId="{9C9B4D09-57E2-6A42-9EBC-3B7FA06515F6}"/>
    <dgm:cxn modelId="{718C4190-771A-324B-8C1A-F93C10A53FFF}" srcId="{A7D005FC-018A-B241-92A7-5205EDC5E08C}" destId="{856CADF4-5281-8546-924C-C029E11FCF08}" srcOrd="0" destOrd="0" parTransId="{E3EA1EA5-1B50-C946-9DCF-2A17765FC437}" sibTransId="{1ABA8370-C925-8C48-8D8A-4DD659B1250D}"/>
    <dgm:cxn modelId="{2AF78741-2487-7547-89B8-448520A74C88}" srcId="{108531A2-76DB-0F42-B394-D71540F23AB3}" destId="{B899953B-5FAD-CF48-A52B-844565095ADC}" srcOrd="2" destOrd="0" parTransId="{583D9A63-2DE4-FE47-AB95-93F6BEBB4A67}" sibTransId="{8F1A0200-7CAC-F34B-8D99-343B99A5382C}"/>
    <dgm:cxn modelId="{F72A9006-0699-9545-A9E7-3A4D49BD22DF}" srcId="{108531A2-76DB-0F42-B394-D71540F23AB3}" destId="{85C2E969-EA40-8148-9051-1A9AFB3442E7}" srcOrd="0" destOrd="0" parTransId="{96020DFF-2005-AE40-889F-213D934FCF42}" sibTransId="{05CCCEB7-C375-C346-80F7-91BAF02D700B}"/>
    <dgm:cxn modelId="{28B4F847-9123-7D45-AA4E-61DC73113716}" srcId="{A7D005FC-018A-B241-92A7-5205EDC5E08C}" destId="{B8A7268E-F787-F846-A07D-023082F58310}" srcOrd="1" destOrd="0" parTransId="{C4132A11-31EE-6844-94DA-94B1075845C9}" sibTransId="{69E6C45D-977B-4F42-8C78-3C8517BC0FEC}"/>
    <dgm:cxn modelId="{3DCD6007-0394-AC4E-9ADC-DD3C5F3120A5}" type="presOf" srcId="{13C340B9-1A48-9148-BEAB-683DC63F4519}" destId="{BCF8A816-48A4-D94B-BC16-206D3F6FF6AF}" srcOrd="0" destOrd="0" presId="urn:microsoft.com/office/officeart/2005/8/layout/vList5"/>
    <dgm:cxn modelId="{B207A8A1-42A2-B744-875B-1C2E5FE1F9BB}" type="presOf" srcId="{B8A7268E-F787-F846-A07D-023082F58310}" destId="{85B319A0-34AC-A04B-9303-3BA5E5FB8CC4}" srcOrd="0" destOrd="1" presId="urn:microsoft.com/office/officeart/2005/8/layout/vList5"/>
    <dgm:cxn modelId="{087B89D3-77E3-104A-A013-AA1795201AAA}" srcId="{14EF2455-B651-8545-AAA8-83322AF91B46}" destId="{925A2E4B-13AE-3240-B2E3-E89B290FF26C}" srcOrd="0" destOrd="0" parTransId="{3774FDFE-1567-F246-B72A-B9B7DC7D705F}" sibTransId="{44D5FE40-89E5-384D-A1F1-7F6FFF44DC40}"/>
    <dgm:cxn modelId="{347A386B-6EB1-554F-B158-1BCF92A6D206}" srcId="{A7D005FC-018A-B241-92A7-5205EDC5E08C}" destId="{E99DB24B-B8FD-1646-A0FB-89836A1E5D18}" srcOrd="2" destOrd="0" parTransId="{A24F8410-1281-2648-BB4F-1D4A81AF70CE}" sibTransId="{2C28FFA2-AA28-0F44-AF24-BC93BE95BDA8}"/>
    <dgm:cxn modelId="{A861ABA2-82E0-C64E-B113-12F2671BCC9A}" srcId="{108531A2-76DB-0F42-B394-D71540F23AB3}" destId="{5E1135D6-514B-5546-BD5B-311B05CAFA11}" srcOrd="1" destOrd="0" parTransId="{2F277F0F-1ADD-5A48-BBBF-2F827B87C462}" sibTransId="{CE6ACA2F-9E57-B642-BFE7-613BFD5FF41C}"/>
    <dgm:cxn modelId="{9AAC8695-EE4F-AC48-A788-EA8C3E1C02CC}" type="presOf" srcId="{925A2E4B-13AE-3240-B2E3-E89B290FF26C}" destId="{D622100A-A2DC-7940-A2A3-4039DB37765E}" srcOrd="0" destOrd="0" presId="urn:microsoft.com/office/officeart/2005/8/layout/vList5"/>
    <dgm:cxn modelId="{0B59C315-D6F8-CB42-B973-8409D7DF48DA}" type="presOf" srcId="{108531A2-76DB-0F42-B394-D71540F23AB3}" destId="{E5AB982F-ADDA-D94D-A282-6CA5C3E94AED}" srcOrd="0" destOrd="0" presId="urn:microsoft.com/office/officeart/2005/8/layout/vList5"/>
    <dgm:cxn modelId="{E314B18C-A88B-8A43-9C33-F845FF448C93}" srcId="{925A2E4B-13AE-3240-B2E3-E89B290FF26C}" destId="{752EE12B-FA36-784A-B3E1-891D902317AA}" srcOrd="2" destOrd="0" parTransId="{90EBC576-7248-1245-B587-9697B18BFBB5}" sibTransId="{529F4AD3-AF44-8046-A11E-639029041D6E}"/>
    <dgm:cxn modelId="{0874B4FB-A480-F648-8ED0-9AA87933DCBA}" type="presOf" srcId="{6777DB81-BD1B-4342-AC2E-A42A008837A4}" destId="{BCF8A816-48A4-D94B-BC16-206D3F6FF6AF}" srcOrd="0" destOrd="1" presId="urn:microsoft.com/office/officeart/2005/8/layout/vList5"/>
    <dgm:cxn modelId="{0B770AB7-6A82-404C-BD14-E5A0C109391B}" type="presOf" srcId="{5E1135D6-514B-5546-BD5B-311B05CAFA11}" destId="{740D3BF3-FC6E-9340-BAD6-C5F2CBB4E496}" srcOrd="0" destOrd="1" presId="urn:microsoft.com/office/officeart/2005/8/layout/vList5"/>
    <dgm:cxn modelId="{D22D89B1-2C67-444C-9047-188FFD52A172}" type="presOf" srcId="{752EE12B-FA36-784A-B3E1-891D902317AA}" destId="{BCF8A816-48A4-D94B-BC16-206D3F6FF6AF}" srcOrd="0" destOrd="2" presId="urn:microsoft.com/office/officeart/2005/8/layout/vList5"/>
    <dgm:cxn modelId="{09B3CFC6-2458-4F4E-8A8D-29083C7AD648}" type="presOf" srcId="{856CADF4-5281-8546-924C-C029E11FCF08}" destId="{85B319A0-34AC-A04B-9303-3BA5E5FB8CC4}" srcOrd="0" destOrd="0" presId="urn:microsoft.com/office/officeart/2005/8/layout/vList5"/>
    <dgm:cxn modelId="{9257E9D2-A8FE-8547-8AB3-A7A9B28F7577}" type="presOf" srcId="{A7D005FC-018A-B241-92A7-5205EDC5E08C}" destId="{A6E60409-28B3-744D-ADA4-B25C596F5049}" srcOrd="0" destOrd="0" presId="urn:microsoft.com/office/officeart/2005/8/layout/vList5"/>
    <dgm:cxn modelId="{56E3C1AB-6AB5-F04B-A6F2-C37F1FFA1C78}" type="presParOf" srcId="{28CAD982-4C2E-DC4F-B8E9-FF86353D7221}" destId="{25587BB7-8D7D-C647-9715-898D0AB7F7DA}" srcOrd="0" destOrd="0" presId="urn:microsoft.com/office/officeart/2005/8/layout/vList5"/>
    <dgm:cxn modelId="{280BF0B4-B365-4044-AAD6-CA97876EC0EE}" type="presParOf" srcId="{25587BB7-8D7D-C647-9715-898D0AB7F7DA}" destId="{D622100A-A2DC-7940-A2A3-4039DB37765E}" srcOrd="0" destOrd="0" presId="urn:microsoft.com/office/officeart/2005/8/layout/vList5"/>
    <dgm:cxn modelId="{BCE22600-A453-914C-945C-04F9C876157E}" type="presParOf" srcId="{25587BB7-8D7D-C647-9715-898D0AB7F7DA}" destId="{BCF8A816-48A4-D94B-BC16-206D3F6FF6AF}" srcOrd="1" destOrd="0" presId="urn:microsoft.com/office/officeart/2005/8/layout/vList5"/>
    <dgm:cxn modelId="{ADDC147C-141C-274C-844E-AEFD5FD56080}" type="presParOf" srcId="{28CAD982-4C2E-DC4F-B8E9-FF86353D7221}" destId="{345CAECD-BFE6-6E47-8280-BECE66AA993F}" srcOrd="1" destOrd="0" presId="urn:microsoft.com/office/officeart/2005/8/layout/vList5"/>
    <dgm:cxn modelId="{FA5A9921-BDFB-5D46-BE0F-B46076572016}" type="presParOf" srcId="{28CAD982-4C2E-DC4F-B8E9-FF86353D7221}" destId="{589BA605-DB2A-5745-BCF5-DFB686284FFE}" srcOrd="2" destOrd="0" presId="urn:microsoft.com/office/officeart/2005/8/layout/vList5"/>
    <dgm:cxn modelId="{AEC79726-93C2-2040-A918-5583921A56B4}" type="presParOf" srcId="{589BA605-DB2A-5745-BCF5-DFB686284FFE}" destId="{E5AB982F-ADDA-D94D-A282-6CA5C3E94AED}" srcOrd="0" destOrd="0" presId="urn:microsoft.com/office/officeart/2005/8/layout/vList5"/>
    <dgm:cxn modelId="{632386C6-14CC-C542-AEBA-2D269FC80D2B}" type="presParOf" srcId="{589BA605-DB2A-5745-BCF5-DFB686284FFE}" destId="{740D3BF3-FC6E-9340-BAD6-C5F2CBB4E496}" srcOrd="1" destOrd="0" presId="urn:microsoft.com/office/officeart/2005/8/layout/vList5"/>
    <dgm:cxn modelId="{FB84EAEC-10C0-DA47-90D1-C67C69F52510}" type="presParOf" srcId="{28CAD982-4C2E-DC4F-B8E9-FF86353D7221}" destId="{B1817EE5-299C-2E48-B3BC-87D4644C841C}" srcOrd="3" destOrd="0" presId="urn:microsoft.com/office/officeart/2005/8/layout/vList5"/>
    <dgm:cxn modelId="{FC5E7E8C-576A-7147-A8ED-8EC853BDF82D}" type="presParOf" srcId="{28CAD982-4C2E-DC4F-B8E9-FF86353D7221}" destId="{95F230E4-019D-7C4F-ABC7-B8C9AFC8356D}" srcOrd="4" destOrd="0" presId="urn:microsoft.com/office/officeart/2005/8/layout/vList5"/>
    <dgm:cxn modelId="{6119D62A-4833-0942-A81E-A0F6AD5DED95}" type="presParOf" srcId="{95F230E4-019D-7C4F-ABC7-B8C9AFC8356D}" destId="{A6E60409-28B3-744D-ADA4-B25C596F5049}" srcOrd="0" destOrd="0" presId="urn:microsoft.com/office/officeart/2005/8/layout/vList5"/>
    <dgm:cxn modelId="{257F6F63-CB3E-B943-8733-3A65A4FDA059}" type="presParOf" srcId="{95F230E4-019D-7C4F-ABC7-B8C9AFC8356D}" destId="{85B319A0-34AC-A04B-9303-3BA5E5FB8CC4}"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BCF8A816-48A4-D94B-BC16-206D3F6FF6AF}">
      <dsp:nvSpPr>
        <dsp:cNvPr id="4" name="同侧圆角矩形 3"/>
        <dsp:cNvSpPr/>
      </dsp:nvSpPr>
      <dsp:spPr bwMode="white">
        <a:xfrm rot="5400000">
          <a:off x="5012133" y="-1903478"/>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72390" tIns="36195" rIns="72390" bIns="36195" anchor="ctr"/>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15000"/>
            </a:spcAft>
            <a:buChar char="•"/>
          </a:pPr>
          <a:r>
            <a:rPr lang="zh-CN" altLang="en-US" dirty="0">
              <a:solidFill>
                <a:schemeClr val="dk1"/>
              </a:solidFill>
            </a:rPr>
            <a:t>滥用定密权，导致定密结果不准</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不依法履行定密职责或行政不作为</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定密工作乱作为</a:t>
          </a:r>
          <a:endParaRPr>
            <a:solidFill>
              <a:schemeClr val="dk1"/>
            </a:solidFill>
          </a:endParaRPr>
        </a:p>
      </dsp:txBody>
      <dsp:txXfrm rot="5400000">
        <a:off x="5012133" y="-1903478"/>
        <a:ext cx="1167990" cy="5266944"/>
      </dsp:txXfrm>
    </dsp:sp>
    <dsp:sp modelId="{D622100A-A2DC-7940-A2A3-4039DB37765E}">
      <dsp:nvSpPr>
        <dsp:cNvPr id="3" name="圆角矩形 2"/>
        <dsp:cNvSpPr/>
      </dsp:nvSpPr>
      <dsp:spPr bwMode="white">
        <a:xfrm>
          <a:off x="0" y="0"/>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125730" tIns="62865" rIns="125730" bIns="6286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pPr>
          <a:r>
            <a:rPr lang="zh-CN" altLang="en-US" dirty="0"/>
            <a:t>定密权力与法律责任相统一</a:t>
          </a:r>
        </a:p>
      </dsp:txBody>
      <dsp:txXfrm>
        <a:off x="0" y="0"/>
        <a:ext cx="2962656" cy="1459988"/>
      </dsp:txXfrm>
    </dsp:sp>
    <dsp:sp modelId="{740D3BF3-FC6E-9340-BAD6-C5F2CBB4E496}">
      <dsp:nvSpPr>
        <dsp:cNvPr id="6" name="同侧圆角矩形 5"/>
        <dsp:cNvSpPr/>
      </dsp:nvSpPr>
      <dsp:spPr bwMode="white">
        <a:xfrm rot="5400000">
          <a:off x="5012133" y="-370490"/>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72390" tIns="36195" rIns="72390" bIns="36195" anchor="ctr"/>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15000"/>
            </a:spcAft>
            <a:buChar char="•"/>
          </a:pPr>
          <a:r>
            <a:rPr lang="zh-CN" altLang="en-US" dirty="0">
              <a:solidFill>
                <a:schemeClr val="dk1"/>
              </a:solidFill>
            </a:rPr>
            <a:t>严格落实定密责任</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严格执行保密事项范围</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切实加强定密监督</a:t>
          </a:r>
          <a:endParaRPr>
            <a:solidFill>
              <a:schemeClr val="dk1"/>
            </a:solidFill>
          </a:endParaRPr>
        </a:p>
      </dsp:txBody>
      <dsp:txXfrm rot="5400000">
        <a:off x="5012133" y="-370490"/>
        <a:ext cx="1167990" cy="5266944"/>
      </dsp:txXfrm>
    </dsp:sp>
    <dsp:sp modelId="{E5AB982F-ADDA-D94D-A282-6CA5C3E94AED}">
      <dsp:nvSpPr>
        <dsp:cNvPr id="5" name="圆角矩形 4"/>
        <dsp:cNvSpPr/>
      </dsp:nvSpPr>
      <dsp:spPr bwMode="white">
        <a:xfrm>
          <a:off x="0" y="1532987"/>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125730" tIns="62865" rIns="125730" bIns="6286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pPr>
          <a:r>
            <a:rPr lang="zh-CN" altLang="en-US" dirty="0"/>
            <a:t>定密程序与定密结果相统一</a:t>
          </a:r>
        </a:p>
      </dsp:txBody>
      <dsp:txXfrm>
        <a:off x="0" y="1532987"/>
        <a:ext cx="2962656" cy="1459988"/>
      </dsp:txXfrm>
    </dsp:sp>
    <dsp:sp modelId="{85B319A0-34AC-A04B-9303-3BA5E5FB8CC4}">
      <dsp:nvSpPr>
        <dsp:cNvPr id="8" name="同侧圆角矩形 7"/>
        <dsp:cNvSpPr/>
      </dsp:nvSpPr>
      <dsp:spPr bwMode="white">
        <a:xfrm rot="5400000">
          <a:off x="5012133" y="1162497"/>
          <a:ext cx="1167990" cy="5266944"/>
        </a:xfrm>
        <a:prstGeom prst="round2Same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rot="-5400000" lIns="72390" tIns="36195" rIns="72390" bIns="36195" anchor="ctr"/>
        <a:lstStyle>
          <a:lvl1pPr algn="l">
            <a:defRPr sz="1900"/>
          </a:lvl1pPr>
          <a:lvl2pPr marL="171450" indent="-171450" algn="l">
            <a:defRPr sz="1900"/>
          </a:lvl2pPr>
          <a:lvl3pPr marL="342900" indent="-171450" algn="l">
            <a:defRPr sz="1900"/>
          </a:lvl3pPr>
          <a:lvl4pPr marL="514350" indent="-171450" algn="l">
            <a:defRPr sz="1900"/>
          </a:lvl4pPr>
          <a:lvl5pPr marL="685800" indent="-171450" algn="l">
            <a:defRPr sz="1900"/>
          </a:lvl5pPr>
          <a:lvl6pPr marL="857250" indent="-171450" algn="l">
            <a:defRPr sz="1900"/>
          </a:lvl6pPr>
          <a:lvl7pPr marL="1028700" indent="-171450" algn="l">
            <a:defRPr sz="1900"/>
          </a:lvl7pPr>
          <a:lvl8pPr marL="1200150" indent="-171450" algn="l">
            <a:defRPr sz="1900"/>
          </a:lvl8pPr>
          <a:lvl9pPr marL="1371600" indent="-171450" algn="l">
            <a:defRPr sz="1900"/>
          </a:lvl9pPr>
        </a:lstStyle>
        <a:p>
          <a:pPr lvl="1">
            <a:lnSpc>
              <a:spcPct val="100000"/>
            </a:lnSpc>
            <a:spcBef>
              <a:spcPct val="0"/>
            </a:spcBef>
            <a:spcAft>
              <a:spcPct val="15000"/>
            </a:spcAft>
            <a:buChar char="•"/>
          </a:pPr>
          <a:r>
            <a:rPr lang="zh-CN" altLang="en-US" dirty="0">
              <a:solidFill>
                <a:schemeClr val="dk1"/>
              </a:solidFill>
            </a:rPr>
            <a:t>正确使用自由裁量权</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准确判断保密事项范围的特指性</a:t>
          </a:r>
          <a:endParaRPr lang="zh-CN" altLang="en-US" dirty="0">
            <a:solidFill>
              <a:schemeClr val="dk1"/>
            </a:solidFill>
          </a:endParaRPr>
        </a:p>
        <a:p>
          <a:pPr lvl="1">
            <a:lnSpc>
              <a:spcPct val="100000"/>
            </a:lnSpc>
            <a:spcBef>
              <a:spcPct val="0"/>
            </a:spcBef>
            <a:spcAft>
              <a:spcPct val="15000"/>
            </a:spcAft>
            <a:buChar char="•"/>
          </a:pPr>
          <a:r>
            <a:rPr lang="zh-CN" altLang="en-US" dirty="0">
              <a:solidFill>
                <a:schemeClr val="dk1"/>
              </a:solidFill>
            </a:rPr>
            <a:t>及时修正主观判断误差</a:t>
          </a:r>
          <a:endParaRPr>
            <a:solidFill>
              <a:schemeClr val="dk1"/>
            </a:solidFill>
          </a:endParaRPr>
        </a:p>
      </dsp:txBody>
      <dsp:txXfrm rot="5400000">
        <a:off x="5012133" y="1162497"/>
        <a:ext cx="1167990" cy="5266944"/>
      </dsp:txXfrm>
    </dsp:sp>
    <dsp:sp modelId="{A6E60409-28B3-744D-ADA4-B25C596F5049}">
      <dsp:nvSpPr>
        <dsp:cNvPr id="7" name="圆角矩形 6"/>
        <dsp:cNvSpPr/>
      </dsp:nvSpPr>
      <dsp:spPr bwMode="white">
        <a:xfrm>
          <a:off x="0" y="3065975"/>
          <a:ext cx="2962656" cy="1459988"/>
        </a:xfrm>
        <a:prstGeom prst="roundRect">
          <a:avLst/>
        </a:prstGeom>
      </dsp:spPr>
      <dsp:style>
        <a:lnRef idx="0">
          <a:schemeClr val="lt1"/>
        </a:lnRef>
        <a:fillRef idx="3">
          <a:schemeClr val="accent1"/>
        </a:fillRef>
        <a:effectRef idx="2">
          <a:scrgbClr r="0" g="0" b="0"/>
        </a:effectRef>
        <a:fontRef idx="minor">
          <a:schemeClr val="lt1"/>
        </a:fontRef>
      </dsp:style>
      <dsp:txBody>
        <a:bodyPr lIns="125730" tIns="62865" rIns="125730" bIns="6286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pPr>
          <a:r>
            <a:rPr lang="zh-CN" altLang="en-US" dirty="0"/>
            <a:t>主观判断和客观标准相统一</a:t>
          </a:r>
        </a:p>
      </dsp:txBody>
      <dsp:txXfrm>
        <a:off x="0" y="3065975"/>
        <a:ext cx="2962656" cy="1459988"/>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111F64-1FF5-CA42-B501-58DD5844098E}"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FFAFA5-1032-A343-946D-FD83B2693664}"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smtClean="0">
                <a:solidFill>
                  <a:schemeClr val="tx1"/>
                </a:solidFill>
                <a:effectLst/>
                <a:latin typeface="+mn-lt"/>
                <a:ea typeface="+mn-ea"/>
                <a:cs typeface="+mn-cs"/>
              </a:rPr>
              <a:t>大学生反国际间谍宣传片</a:t>
            </a:r>
            <a:r>
              <a:rPr lang="en-US" altLang="zh-CN" sz="1200" b="0" i="0" u="none" strike="noStrike" kern="1200" dirty="0" smtClean="0">
                <a:solidFill>
                  <a:schemeClr val="tx1"/>
                </a:solidFill>
                <a:effectLst/>
                <a:latin typeface="+mn-lt"/>
                <a:ea typeface="+mn-ea"/>
                <a:cs typeface="+mn-cs"/>
              </a:rPr>
              <a:t>《</a:t>
            </a:r>
            <a:r>
              <a:rPr lang="zh-CN" altLang="en-US" sz="1200" b="0" i="0" u="none" strike="noStrike" kern="1200" dirty="0" smtClean="0">
                <a:solidFill>
                  <a:schemeClr val="tx1"/>
                </a:solidFill>
                <a:effectLst/>
                <a:latin typeface="+mn-lt"/>
                <a:ea typeface="+mn-ea"/>
                <a:cs typeface="+mn-cs"/>
              </a:rPr>
              <a:t>渐谍</a:t>
            </a:r>
            <a:r>
              <a:rPr lang="en-US" altLang="zh-CN" sz="1200" b="0" i="0" u="none" strike="noStrike" kern="1200" dirty="0" smtClean="0">
                <a:solidFill>
                  <a:schemeClr val="tx1"/>
                </a:solidFill>
                <a:effectLst/>
                <a:latin typeface="+mn-lt"/>
                <a:ea typeface="+mn-ea"/>
                <a:cs typeface="+mn-cs"/>
              </a:rPr>
              <a:t>》</a:t>
            </a:r>
            <a:r>
              <a:rPr kumimoji="1" lang="en-US" altLang="zh-CN" dirty="0" smtClean="0"/>
              <a:t>https</a:t>
            </a:r>
            <a:r>
              <a:rPr kumimoji="1" lang="en-US" altLang="zh-CN" dirty="0"/>
              <a:t>://</a:t>
            </a:r>
            <a:r>
              <a:rPr kumimoji="1" lang="en-US" altLang="zh-CN" dirty="0" err="1"/>
              <a:t>v.qq.com</a:t>
            </a:r>
            <a:r>
              <a:rPr kumimoji="1" lang="en-US" altLang="zh-CN" dirty="0"/>
              <a:t>/x/page/a01752l5igy.html?ptag=baidu.3g</a:t>
            </a:r>
            <a:endParaRPr kumimoji="1" lang="zh-CN" altLang="en-US" dirty="0"/>
          </a:p>
        </p:txBody>
      </p:sp>
      <p:sp>
        <p:nvSpPr>
          <p:cNvPr id="4" name="幻灯片编号占位符 3"/>
          <p:cNvSpPr>
            <a:spLocks noGrp="1"/>
          </p:cNvSpPr>
          <p:nvPr>
            <p:ph type="sldNum" sz="quarter" idx="10"/>
          </p:nvPr>
        </p:nvSpPr>
        <p:spPr/>
        <p:txBody>
          <a:bodyPr/>
          <a:lstStyle/>
          <a:p>
            <a:fld id="{0FFFAFA5-1032-A343-946D-FD83B2693664}"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b="0" i="0" u="none" strike="noStrike" kern="1200" dirty="0">
                <a:solidFill>
                  <a:schemeClr val="tx1"/>
                </a:solidFill>
                <a:effectLst/>
                <a:latin typeface="+mn-lt"/>
                <a:ea typeface="+mn-ea"/>
                <a:cs typeface="+mn-cs"/>
              </a:rPr>
              <a:t>保守国家秘密人人有责</a:t>
            </a:r>
            <a:endParaRPr lang="zh-CN" altLang="en-US" sz="1200" b="0" i="0" u="none" strike="noStrike" kern="1200" dirty="0">
              <a:solidFill>
                <a:schemeClr val="tx1"/>
              </a:solidFill>
              <a:effectLst/>
              <a:latin typeface="+mn-lt"/>
              <a:ea typeface="+mn-ea"/>
              <a:cs typeface="+mn-cs"/>
            </a:endParaRPr>
          </a:p>
          <a:p>
            <a:r>
              <a:rPr kumimoji="1" lang="en-US" altLang="zh-CN" dirty="0"/>
              <a:t>https://</a:t>
            </a:r>
            <a:r>
              <a:rPr kumimoji="1" lang="en-US" altLang="zh-CN" dirty="0" err="1"/>
              <a:t>haokan.baidu.com</a:t>
            </a:r>
            <a:r>
              <a:rPr kumimoji="1" lang="en-US" altLang="zh-CN" dirty="0"/>
              <a:t>/</a:t>
            </a:r>
            <a:r>
              <a:rPr kumimoji="1" lang="en-US" altLang="zh-CN" dirty="0" err="1"/>
              <a:t>v?vid</a:t>
            </a:r>
            <a:r>
              <a:rPr kumimoji="1" lang="en-US" altLang="zh-CN" dirty="0"/>
              <a:t>=17102002731131517987&amp;pd=</a:t>
            </a:r>
            <a:r>
              <a:rPr kumimoji="1" lang="en-US" altLang="zh-CN" dirty="0" err="1"/>
              <a:t>bjh&amp;fr</a:t>
            </a:r>
            <a:r>
              <a:rPr kumimoji="1" lang="en-US" altLang="zh-CN" dirty="0"/>
              <a:t>=</a:t>
            </a:r>
            <a:r>
              <a:rPr kumimoji="1" lang="en-US" altLang="zh-CN" dirty="0" err="1"/>
              <a:t>bjhauthor&amp;type</a:t>
            </a:r>
            <a:r>
              <a:rPr kumimoji="1" lang="en-US" altLang="zh-CN" dirty="0"/>
              <a:t>=video</a:t>
            </a:r>
            <a:endParaRPr kumimoji="1" lang="zh-CN" altLang="en-US" dirty="0"/>
          </a:p>
        </p:txBody>
      </p:sp>
      <p:sp>
        <p:nvSpPr>
          <p:cNvPr id="4" name="幻灯片编号占位符 3"/>
          <p:cNvSpPr>
            <a:spLocks noGrp="1"/>
          </p:cNvSpPr>
          <p:nvPr>
            <p:ph type="sldNum" sz="quarter" idx="10"/>
          </p:nvPr>
        </p:nvSpPr>
        <p:spPr/>
        <p:txBody>
          <a:bodyPr/>
          <a:lstStyle/>
          <a:p>
            <a:fld id="{0FFFAFA5-1032-A343-946D-FD83B2693664}"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http://</a:t>
            </a:r>
            <a:r>
              <a:rPr kumimoji="1" lang="en-US" altLang="zh-CN" dirty="0" err="1"/>
              <a:t>www.baomi.org</a:t>
            </a:r>
            <a:r>
              <a:rPr kumimoji="1" lang="en-US" altLang="zh-CN" dirty="0"/>
              <a:t>/control/</a:t>
            </a:r>
            <a:r>
              <a:rPr kumimoji="1" lang="en-US" altLang="zh-CN" dirty="0" err="1"/>
              <a:t>generalDetailPage?navigationId</a:t>
            </a:r>
            <a:r>
              <a:rPr kumimoji="1" lang="en-US" altLang="zh-CN" dirty="0"/>
              <a:t>=3&amp;repositoryId=3&amp;platFormCode=000007&amp;price=0.5&amp;paperRepositoryId=10044&amp;productId=10044</a:t>
            </a:r>
            <a:endParaRPr kumimoji="1" lang="zh-CN" altLang="en-US" dirty="0"/>
          </a:p>
          <a:p>
            <a:r>
              <a:rPr kumimoji="1" lang="en-US" altLang="zh-CN" dirty="0"/>
              <a:t>http://</a:t>
            </a:r>
            <a:r>
              <a:rPr kumimoji="1" lang="en-US" altLang="zh-CN" dirty="0" err="1"/>
              <a:t>www.gov.cn</a:t>
            </a:r>
            <a:r>
              <a:rPr kumimoji="1" lang="en-US" altLang="zh-CN" dirty="0"/>
              <a:t>/</a:t>
            </a:r>
            <a:r>
              <a:rPr kumimoji="1" lang="en-US" altLang="zh-CN" dirty="0" err="1"/>
              <a:t>gongbao</a:t>
            </a:r>
            <a:r>
              <a:rPr kumimoji="1" lang="en-US" altLang="zh-CN" dirty="0"/>
              <a:t>/content/2018/content_5286370.htm</a:t>
            </a:r>
            <a:endParaRPr kumimoji="1" lang="zh-CN" altLang="en-US" dirty="0"/>
          </a:p>
          <a:p>
            <a:r>
              <a:rPr kumimoji="1" lang="de-DE" altLang="zh-CN" dirty="0"/>
              <a:t>http://</a:t>
            </a:r>
            <a:r>
              <a:rPr kumimoji="1" lang="de-DE" altLang="zh-CN" dirty="0" err="1"/>
              <a:t>www.beihai.gov.cn</a:t>
            </a:r>
            <a:r>
              <a:rPr kumimoji="1" lang="de-DE" altLang="zh-CN" dirty="0"/>
              <a:t>/11711/</a:t>
            </a:r>
            <a:r>
              <a:rPr kumimoji="1" lang="de-DE" altLang="zh-CN" dirty="0" err="1"/>
              <a:t>tpzt</a:t>
            </a:r>
            <a:r>
              <a:rPr kumimoji="1" lang="de-DE" altLang="zh-CN" dirty="0"/>
              <a:t>/</a:t>
            </a:r>
            <a:r>
              <a:rPr kumimoji="1" lang="de-DE" altLang="zh-CN" dirty="0" err="1"/>
              <a:t>xxgk</a:t>
            </a:r>
            <a:r>
              <a:rPr kumimoji="1" lang="de-DE" altLang="zh-CN" dirty="0"/>
              <a:t>/201807/t20180723_1769875.html</a:t>
            </a:r>
            <a:endParaRPr kumimoji="1" lang="zh-CN" altLang="en-US" dirty="0"/>
          </a:p>
          <a:p>
            <a:r>
              <a:rPr kumimoji="1" lang="en-US" altLang="zh-CN" dirty="0"/>
              <a:t>https://</a:t>
            </a:r>
            <a:r>
              <a:rPr kumimoji="1" lang="en-US" altLang="zh-CN" dirty="0" err="1"/>
              <a:t>new.qq.com</a:t>
            </a:r>
            <a:r>
              <a:rPr kumimoji="1" lang="en-US" altLang="zh-CN" dirty="0"/>
              <a:t>/</a:t>
            </a:r>
            <a:r>
              <a:rPr kumimoji="1" lang="en-US" altLang="zh-CN" dirty="0" err="1"/>
              <a:t>omn</a:t>
            </a:r>
            <a:r>
              <a:rPr kumimoji="1" lang="en-US" altLang="zh-CN" dirty="0"/>
              <a:t>/20181026/20181026A1K5N6.html</a:t>
            </a:r>
            <a:endParaRPr kumimoji="1" lang="zh-CN" altLang="en-US" dirty="0"/>
          </a:p>
        </p:txBody>
      </p:sp>
      <p:sp>
        <p:nvSpPr>
          <p:cNvPr id="4" name="幻灯片编号占位符 3"/>
          <p:cNvSpPr>
            <a:spLocks noGrp="1"/>
          </p:cNvSpPr>
          <p:nvPr>
            <p:ph type="sldNum" sz="quarter" idx="10"/>
          </p:nvPr>
        </p:nvSpPr>
        <p:spPr/>
        <p:txBody>
          <a:bodyPr/>
          <a:lstStyle/>
          <a:p>
            <a:fld id="{0FFFAFA5-1032-A343-946D-FD83B2693664}"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0FFFAFA5-1032-A343-946D-FD83B2693664}" type="slidenum">
              <a:rPr kumimoji="1" lang="zh-CN" altLang="en-US"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http://</a:t>
            </a:r>
            <a:r>
              <a:rPr kumimoji="1" lang="en-US" altLang="zh-CN" dirty="0" err="1"/>
              <a:t>www.gjbmj.gov.cn</a:t>
            </a:r>
            <a:r>
              <a:rPr kumimoji="1" lang="en-US" altLang="zh-CN" dirty="0"/>
              <a:t>/n1/2019/0227/c409092-30905085.html</a:t>
            </a:r>
            <a:endParaRPr kumimoji="1" lang="zh-CN" altLang="en-US" dirty="0"/>
          </a:p>
        </p:txBody>
      </p:sp>
      <p:sp>
        <p:nvSpPr>
          <p:cNvPr id="4" name="幻灯片编号占位符 3"/>
          <p:cNvSpPr>
            <a:spLocks noGrp="1"/>
          </p:cNvSpPr>
          <p:nvPr>
            <p:ph type="sldNum" sz="quarter" idx="10"/>
          </p:nvPr>
        </p:nvSpPr>
        <p:spPr/>
        <p:txBody>
          <a:bodyPr/>
          <a:lstStyle/>
          <a:p>
            <a:fld id="{0FFFAFA5-1032-A343-946D-FD83B2693664}" type="slidenum">
              <a:rPr kumimoji="1" lang="zh-CN" altLang="en-US"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http://</a:t>
            </a:r>
            <a:r>
              <a:rPr kumimoji="1" lang="en-US" altLang="zh-CN" dirty="0" err="1"/>
              <a:t>www.gjbmj.gov.cn</a:t>
            </a:r>
            <a:r>
              <a:rPr kumimoji="1" lang="en-US" altLang="zh-CN" dirty="0"/>
              <a:t>/n1/2019/0227/c409092-30905085.html</a:t>
            </a:r>
            <a:endParaRPr kumimoji="1" lang="zh-CN" altLang="en-US" dirty="0"/>
          </a:p>
        </p:txBody>
      </p:sp>
      <p:sp>
        <p:nvSpPr>
          <p:cNvPr id="4" name="幻灯片编号占位符 3"/>
          <p:cNvSpPr>
            <a:spLocks noGrp="1"/>
          </p:cNvSpPr>
          <p:nvPr>
            <p:ph type="sldNum" sz="quarter" idx="10"/>
          </p:nvPr>
        </p:nvSpPr>
        <p:spPr/>
        <p:txBody>
          <a:bodyPr/>
          <a:lstStyle/>
          <a:p>
            <a:fld id="{0FFFAFA5-1032-A343-946D-FD83B2693664}"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endParaRPr kumimoji="0"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a:t>单击此处编辑母版文本样式</a:t>
            </a:r>
            <a:endParaRPr lang="zh-CN" altLang="en-US"/>
          </a:p>
          <a:p>
            <a:pPr lvl="1" eaLnBrk="1" latinLnBrk="0" hangingPunct="1"/>
            <a:r>
              <a:rPr lang="zh-CN" altLang="en-US"/>
              <a:t>第二级</a:t>
            </a:r>
            <a:endParaRPr lang="zh-CN" altLang="en-US"/>
          </a:p>
          <a:p>
            <a:pPr lvl="2" eaLnBrk="1" latinLnBrk="0" hangingPunct="1"/>
            <a:r>
              <a:rPr lang="zh-CN" altLang="en-US"/>
              <a:t>第三级</a:t>
            </a:r>
            <a:endParaRPr lang="zh-CN" altLang="en-US"/>
          </a:p>
          <a:p>
            <a:pPr lvl="3" eaLnBrk="1" latinLnBrk="0" hangingPunct="1"/>
            <a:r>
              <a:rPr lang="zh-CN" altLang="en-US"/>
              <a:t>第四级</a:t>
            </a:r>
            <a:endParaRPr lang="zh-CN" altLang="en-US"/>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2">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3">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a:t>单击此处编辑母版文本样式</a:t>
            </a:r>
            <a:endParaRPr kumimoji="0" lang="zh-CN" altLang="en-US"/>
          </a:p>
          <a:p>
            <a:pPr lvl="1" eaLnBrk="1" latinLnBrk="0" hangingPunct="1"/>
            <a:r>
              <a:rPr kumimoji="0" lang="zh-CN" altLang="en-US"/>
              <a:t>第二级</a:t>
            </a:r>
            <a:endParaRPr kumimoji="0" lang="zh-CN" altLang="en-US"/>
          </a:p>
          <a:p>
            <a:pPr lvl="2" eaLnBrk="1" latinLnBrk="0" hangingPunct="1"/>
            <a:r>
              <a:rPr kumimoji="0" lang="zh-CN" altLang="en-US"/>
              <a:t>第三级</a:t>
            </a:r>
            <a:endParaRPr kumimoji="0" lang="zh-CN" altLang="en-US"/>
          </a:p>
          <a:p>
            <a:pPr lvl="3" eaLnBrk="1" latinLnBrk="0" hangingPunct="1"/>
            <a:r>
              <a:rPr kumimoji="0" lang="zh-CN" altLang="en-US"/>
              <a:t>第四级</a:t>
            </a:r>
            <a:endParaRPr kumimoji="0" lang="zh-CN" altLang="en-US"/>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（一）定密的概念</a:t>
            </a:r>
            <a:endParaRPr lang="zh-CN" altLang="en-US" dirty="0"/>
          </a:p>
        </p:txBody>
      </p:sp>
      <p:sp>
        <p:nvSpPr>
          <p:cNvPr id="3" name="内容占位符 2"/>
          <p:cNvSpPr>
            <a:spLocks noGrp="1"/>
          </p:cNvSpPr>
          <p:nvPr>
            <p:ph idx="1"/>
          </p:nvPr>
        </p:nvSpPr>
        <p:spPr>
          <a:xfrm>
            <a:off x="457200" y="1285860"/>
            <a:ext cx="8229600" cy="5072098"/>
          </a:xfrm>
        </p:spPr>
        <p:txBody>
          <a:bodyPr>
            <a:normAutofit fontScale="92500" lnSpcReduction="10000"/>
          </a:bodyPr>
          <a:lstStyle/>
          <a:p>
            <a:r>
              <a:rPr lang="zh-CN" altLang="en-US" dirty="0"/>
              <a:t>一般来说，定密有狭义与广义之分。</a:t>
            </a:r>
            <a:endParaRPr lang="en-US" altLang="zh-CN" dirty="0"/>
          </a:p>
          <a:p>
            <a:endParaRPr lang="en-US" altLang="zh-CN" dirty="0"/>
          </a:p>
          <a:p>
            <a:r>
              <a:rPr lang="zh-CN" altLang="en-US" dirty="0"/>
              <a:t>狭义的定密，仅指</a:t>
            </a:r>
            <a:r>
              <a:rPr lang="zh-CN" altLang="en-US" dirty="0">
                <a:solidFill>
                  <a:srgbClr val="FF0000"/>
                </a:solidFill>
              </a:rPr>
              <a:t>国家秘密事项的确定</a:t>
            </a:r>
            <a:r>
              <a:rPr lang="zh-CN" altLang="en-US" dirty="0"/>
              <a:t>，即有</a:t>
            </a:r>
            <a:r>
              <a:rPr lang="zh-CN" altLang="en-US" dirty="0">
                <a:solidFill>
                  <a:srgbClr val="FF0000"/>
                </a:solidFill>
              </a:rPr>
              <a:t>定密权</a:t>
            </a:r>
            <a:r>
              <a:rPr lang="zh-CN" altLang="en-US" dirty="0"/>
              <a:t>的机关单位，根据相关</a:t>
            </a:r>
            <a:r>
              <a:rPr lang="zh-CN" altLang="en-US" dirty="0">
                <a:solidFill>
                  <a:srgbClr val="FF0000"/>
                </a:solidFill>
              </a:rPr>
              <a:t>保密法律法规</a:t>
            </a:r>
            <a:r>
              <a:rPr lang="zh-CN" altLang="en-US" dirty="0"/>
              <a:t>和</a:t>
            </a:r>
            <a:r>
              <a:rPr lang="zh-CN" altLang="en-US" dirty="0">
                <a:solidFill>
                  <a:srgbClr val="FF0000"/>
                </a:solidFill>
              </a:rPr>
              <a:t>国家秘密事项范围</a:t>
            </a:r>
            <a:r>
              <a:rPr lang="zh-CN" altLang="en-US" dirty="0"/>
              <a:t>的规定，对</a:t>
            </a:r>
            <a:r>
              <a:rPr lang="zh-CN" altLang="en-US" dirty="0">
                <a:solidFill>
                  <a:srgbClr val="FF0000"/>
                </a:solidFill>
              </a:rPr>
              <a:t>本</a:t>
            </a:r>
            <a:r>
              <a:rPr lang="zh-CN" altLang="en-US" dirty="0"/>
              <a:t>机关、</a:t>
            </a:r>
            <a:r>
              <a:rPr lang="zh-CN" altLang="en-US" dirty="0">
                <a:solidFill>
                  <a:srgbClr val="FF0000"/>
                </a:solidFill>
              </a:rPr>
              <a:t>本</a:t>
            </a:r>
            <a:r>
              <a:rPr lang="zh-CN" altLang="en-US" dirty="0"/>
              <a:t>单位自己产生的相关事项</a:t>
            </a:r>
            <a:r>
              <a:rPr lang="zh-CN" altLang="en-US" dirty="0">
                <a:solidFill>
                  <a:srgbClr val="FF0000"/>
                </a:solidFill>
              </a:rPr>
              <a:t>是否</a:t>
            </a:r>
            <a:r>
              <a:rPr lang="zh-CN" altLang="en-US" dirty="0"/>
              <a:t>属于国家秘密以及属于</a:t>
            </a:r>
            <a:r>
              <a:rPr lang="zh-CN" altLang="en-US" dirty="0">
                <a:solidFill>
                  <a:srgbClr val="FF0000"/>
                </a:solidFill>
              </a:rPr>
              <a:t>何种密级</a:t>
            </a:r>
            <a:r>
              <a:rPr lang="zh-CN" altLang="en-US" dirty="0"/>
              <a:t>作出准确判断，对具备国家秘密构成要素的事项，经过</a:t>
            </a:r>
            <a:r>
              <a:rPr lang="zh-CN" altLang="en-US" dirty="0">
                <a:solidFill>
                  <a:srgbClr val="FF0000"/>
                </a:solidFill>
              </a:rPr>
              <a:t>法定的程序</a:t>
            </a:r>
            <a:r>
              <a:rPr lang="zh-CN" altLang="en-US" dirty="0"/>
              <a:t>，将其确定为国家秘密，以及确定相应的</a:t>
            </a:r>
            <a:r>
              <a:rPr lang="zh-CN" altLang="en-US" dirty="0">
                <a:solidFill>
                  <a:srgbClr val="FF0000"/>
                </a:solidFill>
              </a:rPr>
              <a:t>密级、保密期限和知悉范围</a:t>
            </a:r>
            <a:r>
              <a:rPr lang="zh-CN" altLang="en-US" dirty="0"/>
              <a:t>，并在其载体上做出</a:t>
            </a:r>
            <a:r>
              <a:rPr lang="zh-CN" altLang="en-US" dirty="0">
                <a:solidFill>
                  <a:srgbClr val="FF0000"/>
                </a:solidFill>
              </a:rPr>
              <a:t>国家秘密标志</a:t>
            </a:r>
            <a:r>
              <a:rPr lang="zh-CN" altLang="en-US" dirty="0"/>
              <a:t>的一种行为。</a:t>
            </a:r>
            <a:endParaRPr lang="en-US" altLang="zh-CN" dirty="0"/>
          </a:p>
          <a:p>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lang="zh-CN" altLang="en-US" dirty="0"/>
              <a:t>广义的“定密”，除上述内容外，还包括根据情况的发展变化，依据法定程序，对已确定为国家秘密的事项作出</a:t>
            </a:r>
            <a:r>
              <a:rPr lang="zh-CN" altLang="en-US" dirty="0">
                <a:solidFill>
                  <a:srgbClr val="FF0000"/>
                </a:solidFill>
              </a:rPr>
              <a:t>变更和解除</a:t>
            </a:r>
            <a:r>
              <a:rPr lang="zh-CN" altLang="en-US" dirty="0"/>
              <a:t>的全过程工作。</a:t>
            </a:r>
            <a:endParaRPr lang="en-US" altLang="zh-CN" dirty="0"/>
          </a:p>
          <a:p>
            <a:endParaRPr lang="en-US" altLang="zh-CN" dirty="0"/>
          </a:p>
          <a:p>
            <a:r>
              <a:rPr lang="zh-CN" altLang="en-US" dirty="0"/>
              <a:t>狭义的定密，只是整个定密工作的起点，是广义定密的一个初始工作环节。</a:t>
            </a:r>
            <a:endParaRPr lang="zh-CN" altLang="en-US" dirty="0"/>
          </a:p>
          <a:p>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讨论</a:t>
            </a:r>
            <a:endParaRPr lang="zh-CN" altLang="en-US"/>
          </a:p>
        </p:txBody>
      </p:sp>
      <p:sp>
        <p:nvSpPr>
          <p:cNvPr id="3" name="内容占位符 2"/>
          <p:cNvSpPr>
            <a:spLocks noGrp="1"/>
          </p:cNvSpPr>
          <p:nvPr>
            <p:ph idx="1"/>
          </p:nvPr>
        </p:nvSpPr>
        <p:spPr/>
        <p:txBody>
          <a:bodyPr/>
          <a:p>
            <a:r>
              <a:rPr lang="zh-CN" altLang="en-US"/>
              <a:t>“国家秘密具体范围的确定</a:t>
            </a:r>
            <a:r>
              <a:rPr lang="zh-CN" altLang="en-US">
                <a:sym typeface="+mn-ea"/>
              </a:rPr>
              <a:t>”</a:t>
            </a:r>
            <a:r>
              <a:rPr lang="zh-CN" altLang="en-US"/>
              <a:t>是否属于定密？</a:t>
            </a:r>
            <a:r>
              <a:rPr lang="zh-CN" altLang="en-US">
                <a:solidFill>
                  <a:srgbClr val="FF0000"/>
                </a:solidFill>
              </a:rPr>
              <a:t>不属于</a:t>
            </a:r>
            <a:endParaRPr lang="zh-CN" altLang="en-US"/>
          </a:p>
          <a:p>
            <a:r>
              <a:rPr lang="zh-CN" altLang="en-US"/>
              <a:t>采用自由裁量方式对国家秘密事项类别和密级的顶层确定，属于抽象行政</a:t>
            </a:r>
            <a:r>
              <a:rPr lang="zh-CN" altLang="en-US"/>
              <a:t>行为</a:t>
            </a:r>
            <a:endParaRPr lang="zh-CN" altLang="en-US"/>
          </a:p>
          <a:p>
            <a:r>
              <a:rPr lang="zh-CN" altLang="en-US"/>
              <a:t>相对而言，国家秘密具体事项的确定属于具体行政</a:t>
            </a:r>
            <a:r>
              <a:rPr lang="zh-CN" altLang="en-US"/>
              <a:t>行为</a:t>
            </a:r>
            <a:endParaRPr lang="zh-CN" altLang="en-US"/>
          </a:p>
          <a:p>
            <a:r>
              <a:rPr lang="zh-CN" altLang="en-US"/>
              <a:t>不明确事项的确定，兼具两种</a:t>
            </a:r>
            <a:r>
              <a:rPr lang="zh-CN" altLang="en-US"/>
              <a:t>属性</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定密的</a:t>
            </a:r>
            <a:r>
              <a:rPr lang="zh-CN" altLang="en-US"/>
              <a:t>类型</a:t>
            </a:r>
            <a:endParaRPr lang="zh-CN" altLang="en-US"/>
          </a:p>
        </p:txBody>
      </p:sp>
      <p:sp>
        <p:nvSpPr>
          <p:cNvPr id="3" name="内容占位符 2"/>
          <p:cNvSpPr>
            <a:spLocks noGrp="1"/>
          </p:cNvSpPr>
          <p:nvPr>
            <p:ph idx="1"/>
          </p:nvPr>
        </p:nvSpPr>
        <p:spPr/>
        <p:txBody>
          <a:bodyPr/>
          <a:p>
            <a:r>
              <a:rPr lang="zh-CN" altLang="en-US"/>
              <a:t>原始</a:t>
            </a:r>
            <a:r>
              <a:rPr lang="zh-CN" altLang="en-US"/>
              <a:t>定密</a:t>
            </a:r>
            <a:endParaRPr lang="zh-CN" altLang="en-US"/>
          </a:p>
          <a:p>
            <a:endParaRPr lang="zh-CN" altLang="en-US"/>
          </a:p>
          <a:p>
            <a:r>
              <a:rPr lang="zh-CN" altLang="en-US"/>
              <a:t>派生</a:t>
            </a:r>
            <a:r>
              <a:rPr lang="zh-CN" altLang="en-US"/>
              <a:t>定密</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（二）定密工作的内涵</a:t>
            </a:r>
            <a:endParaRPr lang="zh-CN" altLang="en-US" dirty="0"/>
          </a:p>
        </p:txBody>
      </p:sp>
      <p:sp>
        <p:nvSpPr>
          <p:cNvPr id="3" name="内容占位符 2"/>
          <p:cNvSpPr>
            <a:spLocks noGrp="1"/>
          </p:cNvSpPr>
          <p:nvPr>
            <p:ph idx="1"/>
          </p:nvPr>
        </p:nvSpPr>
        <p:spPr>
          <a:xfrm>
            <a:off x="457200" y="1600200"/>
            <a:ext cx="8435280" cy="5069160"/>
          </a:xfrm>
        </p:spPr>
        <p:txBody>
          <a:bodyPr>
            <a:normAutofit fontScale="70000" lnSpcReduction="20000"/>
          </a:bodyPr>
          <a:lstStyle/>
          <a:p>
            <a:r>
              <a:rPr lang="zh-CN" altLang="en-US" dirty="0"/>
              <a:t>定密工作是一个集合概念。</a:t>
            </a:r>
            <a:endParaRPr lang="zh-CN" altLang="en-US" dirty="0"/>
          </a:p>
          <a:p>
            <a:endParaRPr lang="en-US" altLang="zh-CN" dirty="0"/>
          </a:p>
          <a:p>
            <a:r>
              <a:rPr lang="zh-CN" altLang="en-US" dirty="0"/>
              <a:t>它</a:t>
            </a:r>
            <a:r>
              <a:rPr lang="zh-CN" altLang="en-US" b="1" dirty="0">
                <a:solidFill>
                  <a:srgbClr val="00B050"/>
                </a:solidFill>
              </a:rPr>
              <a:t>既包括</a:t>
            </a:r>
            <a:r>
              <a:rPr lang="zh-CN" altLang="en-US" dirty="0"/>
              <a:t>对国家秘密的</a:t>
            </a:r>
            <a:r>
              <a:rPr lang="zh-CN" altLang="en-US" dirty="0">
                <a:solidFill>
                  <a:srgbClr val="FF0000"/>
                </a:solidFill>
              </a:rPr>
              <a:t>确定、变更、解除</a:t>
            </a:r>
            <a:r>
              <a:rPr lang="zh-CN" altLang="en-US" dirty="0"/>
              <a:t>等各项具体工作</a:t>
            </a:r>
            <a:r>
              <a:rPr lang="zh-CN" altLang="en-US" dirty="0" smtClean="0"/>
              <a:t>，</a:t>
            </a:r>
            <a:endParaRPr lang="zh-CN" altLang="en-US" dirty="0" smtClean="0"/>
          </a:p>
          <a:p>
            <a:endParaRPr lang="zh-CN" altLang="en-US" dirty="0"/>
          </a:p>
          <a:p>
            <a:r>
              <a:rPr lang="zh-CN" altLang="en-US" b="1" dirty="0">
                <a:solidFill>
                  <a:srgbClr val="00B050"/>
                </a:solidFill>
              </a:rPr>
              <a:t>也包括</a:t>
            </a:r>
            <a:r>
              <a:rPr lang="zh-CN" altLang="en-US" dirty="0"/>
              <a:t>对具体定密工作的组织和对整个定密工作的</a:t>
            </a:r>
            <a:r>
              <a:rPr lang="zh-CN" altLang="en-US" dirty="0">
                <a:solidFill>
                  <a:srgbClr val="FF0000"/>
                </a:solidFill>
              </a:rPr>
              <a:t>监督管理</a:t>
            </a:r>
            <a:r>
              <a:rPr lang="zh-CN" altLang="en-US" dirty="0"/>
              <a:t>，如健全完善定密体制机制，依法授予定密权限，确定和管理定密责任人</a:t>
            </a:r>
            <a:r>
              <a:rPr lang="zh-CN" altLang="en-US" dirty="0" smtClean="0"/>
              <a:t>，</a:t>
            </a:r>
            <a:endParaRPr lang="zh-CN" altLang="en-US" dirty="0" smtClean="0"/>
          </a:p>
          <a:p>
            <a:endParaRPr lang="zh-CN" altLang="en-US" dirty="0"/>
          </a:p>
          <a:p>
            <a:r>
              <a:rPr lang="zh-CN" altLang="en-US" b="1" dirty="0">
                <a:solidFill>
                  <a:srgbClr val="00B050"/>
                </a:solidFill>
              </a:rPr>
              <a:t>又包括</a:t>
            </a:r>
            <a:r>
              <a:rPr lang="zh-CN" altLang="en-US" dirty="0"/>
              <a:t>相关机关、业务主管部门和保密行政管理部门对定密工作的</a:t>
            </a:r>
            <a:r>
              <a:rPr lang="zh-CN" altLang="en-US" dirty="0">
                <a:solidFill>
                  <a:srgbClr val="FF0000"/>
                </a:solidFill>
              </a:rPr>
              <a:t>指导和监督检查</a:t>
            </a:r>
            <a:r>
              <a:rPr lang="zh-CN" altLang="en-US" dirty="0"/>
              <a:t>，以及保密行政管理部门对是否属于国家秘密和属于何种密级不明确、有争议事项的定密处理</a:t>
            </a:r>
            <a:r>
              <a:rPr lang="zh-CN" altLang="en-US" dirty="0" smtClean="0"/>
              <a:t>，</a:t>
            </a:r>
            <a:endParaRPr lang="zh-CN" altLang="en-US" dirty="0" smtClean="0"/>
          </a:p>
          <a:p>
            <a:endParaRPr lang="zh-CN" altLang="en-US" dirty="0"/>
          </a:p>
          <a:p>
            <a:r>
              <a:rPr lang="zh-CN" altLang="en-US" b="1" dirty="0">
                <a:solidFill>
                  <a:srgbClr val="00B050"/>
                </a:solidFill>
              </a:rPr>
              <a:t>还包括</a:t>
            </a:r>
            <a:r>
              <a:rPr lang="zh-CN" altLang="en-US" dirty="0"/>
              <a:t>对定密工作情况的</a:t>
            </a:r>
            <a:r>
              <a:rPr lang="zh-CN" altLang="en-US" dirty="0">
                <a:solidFill>
                  <a:srgbClr val="FF0000"/>
                </a:solidFill>
              </a:rPr>
              <a:t>统计分析</a:t>
            </a:r>
            <a:r>
              <a:rPr lang="zh-CN" altLang="en-US" dirty="0"/>
              <a:t>等。</a:t>
            </a:r>
            <a:endParaRPr lang="zh-CN" altLang="en-US" dirty="0"/>
          </a:p>
          <a:p>
            <a:endParaRPr lang="en-US" altLang="zh-CN" dirty="0"/>
          </a:p>
          <a:p>
            <a:r>
              <a:rPr lang="zh-CN" altLang="en-US" dirty="0"/>
              <a:t>简单地说，定密工作就是指执行落实保密法第二章和相关定密制度规定的全部工作。</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定密工作</a:t>
            </a:r>
            <a:r>
              <a:rPr lang="zh-CN" altLang="en-US" dirty="0" smtClean="0"/>
              <a:t>的内容</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t>国家秘密密级的确定</a:t>
            </a:r>
            <a:endParaRPr lang="en-US" altLang="zh-CN" dirty="0"/>
          </a:p>
          <a:p>
            <a:r>
              <a:rPr lang="zh-CN" altLang="en-US" dirty="0"/>
              <a:t>保密期限的确定</a:t>
            </a:r>
            <a:endParaRPr lang="en-US" altLang="zh-CN" dirty="0"/>
          </a:p>
          <a:p>
            <a:r>
              <a:rPr lang="zh-CN" altLang="en-US" dirty="0"/>
              <a:t>知悉范围的确定</a:t>
            </a:r>
            <a:endParaRPr lang="en-US" altLang="zh-CN" dirty="0"/>
          </a:p>
          <a:p>
            <a:r>
              <a:rPr lang="zh-CN" altLang="en-US" dirty="0"/>
              <a:t>变更的确定</a:t>
            </a:r>
            <a:endParaRPr lang="en-US" altLang="zh-CN" dirty="0"/>
          </a:p>
          <a:p>
            <a:r>
              <a:rPr lang="zh-CN" altLang="en-US" dirty="0"/>
              <a:t>解除的确定</a:t>
            </a:r>
            <a:endParaRPr lang="en-US" altLang="zh-CN" dirty="0"/>
          </a:p>
          <a:p>
            <a:r>
              <a:rPr lang="zh-CN" altLang="en-US" dirty="0"/>
              <a:t>文字记载</a:t>
            </a:r>
            <a:endParaRPr lang="en-US" altLang="zh-CN" dirty="0"/>
          </a:p>
          <a:p>
            <a:r>
              <a:rPr lang="zh-CN" altLang="en-US" dirty="0"/>
              <a:t>做出标注</a:t>
            </a:r>
            <a:endParaRPr lang="en-US" altLang="zh-CN" dirty="0"/>
          </a:p>
          <a:p>
            <a:r>
              <a:rPr lang="zh-CN" altLang="en-US" dirty="0"/>
              <a:t>通知知悉范围内的人员</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（三）定密的原则</a:t>
            </a:r>
            <a:endParaRPr lang="zh-CN" altLang="en-US" dirty="0"/>
          </a:p>
        </p:txBody>
      </p:sp>
      <p:sp>
        <p:nvSpPr>
          <p:cNvPr id="3" name="内容占位符 2"/>
          <p:cNvSpPr>
            <a:spLocks noGrp="1"/>
          </p:cNvSpPr>
          <p:nvPr>
            <p:ph idx="1"/>
          </p:nvPr>
        </p:nvSpPr>
        <p:spPr/>
        <p:txBody>
          <a:bodyPr>
            <a:normAutofit/>
          </a:bodyPr>
          <a:lstStyle/>
          <a:p>
            <a:r>
              <a:rPr lang="zh-CN" altLang="en-US" dirty="0"/>
              <a:t>最小化、精准化</a:t>
            </a:r>
            <a:endParaRPr lang="zh-CN" altLang="en-US" dirty="0"/>
          </a:p>
          <a:p>
            <a:endParaRPr lang="zh-CN" altLang="en-US" dirty="0"/>
          </a:p>
          <a:p>
            <a:r>
              <a:rPr lang="zh-CN" altLang="en-US" dirty="0"/>
              <a:t>权责明确、依据充分、程序规范、及时准确</a:t>
            </a:r>
            <a:endParaRPr lang="zh-CN" altLang="en-US" dirty="0"/>
          </a:p>
          <a:p>
            <a:endParaRPr lang="zh-CN" altLang="en-US" dirty="0"/>
          </a:p>
          <a:p>
            <a:r>
              <a:rPr lang="zh-CN" altLang="en-US" dirty="0"/>
              <a:t>既确保国家秘密安全，又便利信息资源合理利用</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定密的原则</a:t>
            </a:r>
            <a:endParaRPr lang="zh-CN" altLang="en-US" dirty="0"/>
          </a:p>
        </p:txBody>
      </p:sp>
      <p:sp>
        <p:nvSpPr>
          <p:cNvPr id="3" name="内容占位符 2"/>
          <p:cNvSpPr>
            <a:spLocks noGrp="1"/>
          </p:cNvSpPr>
          <p:nvPr>
            <p:ph idx="1"/>
          </p:nvPr>
        </p:nvSpPr>
        <p:spPr/>
        <p:txBody>
          <a:bodyPr>
            <a:normAutofit fontScale="92500"/>
          </a:bodyPr>
          <a:lstStyle/>
          <a:p>
            <a:r>
              <a:rPr lang="zh-CN" altLang="en-US" dirty="0">
                <a:solidFill>
                  <a:srgbClr val="FF0000"/>
                </a:solidFill>
              </a:rPr>
              <a:t>主体合法</a:t>
            </a:r>
            <a:r>
              <a:rPr lang="zh-CN" altLang="en-US" dirty="0"/>
              <a:t>，是指实施定密的机关单位，必须是保密法律规定或根据规定授予相应定密权限的机关单位；</a:t>
            </a:r>
            <a:endParaRPr lang="en-US" altLang="zh-CN" dirty="0"/>
          </a:p>
          <a:p>
            <a:r>
              <a:rPr lang="zh-CN" altLang="en-US" dirty="0">
                <a:solidFill>
                  <a:srgbClr val="FF0000"/>
                </a:solidFill>
              </a:rPr>
              <a:t>依据充分</a:t>
            </a:r>
            <a:r>
              <a:rPr lang="zh-CN" altLang="en-US" dirty="0"/>
              <a:t>，是指所确定的事项必须是法律法规明确规定属于国家秘密的事项；</a:t>
            </a:r>
            <a:endParaRPr lang="en-US" altLang="zh-CN" dirty="0"/>
          </a:p>
          <a:p>
            <a:r>
              <a:rPr lang="zh-CN" altLang="en-US" dirty="0">
                <a:solidFill>
                  <a:srgbClr val="FF0000"/>
                </a:solidFill>
              </a:rPr>
              <a:t>程序规范</a:t>
            </a:r>
            <a:r>
              <a:rPr lang="zh-CN" altLang="en-US" dirty="0"/>
              <a:t>，是指定密行为必须符合法定的程序；</a:t>
            </a:r>
            <a:endParaRPr lang="en-US" altLang="zh-CN" dirty="0"/>
          </a:p>
          <a:p>
            <a:r>
              <a:rPr lang="zh-CN" altLang="en-US" dirty="0">
                <a:solidFill>
                  <a:srgbClr val="FF0000"/>
                </a:solidFill>
              </a:rPr>
              <a:t>定密及时</a:t>
            </a:r>
            <a:r>
              <a:rPr lang="zh-CN" altLang="en-US" dirty="0"/>
              <a:t>，是指符合国家秘密构成要素的事项一经产生，其产生机关单位必须及时依法将其确定为国家秘密事项。</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（四）定密工作的原则</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（五）依法定密的含义</a:t>
            </a:r>
            <a:endParaRPr kumimoji="1" lang="zh-CN" altLang="en-US" dirty="0"/>
          </a:p>
        </p:txBody>
      </p:sp>
      <p:sp>
        <p:nvSpPr>
          <p:cNvPr id="3" name="内容占位符 2"/>
          <p:cNvSpPr>
            <a:spLocks noGrp="1"/>
          </p:cNvSpPr>
          <p:nvPr>
            <p:ph idx="1"/>
          </p:nvPr>
        </p:nvSpPr>
        <p:spPr/>
        <p:txBody>
          <a:bodyPr>
            <a:normAutofit/>
          </a:bodyPr>
          <a:lstStyle/>
          <a:p>
            <a:r>
              <a:rPr kumimoji="1" lang="en-US" altLang="zh-CN" dirty="0"/>
              <a:t>1.</a:t>
            </a:r>
            <a:r>
              <a:rPr kumimoji="1" lang="zh-CN" altLang="en-US" dirty="0"/>
              <a:t>定密工作合法</a:t>
            </a:r>
            <a:r>
              <a:rPr kumimoji="1" lang="zh-CN" altLang="en-US" sz="2600" dirty="0"/>
              <a:t>（法定任务、法定行为、法定职责）</a:t>
            </a:r>
            <a:endParaRPr kumimoji="1" lang="zh-CN" altLang="en-US" sz="2600" dirty="0"/>
          </a:p>
          <a:p>
            <a:r>
              <a:rPr kumimoji="1" lang="en-US" altLang="zh-CN" dirty="0"/>
              <a:t>2.</a:t>
            </a:r>
            <a:r>
              <a:rPr kumimoji="1" lang="zh-CN" altLang="en-US" dirty="0"/>
              <a:t>定密主体合法</a:t>
            </a:r>
            <a:r>
              <a:rPr kumimoji="1" lang="zh-CN" altLang="en-US" sz="2400" dirty="0"/>
              <a:t>（法律效力）</a:t>
            </a:r>
            <a:endParaRPr kumimoji="1" lang="zh-CN" altLang="en-US" sz="2400" dirty="0"/>
          </a:p>
          <a:p>
            <a:r>
              <a:rPr kumimoji="1" lang="en-US" altLang="zh-CN" dirty="0"/>
              <a:t>3.</a:t>
            </a:r>
            <a:r>
              <a:rPr kumimoji="1" lang="zh-CN" altLang="en-US" dirty="0"/>
              <a:t>定密权限合法</a:t>
            </a:r>
            <a:r>
              <a:rPr kumimoji="1" lang="zh-CN" altLang="en-US" sz="2400" dirty="0"/>
              <a:t>（权力与权限）</a:t>
            </a:r>
            <a:endParaRPr kumimoji="1" lang="zh-CN" altLang="en-US" sz="2400" dirty="0"/>
          </a:p>
          <a:p>
            <a:r>
              <a:rPr kumimoji="1" lang="en-US" altLang="zh-CN" dirty="0"/>
              <a:t>4.</a:t>
            </a:r>
            <a:r>
              <a:rPr kumimoji="1" lang="zh-CN" altLang="en-US" dirty="0"/>
              <a:t>定密人员合法</a:t>
            </a:r>
            <a:r>
              <a:rPr kumimoji="1" lang="zh-CN" altLang="en-US" sz="2400" dirty="0"/>
              <a:t>（本机关单位，法定／指定）</a:t>
            </a:r>
            <a:endParaRPr kumimoji="1" lang="zh-CN" altLang="en-US" sz="2400" dirty="0"/>
          </a:p>
          <a:p>
            <a:r>
              <a:rPr kumimoji="1" lang="en-US" altLang="zh-CN" dirty="0"/>
              <a:t>5.</a:t>
            </a:r>
            <a:r>
              <a:rPr kumimoji="1" lang="zh-CN" altLang="en-US" dirty="0"/>
              <a:t>定密程序合法</a:t>
            </a:r>
            <a:r>
              <a:rPr kumimoji="1" lang="zh-CN" altLang="en-US" sz="2400" dirty="0"/>
              <a:t>（前提、法定行为）</a:t>
            </a:r>
            <a:endParaRPr kumimoji="1" lang="zh-CN" altLang="en-US" sz="2400" dirty="0"/>
          </a:p>
          <a:p>
            <a:r>
              <a:rPr kumimoji="1" lang="en-US" altLang="zh-CN" dirty="0"/>
              <a:t>6.</a:t>
            </a:r>
            <a:r>
              <a:rPr kumimoji="1" lang="zh-CN" altLang="en-US" dirty="0"/>
              <a:t>定密结果合法</a:t>
            </a:r>
            <a:r>
              <a:rPr kumimoji="1" lang="zh-CN" altLang="en-US" sz="2400" dirty="0"/>
              <a:t>（受法律保护）</a:t>
            </a:r>
            <a:endParaRPr kumimoji="1" lang="zh-CN" altLang="en-US" sz="2400" dirty="0"/>
          </a:p>
          <a:p>
            <a:r>
              <a:rPr kumimoji="1" lang="en-US" altLang="zh-CN" dirty="0"/>
              <a:t>7.</a:t>
            </a:r>
            <a:r>
              <a:rPr kumimoji="1" lang="zh-CN" altLang="en-US" dirty="0"/>
              <a:t>密级标志合法</a:t>
            </a:r>
            <a:r>
              <a:rPr kumimoji="1" lang="zh-CN" altLang="en-US" sz="2400" dirty="0"/>
              <a:t>（唯一性、法定性、法律效力）</a:t>
            </a:r>
            <a:endParaRPr kumimoji="1" lang="zh-CN"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定密工作的地位与作用</a:t>
            </a:r>
            <a:endParaRPr lang="zh-CN" altLang="en-US" dirty="0"/>
          </a:p>
        </p:txBody>
      </p:sp>
      <p:sp>
        <p:nvSpPr>
          <p:cNvPr id="3" name="内容占位符 2"/>
          <p:cNvSpPr>
            <a:spLocks noGrp="1"/>
          </p:cNvSpPr>
          <p:nvPr>
            <p:ph idx="1"/>
          </p:nvPr>
        </p:nvSpPr>
        <p:spPr/>
        <p:txBody>
          <a:bodyPr>
            <a:normAutofit fontScale="92500" lnSpcReduction="20000"/>
          </a:bodyPr>
          <a:lstStyle/>
          <a:p>
            <a:pPr>
              <a:lnSpc>
                <a:spcPct val="150000"/>
              </a:lnSpc>
            </a:pPr>
            <a:r>
              <a:rPr lang="zh-CN" altLang="en-US" sz="2800" dirty="0"/>
              <a:t>（一）定密工作的地位</a:t>
            </a:r>
            <a:endParaRPr lang="en-US" altLang="zh-CN" sz="2800" dirty="0"/>
          </a:p>
          <a:p>
            <a:pPr>
              <a:lnSpc>
                <a:spcPct val="150000"/>
              </a:lnSpc>
            </a:pPr>
            <a:r>
              <a:rPr lang="zh-CN" altLang="en-US" sz="2800" dirty="0"/>
              <a:t>定密工作是保密工作的</a:t>
            </a:r>
            <a:r>
              <a:rPr lang="zh-CN" altLang="en-US" sz="2800" dirty="0">
                <a:solidFill>
                  <a:srgbClr val="FF0000"/>
                </a:solidFill>
              </a:rPr>
              <a:t>源头和基础</a:t>
            </a:r>
            <a:r>
              <a:rPr lang="zh-CN" altLang="en-US" sz="2800" dirty="0"/>
              <a:t>，只有把国家秘密定准了，保密工作才有</a:t>
            </a:r>
            <a:r>
              <a:rPr lang="zh-CN" altLang="en-US" sz="2800" dirty="0">
                <a:solidFill>
                  <a:srgbClr val="FF0000"/>
                </a:solidFill>
              </a:rPr>
              <a:t>明确目标</a:t>
            </a:r>
            <a:r>
              <a:rPr lang="zh-CN" altLang="en-US" sz="2800" dirty="0"/>
              <a:t>，</a:t>
            </a:r>
            <a:r>
              <a:rPr lang="zh-CN" altLang="en-US" sz="2800" dirty="0">
                <a:solidFill>
                  <a:srgbClr val="FF0000"/>
                </a:solidFill>
              </a:rPr>
              <a:t>保密措施</a:t>
            </a:r>
            <a:r>
              <a:rPr lang="zh-CN" altLang="en-US" sz="2800" dirty="0"/>
              <a:t>才能有针对性地落实，相关人员才能忠实地履行</a:t>
            </a:r>
            <a:r>
              <a:rPr lang="zh-CN" altLang="en-US" sz="2800" dirty="0">
                <a:solidFill>
                  <a:srgbClr val="FF0000"/>
                </a:solidFill>
              </a:rPr>
              <a:t>保密义务</a:t>
            </a:r>
            <a:r>
              <a:rPr lang="zh-CN" altLang="en-US" sz="2800" dirty="0"/>
              <a:t>，纠正违规行为和追究泄密责任才有</a:t>
            </a:r>
            <a:r>
              <a:rPr lang="zh-CN" altLang="en-US" sz="2800" dirty="0">
                <a:solidFill>
                  <a:srgbClr val="FF0000"/>
                </a:solidFill>
              </a:rPr>
              <a:t>法律依据</a:t>
            </a:r>
            <a:r>
              <a:rPr lang="zh-CN" altLang="en-US" sz="2800" dirty="0"/>
              <a:t>。</a:t>
            </a:r>
            <a:endParaRPr lang="en-US" altLang="zh-CN" sz="2800" dirty="0"/>
          </a:p>
          <a:p>
            <a:pPr>
              <a:lnSpc>
                <a:spcPct val="150000"/>
              </a:lnSpc>
            </a:pPr>
            <a:r>
              <a:rPr lang="zh-CN" altLang="en-US" sz="2800" dirty="0"/>
              <a:t>定密工作又是一项知识性、规范性很强的工作，不了解相关法律法规，不掌握基本工作程序和方法，也断然做不好定密工作。</a:t>
            </a:r>
            <a:endParaRPr lang="zh-CN" alt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（二）定密工作的作用</a:t>
            </a:r>
            <a:endParaRPr lang="zh-CN" altLang="en-US" dirty="0"/>
          </a:p>
        </p:txBody>
      </p:sp>
      <p:sp>
        <p:nvSpPr>
          <p:cNvPr id="3" name="内容占位符 2"/>
          <p:cNvSpPr>
            <a:spLocks noGrp="1"/>
          </p:cNvSpPr>
          <p:nvPr>
            <p:ph idx="1"/>
          </p:nvPr>
        </p:nvSpPr>
        <p:spPr>
          <a:xfrm>
            <a:off x="457200" y="1600200"/>
            <a:ext cx="8229600" cy="4853136"/>
          </a:xfrm>
        </p:spPr>
        <p:txBody>
          <a:bodyPr>
            <a:normAutofit fontScale="92500" lnSpcReduction="20000"/>
          </a:bodyPr>
          <a:lstStyle/>
          <a:p>
            <a:pPr marL="457200" lvl="0" indent="-457200">
              <a:lnSpc>
                <a:spcPct val="150000"/>
              </a:lnSpc>
              <a:buFont typeface="+mj-lt"/>
              <a:buAutoNum type="arabicPeriod"/>
            </a:pPr>
            <a:r>
              <a:rPr lang="zh-CN" altLang="en-US" dirty="0"/>
              <a:t>做好定密工作是维护国家安全和利益的基础</a:t>
            </a:r>
            <a:endParaRPr lang="zh-CN" altLang="en-US" dirty="0"/>
          </a:p>
          <a:p>
            <a:pPr marL="457200" lvl="0" indent="-457200">
              <a:lnSpc>
                <a:spcPct val="150000"/>
              </a:lnSpc>
              <a:buFont typeface="+mj-lt"/>
              <a:buAutoNum type="arabicPeriod"/>
            </a:pPr>
            <a:r>
              <a:rPr lang="zh-CN" altLang="en-US" dirty="0"/>
              <a:t>做好定密工作是加强信息管理、适应信息社会发展的必然要求</a:t>
            </a:r>
            <a:endParaRPr lang="zh-CN" altLang="en-US" dirty="0"/>
          </a:p>
          <a:p>
            <a:pPr marL="457200" lvl="0" indent="-457200">
              <a:lnSpc>
                <a:spcPct val="150000"/>
              </a:lnSpc>
              <a:buFont typeface="+mj-lt"/>
              <a:buAutoNum type="arabicPeriod"/>
            </a:pPr>
            <a:r>
              <a:rPr lang="zh-CN" altLang="en-US" dirty="0"/>
              <a:t>做好定密工作是维护法律尊严的需要</a:t>
            </a:r>
            <a:endParaRPr lang="zh-CN" altLang="en-US" dirty="0"/>
          </a:p>
          <a:p>
            <a:pPr marL="457200" lvl="0" indent="-457200">
              <a:lnSpc>
                <a:spcPct val="150000"/>
              </a:lnSpc>
              <a:buFont typeface="+mj-lt"/>
              <a:buAutoNum type="arabicPeriod"/>
            </a:pPr>
            <a:r>
              <a:rPr lang="zh-CN" altLang="en-US" dirty="0"/>
              <a:t>做好定密工作是机关、单位及相关人员的法定义务</a:t>
            </a:r>
            <a:endParaRPr lang="zh-CN" altLang="en-US" dirty="0"/>
          </a:p>
          <a:p>
            <a:pPr marL="457200" lvl="0" indent="-457200">
              <a:lnSpc>
                <a:spcPct val="150000"/>
              </a:lnSpc>
              <a:buFont typeface="+mj-lt"/>
              <a:buAutoNum type="arabicPeriod"/>
            </a:pPr>
            <a:r>
              <a:rPr lang="zh-CN" altLang="en-US" dirty="0"/>
              <a:t>做好定密工作是贯彻保密工作方针的保证</a:t>
            </a:r>
            <a:endParaRPr lang="zh-CN" altLang="en-US" dirty="0"/>
          </a:p>
          <a:p>
            <a:pPr>
              <a:lnSpc>
                <a:spcPct val="150000"/>
              </a:lnSpc>
            </a:pP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lvl="0"/>
            <a:br>
              <a:rPr lang="en-US" altLang="zh-CN" dirty="0"/>
            </a:br>
            <a:r>
              <a:rPr lang="en-US" altLang="zh-CN" dirty="0"/>
              <a:t>1.</a:t>
            </a:r>
            <a:r>
              <a:rPr lang="zh-CN" altLang="en-US" dirty="0"/>
              <a:t>维护国家安全和利益的基础</a:t>
            </a:r>
            <a:br>
              <a:rPr lang="zh-CN" altLang="en-US" dirty="0"/>
            </a:br>
            <a:endParaRPr lang="zh-CN" altLang="en-US" dirty="0"/>
          </a:p>
        </p:txBody>
      </p:sp>
      <p:sp>
        <p:nvSpPr>
          <p:cNvPr id="3" name="内容占位符 2"/>
          <p:cNvSpPr>
            <a:spLocks noGrp="1"/>
          </p:cNvSpPr>
          <p:nvPr>
            <p:ph idx="1"/>
          </p:nvPr>
        </p:nvSpPr>
        <p:spPr/>
        <p:txBody>
          <a:bodyPr>
            <a:normAutofit/>
          </a:bodyPr>
          <a:lstStyle/>
          <a:p>
            <a:r>
              <a:rPr lang="zh-CN" altLang="en-US" dirty="0"/>
              <a:t>对象是国家秘密</a:t>
            </a:r>
            <a:endParaRPr lang="en-US" altLang="zh-CN" dirty="0"/>
          </a:p>
          <a:p>
            <a:endParaRPr lang="en-US" altLang="zh-CN" dirty="0"/>
          </a:p>
          <a:p>
            <a:r>
              <a:rPr lang="zh-CN" altLang="en-US" dirty="0"/>
              <a:t>泄露国家秘密会给国家安全和利益造成更加严重的后果</a:t>
            </a:r>
            <a:endParaRPr lang="en-US" altLang="zh-CN" dirty="0"/>
          </a:p>
          <a:p>
            <a:endParaRPr lang="en-US" altLang="zh-CN" dirty="0"/>
          </a:p>
          <a:p>
            <a:r>
              <a:rPr lang="zh-CN" altLang="en-US" dirty="0"/>
              <a:t>区分国家秘密，切忌将国家秘密事项混同于一般事项，随意扩散</a:t>
            </a:r>
            <a:endParaRPr lang="en-US" altLang="zh-CN" dirty="0"/>
          </a:p>
          <a:p>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a:t>
            </a:r>
            <a:r>
              <a:rPr lang="zh-CN" altLang="en-US" dirty="0"/>
              <a:t>加强信息管理、适应信息社会发展的必然要求</a:t>
            </a:r>
            <a:endParaRPr lang="zh-CN" altLang="en-US" dirty="0"/>
          </a:p>
        </p:txBody>
      </p:sp>
      <p:sp>
        <p:nvSpPr>
          <p:cNvPr id="3" name="内容占位符 2"/>
          <p:cNvSpPr>
            <a:spLocks noGrp="1"/>
          </p:cNvSpPr>
          <p:nvPr>
            <p:ph idx="1"/>
          </p:nvPr>
        </p:nvSpPr>
        <p:spPr/>
        <p:txBody>
          <a:bodyPr/>
          <a:lstStyle/>
          <a:p>
            <a:r>
              <a:rPr lang="zh-CN" altLang="en-US" dirty="0"/>
              <a:t>信息学角度的国家秘密：一种信息，是一种需要</a:t>
            </a:r>
            <a:r>
              <a:rPr lang="zh-CN" altLang="en-US" dirty="0">
                <a:solidFill>
                  <a:srgbClr val="FF0000"/>
                </a:solidFill>
              </a:rPr>
              <a:t>控制</a:t>
            </a:r>
            <a:r>
              <a:rPr lang="zh-CN" altLang="en-US" dirty="0"/>
              <a:t>在一定时间、一定范围内的特种信息。</a:t>
            </a:r>
            <a:endParaRPr lang="en-US" altLang="zh-CN" dirty="0"/>
          </a:p>
          <a:p>
            <a:endParaRPr lang="en-US" altLang="zh-CN" dirty="0"/>
          </a:p>
          <a:p>
            <a:r>
              <a:rPr lang="zh-CN" altLang="en-US" dirty="0"/>
              <a:t>信息网络化，网上信息发布</a:t>
            </a:r>
            <a:endParaRPr lang="en-US" altLang="zh-CN" dirty="0"/>
          </a:p>
          <a:p>
            <a:endParaRPr lang="en-US" altLang="zh-CN" dirty="0"/>
          </a:p>
          <a:p>
            <a:r>
              <a:rPr lang="zh-CN" altLang="en-US" dirty="0"/>
              <a:t>对外合作交流的资料提供</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维护法律尊严的需要</a:t>
            </a:r>
            <a:endParaRPr lang="zh-CN" altLang="en-US" dirty="0"/>
          </a:p>
        </p:txBody>
      </p:sp>
      <p:sp>
        <p:nvSpPr>
          <p:cNvPr id="3" name="内容占位符 2"/>
          <p:cNvSpPr>
            <a:spLocks noGrp="1"/>
          </p:cNvSpPr>
          <p:nvPr>
            <p:ph idx="1"/>
          </p:nvPr>
        </p:nvSpPr>
        <p:spPr/>
        <p:txBody>
          <a:bodyPr>
            <a:normAutofit/>
          </a:bodyPr>
          <a:lstStyle/>
          <a:p>
            <a:r>
              <a:rPr lang="zh-CN" altLang="en-US" dirty="0"/>
              <a:t>泄露国家秘密的，都要予以查处，有关当事人都必须承担相应的责任。</a:t>
            </a:r>
            <a:endParaRPr lang="en-US" altLang="zh-CN" dirty="0"/>
          </a:p>
          <a:p>
            <a:r>
              <a:rPr lang="zh-CN" altLang="en-US" dirty="0"/>
              <a:t>及时、准确地确定国家秘密及其密级，是惩罚窃取或泄露国家秘密犯罪分子的重要前提条件，也是给泄露国家秘密者以党纪、政纪处分的必要条件。</a:t>
            </a:r>
            <a:endParaRPr lang="en-US" altLang="zh-CN" dirty="0"/>
          </a:p>
          <a:p>
            <a:r>
              <a:rPr lang="zh-CN" altLang="en-US" dirty="0"/>
              <a:t>在查处泄密案件的过程中，规定了密级鉴定程序。</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401080" cy="1143000"/>
          </a:xfrm>
        </p:spPr>
        <p:txBody>
          <a:bodyPr>
            <a:normAutofit fontScale="90000"/>
          </a:bodyPr>
          <a:lstStyle/>
          <a:p>
            <a:r>
              <a:rPr lang="en-US" altLang="zh-CN" dirty="0"/>
              <a:t>4.</a:t>
            </a:r>
            <a:r>
              <a:rPr lang="zh-CN" altLang="en-US" dirty="0"/>
              <a:t>机关、单位及相关人员的法定义务</a:t>
            </a:r>
            <a:endParaRPr lang="zh-CN" altLang="en-US" dirty="0"/>
          </a:p>
        </p:txBody>
      </p:sp>
      <p:sp>
        <p:nvSpPr>
          <p:cNvPr id="3" name="内容占位符 2"/>
          <p:cNvSpPr>
            <a:spLocks noGrp="1"/>
          </p:cNvSpPr>
          <p:nvPr>
            <p:ph idx="1"/>
          </p:nvPr>
        </p:nvSpPr>
        <p:spPr/>
        <p:txBody>
          <a:bodyPr>
            <a:normAutofit fontScale="92500"/>
          </a:bodyPr>
          <a:lstStyle/>
          <a:p>
            <a:r>
              <a:rPr lang="zh-CN" altLang="en-US" dirty="0"/>
              <a:t>保守国家秘密是每个公民应尽的义务</a:t>
            </a:r>
            <a:endParaRPr lang="en-US" altLang="zh-CN" dirty="0"/>
          </a:p>
          <a:p>
            <a:r>
              <a:rPr lang="zh-CN" altLang="en-US" dirty="0"/>
              <a:t>一切国家机关、武装力量、政党和社会团体、企事业单位和公民都有保守国家秘密的义务。</a:t>
            </a:r>
            <a:endParaRPr lang="en-US" altLang="zh-CN" dirty="0"/>
          </a:p>
          <a:p>
            <a:r>
              <a:rPr lang="zh-CN" altLang="en-US" dirty="0"/>
              <a:t>各个机关、单位有义务对其公务活动中所产生的国家秘密事项及时定密，使国家秘密事项一经产生就能得到应有的保护。</a:t>
            </a:r>
            <a:endParaRPr lang="en-US" altLang="zh-CN" dirty="0"/>
          </a:p>
          <a:p>
            <a:r>
              <a:rPr lang="zh-CN" altLang="en-US" dirty="0"/>
              <a:t>及时做好定密工作，严格区分密与非密的界限，是各级有关机关、单位的法定义务，也是相关人员必须履行的保密义务。</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a:t>
            </a:r>
            <a:r>
              <a:rPr lang="zh-CN" altLang="en-US" dirty="0"/>
              <a:t>贯彻保密工作方针的保证</a:t>
            </a:r>
            <a:endParaRPr lang="zh-CN" altLang="en-US" dirty="0"/>
          </a:p>
        </p:txBody>
      </p:sp>
      <p:sp>
        <p:nvSpPr>
          <p:cNvPr id="3" name="内容占位符 2"/>
          <p:cNvSpPr>
            <a:spLocks noGrp="1"/>
          </p:cNvSpPr>
          <p:nvPr>
            <p:ph idx="1"/>
          </p:nvPr>
        </p:nvSpPr>
        <p:spPr>
          <a:xfrm>
            <a:off x="457200" y="1600200"/>
            <a:ext cx="8229600" cy="4829196"/>
          </a:xfrm>
        </p:spPr>
        <p:txBody>
          <a:bodyPr>
            <a:normAutofit fontScale="85000" lnSpcReduction="20000"/>
          </a:bodyPr>
          <a:lstStyle/>
          <a:p>
            <a:pPr>
              <a:lnSpc>
                <a:spcPct val="150000"/>
              </a:lnSpc>
            </a:pPr>
            <a:r>
              <a:rPr lang="zh-CN" altLang="en-US" sz="2400" dirty="0"/>
              <a:t>认真贯彻保密工作的方针，依法开展保密工作，一个很重要的前提条件是要</a:t>
            </a:r>
            <a:r>
              <a:rPr lang="zh-CN" altLang="en-US" sz="2400" dirty="0">
                <a:solidFill>
                  <a:srgbClr val="FF0000"/>
                </a:solidFill>
              </a:rPr>
              <a:t>明确保什么</a:t>
            </a:r>
            <a:r>
              <a:rPr lang="zh-CN" altLang="en-US" sz="2400" dirty="0"/>
              <a:t>。如果对什么是国家秘密都不明确，就无法确定其保护对象和应采取的保密措施。要确定保密的对象就必须认真做好定密工作，准确确定国家秘密事项及其密级。</a:t>
            </a:r>
            <a:endParaRPr lang="en-US" altLang="zh-CN" sz="2400" dirty="0"/>
          </a:p>
          <a:p>
            <a:pPr>
              <a:lnSpc>
                <a:spcPct val="150000"/>
              </a:lnSpc>
            </a:pPr>
            <a:r>
              <a:rPr lang="zh-CN" altLang="en-US" sz="2400" dirty="0"/>
              <a:t>“积极防范，</a:t>
            </a:r>
            <a:r>
              <a:rPr lang="zh-CN" altLang="en-US" sz="2400" dirty="0">
                <a:solidFill>
                  <a:srgbClr val="FF0000"/>
                </a:solidFill>
              </a:rPr>
              <a:t>突出重点</a:t>
            </a:r>
            <a:r>
              <a:rPr lang="zh-CN" altLang="en-US" sz="2400" dirty="0"/>
              <a:t>”是保密工作方针的核心。重点部位、重点对象、重点目标。</a:t>
            </a:r>
            <a:endParaRPr lang="en-US" altLang="zh-CN" sz="2400" dirty="0"/>
          </a:p>
          <a:p>
            <a:pPr>
              <a:lnSpc>
                <a:spcPct val="150000"/>
              </a:lnSpc>
            </a:pPr>
            <a:r>
              <a:rPr lang="zh-CN" altLang="en-US" sz="2400" dirty="0"/>
              <a:t>重点目标又是判定重点部位和重点对象的前提条件。也就是说，认定是否属于重点部位、重点对象，主要是考察其是否经常地、大量地产生国家秘密事项，是否经常地经办、知悉、接触国家秘密事项。所以说，认真做好定密工作，是贯彻保密工作方针，依法开展保密工作的基础。</a:t>
            </a:r>
            <a:endParaRPr lang="en-US" altLang="zh-CN" sz="2400" dirty="0"/>
          </a:p>
          <a:p>
            <a:pPr>
              <a:lnSpc>
                <a:spcPct val="150000"/>
              </a:lnSpc>
            </a:pPr>
            <a:endParaRPr lang="zh-CN"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（三）定密与保密审查的关系</a:t>
            </a:r>
            <a:endParaRPr lang="zh-CN" altLang="en-US" dirty="0"/>
          </a:p>
        </p:txBody>
      </p:sp>
      <p:sp>
        <p:nvSpPr>
          <p:cNvPr id="3" name="内容占位符 2"/>
          <p:cNvSpPr>
            <a:spLocks noGrp="1"/>
          </p:cNvSpPr>
          <p:nvPr>
            <p:ph idx="1"/>
          </p:nvPr>
        </p:nvSpPr>
        <p:spPr/>
        <p:txBody>
          <a:bodyPr/>
          <a:lstStyle/>
          <a:p>
            <a:r>
              <a:rPr lang="zh-CN" altLang="en-US" dirty="0"/>
              <a:t>保密审查的定义、审查内容、原则、依据、责任、要求</a:t>
            </a:r>
            <a:endParaRPr lang="en-US" altLang="zh-CN" dirty="0"/>
          </a:p>
          <a:p>
            <a:endParaRPr lang="en-US" altLang="zh-CN" dirty="0"/>
          </a:p>
          <a:p>
            <a:r>
              <a:rPr lang="zh-CN" altLang="en-US" dirty="0"/>
              <a:t>定密</a:t>
            </a:r>
            <a:r>
              <a:rPr lang="en-US" altLang="zh-CN" dirty="0"/>
              <a:t>VS</a:t>
            </a:r>
            <a:r>
              <a:rPr lang="zh-CN" altLang="en-US" dirty="0"/>
              <a:t>保密审查</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pic>
        <p:nvPicPr>
          <p:cNvPr id="4" name="内容占位符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899592" y="182440"/>
            <a:ext cx="6840760" cy="6642889"/>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pic>
        <p:nvPicPr>
          <p:cNvPr id="4" name="内容占位符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1187624" y="237808"/>
            <a:ext cx="6768752" cy="6620192"/>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12000" y="522622"/>
            <a:ext cx="8319999" cy="6325560"/>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pic>
        <p:nvPicPr>
          <p:cNvPr id="4" name="内容占位符 3"/>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750404" y="323823"/>
            <a:ext cx="7643192" cy="6548241"/>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保密审查</a:t>
            </a:r>
            <a:endParaRPr lang="zh-CN" altLang="en-US" dirty="0"/>
          </a:p>
        </p:txBody>
      </p:sp>
      <p:sp>
        <p:nvSpPr>
          <p:cNvPr id="3" name="内容占位符 2"/>
          <p:cNvSpPr>
            <a:spLocks noGrp="1"/>
          </p:cNvSpPr>
          <p:nvPr>
            <p:ph idx="1"/>
          </p:nvPr>
        </p:nvSpPr>
        <p:spPr>
          <a:xfrm>
            <a:off x="457200" y="1600200"/>
            <a:ext cx="8229600" cy="5069160"/>
          </a:xfrm>
        </p:spPr>
        <p:txBody>
          <a:bodyPr>
            <a:normAutofit fontScale="77500" lnSpcReduction="20000"/>
          </a:bodyPr>
          <a:lstStyle/>
          <a:p>
            <a:pPr>
              <a:lnSpc>
                <a:spcPct val="170000"/>
              </a:lnSpc>
              <a:buNone/>
            </a:pPr>
            <a:r>
              <a:rPr lang="zh-CN" altLang="en-US" dirty="0"/>
              <a:t>（</a:t>
            </a:r>
            <a:r>
              <a:rPr lang="en-US" altLang="zh-CN" dirty="0"/>
              <a:t>1</a:t>
            </a:r>
            <a:r>
              <a:rPr lang="zh-CN" altLang="en-US" dirty="0"/>
              <a:t>）定义</a:t>
            </a:r>
            <a:endParaRPr lang="en-US" altLang="zh-CN" dirty="0"/>
          </a:p>
          <a:p>
            <a:pPr>
              <a:lnSpc>
                <a:spcPct val="170000"/>
              </a:lnSpc>
            </a:pPr>
            <a:r>
              <a:rPr lang="en-US" altLang="zh-CN" dirty="0"/>
              <a:t>     </a:t>
            </a:r>
            <a:r>
              <a:rPr lang="zh-CN" altLang="en-US" dirty="0"/>
              <a:t>保密审查，是指行政机关对政府信息是否属于</a:t>
            </a:r>
            <a:r>
              <a:rPr lang="en-US" altLang="zh-CN" dirty="0"/>
              <a:t>《</a:t>
            </a:r>
            <a:r>
              <a:rPr lang="zh-CN" altLang="en-US" dirty="0"/>
              <a:t>条例</a:t>
            </a:r>
            <a:r>
              <a:rPr lang="en-US" altLang="zh-CN" dirty="0"/>
              <a:t>》</a:t>
            </a:r>
            <a:r>
              <a:rPr lang="zh-CN" altLang="en-US" dirty="0"/>
              <a:t>和</a:t>
            </a:r>
            <a:r>
              <a:rPr lang="en-US" altLang="zh-CN" dirty="0"/>
              <a:t>《</a:t>
            </a:r>
            <a:r>
              <a:rPr lang="zh-CN" altLang="en-US" dirty="0"/>
              <a:t>规定</a:t>
            </a:r>
            <a:r>
              <a:rPr lang="en-US" altLang="zh-CN" dirty="0"/>
              <a:t>》</a:t>
            </a:r>
            <a:r>
              <a:rPr lang="zh-CN" altLang="en-US" dirty="0"/>
              <a:t>规定的不予公开情形的审核认定。</a:t>
            </a:r>
            <a:endParaRPr lang="en-US" altLang="zh-CN" dirty="0"/>
          </a:p>
          <a:p>
            <a:endParaRPr lang="en-US" altLang="zh-CN" dirty="0"/>
          </a:p>
          <a:p>
            <a:pPr>
              <a:buNone/>
            </a:pPr>
            <a:r>
              <a:rPr lang="zh-CN" altLang="en-US" dirty="0"/>
              <a:t>（</a:t>
            </a:r>
            <a:r>
              <a:rPr lang="en-US" altLang="zh-CN" dirty="0"/>
              <a:t>2</a:t>
            </a:r>
            <a:r>
              <a:rPr lang="zh-CN" altLang="en-US" dirty="0"/>
              <a:t>）原则</a:t>
            </a:r>
            <a:endParaRPr lang="en-US" altLang="zh-CN" dirty="0"/>
          </a:p>
          <a:p>
            <a:pPr>
              <a:lnSpc>
                <a:spcPct val="170000"/>
              </a:lnSpc>
            </a:pPr>
            <a:r>
              <a:rPr lang="zh-CN" altLang="en-US" dirty="0"/>
              <a:t>  严格遵守</a:t>
            </a:r>
            <a:r>
              <a:rPr lang="en-US" altLang="zh-CN" dirty="0"/>
              <a:t>《</a:t>
            </a:r>
            <a:r>
              <a:rPr lang="zh-CN" altLang="en-US" dirty="0"/>
              <a:t>条例</a:t>
            </a:r>
            <a:r>
              <a:rPr lang="en-US" altLang="zh-CN" dirty="0"/>
              <a:t>》</a:t>
            </a:r>
            <a:r>
              <a:rPr lang="zh-CN" altLang="en-US" dirty="0"/>
              <a:t>和</a:t>
            </a:r>
            <a:r>
              <a:rPr lang="en-US" altLang="zh-CN" dirty="0"/>
              <a:t>《</a:t>
            </a:r>
            <a:r>
              <a:rPr lang="zh-CN" altLang="en-US" dirty="0"/>
              <a:t>保密法</a:t>
            </a:r>
            <a:r>
              <a:rPr lang="en-US" altLang="zh-CN" dirty="0"/>
              <a:t>》</a:t>
            </a:r>
            <a:r>
              <a:rPr lang="zh-CN" altLang="en-US" dirty="0"/>
              <a:t>；</a:t>
            </a:r>
            <a:endParaRPr lang="zh-CN" altLang="en-US" dirty="0"/>
          </a:p>
          <a:p>
            <a:pPr>
              <a:lnSpc>
                <a:spcPct val="170000"/>
              </a:lnSpc>
            </a:pPr>
            <a:r>
              <a:rPr lang="zh-CN" altLang="en-US" dirty="0"/>
              <a:t>  公开信息不涉密，涉密信息不公开 ；</a:t>
            </a:r>
            <a:endParaRPr lang="zh-CN" altLang="en-US" dirty="0"/>
          </a:p>
          <a:p>
            <a:pPr>
              <a:lnSpc>
                <a:spcPct val="170000"/>
              </a:lnSpc>
            </a:pPr>
            <a:r>
              <a:rPr lang="zh-CN" altLang="en-US" dirty="0"/>
              <a:t>  谁公开、谁审查，谁审查、谁负责。</a:t>
            </a:r>
            <a:endParaRPr lang="zh-CN" altLang="en-US" dirty="0"/>
          </a:p>
          <a:p>
            <a:pPr>
              <a:buNone/>
            </a:pP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pPr>
              <a:lnSpc>
                <a:spcPct val="160000"/>
              </a:lnSpc>
              <a:buNone/>
            </a:pPr>
            <a:r>
              <a:rPr lang="zh-CN" altLang="en-US" dirty="0"/>
              <a:t>（</a:t>
            </a:r>
            <a:r>
              <a:rPr lang="en-US" altLang="zh-CN" dirty="0"/>
              <a:t>3</a:t>
            </a:r>
            <a:r>
              <a:rPr lang="zh-CN" altLang="en-US" dirty="0"/>
              <a:t>）保密审查内容</a:t>
            </a:r>
            <a:endParaRPr lang="zh-CN" altLang="en-US" dirty="0"/>
          </a:p>
          <a:p>
            <a:pPr>
              <a:lnSpc>
                <a:spcPct val="160000"/>
              </a:lnSpc>
            </a:pPr>
            <a:r>
              <a:rPr lang="zh-CN" altLang="en-US" dirty="0"/>
              <a:t>  涉及国家秘密、商业秘密、个人隐私的信息；</a:t>
            </a:r>
            <a:endParaRPr lang="zh-CN" altLang="en-US" dirty="0"/>
          </a:p>
          <a:p>
            <a:pPr>
              <a:lnSpc>
                <a:spcPct val="160000"/>
              </a:lnSpc>
            </a:pPr>
            <a:r>
              <a:rPr lang="zh-CN" altLang="en-US" dirty="0"/>
              <a:t>  政治、外事活动方面的敏感信息；</a:t>
            </a:r>
            <a:endParaRPr lang="zh-CN" altLang="en-US" dirty="0"/>
          </a:p>
          <a:p>
            <a:pPr>
              <a:lnSpc>
                <a:spcPct val="160000"/>
              </a:lnSpc>
            </a:pPr>
            <a:r>
              <a:rPr lang="zh-CN" altLang="en-US" dirty="0"/>
              <a:t>  不宜公开的经济、科技、社会等信息；</a:t>
            </a:r>
            <a:endParaRPr lang="zh-CN" altLang="en-US" dirty="0"/>
          </a:p>
          <a:p>
            <a:pPr>
              <a:lnSpc>
                <a:spcPct val="160000"/>
              </a:lnSpc>
            </a:pPr>
            <a:r>
              <a:rPr lang="zh-CN" altLang="en-US" dirty="0"/>
              <a:t>  未经议决的行政管理事项（公开征集意见的除外）；</a:t>
            </a:r>
            <a:endParaRPr lang="en-US" altLang="zh-CN" dirty="0"/>
          </a:p>
          <a:p>
            <a:pPr>
              <a:lnSpc>
                <a:spcPct val="160000"/>
              </a:lnSpc>
            </a:pPr>
            <a:r>
              <a:rPr lang="zh-CN" altLang="en-US" dirty="0"/>
              <a:t>  未经保密审查的信息、未经解密并准予公开的信息、公开与保密界限不清的信息；</a:t>
            </a:r>
            <a:endParaRPr lang="zh-CN" altLang="en-US" dirty="0"/>
          </a:p>
          <a:p>
            <a:pPr>
              <a:lnSpc>
                <a:spcPct val="160000"/>
              </a:lnSpc>
            </a:pPr>
            <a:r>
              <a:rPr lang="zh-CN" altLang="en-US" dirty="0"/>
              <a:t>  法律、法规规定不予公开的其他信息。</a:t>
            </a:r>
            <a:endParaRPr lang="zh-CN" altLang="en-US" dirty="0"/>
          </a:p>
          <a:p>
            <a:pPr>
              <a:lnSpc>
                <a:spcPct val="160000"/>
              </a:lnSpc>
              <a:buNone/>
            </a:pP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332656"/>
            <a:ext cx="8229600" cy="6096740"/>
          </a:xfrm>
        </p:spPr>
        <p:txBody>
          <a:bodyPr>
            <a:normAutofit fontScale="62500" lnSpcReduction="20000"/>
          </a:bodyPr>
          <a:lstStyle/>
          <a:p>
            <a:pPr>
              <a:lnSpc>
                <a:spcPct val="170000"/>
              </a:lnSpc>
              <a:buNone/>
            </a:pPr>
            <a:r>
              <a:rPr lang="zh-CN" altLang="en-US" dirty="0"/>
              <a:t>（</a:t>
            </a:r>
            <a:r>
              <a:rPr lang="en-US" altLang="zh-CN" dirty="0"/>
              <a:t>4</a:t>
            </a:r>
            <a:r>
              <a:rPr lang="zh-CN" altLang="en-US" dirty="0"/>
              <a:t>）保密审查程序</a:t>
            </a:r>
            <a:endParaRPr lang="zh-CN" altLang="en-US" dirty="0"/>
          </a:p>
          <a:p>
            <a:pPr>
              <a:lnSpc>
                <a:spcPct val="170000"/>
              </a:lnSpc>
            </a:pPr>
            <a:r>
              <a:rPr lang="zh-CN" altLang="en-US" dirty="0"/>
              <a:t>  信息发布单位、信息公开工作机构按照</a:t>
            </a:r>
            <a:r>
              <a:rPr lang="en-US" altLang="zh-CN" dirty="0"/>
              <a:t>《</a:t>
            </a:r>
            <a:r>
              <a:rPr lang="zh-CN" altLang="en-US" dirty="0"/>
              <a:t>保密法</a:t>
            </a:r>
            <a:r>
              <a:rPr lang="en-US" altLang="zh-CN" dirty="0"/>
              <a:t>》</a:t>
            </a:r>
            <a:r>
              <a:rPr lang="zh-CN" altLang="en-US" dirty="0"/>
              <a:t>规定审查拟公开的政府信息，对于属于涉及商业秘密和个人隐私的政府信息，行政机关在审查时应当征求商业秘密和个人隐私信息权所有人的意见，经单位同意、分管保密工作负责人批准后方可公开；</a:t>
            </a:r>
            <a:endParaRPr lang="zh-CN" altLang="en-US" dirty="0"/>
          </a:p>
          <a:p>
            <a:pPr>
              <a:lnSpc>
                <a:spcPct val="170000"/>
              </a:lnSpc>
            </a:pPr>
            <a:r>
              <a:rPr lang="zh-CN" altLang="en-US" dirty="0"/>
              <a:t> 对拟公开的政府信息本单位不能确定其能否公开时，应当报送有关主管部门或同级保密工作部门进行审查和确定；对是否属于涉密信息把握不准的，要向保密部门咨询；</a:t>
            </a:r>
            <a:endParaRPr lang="zh-CN" altLang="en-US" dirty="0"/>
          </a:p>
          <a:p>
            <a:pPr>
              <a:lnSpc>
                <a:spcPct val="170000"/>
              </a:lnSpc>
            </a:pPr>
            <a:r>
              <a:rPr lang="zh-CN" altLang="en-US" dirty="0"/>
              <a:t>  初步确定需公开的重要敏感信息，要提请本单位或上级保密部门进行保密审查；</a:t>
            </a:r>
            <a:endParaRPr lang="zh-CN" altLang="en-US" dirty="0"/>
          </a:p>
          <a:p>
            <a:pPr>
              <a:lnSpc>
                <a:spcPct val="170000"/>
              </a:lnSpc>
            </a:pPr>
            <a:r>
              <a:rPr lang="zh-CN" altLang="en-US" dirty="0"/>
              <a:t>  经保密审查可以公开的政府信息，要通过多种形式及时公开发布</a:t>
            </a:r>
            <a:r>
              <a:rPr lang="zh-CN" altLang="en-US" dirty="0" smtClean="0"/>
              <a:t>。</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《国务院办公厅关于进一步做好政府信息公开保密审查工作的通知》</a:t>
            </a:r>
            <a:endParaRPr lang="zh-CN" altLang="en-US">
              <a:sym typeface="+mn-ea"/>
            </a:endParaRPr>
          </a:p>
        </p:txBody>
      </p:sp>
      <p:sp>
        <p:nvSpPr>
          <p:cNvPr id="3" name="内容占位符 2"/>
          <p:cNvSpPr>
            <a:spLocks noGrp="1"/>
          </p:cNvSpPr>
          <p:nvPr>
            <p:ph idx="1"/>
          </p:nvPr>
        </p:nvSpPr>
        <p:spPr/>
        <p:txBody>
          <a:bodyPr>
            <a:normAutofit/>
          </a:bodyPr>
          <a:p>
            <a:r>
              <a:rPr lang="zh-CN" altLang="en-US"/>
              <a:t>对规范政府信息公开保密审查程序提出了明确要求。各地区各部门应将政府信息公开保密审查程序与公文运转程序、信息发布程序相结合，防止审查与政府信息公开工作相脱节。机关单位在制作政府信息时应明确该信息是否应当公开，以及如何公开、是否需要删减后公开。</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sym typeface="+mn-ea"/>
              </a:rPr>
              <a:t>具体到保密审查实践中，可以分为</a:t>
            </a:r>
            <a:r>
              <a:rPr lang="en-US" altLang="zh-CN">
                <a:sym typeface="+mn-ea"/>
              </a:rPr>
              <a:t> </a:t>
            </a:r>
            <a:r>
              <a:rPr lang="zh-CN" altLang="en-US">
                <a:sym typeface="+mn-ea"/>
              </a:rPr>
              <a:t>3个程序：</a:t>
            </a:r>
            <a:endParaRPr lang="zh-CN" altLang="en-US">
              <a:sym typeface="+mn-ea"/>
            </a:endParaRPr>
          </a:p>
        </p:txBody>
      </p:sp>
      <p:sp>
        <p:nvSpPr>
          <p:cNvPr id="3" name="内容占位符 2"/>
          <p:cNvSpPr>
            <a:spLocks noGrp="1"/>
          </p:cNvSpPr>
          <p:nvPr>
            <p:ph idx="1"/>
          </p:nvPr>
        </p:nvSpPr>
        <p:spPr/>
        <p:txBody>
          <a:bodyPr>
            <a:normAutofit fontScale="80000"/>
          </a:bodyPr>
          <a:p>
            <a:r>
              <a:rPr lang="zh-CN" altLang="en-US">
                <a:sym typeface="+mn-ea"/>
              </a:rPr>
              <a:t>一是一般审查程序。即先由信息提供部门自审，然后由信息公开工作机构审查，最后由主管领导审核批准。保密审查的过程和结论应当有文字记载、存档备查。</a:t>
            </a:r>
            <a:endParaRPr lang="zh-CN" altLang="en-US">
              <a:sym typeface="+mn-ea"/>
            </a:endParaRPr>
          </a:p>
          <a:p>
            <a:r>
              <a:rPr lang="zh-CN" altLang="en-US">
                <a:sym typeface="+mn-ea"/>
              </a:rPr>
              <a:t>二是不明确事项审查程序。对拟公开信息是否涉及国家秘密不明确的事项，应当报有确定权限的保密行政管理部门确定；涉及业务工作的，要听取业务主管部门意见。对是否属于商业秘密或者个人隐私不能确定的，应当报有关主管部门确定。遇有可能涉及国家安全、公共安全、经济安全和社会稳定的重大拟公开事项，要与有关部门协调会商。</a:t>
            </a:r>
            <a:endParaRPr lang="zh-CN" altLang="en-US">
              <a:sym typeface="+mn-ea"/>
            </a:endParaRPr>
          </a:p>
          <a:p>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20000"/>
          </a:bodyPr>
          <a:p>
            <a:r>
              <a:rPr lang="zh-CN" altLang="en-US">
                <a:sym typeface="+mn-ea"/>
              </a:rPr>
              <a:t>三是特殊情况处理程序。行政机关原则上只能公开自身产生或者收集的信息并负有保密审查的义务，如拟公开上级或者同级其他机关尚未公开的信息，应经信息产生机关审查批准，未经批准不得擅自公开。因工作需要，上级主管机关在进行保密审查后，可以公开下级机关尚未公开的信息。对于仍在保密期限内的国家秘密信息，行政机关认为需要公开的，应当首先由原确定密级的机关单位或其上级机关依法解密。对保密期限届满的国家秘密信息，行政机关认为需要公开的，仍然需要经过保密审查，确定是否可以公开。</a:t>
            </a:r>
            <a:endParaRPr lang="zh-CN" altLang="en-US"/>
          </a:p>
          <a:p>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260648"/>
            <a:ext cx="8229600" cy="5865515"/>
          </a:xfrm>
        </p:spPr>
        <p:txBody>
          <a:bodyPr>
            <a:normAutofit fontScale="70000" lnSpcReduction="20000"/>
          </a:bodyPr>
          <a:lstStyle/>
          <a:p>
            <a:pPr>
              <a:lnSpc>
                <a:spcPct val="160000"/>
              </a:lnSpc>
              <a:buNone/>
            </a:pPr>
            <a:r>
              <a:rPr lang="zh-CN" altLang="en-US" dirty="0"/>
              <a:t>（</a:t>
            </a:r>
            <a:r>
              <a:rPr lang="en-US" altLang="zh-CN" dirty="0"/>
              <a:t>5</a:t>
            </a:r>
            <a:r>
              <a:rPr lang="zh-CN" altLang="en-US" dirty="0"/>
              <a:t>）保密审查责任</a:t>
            </a:r>
            <a:endParaRPr lang="zh-CN" altLang="en-US" dirty="0"/>
          </a:p>
          <a:p>
            <a:pPr>
              <a:lnSpc>
                <a:spcPct val="160000"/>
              </a:lnSpc>
            </a:pPr>
            <a:r>
              <a:rPr lang="zh-CN" altLang="en-US" dirty="0"/>
              <a:t>  各涉密单位负责人负责组织对本单位予以公开的政府信息进行保密审查；</a:t>
            </a:r>
            <a:endParaRPr lang="zh-CN" altLang="en-US" dirty="0"/>
          </a:p>
          <a:p>
            <a:pPr>
              <a:lnSpc>
                <a:spcPct val="160000"/>
              </a:lnSpc>
            </a:pPr>
            <a:r>
              <a:rPr lang="zh-CN" altLang="en-US" dirty="0"/>
              <a:t> 各涉密单位负责人是信息公开保密审查工作的第一责任人，政府信息公开机构负责人是保密审查的组织实施责任人，保密员是保密审查的直接责任人</a:t>
            </a:r>
            <a:endParaRPr lang="zh-CN" altLang="en-US" dirty="0"/>
          </a:p>
          <a:p>
            <a:pPr>
              <a:lnSpc>
                <a:spcPct val="160000"/>
              </a:lnSpc>
            </a:pPr>
            <a:r>
              <a:rPr lang="zh-CN" altLang="en-US" dirty="0"/>
              <a:t>  公开专业性、技术性强的政府信息要由政府信息工作机构进行审查确认；</a:t>
            </a:r>
            <a:endParaRPr lang="zh-CN" altLang="en-US" dirty="0"/>
          </a:p>
          <a:p>
            <a:pPr>
              <a:lnSpc>
                <a:spcPct val="160000"/>
              </a:lnSpc>
            </a:pPr>
            <a:r>
              <a:rPr lang="zh-CN" altLang="en-US" dirty="0"/>
              <a:t>  未经保密审查公开政府信息或虽经保密审查但因审查不严导致泄密失密的，按</a:t>
            </a:r>
            <a:r>
              <a:rPr lang="en-US" altLang="zh-CN" dirty="0"/>
              <a:t>《</a:t>
            </a:r>
            <a:r>
              <a:rPr lang="zh-CN" altLang="en-US" dirty="0"/>
              <a:t>条例</a:t>
            </a:r>
            <a:r>
              <a:rPr lang="en-US" altLang="zh-CN" dirty="0"/>
              <a:t>》</a:t>
            </a:r>
            <a:r>
              <a:rPr lang="zh-CN" altLang="en-US" dirty="0"/>
              <a:t>和</a:t>
            </a:r>
            <a:r>
              <a:rPr lang="en-US" altLang="zh-CN" dirty="0"/>
              <a:t>《</a:t>
            </a:r>
            <a:r>
              <a:rPr lang="zh-CN" altLang="en-US" dirty="0"/>
              <a:t>保密法</a:t>
            </a:r>
            <a:r>
              <a:rPr lang="en-US" altLang="zh-CN" dirty="0"/>
              <a:t>》</a:t>
            </a:r>
            <a:r>
              <a:rPr lang="zh-CN" altLang="en-US" dirty="0"/>
              <a:t>有关规定追究相关人员责任。</a:t>
            </a:r>
            <a:endParaRPr lang="zh-CN" altLang="en-US" dirty="0"/>
          </a:p>
          <a:p>
            <a:pPr>
              <a:lnSpc>
                <a:spcPct val="160000"/>
              </a:lnSpc>
            </a:pP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5505475"/>
          </a:xfrm>
        </p:spPr>
        <p:txBody>
          <a:bodyPr>
            <a:normAutofit fontScale="85000" lnSpcReduction="20000"/>
          </a:bodyPr>
          <a:lstStyle/>
          <a:p>
            <a:pPr>
              <a:lnSpc>
                <a:spcPct val="150000"/>
              </a:lnSpc>
              <a:buNone/>
            </a:pPr>
            <a:r>
              <a:rPr lang="zh-CN" altLang="en-US" dirty="0"/>
              <a:t>（</a:t>
            </a:r>
            <a:r>
              <a:rPr lang="en-US" altLang="zh-CN" dirty="0"/>
              <a:t>6</a:t>
            </a:r>
            <a:r>
              <a:rPr lang="zh-CN" altLang="en-US" dirty="0"/>
              <a:t>）保密审查要求</a:t>
            </a:r>
            <a:endParaRPr lang="zh-CN" altLang="en-US" dirty="0"/>
          </a:p>
          <a:p>
            <a:pPr>
              <a:lnSpc>
                <a:spcPct val="150000"/>
              </a:lnSpc>
            </a:pPr>
            <a:r>
              <a:rPr lang="zh-CN" altLang="en-US" dirty="0"/>
              <a:t>   各机关、单位信息公开 的保密审查工作，应当确定分管领导、明确责任部门及负责人、指定审查人员；</a:t>
            </a:r>
            <a:endParaRPr lang="zh-CN" altLang="en-US" dirty="0"/>
          </a:p>
          <a:p>
            <a:pPr>
              <a:lnSpc>
                <a:spcPct val="150000"/>
              </a:lnSpc>
            </a:pPr>
            <a:r>
              <a:rPr lang="zh-CN" altLang="en-US" dirty="0"/>
              <a:t>   各单位要加强政府信息公开保密审查工作，强化上网人员的保密教育和管理，增强其防范意识和保密观念，坚决杜绝上网人员网上存储、处理、传递不得公开的政府信息；</a:t>
            </a:r>
            <a:endParaRPr lang="zh-CN" altLang="en-US" dirty="0"/>
          </a:p>
          <a:p>
            <a:pPr>
              <a:lnSpc>
                <a:spcPct val="150000"/>
              </a:lnSpc>
            </a:pPr>
            <a:r>
              <a:rPr lang="zh-CN" altLang="en-US" dirty="0"/>
              <a:t>   保密审查的过程和结论应当有文字记载。</a:t>
            </a:r>
            <a:endParaRPr lang="zh-CN" altLang="en-US" dirty="0"/>
          </a:p>
          <a:p>
            <a:pPr>
              <a:lnSpc>
                <a:spcPct val="150000"/>
              </a:lnSpc>
            </a:pP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定密</a:t>
            </a:r>
            <a:r>
              <a:rPr lang="en-US" altLang="zh-CN" dirty="0"/>
              <a:t>VS</a:t>
            </a:r>
            <a:r>
              <a:rPr lang="zh-CN" altLang="en-US" dirty="0"/>
              <a:t>保密审查（讨论）</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t>主体（资质）</a:t>
            </a:r>
            <a:endParaRPr lang="en-US" altLang="zh-CN" dirty="0"/>
          </a:p>
          <a:p>
            <a:pPr>
              <a:lnSpc>
                <a:spcPct val="150000"/>
              </a:lnSpc>
            </a:pPr>
            <a:r>
              <a:rPr lang="zh-CN" altLang="en-US" dirty="0"/>
              <a:t>内容（范围）</a:t>
            </a:r>
            <a:endParaRPr lang="en-US" altLang="zh-CN" dirty="0"/>
          </a:p>
          <a:p>
            <a:pPr>
              <a:lnSpc>
                <a:spcPct val="150000"/>
              </a:lnSpc>
            </a:pPr>
            <a:r>
              <a:rPr lang="zh-CN" altLang="en-US" dirty="0"/>
              <a:t>程序（先后次序）</a:t>
            </a:r>
            <a:endParaRPr lang="en-US" altLang="zh-CN" dirty="0"/>
          </a:p>
          <a:p>
            <a:pPr>
              <a:lnSpc>
                <a:spcPct val="150000"/>
              </a:lnSpc>
            </a:pPr>
            <a:r>
              <a:rPr lang="zh-CN" altLang="en-US" dirty="0"/>
              <a:t>结论</a:t>
            </a:r>
            <a:endParaRPr lang="en-US" altLang="zh-CN" dirty="0"/>
          </a:p>
          <a:p>
            <a:pPr>
              <a:lnSpc>
                <a:spcPct val="150000"/>
              </a:lnSpc>
            </a:pPr>
            <a:endParaRPr lang="en-US" altLang="zh-CN" dirty="0"/>
          </a:p>
          <a:p>
            <a:pPr>
              <a:lnSpc>
                <a:spcPct val="150000"/>
              </a:lnSpc>
            </a:pP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（四）定密与密级鉴定的关系</a:t>
            </a:r>
            <a:endParaRPr lang="zh-CN" altLang="en-US" dirty="0"/>
          </a:p>
        </p:txBody>
      </p:sp>
      <p:sp>
        <p:nvSpPr>
          <p:cNvPr id="3" name="内容占位符 2"/>
          <p:cNvSpPr>
            <a:spLocks noGrp="1"/>
          </p:cNvSpPr>
          <p:nvPr>
            <p:ph idx="1"/>
          </p:nvPr>
        </p:nvSpPr>
        <p:spPr/>
        <p:txBody>
          <a:bodyPr/>
          <a:lstStyle/>
          <a:p>
            <a:pPr>
              <a:lnSpc>
                <a:spcPct val="200000"/>
              </a:lnSpc>
            </a:pPr>
            <a:r>
              <a:rPr lang="en-US" altLang="zh-CN" dirty="0"/>
              <a:t>1.</a:t>
            </a:r>
            <a:r>
              <a:rPr lang="zh-CN" altLang="en-US" dirty="0"/>
              <a:t>密级鉴定的内容</a:t>
            </a:r>
            <a:endParaRPr lang="zh-CN" altLang="en-US" dirty="0"/>
          </a:p>
          <a:p>
            <a:pPr>
              <a:lnSpc>
                <a:spcPct val="200000"/>
              </a:lnSpc>
            </a:pPr>
            <a:endParaRPr lang="en-US" altLang="zh-CN" dirty="0"/>
          </a:p>
          <a:p>
            <a:pPr>
              <a:lnSpc>
                <a:spcPct val="200000"/>
              </a:lnSpc>
            </a:pPr>
            <a:r>
              <a:rPr lang="en-US" altLang="zh-CN" dirty="0"/>
              <a:t>2.</a:t>
            </a:r>
            <a:r>
              <a:rPr lang="zh-CN" altLang="en-US" dirty="0"/>
              <a:t>定密</a:t>
            </a:r>
            <a:r>
              <a:rPr lang="en-US" altLang="zh-CN" dirty="0"/>
              <a:t>VS</a:t>
            </a:r>
            <a:r>
              <a:rPr lang="zh-CN" altLang="en-US" dirty="0"/>
              <a:t>密级鉴定</a:t>
            </a:r>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pPr>
              <a:buNone/>
            </a:pPr>
            <a:r>
              <a:rPr lang="en-US" altLang="zh-CN" dirty="0"/>
              <a:t>1.</a:t>
            </a:r>
            <a:r>
              <a:rPr lang="zh-CN" altLang="en-US" dirty="0"/>
              <a:t>密级鉴定的内容</a:t>
            </a:r>
            <a:endParaRPr lang="en-US" altLang="zh-CN" dirty="0"/>
          </a:p>
          <a:p>
            <a:pPr>
              <a:buNone/>
            </a:pPr>
            <a:r>
              <a:rPr lang="zh-CN" altLang="en-US" dirty="0"/>
              <a:t>（</a:t>
            </a:r>
            <a:r>
              <a:rPr lang="en-US" altLang="zh-CN" dirty="0"/>
              <a:t>1</a:t>
            </a:r>
            <a:r>
              <a:rPr lang="zh-CN" altLang="en-US" dirty="0"/>
              <a:t>）定义</a:t>
            </a:r>
            <a:endParaRPr lang="en-US" altLang="zh-CN" dirty="0"/>
          </a:p>
          <a:p>
            <a:pPr>
              <a:lnSpc>
                <a:spcPct val="150000"/>
              </a:lnSpc>
            </a:pPr>
            <a:r>
              <a:rPr lang="zh-CN" altLang="en-US" dirty="0"/>
              <a:t>密级鉴定，是指对有关事项是否属于国家秘密以及属于何种密级进行鉴别和</a:t>
            </a:r>
            <a:r>
              <a:rPr lang="zh-CN" altLang="en-US" dirty="0" smtClean="0"/>
              <a:t>认定。</a:t>
            </a:r>
            <a:endParaRPr lang="en-US" altLang="zh-C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a:t>
            </a:r>
            <a:r>
              <a:rPr lang="zh-CN" altLang="en-US" dirty="0"/>
              <a:t>保密法</a:t>
            </a:r>
            <a:r>
              <a:rPr lang="en-US" altLang="zh-CN" dirty="0"/>
              <a:t>》</a:t>
            </a:r>
            <a:r>
              <a:rPr lang="zh-CN" altLang="en-US" dirty="0" smtClean="0"/>
              <a:t>第</a:t>
            </a:r>
            <a:r>
              <a:rPr lang="zh-CN" altLang="en-US" dirty="0" smtClean="0"/>
              <a:t>五十三</a:t>
            </a:r>
            <a:r>
              <a:rPr lang="zh-CN" altLang="en-US" dirty="0" smtClean="0"/>
              <a:t>条</a:t>
            </a:r>
            <a:endParaRPr lang="en-US" altLang="zh-CN" dirty="0"/>
          </a:p>
          <a:p>
            <a:r>
              <a:rPr lang="zh-CN" altLang="en-US" dirty="0" smtClean="0"/>
              <a:t>办理</a:t>
            </a:r>
            <a:r>
              <a:rPr lang="zh-CN" altLang="en-US" dirty="0"/>
              <a:t>涉嫌泄露国家秘密案件的机关，需要对有关事项是否属于国家秘密、属于何种密级进行鉴定的，由国家保密行政管理部门或者省、自治区、直辖市保密行政管理部门鉴定。</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57200" y="548680"/>
            <a:ext cx="8229600" cy="6023592"/>
          </a:xfrm>
        </p:spPr>
        <p:txBody>
          <a:bodyPr>
            <a:normAutofit fontScale="70000" lnSpcReduction="20000"/>
          </a:bodyPr>
          <a:lstStyle/>
          <a:p>
            <a:pPr>
              <a:lnSpc>
                <a:spcPct val="160000"/>
              </a:lnSpc>
            </a:pPr>
            <a:r>
              <a:rPr lang="zh-CN" altLang="en-US" dirty="0"/>
              <a:t>密级鉴定，是指保密工作部门对于涉及国家秘密的诉讼和非诉讼案件，应办案机关的要求，就该案件中涉嫌涉及国家秘密的事项</a:t>
            </a:r>
            <a:r>
              <a:rPr lang="en-US" altLang="zh-CN" dirty="0"/>
              <a:t>/</a:t>
            </a:r>
            <a:r>
              <a:rPr lang="zh-CN" altLang="en-US" dirty="0"/>
              <a:t>信息做出的鉴别和认定。</a:t>
            </a:r>
            <a:endParaRPr lang="en-US" altLang="zh-CN" dirty="0"/>
          </a:p>
          <a:p>
            <a:pPr>
              <a:lnSpc>
                <a:spcPct val="160000"/>
              </a:lnSpc>
            </a:pPr>
            <a:r>
              <a:rPr lang="zh-CN" altLang="en-US" dirty="0"/>
              <a:t>根据国家法律和司法解释关于案件管辖的分工规定，诉讼案件密级鉴定的</a:t>
            </a:r>
            <a:r>
              <a:rPr lang="zh-CN" altLang="en-US" dirty="0">
                <a:solidFill>
                  <a:srgbClr val="FF0000"/>
                </a:solidFill>
              </a:rPr>
              <a:t>提起机关</a:t>
            </a:r>
            <a:r>
              <a:rPr lang="zh-CN" altLang="en-US" dirty="0"/>
              <a:t>包括：公安机关、国家安全机关、检察机关和法院；非诉讼案件密级鉴定的</a:t>
            </a:r>
            <a:r>
              <a:rPr lang="zh-CN" altLang="en-US" dirty="0">
                <a:solidFill>
                  <a:srgbClr val="FF0000"/>
                </a:solidFill>
              </a:rPr>
              <a:t>提起机关</a:t>
            </a:r>
            <a:r>
              <a:rPr lang="zh-CN" altLang="en-US" dirty="0"/>
              <a:t>包括：党的纪律检查机关、监察机关，还应当包括查处涉密案件的保密工作部门。由于密级鉴定工作的极端重要性，保密工作部门为此投入了大量人力和时间，为办案机关准确查清案情、进而公正适用法律，提供了证据方面的保障。</a:t>
            </a:r>
            <a:endParaRPr lang="en-US" altLang="zh-CN" dirty="0"/>
          </a:p>
          <a:p>
            <a:pPr>
              <a:lnSpc>
                <a:spcPct val="160000"/>
              </a:lnSpc>
            </a:pPr>
            <a:r>
              <a:rPr lang="zh-CN" altLang="en-US" dirty="0"/>
              <a:t>同时，密级鉴定工作还在客观上维护了案件当事人的合法权益，使当事人的涉密行为免受含糊不清的处理。</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zh-CN" altLang="en-US" dirty="0"/>
              <a:t>（</a:t>
            </a:r>
            <a:r>
              <a:rPr lang="en-US" altLang="zh-CN" dirty="0"/>
              <a:t>2</a:t>
            </a:r>
            <a:r>
              <a:rPr lang="zh-CN" altLang="en-US" dirty="0"/>
              <a:t>）内容与结论</a:t>
            </a:r>
            <a:endParaRPr lang="en-US" altLang="zh-CN" dirty="0"/>
          </a:p>
          <a:p>
            <a:r>
              <a:rPr lang="zh-CN" altLang="en-US" dirty="0"/>
              <a:t>密级鉴定的内容包括涉及国家秘密事项的真伪、密级、保密期限、是否解密等。</a:t>
            </a:r>
            <a:endParaRPr lang="en-US" altLang="zh-CN" dirty="0"/>
          </a:p>
          <a:p>
            <a:r>
              <a:rPr lang="zh-CN" altLang="en-US" dirty="0"/>
              <a:t>密级鉴定结论是保密行政管理部门以及检察机关、公安机关、国家安全机关、监察机关等查办案件和法院审理案件的重要依据。</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a:t>
            </a:r>
            <a:r>
              <a:rPr lang="zh-CN" altLang="en-US" b="1" dirty="0"/>
              <a:t>密级鉴定工作规定</a:t>
            </a:r>
            <a:r>
              <a:rPr lang="en-US" altLang="zh-CN" b="1" dirty="0"/>
              <a:t>》</a:t>
            </a:r>
            <a:endParaRPr lang="zh-CN" altLang="en-US" dirty="0"/>
          </a:p>
        </p:txBody>
      </p:sp>
      <p:sp>
        <p:nvSpPr>
          <p:cNvPr id="3" name="内容占位符 2"/>
          <p:cNvSpPr>
            <a:spLocks noGrp="1"/>
          </p:cNvSpPr>
          <p:nvPr>
            <p:ph idx="1"/>
          </p:nvPr>
        </p:nvSpPr>
        <p:spPr/>
        <p:txBody>
          <a:bodyPr>
            <a:normAutofit fontScale="70000" lnSpcReduction="20000"/>
          </a:bodyPr>
          <a:lstStyle/>
          <a:p>
            <a:pPr>
              <a:lnSpc>
                <a:spcPct val="160000"/>
              </a:lnSpc>
            </a:pPr>
            <a:r>
              <a:rPr lang="zh-CN" altLang="en-US" dirty="0"/>
              <a:t>新</a:t>
            </a:r>
            <a:r>
              <a:rPr lang="en-US" altLang="zh-CN" dirty="0"/>
              <a:t>《</a:t>
            </a:r>
            <a:r>
              <a:rPr lang="zh-CN" altLang="en-US" dirty="0"/>
              <a:t>规定</a:t>
            </a:r>
            <a:r>
              <a:rPr lang="en-US" altLang="zh-CN" dirty="0"/>
              <a:t>》</a:t>
            </a:r>
            <a:r>
              <a:rPr lang="zh-CN" altLang="en-US" dirty="0"/>
              <a:t>共</a:t>
            </a:r>
            <a:r>
              <a:rPr lang="en-US" altLang="zh-CN" dirty="0"/>
              <a:t>24</a:t>
            </a:r>
            <a:r>
              <a:rPr lang="zh-CN" altLang="en-US" dirty="0"/>
              <a:t>条，增加了密级鉴定工作机构、密级鉴定委员会等内容，调整了密级鉴定权限和管辖范围，规范了密级鉴定工作程序。主要修订内容有：</a:t>
            </a:r>
            <a:endParaRPr lang="zh-CN" altLang="en-US" dirty="0"/>
          </a:p>
          <a:p>
            <a:pPr>
              <a:lnSpc>
                <a:spcPct val="160000"/>
              </a:lnSpc>
            </a:pPr>
            <a:r>
              <a:rPr lang="zh-CN" altLang="en-US" dirty="0"/>
              <a:t>  </a:t>
            </a:r>
            <a:r>
              <a:rPr lang="zh-CN" altLang="en-US" dirty="0">
                <a:solidFill>
                  <a:srgbClr val="FF0000"/>
                </a:solidFill>
              </a:rPr>
              <a:t>一是</a:t>
            </a:r>
            <a:r>
              <a:rPr lang="zh-CN" altLang="en-US" dirty="0"/>
              <a:t>明确了适用范围，明确提起密级鉴定的机关为“办理涉嫌泄露国家秘密案件的机关”。</a:t>
            </a:r>
            <a:endParaRPr lang="zh-CN" altLang="en-US" dirty="0"/>
          </a:p>
          <a:p>
            <a:pPr>
              <a:lnSpc>
                <a:spcPct val="160000"/>
              </a:lnSpc>
            </a:pPr>
            <a:r>
              <a:rPr lang="zh-CN" altLang="en-US" dirty="0"/>
              <a:t>  </a:t>
            </a:r>
            <a:r>
              <a:rPr lang="zh-CN" altLang="en-US" dirty="0">
                <a:solidFill>
                  <a:srgbClr val="FF0000"/>
                </a:solidFill>
              </a:rPr>
              <a:t>二是</a:t>
            </a:r>
            <a:r>
              <a:rPr lang="zh-CN" altLang="en-US" dirty="0"/>
              <a:t>调整了密级鉴定权限。根据保密法关于密级鉴定权限的规定，</a:t>
            </a:r>
            <a:r>
              <a:rPr lang="zh-CN" altLang="en-US" dirty="0">
                <a:solidFill>
                  <a:srgbClr val="FF0000"/>
                </a:solidFill>
              </a:rPr>
              <a:t>取消</a:t>
            </a:r>
            <a:r>
              <a:rPr lang="zh-CN" altLang="en-US" dirty="0"/>
              <a:t>了地市一级保密行政管理部门的密级鉴定权限，对国家和省级保密行政管理部门的密级鉴定权限予以明确。</a:t>
            </a:r>
            <a:endParaRPr lang="zh-CN" altLang="en-US" dirty="0"/>
          </a:p>
          <a:p>
            <a:pPr>
              <a:lnSpc>
                <a:spcPct val="160000"/>
              </a:lnSpc>
            </a:pP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64704"/>
            <a:ext cx="8229600" cy="5361459"/>
          </a:xfrm>
        </p:spPr>
        <p:txBody>
          <a:bodyPr>
            <a:normAutofit fontScale="70000" lnSpcReduction="20000"/>
          </a:bodyPr>
          <a:lstStyle/>
          <a:p>
            <a:pPr>
              <a:lnSpc>
                <a:spcPct val="160000"/>
              </a:lnSpc>
            </a:pPr>
            <a:r>
              <a:rPr lang="zh-CN" altLang="en-US" dirty="0"/>
              <a:t> </a:t>
            </a:r>
            <a:r>
              <a:rPr lang="zh-CN" altLang="en-US" dirty="0">
                <a:solidFill>
                  <a:srgbClr val="FF0000"/>
                </a:solidFill>
              </a:rPr>
              <a:t>三是</a:t>
            </a:r>
            <a:r>
              <a:rPr lang="zh-CN" altLang="en-US" dirty="0"/>
              <a:t>健全了密级鉴定工作机构。考虑到密级鉴定专业性强、工作量大，需要专门的机构承担相关工作，因此，明确要求保密行政管理部门应当设立密级鉴定工作机构或者指定专门机构负责密级鉴定工作。同时，要求成立密级鉴定委员会，主要负责对重大疑难或者不明确事项，向保密行政管理部门提供密级鉴定意见。</a:t>
            </a:r>
            <a:endParaRPr lang="zh-CN" altLang="en-US" dirty="0"/>
          </a:p>
          <a:p>
            <a:pPr>
              <a:lnSpc>
                <a:spcPct val="160000"/>
              </a:lnSpc>
            </a:pPr>
            <a:r>
              <a:rPr lang="zh-CN" altLang="en-US" dirty="0"/>
              <a:t>  </a:t>
            </a:r>
            <a:r>
              <a:rPr lang="zh-CN" altLang="en-US" dirty="0">
                <a:solidFill>
                  <a:srgbClr val="FF0000"/>
                </a:solidFill>
              </a:rPr>
              <a:t>四是</a:t>
            </a:r>
            <a:r>
              <a:rPr lang="zh-CN" altLang="en-US" dirty="0"/>
              <a:t>规范了密级鉴定工作程序。对密级鉴定的提起、受理、鉴定和备案等程序进行了规范，增加了复核程序，明确了鉴定期限，要求保密行政管理部门作出密级鉴定结论应当出具密级鉴定书，并对相关人员的回避问题予以规定。</a:t>
            </a:r>
            <a:endParaRPr lang="zh-CN" altLang="en-US" dirty="0"/>
          </a:p>
          <a:p>
            <a:pPr>
              <a:lnSpc>
                <a:spcPct val="160000"/>
              </a:lnSpc>
            </a:pPr>
            <a:endParaRPr kumimoji="1"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5505475"/>
          </a:xfrm>
        </p:spPr>
        <p:txBody>
          <a:bodyPr>
            <a:normAutofit fontScale="77500" lnSpcReduction="20000"/>
          </a:bodyPr>
          <a:lstStyle/>
          <a:p>
            <a:pPr>
              <a:lnSpc>
                <a:spcPct val="160000"/>
              </a:lnSpc>
            </a:pPr>
            <a:r>
              <a:rPr lang="zh-CN" altLang="en-US" dirty="0">
                <a:solidFill>
                  <a:srgbClr val="FF0000"/>
                </a:solidFill>
              </a:rPr>
              <a:t>五是</a:t>
            </a:r>
            <a:r>
              <a:rPr lang="zh-CN" altLang="en-US" dirty="0"/>
              <a:t>确认了危害结果评估。为发挥密级鉴定在泄密后果认定、泄密补救和问题整改等方面的作用，对实践中开展的泄密危害结果评估工作进行了确认，规定保密行政管理部门可以根据需要，组织对国家秘密泄露后已经或者可能造成的危害进行评估。</a:t>
            </a:r>
            <a:endParaRPr lang="zh-CN" altLang="en-US" dirty="0"/>
          </a:p>
          <a:p>
            <a:pPr>
              <a:lnSpc>
                <a:spcPct val="160000"/>
              </a:lnSpc>
            </a:pPr>
            <a:r>
              <a:rPr lang="zh-CN" altLang="en-US" dirty="0"/>
              <a:t>  </a:t>
            </a:r>
            <a:r>
              <a:rPr lang="zh-CN" altLang="en-US" dirty="0">
                <a:solidFill>
                  <a:srgbClr val="FF0000"/>
                </a:solidFill>
              </a:rPr>
              <a:t>六是</a:t>
            </a:r>
            <a:r>
              <a:rPr lang="zh-CN" altLang="en-US" dirty="0"/>
              <a:t>规定了法律责任。明确了相关人员的保密责任，并对密级鉴定工作中违规违法行为的责任追究作出规定。</a:t>
            </a:r>
            <a:endParaRPr lang="zh-CN" altLang="en-US" dirty="0"/>
          </a:p>
          <a:p>
            <a:pPr>
              <a:lnSpc>
                <a:spcPct val="160000"/>
              </a:lnSpc>
            </a:pPr>
            <a:r>
              <a:rPr lang="zh-CN" altLang="en-US" dirty="0"/>
              <a:t>  此外，考虑到实践中存在的情报鉴定和涉军事项鉴定的需求，还对有关事项作出了原则性规定。</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a:t>
            </a:r>
            <a:r>
              <a:rPr lang="zh-CN" altLang="en-US" dirty="0"/>
              <a:t>定密</a:t>
            </a:r>
            <a:r>
              <a:rPr lang="en-US" altLang="zh-CN" dirty="0"/>
              <a:t>VS</a:t>
            </a:r>
            <a:r>
              <a:rPr lang="zh-CN" altLang="en-US" dirty="0"/>
              <a:t>密级鉴定（讨论）</a:t>
            </a:r>
            <a:endParaRPr lang="zh-CN" altLang="en-US" dirty="0"/>
          </a:p>
        </p:txBody>
      </p:sp>
      <p:sp>
        <p:nvSpPr>
          <p:cNvPr id="3" name="内容占位符 2"/>
          <p:cNvSpPr>
            <a:spLocks noGrp="1"/>
          </p:cNvSpPr>
          <p:nvPr>
            <p:ph idx="1"/>
          </p:nvPr>
        </p:nvSpPr>
        <p:spPr/>
        <p:txBody>
          <a:bodyPr>
            <a:normAutofit lnSpcReduction="10000"/>
          </a:bodyPr>
          <a:lstStyle/>
          <a:p>
            <a:pPr>
              <a:lnSpc>
                <a:spcPct val="150000"/>
              </a:lnSpc>
            </a:pPr>
            <a:r>
              <a:rPr lang="zh-CN" altLang="en-US" dirty="0"/>
              <a:t>密级鉴定的提起机关应当是办理涉嫌泄露国家秘密案件的机关</a:t>
            </a:r>
            <a:endParaRPr lang="zh-CN" altLang="en-US" dirty="0"/>
          </a:p>
          <a:p>
            <a:pPr>
              <a:lnSpc>
                <a:spcPct val="150000"/>
              </a:lnSpc>
            </a:pPr>
            <a:r>
              <a:rPr lang="zh-CN" altLang="en-US" dirty="0"/>
              <a:t>密级鉴定的对象是被泄露的涉嫌涉及国家秘密的事项</a:t>
            </a:r>
            <a:endParaRPr lang="zh-CN" altLang="en-US" dirty="0"/>
          </a:p>
          <a:p>
            <a:pPr>
              <a:lnSpc>
                <a:spcPct val="150000"/>
              </a:lnSpc>
            </a:pPr>
            <a:r>
              <a:rPr lang="zh-CN" altLang="en-US" dirty="0"/>
              <a:t>密级鉴定权属于国家和省级保密行政管理部门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案例讨论</a:t>
            </a:r>
            <a:endParaRPr lang="zh-CN" altLang="en-US" dirty="0"/>
          </a:p>
        </p:txBody>
      </p:sp>
      <p:sp>
        <p:nvSpPr>
          <p:cNvPr id="3" name="内容占位符 2"/>
          <p:cNvSpPr>
            <a:spLocks noGrp="1"/>
          </p:cNvSpPr>
          <p:nvPr>
            <p:ph idx="1"/>
          </p:nvPr>
        </p:nvSpPr>
        <p:spPr/>
        <p:txBody>
          <a:bodyPr>
            <a:normAutofit fontScale="70000"/>
          </a:bodyPr>
          <a:lstStyle/>
          <a:p>
            <a:pPr>
              <a:lnSpc>
                <a:spcPct val="150000"/>
              </a:lnSpc>
            </a:pPr>
            <a:r>
              <a:rPr lang="zh-CN" altLang="en-US" dirty="0"/>
              <a:t>某科研生产单位向保密行政管理部门提起密级鉴定，缘由是根据该单位对外合作协议，需要向外方提供有关材料，为确保提供的材料不涉及国家秘密，该单位向保密行政管理部门提起密级鉴定；</a:t>
            </a:r>
            <a:endParaRPr lang="zh-CN" altLang="en-US" dirty="0"/>
          </a:p>
          <a:p>
            <a:pPr>
              <a:lnSpc>
                <a:spcPct val="150000"/>
              </a:lnSpc>
            </a:pPr>
            <a:r>
              <a:rPr lang="zh-CN" altLang="en-US" dirty="0"/>
              <a:t>某市政府办公室向保密行政管理部门提起密级鉴定，缘由是某公民申请信息公开，要求公开某次市政府常务会议的会议纪要，该市政府办公室意图根据保密行政管理部门出具的密级鉴定结论，作出拒绝公开的答复意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机关单位在内部保密检查中发现了一些尚未造成泄密的违规行为，将涉及的材料提交保密行政管理部门进行密级鉴定</a:t>
            </a:r>
            <a:endParaRPr lang="zh-CN" altLang="en-US"/>
          </a:p>
          <a:p>
            <a:endParaRPr lang="zh-CN" altLang="en-US"/>
          </a:p>
          <a:p>
            <a:r>
              <a:rPr lang="zh-CN" altLang="en-US"/>
              <a:t>当事人将第二日开考的试题遗留在出租车上，办案机关及时找到了密封完好的试题。为做好案例处理工作，办案机关将试题提交保密行政管理部门进行密级鉴定。</a:t>
            </a:r>
            <a:endParaRPr lang="zh-CN" altLang="en-US"/>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5288</Words>
  <Application>WPS 演示</Application>
  <PresentationFormat>全屏显示(4:3)</PresentationFormat>
  <Paragraphs>247</Paragraphs>
  <Slides>42</Slides>
  <Notes>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42</vt:i4>
      </vt:variant>
    </vt:vector>
  </HeadingPairs>
  <TitlesOfParts>
    <vt:vector size="56" baseType="lpstr">
      <vt:lpstr>Arial</vt:lpstr>
      <vt:lpstr>宋体</vt:lpstr>
      <vt:lpstr>Wingdings</vt:lpstr>
      <vt:lpstr>Wingdings 2</vt:lpstr>
      <vt:lpstr>Arial</vt:lpstr>
      <vt:lpstr>Maiandra GD</vt:lpstr>
      <vt:lpstr>隶书</vt:lpstr>
      <vt:lpstr>华文楷体</vt:lpstr>
      <vt:lpstr>Cambria</vt:lpstr>
      <vt:lpstr>微软雅黑</vt:lpstr>
      <vt:lpstr>Arial Unicode MS</vt:lpstr>
      <vt:lpstr>Calibri</vt:lpstr>
      <vt:lpstr>Wingdings</vt:lpstr>
      <vt:lpstr>龙腾四海</vt:lpstr>
      <vt:lpstr>（一）定密的概念</vt:lpstr>
      <vt:lpstr>PowerPoint 演示文稿</vt:lpstr>
      <vt:lpstr>讨论</vt:lpstr>
      <vt:lpstr>定密的类型</vt:lpstr>
      <vt:lpstr>（二）定密工作的内涵</vt:lpstr>
      <vt:lpstr>定密工作的内容</vt:lpstr>
      <vt:lpstr>（三）定密的原则</vt:lpstr>
      <vt:lpstr>PowerPoint 演示文稿</vt:lpstr>
      <vt:lpstr>（四）定密工作的原则</vt:lpstr>
      <vt:lpstr>（五）依法定密的含义</vt:lpstr>
      <vt:lpstr>第二节 定密工作的地位与作用</vt:lpstr>
      <vt:lpstr>（二）定密工作的作用</vt:lpstr>
      <vt:lpstr> 1.维护国家安全和利益的基础 </vt:lpstr>
      <vt:lpstr>2.加强信息管理、适应信息社会发展的必然要求</vt:lpstr>
      <vt:lpstr>3.维护法律尊严的需要</vt:lpstr>
      <vt:lpstr>4.机关、单位及相关人员的法定义务</vt:lpstr>
      <vt:lpstr>5.贯彻保密工作方针的保证</vt:lpstr>
      <vt:lpstr>（三）定密与保密审查的关系</vt:lpstr>
      <vt:lpstr>PowerPoint 演示文稿</vt:lpstr>
      <vt:lpstr>PowerPoint 演示文稿</vt:lpstr>
      <vt:lpstr>PowerPoint 演示文稿</vt:lpstr>
      <vt:lpstr>PowerPoint 演示文稿</vt:lpstr>
      <vt:lpstr>1.保密审查</vt:lpstr>
      <vt:lpstr>PowerPoint 演示文稿</vt:lpstr>
      <vt:lpstr>PowerPoint 演示文稿</vt:lpstr>
      <vt:lpstr>《国务院办公厅关于进一步做好政府信息公开保密审查工作的通知》</vt:lpstr>
      <vt:lpstr>具体到保密审查实践中，可以分为 3个程序：</vt:lpstr>
      <vt:lpstr>PowerPoint 演示文稿</vt:lpstr>
      <vt:lpstr>PowerPoint 演示文稿</vt:lpstr>
      <vt:lpstr>PowerPoint 演示文稿</vt:lpstr>
      <vt:lpstr>2.定密VS保密审查（讨论）</vt:lpstr>
      <vt:lpstr>（四）定密与密级鉴定的关系</vt:lpstr>
      <vt:lpstr>PowerPoint 演示文稿</vt:lpstr>
      <vt:lpstr>PowerPoint 演示文稿</vt:lpstr>
      <vt:lpstr>PowerPoint 演示文稿</vt:lpstr>
      <vt:lpstr>PowerPoint 演示文稿</vt:lpstr>
      <vt:lpstr>《密级鉴定工作规定》</vt:lpstr>
      <vt:lpstr>PowerPoint 演示文稿</vt:lpstr>
      <vt:lpstr>PowerPoint 演示文稿</vt:lpstr>
      <vt:lpstr>2.定密VS密级鉴定（讨论）</vt:lpstr>
      <vt:lpstr>3.案例讨论</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定密与定密工作</dc:title>
  <dc:creator>lenovo</dc:creator>
  <cp:lastModifiedBy>王泰然</cp:lastModifiedBy>
  <cp:revision>52</cp:revision>
  <dcterms:created xsi:type="dcterms:W3CDTF">2026-03-19T10:29:00Z</dcterms:created>
  <dcterms:modified xsi:type="dcterms:W3CDTF">2026-06-26T09:31:19Z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A3150222778E029613D0BB69DB3156E6_43</vt:lpwstr>
  </property>
  <property fmtid="{D5CDD505-2E9C-101B-9397-08002B2CF9AE}" pid="3" name="KSOProductBuildVer">
    <vt:lpwstr>2052-12.1.0.26375</vt:lpwstr>
  </property>
</Properties>
</file>