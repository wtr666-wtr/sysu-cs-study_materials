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329" r:id="rId4"/>
    <p:sldId id="332" r:id="rId5"/>
    <p:sldId id="333" r:id="rId6"/>
    <p:sldId id="336" r:id="rId7"/>
    <p:sldId id="337" r:id="rId8"/>
    <p:sldId id="341" r:id="rId9"/>
    <p:sldId id="342" r:id="rId10"/>
    <p:sldId id="343" r:id="rId11"/>
    <p:sldId id="338" r:id="rId12"/>
    <p:sldId id="345" r:id="rId13"/>
    <p:sldId id="346" r:id="rId14"/>
    <p:sldId id="340" r:id="rId15"/>
    <p:sldId id="347" r:id="rId16"/>
    <p:sldId id="348" r:id="rId17"/>
    <p:sldId id="349" r:id="rId18"/>
    <p:sldId id="350" r:id="rId19"/>
    <p:sldId id="335" r:id="rId20"/>
    <p:sldId id="282" r:id="rId21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10694"/>
    <a:srgbClr val="371E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8" d="100"/>
          <a:sy n="118" d="100"/>
        </p:scale>
        <p:origin x="10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10D257-3BE1-47F0-9688-13EF46E6FAF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B9369F-48C0-4C81-8F4C-2D9B5E779A1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4.png"/><Relationship Id="rId1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5.png"/><Relationship Id="rId1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1.png"/><Relationship Id="rId1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32.png"/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4.png"/><Relationship Id="rId1" Type="http://schemas.openxmlformats.org/officeDocument/2006/relationships/image" Target="../media/image33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7" name="矩形 6"/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8" name="矩形 7"/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第十三讲  一些特殊的环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2" name="矩形: 圆角 11"/>
          <p:cNvSpPr/>
          <p:nvPr/>
        </p:nvSpPr>
        <p:spPr>
          <a:xfrm>
            <a:off x="1054359" y="888925"/>
            <a:ext cx="7045495" cy="667265"/>
          </a:xfrm>
          <a:prstGeom prst="round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600" b="1">
                <a:latin typeface="仿宋" panose="02010609060101010101" pitchFamily="49" charset="-122"/>
                <a:ea typeface="仿宋" panose="02010609060101010101" pitchFamily="49" charset="-122"/>
              </a:rPr>
              <a:t>第十三讲</a:t>
            </a:r>
            <a:r>
              <a:rPr lang="en-US" altLang="zh-CN" sz="3600" b="1">
                <a:latin typeface="仿宋" panose="02010609060101010101" pitchFamily="49" charset="-122"/>
                <a:ea typeface="仿宋" panose="02010609060101010101" pitchFamily="49" charset="-122"/>
              </a:rPr>
              <a:t>	</a:t>
            </a:r>
            <a:r>
              <a:rPr lang="zh-CN" altLang="en-US" sz="3600" b="1">
                <a:latin typeface="仿宋" panose="02010609060101010101" pitchFamily="49" charset="-122"/>
                <a:ea typeface="仿宋" panose="02010609060101010101" pitchFamily="49" charset="-122"/>
              </a:rPr>
              <a:t>一些特殊的环</a:t>
            </a:r>
            <a:endParaRPr lang="zh-CN" altLang="en-US" sz="3600" b="1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3279174" y="1912075"/>
            <a:ext cx="258565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000">
                <a:solidFill>
                  <a:srgbClr val="210694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周 晓 聪</a:t>
            </a:r>
            <a:endParaRPr lang="zh-CN" altLang="en-US" sz="3000">
              <a:solidFill>
                <a:srgbClr val="210694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2706131" y="2700512"/>
            <a:ext cx="38831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>
                <a:solidFill>
                  <a:schemeClr val="accent6">
                    <a:lumMod val="5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中山大学计算机学院</a:t>
            </a:r>
            <a:endParaRPr lang="zh-CN" altLang="en-US" sz="2400" b="1">
              <a:solidFill>
                <a:schemeClr val="accent6">
                  <a:lumMod val="50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3632887" y="3419732"/>
            <a:ext cx="21500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80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</a:t>
            </a:r>
            <a:r>
              <a:rPr lang="zh-CN" altLang="en-US" sz="180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80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</a:t>
            </a:r>
            <a:r>
              <a:rPr lang="zh-CN" altLang="en-US" sz="180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</a:t>
            </a:r>
            <a:endParaRPr lang="zh-CN" altLang="en-US" sz="1800">
              <a:solidFill>
                <a:schemeClr val="accent2">
                  <a:lumMod val="50000"/>
                </a:schemeClr>
              </a:solidFill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278924" y="3966519"/>
            <a:ext cx="68209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800">
                <a:solidFill>
                  <a:srgbClr val="FF0000"/>
                </a:solidFill>
              </a:rPr>
              <a:t>isszxc@mail.sysu.edu.cn</a:t>
            </a:r>
            <a:endParaRPr lang="zh-CN" altLang="en-US" sz="1800">
              <a:solidFill>
                <a:srgbClr val="FF0000"/>
              </a:solidFill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4237" y="2334583"/>
            <a:ext cx="1324937" cy="117043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多项式环</a:t>
            </a:r>
            <a:endParaRPr lang="zh-CN" altLang="en-US" sz="12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13" name="矩形 12"/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多项式的未定元</a:t>
            </a:r>
            <a:endParaRPr lang="zh-CN" altLang="en-US" sz="1400"/>
          </a:p>
        </p:txBody>
      </p:sp>
      <p:sp>
        <p:nvSpPr>
          <p:cNvPr id="14" name="矩形 13"/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第十三讲  一些特殊的环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201F7661-F374-4557-9C7E-3BA007C4B471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/46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926303" y="1049437"/>
            <a:ext cx="7291387" cy="1357312"/>
            <a:chOff x="919163" y="985838"/>
            <a:chExt cx="7291387" cy="1357312"/>
          </a:xfrm>
        </p:grpSpPr>
        <p:sp>
          <p:nvSpPr>
            <p:cNvPr id="4" name="矩形: 圆角 3"/>
            <p:cNvSpPr/>
            <p:nvPr/>
          </p:nvSpPr>
          <p:spPr>
            <a:xfrm>
              <a:off x="919163" y="985838"/>
              <a:ext cx="7291387" cy="1357312"/>
            </a:xfrm>
            <a:prstGeom prst="roundRect">
              <a:avLst>
                <a:gd name="adj" fmla="val 8246"/>
              </a:avLst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964403" y="1028568"/>
              <a:ext cx="7215187" cy="1273940"/>
            </a:xfrm>
            <a:prstGeom prst="rect">
              <a:avLst/>
            </a:prstGeom>
          </p:spPr>
        </p:pic>
      </p:grpSp>
      <p:grpSp>
        <p:nvGrpSpPr>
          <p:cNvPr id="8" name="组合 7"/>
          <p:cNvGrpSpPr/>
          <p:nvPr/>
        </p:nvGrpSpPr>
        <p:grpSpPr>
          <a:xfrm>
            <a:off x="926303" y="2900025"/>
            <a:ext cx="7291387" cy="1411356"/>
            <a:chOff x="919163" y="2837622"/>
            <a:chExt cx="7291387" cy="1411356"/>
          </a:xfrm>
        </p:grpSpPr>
        <p:sp>
          <p:nvSpPr>
            <p:cNvPr id="7" name="矩形: 圆角 6"/>
            <p:cNvSpPr/>
            <p:nvPr/>
          </p:nvSpPr>
          <p:spPr>
            <a:xfrm>
              <a:off x="919163" y="2837622"/>
              <a:ext cx="7291387" cy="1411356"/>
            </a:xfrm>
            <a:prstGeom prst="roundRect">
              <a:avLst>
                <a:gd name="adj" fmla="val 7864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58923" y="2881963"/>
              <a:ext cx="7215188" cy="133423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多项式环</a:t>
            </a:r>
            <a:endParaRPr lang="zh-CN" altLang="en-US" sz="12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13" name="矩形 12"/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环上多项式</a:t>
            </a:r>
            <a:endParaRPr lang="zh-CN" altLang="en-US" sz="1400"/>
          </a:p>
        </p:txBody>
      </p:sp>
      <p:sp>
        <p:nvSpPr>
          <p:cNvPr id="14" name="矩形 13"/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第十三讲  一些特殊的环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201F7661-F374-4557-9C7E-3BA007C4B471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/46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800100" y="1614078"/>
            <a:ext cx="7538830" cy="1998796"/>
            <a:chOff x="800100" y="1614078"/>
            <a:chExt cx="7538830" cy="1998796"/>
          </a:xfrm>
        </p:grpSpPr>
        <p:sp>
          <p:nvSpPr>
            <p:cNvPr id="4" name="矩形: 圆角 3"/>
            <p:cNvSpPr/>
            <p:nvPr/>
          </p:nvSpPr>
          <p:spPr>
            <a:xfrm>
              <a:off x="800100" y="1614078"/>
              <a:ext cx="7538830" cy="1998796"/>
            </a:xfrm>
            <a:prstGeom prst="roundRect">
              <a:avLst>
                <a:gd name="adj" fmla="val 7468"/>
              </a:avLst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851039" y="1662128"/>
              <a:ext cx="7441921" cy="190607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多项式环</a:t>
            </a:r>
            <a:endParaRPr lang="zh-CN" altLang="en-US" sz="12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13" name="矩形 12"/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多项式环的定义</a:t>
            </a:r>
            <a:endParaRPr lang="zh-CN" altLang="en-US" sz="1400"/>
          </a:p>
        </p:txBody>
      </p:sp>
      <p:sp>
        <p:nvSpPr>
          <p:cNvPr id="14" name="矩形 13"/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第十三讲  一些特殊的环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201F7661-F374-4557-9C7E-3BA007C4B471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/46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1048578" y="889552"/>
            <a:ext cx="7051813" cy="1192696"/>
            <a:chOff x="1048578" y="889552"/>
            <a:chExt cx="7051813" cy="1192696"/>
          </a:xfrm>
        </p:grpSpPr>
        <p:sp>
          <p:nvSpPr>
            <p:cNvPr id="4" name="矩形: 圆角 3"/>
            <p:cNvSpPr/>
            <p:nvPr/>
          </p:nvSpPr>
          <p:spPr>
            <a:xfrm>
              <a:off x="1048578" y="889552"/>
              <a:ext cx="7051813" cy="1192696"/>
            </a:xfrm>
            <a:prstGeom prst="roundRect">
              <a:avLst>
                <a:gd name="adj" fmla="val 9584"/>
              </a:avLst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88336" y="931723"/>
              <a:ext cx="6967327" cy="1108843"/>
            </a:xfrm>
            <a:prstGeom prst="rect">
              <a:avLst/>
            </a:prstGeom>
          </p:spPr>
        </p:pic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/>
              <p:cNvSpPr txBox="1"/>
              <p:nvPr/>
            </p:nvSpPr>
            <p:spPr>
              <a:xfrm>
                <a:off x="1043610" y="2463143"/>
                <a:ext cx="7051813" cy="71417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2500"/>
                  </a:lnSpc>
                  <a:spcBef>
                    <a:spcPts val="600"/>
                  </a:spcBef>
                </a:pPr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是有单位元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的环，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上的一个未定元，称环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为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上的以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为未定元的一元</a:t>
                </a:r>
                <a:r>
                  <a:rPr lang="zh-CN" altLang="en-US" b="1">
                    <a:solidFill>
                      <a:srgbClr val="C00000"/>
                    </a:solidFill>
                  </a:rPr>
                  <a:t>多项式环</a:t>
                </a:r>
                <a:r>
                  <a:rPr lang="en-US" altLang="zh-CN" b="1">
                    <a:solidFill>
                      <a:schemeClr val="accent2">
                        <a:lumMod val="50000"/>
                      </a:schemeClr>
                    </a:solidFill>
                  </a:rPr>
                  <a:t>(polynomial ring)</a:t>
                </a:r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。</a:t>
                </a:r>
                <a:endParaRPr lang="zh-CN" altLang="en-US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610" y="2463143"/>
                <a:ext cx="7051813" cy="714170"/>
              </a:xfrm>
              <a:prstGeom prst="rect">
                <a:avLst/>
              </a:prstGeom>
              <a:blipFill rotWithShape="1">
                <a:blip r:embed="rId2"/>
                <a:stretch>
                  <a:fillRect l="-4" t="-86" r="6" b="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/>
              <p:cNvSpPr txBox="1"/>
              <p:nvPr/>
            </p:nvSpPr>
            <p:spPr>
              <a:xfrm>
                <a:off x="1043610" y="3548267"/>
                <a:ext cx="7051813" cy="75905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2700"/>
                  </a:lnSpc>
                </a:pPr>
                <a:r>
                  <a:rPr lang="en-US" altLang="zh-CN" b="1">
                    <a:solidFill>
                      <a:schemeClr val="accent2">
                        <a:lumMod val="50000"/>
                      </a:schemeClr>
                    </a:solidFill>
                  </a:rPr>
                  <a:t>【</a:t>
                </a:r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定理</a:t>
                </a:r>
                <a:r>
                  <a:rPr lang="en-US" altLang="zh-CN" b="1">
                    <a:solidFill>
                      <a:schemeClr val="accent2">
                        <a:lumMod val="50000"/>
                      </a:schemeClr>
                    </a:solidFill>
                  </a:rPr>
                  <a:t>】</a:t>
                </a:r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与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是两个有单位元的环，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与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分别是其上的未定元。若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≅</m:t>
                    </m:r>
                    <m:sSup>
                      <m:sSup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p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≅</m:t>
                    </m:r>
                    <m:sSup>
                      <m:sSup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p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begChr m:val="["/>
                        <m:endChr m:val="]"/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d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，即</a:t>
                </a:r>
                <a:r>
                  <a:rPr lang="zh-CN" altLang="en-US" b="1">
                    <a:solidFill>
                      <a:srgbClr val="002060"/>
                    </a:solidFill>
                  </a:rPr>
                  <a:t>多项式环在同构的意义下是唯一的</a:t>
                </a:r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。</a:t>
                </a:r>
                <a:endParaRPr lang="zh-CN" altLang="en-US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610" y="3548267"/>
                <a:ext cx="7051813" cy="759054"/>
              </a:xfrm>
              <a:prstGeom prst="rect">
                <a:avLst/>
              </a:prstGeom>
              <a:blipFill rotWithShape="1">
                <a:blip r:embed="rId3"/>
                <a:stretch>
                  <a:fillRect l="-4" t="-69" r="6" b="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多项式环</a:t>
            </a:r>
            <a:endParaRPr lang="zh-CN" altLang="en-US" sz="12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13" name="矩形 12"/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多项式环基本性质</a:t>
            </a:r>
            <a:endParaRPr lang="zh-CN" altLang="en-US" sz="1400"/>
          </a:p>
        </p:txBody>
      </p:sp>
      <p:sp>
        <p:nvSpPr>
          <p:cNvPr id="14" name="矩形 13"/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第十三讲  一些特殊的环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201F7661-F374-4557-9C7E-3BA007C4B471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/46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914397" y="880924"/>
                <a:ext cx="7315200" cy="2339102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altLang="zh-CN" sz="1600" b="1">
                    <a:solidFill>
                      <a:srgbClr val="002060"/>
                    </a:solidFill>
                  </a:rPr>
                  <a:t>【</a:t>
                </a:r>
                <a:r>
                  <a:rPr lang="zh-CN" altLang="en-US" sz="1600" b="1">
                    <a:solidFill>
                      <a:srgbClr val="002060"/>
                    </a:solidFill>
                  </a:rPr>
                  <a:t>定理</a:t>
                </a:r>
                <a:r>
                  <a:rPr lang="en-US" altLang="zh-CN" sz="1600" b="1">
                    <a:solidFill>
                      <a:srgbClr val="002060"/>
                    </a:solidFill>
                  </a:rPr>
                  <a:t>】</a:t>
                </a:r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是有单位元的环，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上的一个未定元。</a:t>
                </a:r>
                <a:endParaRPr lang="zh-CN" altLang="en-US" sz="1600" b="1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:pPr marL="342900" indent="-342900">
                  <a:spcBef>
                    <a:spcPts val="600"/>
                  </a:spcBef>
                  <a:spcAft>
                    <a:spcPts val="600"/>
                  </a:spcAft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altLang="zh-CN" sz="16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的零元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就是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a:rPr lang="zh-CN" altLang="en-US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的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零元（即零多项式）；</a:t>
                </a:r>
                <a:endParaRPr lang="zh-CN" altLang="en-US" sz="1600" b="1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:pPr marL="342900" indent="-342900">
                  <a:spcBef>
                    <a:spcPts val="600"/>
                  </a:spcBef>
                  <a:spcAft>
                    <a:spcPts val="600"/>
                  </a:spcAft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是有单位元的环，且</a:t>
                </a:r>
                <a14:m>
                  <m:oMath xmlns:m="http://schemas.openxmlformats.org/officeDocument/2006/math">
                    <m:r>
                      <a:rPr lang="en-US" altLang="zh-CN" sz="16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  <m:r>
                      <a:rPr lang="en-US" altLang="zh-CN" sz="16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sz="16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sz="16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的单位元就是</a:t>
                </a:r>
                <a14:m>
                  <m:oMath xmlns:m="http://schemas.openxmlformats.org/officeDocument/2006/math">
                    <m:r>
                      <a:rPr lang="en-US" altLang="zh-CN" sz="16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的单位元；</a:t>
                </a:r>
                <a:endParaRPr lang="zh-CN" altLang="en-US" sz="1600" b="1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:pPr marL="342900" indent="-342900">
                  <a:spcBef>
                    <a:spcPts val="600"/>
                  </a:spcBef>
                  <a:spcAft>
                    <a:spcPts val="600"/>
                  </a:spcAft>
                  <a:buFont typeface="+mj-lt"/>
                  <a:buAutoNum type="arabicPeriod"/>
                </a:pPr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如果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是无零因子环，则</a:t>
                </a:r>
                <a14:m>
                  <m:oMath xmlns:m="http://schemas.openxmlformats.org/officeDocument/2006/math">
                    <m:r>
                      <a:rPr lang="en-US" altLang="zh-CN" sz="16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  <m:r>
                      <a:rPr lang="en-US" altLang="zh-CN" sz="16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sz="16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sz="16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也是无零因子环，且</a:t>
                </a:r>
                <a14:m>
                  <m:oMath xmlns:m="http://schemas.openxmlformats.org/officeDocument/2006/math">
                    <m:r>
                      <a:rPr lang="en-US" altLang="zh-CN" sz="16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  <m:r>
                      <a:rPr lang="en-US" altLang="zh-CN" sz="16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sz="16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sz="16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的单位就是</a:t>
                </a:r>
                <a14:m>
                  <m:oMath xmlns:m="http://schemas.openxmlformats.org/officeDocument/2006/math">
                    <m:r>
                      <a:rPr lang="en-US" altLang="zh-CN" sz="16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的单位；</a:t>
                </a:r>
                <a:endParaRPr lang="zh-CN" altLang="en-US" sz="1600" b="1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:pPr marL="342900" indent="-342900">
                  <a:spcBef>
                    <a:spcPts val="600"/>
                  </a:spcBef>
                  <a:spcAft>
                    <a:spcPts val="600"/>
                  </a:spcAft>
                  <a:buFont typeface="+mj-lt"/>
                  <a:buAutoNum type="arabicPeriod"/>
                </a:pPr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如果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是交换环，则</a:t>
                </a:r>
                <a14:m>
                  <m:oMath xmlns:m="http://schemas.openxmlformats.org/officeDocument/2006/math">
                    <m:r>
                      <a:rPr lang="en-US" altLang="zh-CN" sz="16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  <m:r>
                      <a:rPr lang="en-US" altLang="zh-CN" sz="16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sz="16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sz="16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也是交换环；</a:t>
                </a:r>
                <a:endParaRPr lang="zh-CN" altLang="en-US" sz="1600" b="1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:pPr marL="342900" indent="-342900">
                  <a:spcBef>
                    <a:spcPts val="600"/>
                  </a:spcBef>
                  <a:spcAft>
                    <a:spcPts val="600"/>
                  </a:spcAft>
                  <a:buFont typeface="+mj-lt"/>
                  <a:buAutoNum type="arabicPeriod"/>
                </a:pPr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如果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是整环，则</a:t>
                </a:r>
                <a14:m>
                  <m:oMath xmlns:m="http://schemas.openxmlformats.org/officeDocument/2006/math">
                    <m:r>
                      <a:rPr lang="en-US" altLang="zh-CN" sz="16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  <m:r>
                      <a:rPr lang="en-US" altLang="zh-CN" sz="16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sz="16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sz="16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也是整环。</a:t>
                </a:r>
                <a:endParaRPr lang="zh-CN" altLang="en-US" sz="1600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397" y="880924"/>
                <a:ext cx="7315200" cy="2339102"/>
              </a:xfrm>
              <a:prstGeom prst="rect">
                <a:avLst/>
              </a:prstGeom>
              <a:blipFill rotWithShape="1">
                <a:blip r:embed="rId1"/>
                <a:stretch>
                  <a:fillRect l="-9" t="-8" r="9" b="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/>
              <p:cNvSpPr txBox="1"/>
              <p:nvPr/>
            </p:nvSpPr>
            <p:spPr>
              <a:xfrm>
                <a:off x="914398" y="3339961"/>
                <a:ext cx="7315199" cy="1229311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1800"/>
                  </a:lnSpc>
                  <a:spcBef>
                    <a:spcPts val="600"/>
                  </a:spcBef>
                </a:pPr>
                <a:r>
                  <a:rPr lang="en-US" altLang="zh-CN" sz="1200" b="1">
                    <a:solidFill>
                      <a:srgbClr val="002060"/>
                    </a:solidFill>
                  </a:rPr>
                  <a:t>【</a:t>
                </a:r>
                <a:r>
                  <a:rPr lang="zh-CN" altLang="en-US" sz="1200" b="1">
                    <a:solidFill>
                      <a:srgbClr val="002060"/>
                    </a:solidFill>
                  </a:rPr>
                  <a:t>证明概要</a:t>
                </a:r>
                <a:r>
                  <a:rPr lang="en-US" altLang="zh-CN" sz="1200" b="1">
                    <a:solidFill>
                      <a:srgbClr val="002060"/>
                    </a:solidFill>
                  </a:rPr>
                  <a:t>】</a:t>
                </a:r>
                <a:r>
                  <a:rPr lang="en-US" altLang="zh-CN" sz="1200" b="1">
                    <a:solidFill>
                      <a:schemeClr val="accent2">
                        <a:lumMod val="50000"/>
                      </a:schemeClr>
                    </a:solidFill>
                  </a:rPr>
                  <a:t>(1),(2)</a:t>
                </a:r>
                <a:r>
                  <a:rPr lang="zh-CN" altLang="en-US" sz="1200" b="1">
                    <a:solidFill>
                      <a:schemeClr val="accent2">
                        <a:lumMod val="50000"/>
                      </a:schemeClr>
                    </a:solidFill>
                  </a:rPr>
                  <a:t>显然，对于</a:t>
                </a:r>
                <a:r>
                  <a:rPr lang="en-US" altLang="zh-CN" sz="1200" b="1">
                    <a:solidFill>
                      <a:schemeClr val="accent2">
                        <a:lumMod val="50000"/>
                      </a:schemeClr>
                    </a:solidFill>
                  </a:rPr>
                  <a:t>(3)</a:t>
                </a:r>
                <a:r>
                  <a:rPr lang="zh-CN" altLang="en-US" sz="1200" b="1">
                    <a:solidFill>
                      <a:schemeClr val="accent2">
                        <a:lumMod val="50000"/>
                      </a:schemeClr>
                    </a:solidFill>
                  </a:rPr>
                  <a:t>，当</a:t>
                </a:r>
                <a14:m>
                  <m:oMath xmlns:m="http://schemas.openxmlformats.org/officeDocument/2006/math"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sz="1200" b="1">
                    <a:solidFill>
                      <a:schemeClr val="accent2">
                        <a:lumMod val="50000"/>
                      </a:schemeClr>
                    </a:solidFill>
                  </a:rPr>
                  <a:t>是无零因子环时，由于两个非零多项式的最高次项系数相乘总不为零，因此两个非零多项式相乘也总不为零多项式。两个多项式中有一个的次数大于</a:t>
                </a:r>
                <a14:m>
                  <m:oMath xmlns:m="http://schemas.openxmlformats.org/officeDocument/2006/math"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zh-CN" altLang="en-US" sz="1200" b="1">
                    <a:solidFill>
                      <a:schemeClr val="accent2">
                        <a:lumMod val="50000"/>
                      </a:schemeClr>
                    </a:solidFill>
                  </a:rPr>
                  <a:t>的话，则相乘不可能是单位元</a:t>
                </a:r>
                <a14:m>
                  <m:oMath xmlns:m="http://schemas.openxmlformats.org/officeDocument/2006/math"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zh-CN" altLang="en-US" sz="1200" b="1">
                    <a:solidFill>
                      <a:schemeClr val="accent2">
                        <a:lumMod val="50000"/>
                      </a:schemeClr>
                    </a:solidFill>
                  </a:rPr>
                  <a:t>，因此只能是两个常数相乘才可能是</a:t>
                </a:r>
                <a:r>
                  <a:rPr lang="en-US" altLang="zh-CN" sz="1200" b="1">
                    <a:solidFill>
                      <a:schemeClr val="accent2">
                        <a:lumMod val="50000"/>
                      </a:schemeClr>
                    </a:solidFill>
                  </a:rPr>
                  <a:t>1</a:t>
                </a:r>
                <a:r>
                  <a:rPr lang="zh-CN" altLang="en-US" sz="1200" b="1">
                    <a:solidFill>
                      <a:schemeClr val="accent2">
                        <a:lumMod val="50000"/>
                      </a:schemeClr>
                    </a:solidFill>
                  </a:rPr>
                  <a:t>，而常数实际上就是</a:t>
                </a:r>
                <a14:m>
                  <m:oMath xmlns:m="http://schemas.openxmlformats.org/officeDocument/2006/math"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sz="1200" b="1">
                    <a:solidFill>
                      <a:schemeClr val="accent2">
                        <a:lumMod val="50000"/>
                      </a:schemeClr>
                    </a:solidFill>
                  </a:rPr>
                  <a:t>的元素。对于</a:t>
                </a:r>
                <a:r>
                  <a:rPr lang="en-US" altLang="zh-CN" sz="1200" b="1">
                    <a:solidFill>
                      <a:schemeClr val="accent2">
                        <a:lumMod val="50000"/>
                      </a:schemeClr>
                    </a:solidFill>
                  </a:rPr>
                  <a:t>(4)</a:t>
                </a:r>
                <a:r>
                  <a:rPr lang="zh-CN" altLang="en-US" sz="1200" b="1">
                    <a:solidFill>
                      <a:schemeClr val="accent2">
                        <a:lumMod val="50000"/>
                      </a:schemeClr>
                    </a:solidFill>
                  </a:rPr>
                  <a:t>，当</a:t>
                </a:r>
                <a14:m>
                  <m:oMath xmlns:m="http://schemas.openxmlformats.org/officeDocument/2006/math"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sz="1200" b="1">
                    <a:solidFill>
                      <a:schemeClr val="accent2">
                        <a:lumMod val="50000"/>
                      </a:schemeClr>
                    </a:solidFill>
                  </a:rPr>
                  <a:t>是交换环时，则两个多项式相乘的系数中不计较</a:t>
                </a:r>
                <a14:m>
                  <m:oMath xmlns:m="http://schemas.openxmlformats.org/officeDocument/2006/math"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sz="1200" b="1">
                    <a:solidFill>
                      <a:schemeClr val="accent2">
                        <a:lumMod val="50000"/>
                      </a:schemeClr>
                    </a:solidFill>
                  </a:rPr>
                  <a:t>元素相乘的顺序，从而这两个多项式相乘也是可交换的，从而</a:t>
                </a:r>
                <a14:m>
                  <m:oMath xmlns:m="http://schemas.openxmlformats.org/officeDocument/2006/math"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zh-CN" altLang="en-US" sz="1200" b="1">
                    <a:solidFill>
                      <a:schemeClr val="accent2">
                        <a:lumMod val="50000"/>
                      </a:schemeClr>
                    </a:solidFill>
                  </a:rPr>
                  <a:t>是交换环。最后由</a:t>
                </a:r>
                <a:r>
                  <a:rPr lang="en-US" altLang="zh-CN" sz="1200" b="1">
                    <a:solidFill>
                      <a:schemeClr val="accent2">
                        <a:lumMod val="50000"/>
                      </a:schemeClr>
                    </a:solidFill>
                  </a:rPr>
                  <a:t>(2),(3),(4)</a:t>
                </a:r>
                <a:r>
                  <a:rPr lang="zh-CN" altLang="en-US" sz="1200" b="1">
                    <a:solidFill>
                      <a:schemeClr val="accent2">
                        <a:lumMod val="50000"/>
                      </a:schemeClr>
                    </a:solidFill>
                  </a:rPr>
                  <a:t>得到当</a:t>
                </a:r>
                <a:r>
                  <a:rPr lang="en-US" altLang="zh-CN" sz="1200" b="1">
                    <a:solidFill>
                      <a:schemeClr val="accent2">
                        <a:lumMod val="50000"/>
                      </a:schemeClr>
                    </a:solidFill>
                  </a:rPr>
                  <a:t>R</a:t>
                </a:r>
                <a:r>
                  <a:rPr lang="zh-CN" altLang="en-US" sz="1200" b="1">
                    <a:solidFill>
                      <a:schemeClr val="accent2">
                        <a:lumMod val="50000"/>
                      </a:schemeClr>
                    </a:solidFill>
                  </a:rPr>
                  <a:t>是整环时，</a:t>
                </a:r>
                <a14:m>
                  <m:oMath xmlns:m="http://schemas.openxmlformats.org/officeDocument/2006/math"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zh-CN" altLang="en-US" sz="1200" b="1">
                    <a:solidFill>
                      <a:schemeClr val="accent2">
                        <a:lumMod val="50000"/>
                      </a:schemeClr>
                    </a:solidFill>
                  </a:rPr>
                  <a:t>也是整环。</a:t>
                </a:r>
                <a:endParaRPr lang="zh-CN" altLang="en-US" sz="1200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398" y="3339961"/>
                <a:ext cx="7315199" cy="1229311"/>
              </a:xfrm>
              <a:prstGeom prst="rect">
                <a:avLst/>
              </a:prstGeom>
              <a:blipFill rotWithShape="1">
                <a:blip r:embed="rId2"/>
                <a:stretch>
                  <a:fillRect l="-9" t="-40" r="9" b="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多项式环</a:t>
            </a:r>
            <a:endParaRPr lang="zh-CN" altLang="en-US" sz="12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13" name="矩形 12"/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多项式乘积的次数</a:t>
            </a:r>
            <a:endParaRPr lang="zh-CN" altLang="en-US" sz="1400"/>
          </a:p>
        </p:txBody>
      </p:sp>
      <p:sp>
        <p:nvSpPr>
          <p:cNvPr id="14" name="矩形 13"/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第十三讲  一些特殊的环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201F7661-F374-4557-9C7E-3BA007C4B471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/46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986458" y="1252330"/>
            <a:ext cx="7171083" cy="561561"/>
            <a:chOff x="988943" y="1252330"/>
            <a:chExt cx="7171083" cy="561561"/>
          </a:xfrm>
        </p:grpSpPr>
        <p:sp>
          <p:nvSpPr>
            <p:cNvPr id="4" name="矩形: 圆角 3"/>
            <p:cNvSpPr/>
            <p:nvPr/>
          </p:nvSpPr>
          <p:spPr>
            <a:xfrm>
              <a:off x="988943" y="1252330"/>
              <a:ext cx="7171083" cy="561561"/>
            </a:xfrm>
            <a:prstGeom prst="roundRect">
              <a:avLst>
                <a:gd name="adj" fmla="val 12242"/>
              </a:avLst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21247" y="1292832"/>
              <a:ext cx="7101506" cy="476423"/>
            </a:xfrm>
            <a:prstGeom prst="rect">
              <a:avLst/>
            </a:prstGeom>
          </p:spPr>
        </p:pic>
      </p:grpSp>
      <p:grpSp>
        <p:nvGrpSpPr>
          <p:cNvPr id="9" name="组合 8"/>
          <p:cNvGrpSpPr/>
          <p:nvPr/>
        </p:nvGrpSpPr>
        <p:grpSpPr>
          <a:xfrm>
            <a:off x="986458" y="2524539"/>
            <a:ext cx="7171083" cy="1326874"/>
            <a:chOff x="986458" y="2524539"/>
            <a:chExt cx="7171083" cy="1326874"/>
          </a:xfrm>
        </p:grpSpPr>
        <p:sp>
          <p:nvSpPr>
            <p:cNvPr id="8" name="矩形: 圆角 7"/>
            <p:cNvSpPr/>
            <p:nvPr/>
          </p:nvSpPr>
          <p:spPr>
            <a:xfrm>
              <a:off x="986458" y="2524539"/>
              <a:ext cx="7171083" cy="1326874"/>
            </a:xfrm>
            <a:prstGeom prst="roundRect">
              <a:avLst>
                <a:gd name="adj" fmla="val 5056"/>
              </a:avLst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18762" y="2566780"/>
              <a:ext cx="7101506" cy="1251886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: 圆角 7"/>
          <p:cNvSpPr/>
          <p:nvPr/>
        </p:nvSpPr>
        <p:spPr>
          <a:xfrm>
            <a:off x="1113183" y="2788286"/>
            <a:ext cx="6236804" cy="1331484"/>
          </a:xfrm>
          <a:prstGeom prst="roundRect">
            <a:avLst>
              <a:gd name="adj" fmla="val 8083"/>
            </a:avLst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多项式环</a:t>
            </a:r>
            <a:endParaRPr lang="zh-CN" altLang="en-US" sz="12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13" name="矩形 12"/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多项式相乘练习解答（一）</a:t>
            </a:r>
            <a:endParaRPr lang="zh-CN" altLang="en-US" sz="1400"/>
          </a:p>
        </p:txBody>
      </p:sp>
      <p:sp>
        <p:nvSpPr>
          <p:cNvPr id="14" name="矩形 13"/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第十三讲  一些特殊的环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201F7661-F374-4557-9C7E-3BA007C4B471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/46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1113183" y="1023730"/>
            <a:ext cx="4522304" cy="1287118"/>
            <a:chOff x="1113183" y="1023730"/>
            <a:chExt cx="4522304" cy="1287118"/>
          </a:xfrm>
        </p:grpSpPr>
        <p:sp>
          <p:nvSpPr>
            <p:cNvPr id="4" name="矩形: 圆角 3"/>
            <p:cNvSpPr/>
            <p:nvPr/>
          </p:nvSpPr>
          <p:spPr>
            <a:xfrm>
              <a:off x="1113183" y="1023730"/>
              <a:ext cx="4522304" cy="1287118"/>
            </a:xfrm>
            <a:prstGeom prst="roundRect">
              <a:avLst>
                <a:gd name="adj" fmla="val 7401"/>
              </a:avLst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162878" y="1068096"/>
              <a:ext cx="4424376" cy="1204146"/>
            </a:xfrm>
            <a:prstGeom prst="rect">
              <a:avLst/>
            </a:prstGeom>
          </p:spPr>
        </p:pic>
      </p:grp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2878" y="2823382"/>
            <a:ext cx="6154742" cy="125202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: 圆角 7"/>
          <p:cNvSpPr/>
          <p:nvPr/>
        </p:nvSpPr>
        <p:spPr>
          <a:xfrm>
            <a:off x="1113183" y="2788286"/>
            <a:ext cx="6236804" cy="938888"/>
          </a:xfrm>
          <a:prstGeom prst="roundRect">
            <a:avLst>
              <a:gd name="adj" fmla="val 8083"/>
            </a:avLst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多项式环</a:t>
            </a:r>
            <a:endParaRPr lang="zh-CN" altLang="en-US" sz="12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13" name="矩形 12"/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多项式相乘练习解答（二）</a:t>
            </a:r>
            <a:endParaRPr lang="zh-CN" altLang="en-US" sz="1400"/>
          </a:p>
        </p:txBody>
      </p:sp>
      <p:sp>
        <p:nvSpPr>
          <p:cNvPr id="14" name="矩形 13"/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第十三讲  一些特殊的环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201F7661-F374-4557-9C7E-3BA007C4B471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/46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1113183" y="1023730"/>
            <a:ext cx="4522304" cy="1287118"/>
            <a:chOff x="1113183" y="1023730"/>
            <a:chExt cx="4522304" cy="1287118"/>
          </a:xfrm>
        </p:grpSpPr>
        <p:sp>
          <p:nvSpPr>
            <p:cNvPr id="4" name="矩形: 圆角 3"/>
            <p:cNvSpPr/>
            <p:nvPr/>
          </p:nvSpPr>
          <p:spPr>
            <a:xfrm>
              <a:off x="1113183" y="1023730"/>
              <a:ext cx="4522304" cy="1287118"/>
            </a:xfrm>
            <a:prstGeom prst="roundRect">
              <a:avLst>
                <a:gd name="adj" fmla="val 7401"/>
              </a:avLst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162878" y="1068096"/>
              <a:ext cx="4424376" cy="1204146"/>
            </a:xfrm>
            <a:prstGeom prst="rect">
              <a:avLst/>
            </a:prstGeom>
          </p:spPr>
        </p:pic>
      </p:grp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2878" y="2824894"/>
            <a:ext cx="6132444" cy="84766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多项式环</a:t>
            </a:r>
            <a:endParaRPr lang="zh-CN" altLang="en-US" sz="12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13" name="矩形 12"/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多项式相乘练习解答（三）</a:t>
            </a:r>
            <a:endParaRPr lang="zh-CN" altLang="en-US" sz="1400"/>
          </a:p>
        </p:txBody>
      </p:sp>
      <p:sp>
        <p:nvSpPr>
          <p:cNvPr id="14" name="矩形 13"/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第十三讲  一些特殊的环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201F7661-F374-4557-9C7E-3BA007C4B471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/46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1113183" y="1023730"/>
            <a:ext cx="4522304" cy="1287118"/>
            <a:chOff x="1113183" y="1023730"/>
            <a:chExt cx="4522304" cy="1287118"/>
          </a:xfrm>
        </p:grpSpPr>
        <p:sp>
          <p:nvSpPr>
            <p:cNvPr id="4" name="矩形: 圆角 3"/>
            <p:cNvSpPr/>
            <p:nvPr/>
          </p:nvSpPr>
          <p:spPr>
            <a:xfrm>
              <a:off x="1113183" y="1023730"/>
              <a:ext cx="4522304" cy="1287118"/>
            </a:xfrm>
            <a:prstGeom prst="roundRect">
              <a:avLst>
                <a:gd name="adj" fmla="val 7401"/>
              </a:avLst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162878" y="1068096"/>
              <a:ext cx="4424376" cy="1204146"/>
            </a:xfrm>
            <a:prstGeom prst="rect">
              <a:avLst/>
            </a:prstGeom>
          </p:spPr>
        </p:pic>
      </p:grpSp>
      <p:grpSp>
        <p:nvGrpSpPr>
          <p:cNvPr id="9" name="组合 8"/>
          <p:cNvGrpSpPr/>
          <p:nvPr/>
        </p:nvGrpSpPr>
        <p:grpSpPr>
          <a:xfrm>
            <a:off x="1113183" y="2788285"/>
            <a:ext cx="6236804" cy="1287117"/>
            <a:chOff x="1113183" y="2788285"/>
            <a:chExt cx="6236804" cy="1287117"/>
          </a:xfrm>
        </p:grpSpPr>
        <p:sp>
          <p:nvSpPr>
            <p:cNvPr id="8" name="矩形: 圆角 7"/>
            <p:cNvSpPr/>
            <p:nvPr/>
          </p:nvSpPr>
          <p:spPr>
            <a:xfrm>
              <a:off x="1113183" y="2788285"/>
              <a:ext cx="6236804" cy="1287117"/>
            </a:xfrm>
            <a:prstGeom prst="roundRect">
              <a:avLst>
                <a:gd name="adj" fmla="val 8083"/>
              </a:avLst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60393" y="2838652"/>
              <a:ext cx="6142383" cy="120099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多项式环</a:t>
            </a:r>
            <a:endParaRPr lang="zh-CN" altLang="en-US" sz="12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13" name="矩形 12"/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多项式环的理想练习</a:t>
            </a:r>
            <a:endParaRPr lang="zh-CN" altLang="en-US" sz="1400"/>
          </a:p>
        </p:txBody>
      </p:sp>
      <p:sp>
        <p:nvSpPr>
          <p:cNvPr id="14" name="矩形 13"/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第十三讲  一些特殊的环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201F7661-F374-4557-9C7E-3BA007C4B471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/46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998883" y="924339"/>
            <a:ext cx="5789544" cy="1023731"/>
            <a:chOff x="1242391" y="924339"/>
            <a:chExt cx="5789544" cy="1023731"/>
          </a:xfrm>
        </p:grpSpPr>
        <p:sp>
          <p:nvSpPr>
            <p:cNvPr id="4" name="矩形: 圆角 3"/>
            <p:cNvSpPr/>
            <p:nvPr/>
          </p:nvSpPr>
          <p:spPr>
            <a:xfrm>
              <a:off x="1242391" y="924339"/>
              <a:ext cx="5789544" cy="1023731"/>
            </a:xfrm>
            <a:prstGeom prst="roundRect">
              <a:avLst>
                <a:gd name="adj" fmla="val 9385"/>
              </a:avLst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287118" y="971427"/>
              <a:ext cx="5702696" cy="919789"/>
            </a:xfrm>
            <a:prstGeom prst="rect">
              <a:avLst/>
            </a:prstGeom>
          </p:spPr>
        </p:pic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本框 9"/>
              <p:cNvSpPr txBox="1"/>
              <p:nvPr/>
            </p:nvSpPr>
            <p:spPr>
              <a:xfrm>
                <a:off x="6922605" y="1185796"/>
                <a:ext cx="1321903" cy="584775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ℤ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关于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𝑰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的商环是什么？</a:t>
                </a:r>
                <a:endParaRPr lang="zh-CN" altLang="en-US" sz="1600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2605" y="1185796"/>
                <a:ext cx="1321903" cy="584775"/>
              </a:xfrm>
              <a:prstGeom prst="rect">
                <a:avLst/>
              </a:prstGeom>
              <a:blipFill rotWithShape="1">
                <a:blip r:embed="rId2"/>
                <a:stretch>
                  <a:fillRect l="-36" t="-43" r="23" b="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组合 4"/>
          <p:cNvGrpSpPr/>
          <p:nvPr/>
        </p:nvGrpSpPr>
        <p:grpSpPr>
          <a:xfrm>
            <a:off x="998883" y="2301254"/>
            <a:ext cx="7151204" cy="2086045"/>
            <a:chOff x="998883" y="2301254"/>
            <a:chExt cx="7151204" cy="2086045"/>
          </a:xfrm>
        </p:grpSpPr>
        <p:sp>
          <p:nvSpPr>
            <p:cNvPr id="7" name="矩形: 圆角 6"/>
            <p:cNvSpPr/>
            <p:nvPr/>
          </p:nvSpPr>
          <p:spPr>
            <a:xfrm>
              <a:off x="998883" y="2301254"/>
              <a:ext cx="7151204" cy="2086045"/>
            </a:xfrm>
            <a:prstGeom prst="roundRect">
              <a:avLst>
                <a:gd name="adj" fmla="val 2419"/>
              </a:avLst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43614" y="2357219"/>
              <a:ext cx="7064065" cy="1979812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多项式环</a:t>
            </a:r>
            <a:endParaRPr lang="zh-CN" altLang="en-US" sz="12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13" name="矩形 12"/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多项式环证明练习解答（一）</a:t>
            </a:r>
            <a:endParaRPr lang="zh-CN" altLang="en-US" sz="1400"/>
          </a:p>
        </p:txBody>
      </p:sp>
      <p:sp>
        <p:nvSpPr>
          <p:cNvPr id="14" name="矩形 13"/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第十三讲  一些特殊的环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201F7661-F374-4557-9C7E-3BA007C4B471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/46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911915" y="924339"/>
            <a:ext cx="6462920" cy="362778"/>
            <a:chOff x="911915" y="924339"/>
            <a:chExt cx="6462920" cy="362778"/>
          </a:xfrm>
        </p:grpSpPr>
        <p:sp>
          <p:nvSpPr>
            <p:cNvPr id="8" name="矩形: 圆角 7"/>
            <p:cNvSpPr/>
            <p:nvPr/>
          </p:nvSpPr>
          <p:spPr>
            <a:xfrm>
              <a:off x="911915" y="924339"/>
              <a:ext cx="6462920" cy="362778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951671" y="963383"/>
              <a:ext cx="6385891" cy="288274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</p:pic>
      </p:grpSp>
      <p:grpSp>
        <p:nvGrpSpPr>
          <p:cNvPr id="7" name="组合 6"/>
          <p:cNvGrpSpPr/>
          <p:nvPr/>
        </p:nvGrpSpPr>
        <p:grpSpPr>
          <a:xfrm>
            <a:off x="911915" y="1461052"/>
            <a:ext cx="7320170" cy="3175552"/>
            <a:chOff x="829917" y="1451113"/>
            <a:chExt cx="7320170" cy="3175552"/>
          </a:xfrm>
        </p:grpSpPr>
        <p:sp>
          <p:nvSpPr>
            <p:cNvPr id="6" name="矩形: 圆角 5"/>
            <p:cNvSpPr/>
            <p:nvPr/>
          </p:nvSpPr>
          <p:spPr>
            <a:xfrm>
              <a:off x="829917" y="1451113"/>
              <a:ext cx="7320170" cy="3175552"/>
            </a:xfrm>
            <a:prstGeom prst="roundRect">
              <a:avLst>
                <a:gd name="adj" fmla="val 3834"/>
              </a:avLst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84583" y="1501232"/>
              <a:ext cx="7210841" cy="306917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多项式环</a:t>
            </a:r>
            <a:endParaRPr lang="zh-CN" altLang="en-US" sz="12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13" name="矩形 12"/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多项式环证明练习解答（二）</a:t>
            </a:r>
            <a:endParaRPr lang="zh-CN" altLang="en-US" sz="1400"/>
          </a:p>
        </p:txBody>
      </p:sp>
      <p:sp>
        <p:nvSpPr>
          <p:cNvPr id="14" name="矩形 13"/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第十三讲  一些特殊的环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201F7661-F374-4557-9C7E-3BA007C4B471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/46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911915" y="924339"/>
            <a:ext cx="6462920" cy="362778"/>
            <a:chOff x="911915" y="924339"/>
            <a:chExt cx="6462920" cy="362778"/>
          </a:xfrm>
        </p:grpSpPr>
        <p:sp>
          <p:nvSpPr>
            <p:cNvPr id="8" name="矩形: 圆角 7"/>
            <p:cNvSpPr/>
            <p:nvPr/>
          </p:nvSpPr>
          <p:spPr>
            <a:xfrm>
              <a:off x="911915" y="924339"/>
              <a:ext cx="6462920" cy="362778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951671" y="963383"/>
              <a:ext cx="6385891" cy="288274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</p:pic>
      </p:grpSp>
      <p:grpSp>
        <p:nvGrpSpPr>
          <p:cNvPr id="10" name="组合 9"/>
          <p:cNvGrpSpPr/>
          <p:nvPr/>
        </p:nvGrpSpPr>
        <p:grpSpPr>
          <a:xfrm>
            <a:off x="911915" y="1780871"/>
            <a:ext cx="7320170" cy="2305878"/>
            <a:chOff x="911915" y="1461052"/>
            <a:chExt cx="7320170" cy="2305878"/>
          </a:xfrm>
        </p:grpSpPr>
        <p:sp>
          <p:nvSpPr>
            <p:cNvPr id="6" name="矩形: 圆角 5"/>
            <p:cNvSpPr/>
            <p:nvPr/>
          </p:nvSpPr>
          <p:spPr>
            <a:xfrm>
              <a:off x="911915" y="1461052"/>
              <a:ext cx="7320170" cy="2305878"/>
            </a:xfrm>
            <a:prstGeom prst="roundRect">
              <a:avLst>
                <a:gd name="adj" fmla="val 3834"/>
              </a:avLst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50779" y="1515990"/>
              <a:ext cx="7242442" cy="219103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多项式环</a:t>
            </a:r>
            <a:endParaRPr lang="zh-CN" altLang="en-US" sz="12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13" name="矩形 12"/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多项式的整除与因式</a:t>
            </a:r>
            <a:endParaRPr lang="zh-CN" altLang="en-US" sz="1400"/>
          </a:p>
        </p:txBody>
      </p:sp>
      <p:sp>
        <p:nvSpPr>
          <p:cNvPr id="14" name="矩形 13"/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第十三讲  一些特殊的环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201F7661-F374-4557-9C7E-3BA007C4B471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/46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941732" y="1083365"/>
            <a:ext cx="7260535" cy="1361661"/>
            <a:chOff x="939248" y="1063487"/>
            <a:chExt cx="7260535" cy="1361661"/>
          </a:xfrm>
        </p:grpSpPr>
        <p:sp>
          <p:nvSpPr>
            <p:cNvPr id="5" name="矩形: 圆角 4"/>
            <p:cNvSpPr/>
            <p:nvPr/>
          </p:nvSpPr>
          <p:spPr>
            <a:xfrm>
              <a:off x="939248" y="1063487"/>
              <a:ext cx="7260535" cy="1361661"/>
            </a:xfrm>
            <a:prstGeom prst="roundRect">
              <a:avLst>
                <a:gd name="adj" fmla="val 10462"/>
              </a:avLst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988940" y="1119763"/>
              <a:ext cx="7166113" cy="1251673"/>
            </a:xfrm>
            <a:prstGeom prst="rect">
              <a:avLst/>
            </a:prstGeom>
          </p:spPr>
        </p:pic>
      </p:grpSp>
      <p:sp>
        <p:nvSpPr>
          <p:cNvPr id="4" name="文本框 3"/>
          <p:cNvSpPr txBox="1"/>
          <p:nvPr/>
        </p:nvSpPr>
        <p:spPr>
          <a:xfrm>
            <a:off x="941732" y="2816358"/>
            <a:ext cx="7260535" cy="140698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23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600" b="1">
                <a:solidFill>
                  <a:schemeClr val="accent2">
                    <a:lumMod val="50000"/>
                  </a:schemeClr>
                </a:solidFill>
              </a:rPr>
              <a:t>任意多项式有两种因式，非零的常数多项式和该多项式本身（为什么？），将这两种因式称为</a:t>
            </a:r>
            <a:r>
              <a:rPr lang="zh-CN" altLang="en-US" sz="1600" b="1">
                <a:solidFill>
                  <a:srgbClr val="C00000"/>
                </a:solidFill>
              </a:rPr>
              <a:t>平凡因式</a:t>
            </a:r>
            <a:r>
              <a:rPr lang="zh-CN" altLang="en-US" sz="1600" b="1">
                <a:solidFill>
                  <a:schemeClr val="accent2">
                    <a:lumMod val="50000"/>
                  </a:schemeClr>
                </a:solidFill>
              </a:rPr>
              <a:t>，否则称为</a:t>
            </a:r>
            <a:r>
              <a:rPr lang="zh-CN" altLang="en-US" sz="1600" b="1">
                <a:solidFill>
                  <a:srgbClr val="C00000"/>
                </a:solidFill>
              </a:rPr>
              <a:t>非平凡因式</a:t>
            </a:r>
            <a:r>
              <a:rPr lang="zh-CN" altLang="en-US" sz="1600" b="1">
                <a:solidFill>
                  <a:schemeClr val="accent2">
                    <a:lumMod val="50000"/>
                  </a:schemeClr>
                </a:solidFill>
              </a:rPr>
              <a:t>，或说</a:t>
            </a:r>
            <a:r>
              <a:rPr lang="zh-CN" altLang="en-US" sz="1600" b="1">
                <a:solidFill>
                  <a:srgbClr val="C00000"/>
                </a:solidFill>
              </a:rPr>
              <a:t>真因式</a:t>
            </a:r>
            <a:r>
              <a:rPr lang="zh-CN" altLang="en-US" sz="1600" b="1">
                <a:solidFill>
                  <a:schemeClr val="accent2">
                    <a:lumMod val="50000"/>
                  </a:schemeClr>
                </a:solidFill>
              </a:rPr>
              <a:t>。</a:t>
            </a:r>
            <a:endParaRPr lang="en-US" altLang="zh-CN" sz="1600" b="1">
              <a:solidFill>
                <a:schemeClr val="accent2">
                  <a:lumMod val="50000"/>
                </a:schemeClr>
              </a:solidFill>
            </a:endParaRPr>
          </a:p>
          <a:p>
            <a:pPr marL="285750" indent="-285750">
              <a:lnSpc>
                <a:spcPts val="23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600" b="1">
                <a:solidFill>
                  <a:schemeClr val="accent2">
                    <a:lumMod val="50000"/>
                  </a:schemeClr>
                </a:solidFill>
              </a:rPr>
              <a:t>如果一个多项式不能写成两个非平凡因式的乘积，就称这个多项式为</a:t>
            </a:r>
            <a:r>
              <a:rPr lang="zh-CN" altLang="en-US" sz="1600" b="1">
                <a:solidFill>
                  <a:srgbClr val="C00000"/>
                </a:solidFill>
              </a:rPr>
              <a:t>不可约多项式</a:t>
            </a:r>
            <a:r>
              <a:rPr lang="zh-CN" altLang="en-US" sz="1600" b="1">
                <a:solidFill>
                  <a:schemeClr val="accent2">
                    <a:lumMod val="50000"/>
                  </a:schemeClr>
                </a:solidFill>
              </a:rPr>
              <a:t>或说</a:t>
            </a:r>
            <a:r>
              <a:rPr lang="zh-CN" altLang="en-US" sz="1600" b="1">
                <a:solidFill>
                  <a:srgbClr val="C00000"/>
                </a:solidFill>
              </a:rPr>
              <a:t>既约多项式</a:t>
            </a:r>
            <a:r>
              <a:rPr lang="zh-CN" altLang="en-US" sz="1600" b="1">
                <a:solidFill>
                  <a:schemeClr val="accent2">
                    <a:lumMod val="50000"/>
                  </a:schemeClr>
                </a:solidFill>
              </a:rPr>
              <a:t>。</a:t>
            </a:r>
            <a:endParaRPr lang="zh-CN" altLang="en-US" sz="1600" b="1">
              <a:solidFill>
                <a:schemeClr val="accent2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: 圆角 5"/>
          <p:cNvSpPr/>
          <p:nvPr/>
        </p:nvSpPr>
        <p:spPr>
          <a:xfrm>
            <a:off x="1018761" y="879613"/>
            <a:ext cx="7106478" cy="1411357"/>
          </a:xfrm>
          <a:prstGeom prst="roundRect">
            <a:avLst>
              <a:gd name="adj" fmla="val 716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多项式环</a:t>
            </a:r>
            <a:endParaRPr lang="zh-CN" altLang="en-US" sz="12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13" name="矩形 12"/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多项式带余式除法</a:t>
            </a:r>
            <a:endParaRPr lang="zh-CN" altLang="en-US" sz="1400"/>
          </a:p>
        </p:txBody>
      </p:sp>
      <p:sp>
        <p:nvSpPr>
          <p:cNvPr id="14" name="矩形 13"/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第十三讲  一些特殊的环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201F7661-F374-4557-9C7E-3BA007C4B471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/46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029" y="931533"/>
            <a:ext cx="7031935" cy="1310090"/>
          </a:xfrm>
          <a:prstGeom prst="rect">
            <a:avLst/>
          </a:prstGeom>
        </p:spPr>
      </p:pic>
      <p:grpSp>
        <p:nvGrpSpPr>
          <p:cNvPr id="8" name="组合 7"/>
          <p:cNvGrpSpPr/>
          <p:nvPr/>
        </p:nvGrpSpPr>
        <p:grpSpPr>
          <a:xfrm>
            <a:off x="1018761" y="2394475"/>
            <a:ext cx="4184374" cy="2292732"/>
            <a:chOff x="1008821" y="2453203"/>
            <a:chExt cx="4184374" cy="2292732"/>
          </a:xfrm>
        </p:grpSpPr>
        <p:sp>
          <p:nvSpPr>
            <p:cNvPr id="7" name="矩形: 圆角 6"/>
            <p:cNvSpPr/>
            <p:nvPr/>
          </p:nvSpPr>
          <p:spPr>
            <a:xfrm>
              <a:off x="1008821" y="2453203"/>
              <a:ext cx="4184374" cy="2292732"/>
            </a:xfrm>
            <a:prstGeom prst="roundRect">
              <a:avLst>
                <a:gd name="adj" fmla="val 3662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56029" y="2478053"/>
              <a:ext cx="4104861" cy="2234004"/>
            </a:xfrm>
            <a:prstGeom prst="rect">
              <a:avLst/>
            </a:prstGeom>
          </p:spPr>
        </p:pic>
      </p:grpSp>
      <p:sp>
        <p:nvSpPr>
          <p:cNvPr id="9" name="文本框 8"/>
          <p:cNvSpPr txBox="1"/>
          <p:nvPr/>
        </p:nvSpPr>
        <p:spPr>
          <a:xfrm>
            <a:off x="5772146" y="2843260"/>
            <a:ext cx="2082248" cy="12531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ts val="2300"/>
              </a:lnSpc>
            </a:pPr>
            <a:r>
              <a:rPr lang="zh-CN" altLang="en-US" sz="1600" b="1">
                <a:solidFill>
                  <a:schemeClr val="accent2">
                    <a:lumMod val="50000"/>
                  </a:schemeClr>
                </a:solidFill>
              </a:rPr>
              <a:t>这个定理给出了多项式带余式除法的过程，通过下面的例子即可明白这里的证明思路</a:t>
            </a:r>
            <a:endParaRPr lang="zh-CN" altLang="en-US" sz="1600" b="1">
              <a:solidFill>
                <a:schemeClr val="accent2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多项式环</a:t>
            </a:r>
            <a:endParaRPr lang="zh-CN" altLang="en-US" sz="12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13" name="矩形 12"/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多项式带余式除法的例子</a:t>
            </a:r>
            <a:endParaRPr lang="zh-CN" altLang="en-US" sz="1400"/>
          </a:p>
        </p:txBody>
      </p:sp>
      <p:sp>
        <p:nvSpPr>
          <p:cNvPr id="14" name="矩形 13"/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第十三讲  一些特殊的环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201F7661-F374-4557-9C7E-3BA007C4B471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/46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934278" y="1306996"/>
            <a:ext cx="7275444" cy="2708413"/>
            <a:chOff x="934278" y="1306996"/>
            <a:chExt cx="7275444" cy="2708413"/>
          </a:xfrm>
        </p:grpSpPr>
        <p:sp>
          <p:nvSpPr>
            <p:cNvPr id="4" name="矩形: 圆角 3"/>
            <p:cNvSpPr/>
            <p:nvPr/>
          </p:nvSpPr>
          <p:spPr>
            <a:xfrm>
              <a:off x="934278" y="1306996"/>
              <a:ext cx="7275444" cy="2708413"/>
            </a:xfrm>
            <a:prstGeom prst="roundRect">
              <a:avLst>
                <a:gd name="adj" fmla="val 4190"/>
              </a:avLst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976669" y="1356691"/>
              <a:ext cx="7190662" cy="261322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: 圆角 7"/>
          <p:cNvSpPr/>
          <p:nvPr/>
        </p:nvSpPr>
        <p:spPr>
          <a:xfrm>
            <a:off x="857246" y="1754257"/>
            <a:ext cx="7429500" cy="2310847"/>
          </a:xfrm>
          <a:prstGeom prst="roundRect">
            <a:avLst>
              <a:gd name="adj" fmla="val 612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多项式环</a:t>
            </a:r>
            <a:endParaRPr lang="zh-CN" altLang="en-US" sz="12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13" name="矩形 12"/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域上多项式环是主理想整环和欧几里得整环</a:t>
            </a:r>
            <a:endParaRPr lang="zh-CN" altLang="en-US" sz="1400"/>
          </a:p>
        </p:txBody>
      </p:sp>
      <p:sp>
        <p:nvSpPr>
          <p:cNvPr id="14" name="矩形 13"/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第十三讲  一些特殊的环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201F7661-F374-4557-9C7E-3BA007C4B471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/46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857246" y="943764"/>
            <a:ext cx="7429500" cy="611257"/>
            <a:chOff x="854765" y="993913"/>
            <a:chExt cx="7429500" cy="611257"/>
          </a:xfrm>
        </p:grpSpPr>
        <p:sp>
          <p:nvSpPr>
            <p:cNvPr id="4" name="矩形: 圆角 3"/>
            <p:cNvSpPr/>
            <p:nvPr/>
          </p:nvSpPr>
          <p:spPr>
            <a:xfrm>
              <a:off x="854765" y="993913"/>
              <a:ext cx="7429500" cy="611257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894518" y="1037669"/>
              <a:ext cx="7354957" cy="534484"/>
            </a:xfrm>
            <a:prstGeom prst="rect">
              <a:avLst/>
            </a:prstGeom>
          </p:spPr>
        </p:pic>
      </p:grp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517" y="1798231"/>
            <a:ext cx="7354957" cy="22240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/>
              <p:cNvSpPr txBox="1"/>
              <p:nvPr/>
            </p:nvSpPr>
            <p:spPr>
              <a:xfrm>
                <a:off x="857246" y="4264340"/>
                <a:ext cx="7384774" cy="300788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200" b="1">
                    <a:solidFill>
                      <a:schemeClr val="accent2">
                        <a:lumMod val="50000"/>
                      </a:schemeClr>
                    </a:solidFill>
                  </a:rPr>
                  <a:t>实际上，根据多项式带余式除法，域</a:t>
                </a:r>
                <a14:m>
                  <m:oMath xmlns:m="http://schemas.openxmlformats.org/officeDocument/2006/math"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𝑭</m:t>
                    </m:r>
                  </m:oMath>
                </a14:m>
                <a:r>
                  <a:rPr lang="zh-CN" altLang="en-US" sz="1200" b="1">
                    <a:solidFill>
                      <a:schemeClr val="accent2">
                        <a:lumMod val="50000"/>
                      </a:schemeClr>
                    </a:solidFill>
                  </a:rPr>
                  <a:t>上的多项式环</a:t>
                </a:r>
                <a14:m>
                  <m:oMath xmlns:m="http://schemas.openxmlformats.org/officeDocument/2006/math"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𝑭</m:t>
                    </m:r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zh-CN" altLang="en-US" sz="1200" b="1">
                    <a:solidFill>
                      <a:schemeClr val="accent2">
                        <a:lumMod val="50000"/>
                      </a:schemeClr>
                    </a:solidFill>
                  </a:rPr>
                  <a:t>是</a:t>
                </a:r>
                <a:r>
                  <a:rPr lang="zh-CN" altLang="en-US" sz="1200" b="1">
                    <a:solidFill>
                      <a:srgbClr val="C00000"/>
                    </a:solidFill>
                  </a:rPr>
                  <a:t>欧几里得整环</a:t>
                </a:r>
                <a:r>
                  <a:rPr lang="zh-CN" altLang="en-US" sz="1200" b="1">
                    <a:solidFill>
                      <a:schemeClr val="accent2">
                        <a:lumMod val="50000"/>
                      </a:schemeClr>
                    </a:solidFill>
                  </a:rPr>
                  <a:t>，欧氏映射是</a:t>
                </a:r>
                <a14:m>
                  <m:oMath xmlns:m="http://schemas.openxmlformats.org/officeDocument/2006/math"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↦</m:t>
                    </m:r>
                    <m:func>
                      <m:funcPr>
                        <m:ctrlP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altLang="zh-CN" sz="1200" b="1" i="0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𝐝𝐞𝐠</m:t>
                        </m:r>
                      </m:fName>
                      <m:e>
                        <m:d>
                          <m:dPr>
                            <m:ctrlPr>
                              <a:rPr lang="en-US" altLang="zh-CN" sz="12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2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𝒇</m:t>
                            </m:r>
                            <m:d>
                              <m:dPr>
                                <m:ctrlPr>
                                  <a:rPr lang="en-US" altLang="zh-CN" sz="1200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1200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</m:d>
                          </m:e>
                        </m:d>
                      </m:e>
                    </m:func>
                  </m:oMath>
                </a14:m>
                <a:r>
                  <a:rPr lang="zh-CN" altLang="en-US" sz="1200" b="1">
                    <a:solidFill>
                      <a:schemeClr val="accent2">
                        <a:lumMod val="50000"/>
                      </a:schemeClr>
                    </a:solidFill>
                  </a:rPr>
                  <a:t>。</a:t>
                </a:r>
                <a:endParaRPr lang="zh-CN" altLang="en-US" sz="1200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246" y="4264340"/>
                <a:ext cx="7384774" cy="300788"/>
              </a:xfrm>
              <a:prstGeom prst="rect">
                <a:avLst/>
              </a:prstGeom>
              <a:blipFill rotWithShape="1">
                <a:blip r:embed="rId3"/>
                <a:stretch>
                  <a:fillRect l="-9" t="-105" r="5" b="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多项式环</a:t>
            </a:r>
            <a:endParaRPr lang="zh-CN" altLang="en-US" sz="12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13" name="矩形 12"/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域上多项式环的极大理想和唯一分解</a:t>
            </a:r>
            <a:endParaRPr lang="zh-CN" altLang="en-US" sz="1400"/>
          </a:p>
        </p:txBody>
      </p:sp>
      <p:sp>
        <p:nvSpPr>
          <p:cNvPr id="14" name="矩形 13"/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第十三讲  一些特殊的环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201F7661-F374-4557-9C7E-3BA007C4B471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/46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1033668" y="864051"/>
                <a:ext cx="7076665" cy="684996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2400"/>
                  </a:lnSpc>
                </a:pPr>
                <a:r>
                  <a:rPr lang="en-US" altLang="zh-CN" sz="1600" b="1">
                    <a:solidFill>
                      <a:srgbClr val="002060"/>
                    </a:solidFill>
                  </a:rPr>
                  <a:t>【</a:t>
                </a:r>
                <a:r>
                  <a:rPr lang="zh-CN" altLang="en-US" sz="1600" b="1">
                    <a:solidFill>
                      <a:srgbClr val="002060"/>
                    </a:solidFill>
                  </a:rPr>
                  <a:t>定理</a:t>
                </a:r>
                <a:r>
                  <a:rPr lang="en-US" altLang="zh-CN" sz="1600" b="1">
                    <a:solidFill>
                      <a:srgbClr val="002060"/>
                    </a:solidFill>
                  </a:rPr>
                  <a:t>】</a:t>
                </a:r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𝑭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是域，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𝒑</m:t>
                    </m:r>
                    <m:d>
                      <m:dPr>
                        <m:ctrlP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𝑭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，则：主理想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  <m:d>
                          <m:dPr>
                            <m:ctrlPr>
                              <a:rPr lang="en-US" altLang="zh-CN" sz="16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6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</m:e>
                    </m:d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是极大理想当且仅当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𝒑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是不可约多项式，从而商环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𝑭</m:t>
                    </m:r>
                    <m:r>
                      <a:rPr lang="en-US" altLang="zh-CN" sz="1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sz="1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sz="1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]/⟨</m:t>
                    </m:r>
                    <m:r>
                      <a:rPr lang="en-US" altLang="zh-CN" sz="1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𝒑</m:t>
                    </m:r>
                    <m:r>
                      <a:rPr lang="en-US" altLang="zh-CN" sz="1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sz="1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)⟩ </m:t>
                    </m:r>
                  </m:oMath>
                </a14:m>
                <a:r>
                  <a:rPr lang="zh-CN" altLang="en-US" sz="1600" b="1">
                    <a:solidFill>
                      <a:srgbClr val="C00000"/>
                    </a:solidFill>
                  </a:rPr>
                  <a:t>是域当且仅当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𝒑</m:t>
                    </m:r>
                    <m:r>
                      <a:rPr lang="en-US" altLang="zh-CN" sz="1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sz="1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1600" b="1">
                    <a:solidFill>
                      <a:srgbClr val="C00000"/>
                    </a:solidFill>
                  </a:rPr>
                  <a:t>是不可约多项式</a:t>
                </a:r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。</a:t>
                </a:r>
                <a:endParaRPr lang="zh-CN" altLang="en-US" sz="1600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3668" y="864051"/>
                <a:ext cx="7076665" cy="684996"/>
              </a:xfrm>
              <a:prstGeom prst="rect">
                <a:avLst/>
              </a:prstGeom>
              <a:blipFill rotWithShape="1">
                <a:blip r:embed="rId1"/>
                <a:stretch>
                  <a:fillRect l="-7" t="-66" r="2" b="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/>
              <p:cNvSpPr txBox="1"/>
              <p:nvPr/>
            </p:nvSpPr>
            <p:spPr>
              <a:xfrm>
                <a:off x="1048582" y="1773485"/>
                <a:ext cx="7086600" cy="588431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2000"/>
                  </a:lnSpc>
                </a:pPr>
                <a:r>
                  <a:rPr lang="en-US" altLang="zh-CN" sz="1400" b="1">
                    <a:solidFill>
                      <a:srgbClr val="002060"/>
                    </a:solidFill>
                  </a:rPr>
                  <a:t>【</a:t>
                </a:r>
                <a:r>
                  <a:rPr lang="zh-CN" altLang="en-US" sz="1400" b="1">
                    <a:solidFill>
                      <a:srgbClr val="002060"/>
                    </a:solidFill>
                  </a:rPr>
                  <a:t>证明</a:t>
                </a:r>
                <a:r>
                  <a:rPr lang="en-US" altLang="zh-CN" sz="1400" b="1">
                    <a:solidFill>
                      <a:srgbClr val="002060"/>
                    </a:solidFill>
                  </a:rPr>
                  <a:t>】</a:t>
                </a:r>
                <a:r>
                  <a:rPr lang="zh-CN" altLang="en-US" sz="1400" b="1">
                    <a:solidFill>
                      <a:schemeClr val="accent2">
                        <a:lumMod val="50000"/>
                      </a:schemeClr>
                    </a:solidFill>
                  </a:rPr>
                  <a:t>因为</a:t>
                </a:r>
                <a14:m>
                  <m:oMath xmlns:m="http://schemas.openxmlformats.org/officeDocument/2006/math"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𝑭</m:t>
                    </m:r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zh-CN" altLang="en-US" sz="1400" b="1">
                    <a:solidFill>
                      <a:schemeClr val="accent2">
                        <a:lumMod val="50000"/>
                      </a:schemeClr>
                    </a:solidFill>
                  </a:rPr>
                  <a:t>是主理想整环，在主理想整环中，元素</a:t>
                </a:r>
                <a14:m>
                  <m:oMath xmlns:m="http://schemas.openxmlformats.org/officeDocument/2006/math"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zh-CN" altLang="en-US" sz="1400" b="1">
                    <a:solidFill>
                      <a:schemeClr val="accent2">
                        <a:lumMod val="50000"/>
                      </a:schemeClr>
                    </a:solidFill>
                  </a:rPr>
                  <a:t>生成的主理想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CN" sz="1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</m:d>
                  </m:oMath>
                </a14:m>
                <a:r>
                  <a:rPr lang="zh-CN" altLang="en-US" sz="1400" b="1">
                    <a:solidFill>
                      <a:schemeClr val="accent2">
                        <a:lumMod val="50000"/>
                      </a:schemeClr>
                    </a:solidFill>
                  </a:rPr>
                  <a:t>是极大理想当且仅当</a:t>
                </a:r>
                <a14:m>
                  <m:oMath xmlns:m="http://schemas.openxmlformats.org/officeDocument/2006/math"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zh-CN" altLang="en-US" sz="1400" b="1">
                    <a:solidFill>
                      <a:schemeClr val="accent2">
                        <a:lumMod val="50000"/>
                      </a:schemeClr>
                    </a:solidFill>
                  </a:rPr>
                  <a:t>是不可约元，而不可约多项式就是</a:t>
                </a:r>
                <a14:m>
                  <m:oMath xmlns:m="http://schemas.openxmlformats.org/officeDocument/2006/math"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𝑭</m:t>
                    </m:r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zh-CN" altLang="en-US" sz="1400" b="1">
                    <a:solidFill>
                      <a:schemeClr val="accent2">
                        <a:lumMod val="50000"/>
                      </a:schemeClr>
                    </a:solidFill>
                  </a:rPr>
                  <a:t>的不可约元</a:t>
                </a:r>
                <a:endParaRPr lang="zh-CN" altLang="en-US" sz="1400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8582" y="1773485"/>
                <a:ext cx="7086600" cy="588431"/>
              </a:xfrm>
              <a:prstGeom prst="rect">
                <a:avLst/>
              </a:prstGeom>
              <a:blipFill rotWithShape="1">
                <a:blip r:embed="rId2"/>
                <a:stretch>
                  <a:fillRect l="-3" t="-96" r="3" b="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组合 6"/>
          <p:cNvGrpSpPr/>
          <p:nvPr/>
        </p:nvGrpSpPr>
        <p:grpSpPr>
          <a:xfrm>
            <a:off x="1048578" y="2636699"/>
            <a:ext cx="7046843" cy="1449091"/>
            <a:chOff x="1088334" y="2412261"/>
            <a:chExt cx="7046843" cy="1449091"/>
          </a:xfrm>
        </p:grpSpPr>
        <p:sp>
          <p:nvSpPr>
            <p:cNvPr id="6" name="矩形: 圆角 5"/>
            <p:cNvSpPr/>
            <p:nvPr/>
          </p:nvSpPr>
          <p:spPr>
            <a:xfrm>
              <a:off x="1088334" y="2412261"/>
              <a:ext cx="7046843" cy="1449091"/>
            </a:xfrm>
            <a:prstGeom prst="roundRect">
              <a:avLst>
                <a:gd name="adj" fmla="val 7019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23123" y="2448148"/>
              <a:ext cx="6987210" cy="1372095"/>
            </a:xfrm>
            <a:prstGeom prst="rect">
              <a:avLst/>
            </a:prstGeom>
          </p:spPr>
        </p:pic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文本框 16"/>
              <p:cNvSpPr txBox="1"/>
              <p:nvPr/>
            </p:nvSpPr>
            <p:spPr>
              <a:xfrm>
                <a:off x="1033668" y="4195390"/>
                <a:ext cx="4348375" cy="331950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2000"/>
                  </a:lnSpc>
                </a:pPr>
                <a:r>
                  <a:rPr lang="en-US" altLang="zh-CN" sz="1400" b="1">
                    <a:solidFill>
                      <a:srgbClr val="002060"/>
                    </a:solidFill>
                  </a:rPr>
                  <a:t>【</a:t>
                </a:r>
                <a:r>
                  <a:rPr lang="zh-CN" altLang="en-US" sz="1400" b="1">
                    <a:solidFill>
                      <a:srgbClr val="002060"/>
                    </a:solidFill>
                  </a:rPr>
                  <a:t>证明</a:t>
                </a:r>
                <a:r>
                  <a:rPr lang="en-US" altLang="zh-CN" sz="1400" b="1">
                    <a:solidFill>
                      <a:srgbClr val="002060"/>
                    </a:solidFill>
                  </a:rPr>
                  <a:t>】</a:t>
                </a:r>
                <a:r>
                  <a:rPr lang="zh-CN" altLang="en-US" sz="1400" b="1">
                    <a:solidFill>
                      <a:schemeClr val="accent2">
                        <a:lumMod val="50000"/>
                      </a:schemeClr>
                    </a:solidFill>
                  </a:rPr>
                  <a:t>因为</a:t>
                </a:r>
                <a14:m>
                  <m:oMath xmlns:m="http://schemas.openxmlformats.org/officeDocument/2006/math"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𝑭</m:t>
                    </m:r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zh-CN" altLang="en-US" sz="1400" b="1">
                    <a:solidFill>
                      <a:schemeClr val="accent2">
                        <a:lumMod val="50000"/>
                      </a:schemeClr>
                    </a:solidFill>
                  </a:rPr>
                  <a:t>是主理想整环，也是唯一分解整环</a:t>
                </a:r>
                <a:endParaRPr lang="zh-CN" altLang="en-US" sz="1400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7" name="文本框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3668" y="4195390"/>
                <a:ext cx="4348375" cy="331950"/>
              </a:xfrm>
              <a:prstGeom prst="rect">
                <a:avLst/>
              </a:prstGeom>
              <a:blipFill rotWithShape="1">
                <a:blip r:embed="rId4"/>
                <a:stretch>
                  <a:fillRect l="-12" t="-175" r="10" b="1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多项式环</a:t>
            </a:r>
            <a:endParaRPr lang="zh-CN" altLang="en-US" sz="12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13" name="矩形 12"/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多项式的公因式</a:t>
            </a:r>
            <a:endParaRPr lang="zh-CN" altLang="en-US" sz="1400"/>
          </a:p>
        </p:txBody>
      </p:sp>
      <p:sp>
        <p:nvSpPr>
          <p:cNvPr id="14" name="矩形 13"/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第十三讲  一些特殊的环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201F7661-F374-4557-9C7E-3BA007C4B471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/46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832402" y="959798"/>
            <a:ext cx="7479196" cy="1505778"/>
            <a:chOff x="824947" y="964096"/>
            <a:chExt cx="7479196" cy="1505778"/>
          </a:xfrm>
        </p:grpSpPr>
        <p:sp>
          <p:nvSpPr>
            <p:cNvPr id="6" name="矩形: 圆角 5"/>
            <p:cNvSpPr/>
            <p:nvPr/>
          </p:nvSpPr>
          <p:spPr>
            <a:xfrm>
              <a:off x="824947" y="964096"/>
              <a:ext cx="7479196" cy="1505778"/>
            </a:xfrm>
            <a:prstGeom prst="roundRect">
              <a:avLst>
                <a:gd name="adj" fmla="val 9076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868280" y="1008821"/>
              <a:ext cx="7387559" cy="1414765"/>
            </a:xfrm>
            <a:prstGeom prst="rect">
              <a:avLst/>
            </a:prstGeom>
          </p:spPr>
        </p:pic>
      </p:grpSp>
      <p:grpSp>
        <p:nvGrpSpPr>
          <p:cNvPr id="9" name="组合 8"/>
          <p:cNvGrpSpPr/>
          <p:nvPr/>
        </p:nvGrpSpPr>
        <p:grpSpPr>
          <a:xfrm>
            <a:off x="832402" y="2908290"/>
            <a:ext cx="7479196" cy="1410262"/>
            <a:chOff x="983975" y="2862471"/>
            <a:chExt cx="7479196" cy="1410262"/>
          </a:xfrm>
        </p:grpSpPr>
        <p:sp>
          <p:nvSpPr>
            <p:cNvPr id="8" name="矩形: 圆角 7"/>
            <p:cNvSpPr/>
            <p:nvPr/>
          </p:nvSpPr>
          <p:spPr>
            <a:xfrm>
              <a:off x="983975" y="2862471"/>
              <a:ext cx="7479196" cy="1410262"/>
            </a:xfrm>
            <a:prstGeom prst="roundRect">
              <a:avLst>
                <a:gd name="adj" fmla="val 7208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27308" y="2908290"/>
              <a:ext cx="7387559" cy="130608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多项式环</a:t>
            </a:r>
            <a:endParaRPr lang="zh-CN" altLang="en-US" sz="12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13" name="矩形 12"/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多项式的互素</a:t>
            </a:r>
            <a:endParaRPr lang="zh-CN" altLang="en-US" sz="1400"/>
          </a:p>
        </p:txBody>
      </p:sp>
      <p:sp>
        <p:nvSpPr>
          <p:cNvPr id="14" name="矩形 13"/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第十三讲  一些特殊的环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67E5B0CF-9CF9-4EF2-9DE1-55386CD573EB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/46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964096" y="1013791"/>
            <a:ext cx="5670274" cy="1167848"/>
            <a:chOff x="964096" y="1013791"/>
            <a:chExt cx="5670274" cy="1167848"/>
          </a:xfrm>
        </p:grpSpPr>
        <p:sp>
          <p:nvSpPr>
            <p:cNvPr id="8" name="矩形: 圆角 7"/>
            <p:cNvSpPr/>
            <p:nvPr/>
          </p:nvSpPr>
          <p:spPr>
            <a:xfrm>
              <a:off x="964096" y="1013791"/>
              <a:ext cx="5670274" cy="1167848"/>
            </a:xfrm>
            <a:prstGeom prst="roundRect">
              <a:avLst>
                <a:gd name="adj" fmla="val 9858"/>
              </a:avLst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03849" y="1059159"/>
              <a:ext cx="5585795" cy="1081471"/>
            </a:xfrm>
            <a:prstGeom prst="rect">
              <a:avLst/>
            </a:prstGeom>
          </p:spPr>
        </p:pic>
      </p:grpSp>
      <p:grpSp>
        <p:nvGrpSpPr>
          <p:cNvPr id="17" name="组合 16"/>
          <p:cNvGrpSpPr/>
          <p:nvPr/>
        </p:nvGrpSpPr>
        <p:grpSpPr>
          <a:xfrm>
            <a:off x="964097" y="2467387"/>
            <a:ext cx="7290352" cy="1036156"/>
            <a:chOff x="964097" y="2467387"/>
            <a:chExt cx="7290352" cy="1036156"/>
          </a:xfrm>
        </p:grpSpPr>
        <p:sp>
          <p:nvSpPr>
            <p:cNvPr id="10" name="矩形: 圆角 9"/>
            <p:cNvSpPr/>
            <p:nvPr/>
          </p:nvSpPr>
          <p:spPr>
            <a:xfrm>
              <a:off x="964097" y="2467387"/>
              <a:ext cx="7290352" cy="1036156"/>
            </a:xfrm>
            <a:prstGeom prst="roundRect">
              <a:avLst>
                <a:gd name="adj" fmla="val 8407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03849" y="2502179"/>
              <a:ext cx="7210842" cy="962585"/>
            </a:xfrm>
            <a:prstGeom prst="rect">
              <a:avLst/>
            </a:prstGeom>
          </p:spPr>
        </p:pic>
      </p:grpSp>
      <p:grpSp>
        <p:nvGrpSpPr>
          <p:cNvPr id="19" name="组合 18"/>
          <p:cNvGrpSpPr/>
          <p:nvPr/>
        </p:nvGrpSpPr>
        <p:grpSpPr>
          <a:xfrm>
            <a:off x="966577" y="3776228"/>
            <a:ext cx="7210839" cy="616226"/>
            <a:chOff x="964096" y="3712265"/>
            <a:chExt cx="7210839" cy="616226"/>
          </a:xfrm>
        </p:grpSpPr>
        <p:sp>
          <p:nvSpPr>
            <p:cNvPr id="18" name="矩形: 圆角 17"/>
            <p:cNvSpPr/>
            <p:nvPr/>
          </p:nvSpPr>
          <p:spPr>
            <a:xfrm>
              <a:off x="964096" y="3712265"/>
              <a:ext cx="7210839" cy="616226"/>
            </a:xfrm>
            <a:prstGeom prst="roundRect">
              <a:avLst>
                <a:gd name="adj" fmla="val 12635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03845" y="3751763"/>
              <a:ext cx="7136303" cy="535792"/>
            </a:xfrm>
            <a:prstGeom prst="rect">
              <a:avLst/>
            </a:prstGeom>
          </p:spPr>
        </p:pic>
      </p:grpSp>
      <p:sp>
        <p:nvSpPr>
          <p:cNvPr id="20" name="文本框 19"/>
          <p:cNvSpPr txBox="1"/>
          <p:nvPr/>
        </p:nvSpPr>
        <p:spPr>
          <a:xfrm>
            <a:off x="7012057" y="1063412"/>
            <a:ext cx="1242392" cy="107721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1600" b="1">
                <a:solidFill>
                  <a:schemeClr val="accent2">
                    <a:lumMod val="50000"/>
                  </a:schemeClr>
                </a:solidFill>
              </a:rPr>
              <a:t>因此，整数上很多性质可推广到域上多项式</a:t>
            </a:r>
            <a:endParaRPr lang="zh-CN" altLang="en-US" sz="1600" b="1">
              <a:solidFill>
                <a:schemeClr val="accent2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1912</Words>
  <Application>WPS 演示</Application>
  <PresentationFormat>全屏显示(16:9)</PresentationFormat>
  <Paragraphs>226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2" baseType="lpstr">
      <vt:lpstr>Arial</vt:lpstr>
      <vt:lpstr>宋体</vt:lpstr>
      <vt:lpstr>Wingdings</vt:lpstr>
      <vt:lpstr>楷体</vt:lpstr>
      <vt:lpstr>仿宋</vt:lpstr>
      <vt:lpstr>Cambria Math</vt:lpstr>
      <vt:lpstr>Calibri</vt:lpstr>
      <vt:lpstr>微软雅黑</vt:lpstr>
      <vt:lpstr>Arial Unicode MS</vt:lpstr>
      <vt:lpstr>等线 Light</vt:lpstr>
      <vt:lpstr>Calibri Light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user</dc:creator>
  <cp:lastModifiedBy>王泰然</cp:lastModifiedBy>
  <cp:revision>68</cp:revision>
  <dcterms:created xsi:type="dcterms:W3CDTF">2022-01-01T06:39:00Z</dcterms:created>
  <dcterms:modified xsi:type="dcterms:W3CDTF">2026-07-03T10:37:23Z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5E551DBFB6CB48EEBC708142F14BFCCD_12</vt:lpwstr>
  </property>
</Properties>
</file>