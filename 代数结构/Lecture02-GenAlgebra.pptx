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44" r:id="rId4"/>
    <p:sldId id="345" r:id="rId5"/>
    <p:sldId id="346" r:id="rId6"/>
    <p:sldId id="352" r:id="rId7"/>
    <p:sldId id="350" r:id="rId8"/>
    <p:sldId id="351" r:id="rId9"/>
    <p:sldId id="286" r:id="rId10"/>
    <p:sldId id="288" r:id="rId11"/>
    <p:sldId id="331" r:id="rId12"/>
    <p:sldId id="289" r:id="rId13"/>
    <p:sldId id="332" r:id="rId14"/>
    <p:sldId id="291" r:id="rId15"/>
    <p:sldId id="287" r:id="rId16"/>
    <p:sldId id="333" r:id="rId17"/>
    <p:sldId id="335" r:id="rId18"/>
    <p:sldId id="336" r:id="rId19"/>
    <p:sldId id="337" r:id="rId20"/>
    <p:sldId id="339" r:id="rId21"/>
    <p:sldId id="343" r:id="rId22"/>
    <p:sldId id="341" r:id="rId23"/>
    <p:sldId id="354" r:id="rId24"/>
    <p:sldId id="353" r:id="rId25"/>
    <p:sldId id="340" r:id="rId26"/>
    <p:sldId id="355" r:id="rId27"/>
    <p:sldId id="356" r:id="rId28"/>
    <p:sldId id="361" r:id="rId29"/>
    <p:sldId id="359" r:id="rId30"/>
    <p:sldId id="378" r:id="rId31"/>
    <p:sldId id="379" r:id="rId32"/>
    <p:sldId id="377" r:id="rId33"/>
    <p:sldId id="376" r:id="rId34"/>
    <p:sldId id="381" r:id="rId35"/>
    <p:sldId id="380" r:id="rId36"/>
    <p:sldId id="382" r:id="rId37"/>
    <p:sldId id="384" r:id="rId38"/>
    <p:sldId id="385" r:id="rId39"/>
    <p:sldId id="338" r:id="rId40"/>
    <p:sldId id="386" r:id="rId41"/>
    <p:sldId id="387" r:id="rId42"/>
    <p:sldId id="388" r:id="rId43"/>
    <p:sldId id="389" r:id="rId44"/>
    <p:sldId id="383" r:id="rId4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B7C"/>
    <a:srgbClr val="F0F7EC"/>
    <a:srgbClr val="210694"/>
    <a:srgbClr val="371E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-49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D257-3BE1-47F0-9688-13EF46E6FA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9369F-48C0-4C81-8F4C-2D9B5E779A1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50.png"/><Relationship Id="rId13" Type="http://schemas.openxmlformats.org/officeDocument/2006/relationships/image" Target="../media/image49.png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9.png"/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8.png"/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image" Target="../media/image1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image" Target="../media/image129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image" Target="../media/image13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2.png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0738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07389"/>
          </a:xfrm>
          <a:prstGeom prst="rect">
            <a:avLst/>
          </a:prstGeom>
          <a:solidFill>
            <a:srgbClr val="371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8" name="矩形 7"/>
          <p:cNvSpPr/>
          <p:nvPr/>
        </p:nvSpPr>
        <p:spPr>
          <a:xfrm>
            <a:off x="0" y="4926843"/>
            <a:ext cx="3039763" cy="2073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926841"/>
            <a:ext cx="3064476" cy="207389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926841"/>
            <a:ext cx="3039762" cy="207389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40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40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1054359" y="888925"/>
            <a:ext cx="7045495" cy="667265"/>
          </a:xfrm>
          <a:prstGeom prst="round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第二讲</a:t>
            </a:r>
            <a:r>
              <a:rPr lang="en-US" altLang="zh-CN" sz="3600" b="1">
                <a:latin typeface="仿宋" panose="02010609060101010101" pitchFamily="49" charset="-122"/>
                <a:ea typeface="仿宋" panose="02010609060101010101" pitchFamily="49" charset="-122"/>
              </a:rPr>
              <a:t>	</a:t>
            </a:r>
            <a:r>
              <a:rPr lang="zh-CN" altLang="en-US" sz="3600" b="1">
                <a:latin typeface="仿宋" panose="02010609060101010101" pitchFamily="49" charset="-122"/>
                <a:ea typeface="仿宋" panose="02010609060101010101" pitchFamily="49" charset="-122"/>
              </a:rPr>
              <a:t>运算与代数一般概念</a:t>
            </a:r>
            <a:endParaRPr lang="zh-CN" altLang="en-US" sz="3600" b="1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279174" y="1912075"/>
            <a:ext cx="2585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>
                <a:solidFill>
                  <a:srgbClr val="21069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 晓 聪</a:t>
            </a:r>
            <a:endParaRPr lang="zh-CN" altLang="en-US" sz="3000">
              <a:solidFill>
                <a:srgbClr val="21069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06131" y="2700512"/>
            <a:ext cx="3883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chemeClr val="accent6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中山大学计算机学院</a:t>
            </a:r>
            <a:endParaRPr lang="zh-CN" altLang="en-US" sz="2400" b="1">
              <a:solidFill>
                <a:schemeClr val="accent6">
                  <a:lumMod val="50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51937" y="3343440"/>
            <a:ext cx="215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1800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78924" y="3870950"/>
            <a:ext cx="6820930" cy="83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</a:rPr>
              <a:t>https://mooc1.chaoxing.com/course-ans/courseportal/260163778.html</a:t>
            </a:r>
            <a:endParaRPr lang="en-US" altLang="zh-CN" sz="1600">
              <a:solidFill>
                <a:srgbClr val="0020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1800">
                <a:solidFill>
                  <a:srgbClr val="FF0000"/>
                </a:solidFill>
              </a:rPr>
              <a:t>isszxc@mail.sysu.edu.cn</a:t>
            </a:r>
            <a:endParaRPr lang="zh-CN" altLang="en-US" sz="1800">
              <a:solidFill>
                <a:srgbClr val="FF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237" y="2334583"/>
            <a:ext cx="1324937" cy="1170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运算及其性质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集合上的运算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024975" y="1063164"/>
                <a:ext cx="7094049" cy="21646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C00000"/>
                    </a:solidFill>
                  </a:rPr>
                  <a:t>集合上的运算</a:t>
                </a:r>
                <a:r>
                  <a:rPr lang="en-US" altLang="zh-CN" b="1">
                    <a:solidFill>
                      <a:srgbClr val="C00000"/>
                    </a:solidFill>
                  </a:rPr>
                  <a:t>(operation)</a:t>
                </a:r>
                <a:endParaRPr lang="en-US" altLang="zh-CN" b="1">
                  <a:solidFill>
                    <a:srgbClr val="C00000"/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</a:t>
                </a:r>
                <a:r>
                  <a:rPr lang="en-US" altLang="zh-CN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或直接说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二元</a:t>
                </a:r>
                <a:r>
                  <a:rPr lang="en-US" altLang="zh-CN" sz="1500" b="1">
                    <a:solidFill>
                      <a:srgbClr val="C00000"/>
                    </a:solidFill>
                    <a:latin typeface="+mn-ea"/>
                  </a:rPr>
                  <a:t>(binary)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运算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，是形如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是运算的陪域，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的笛卡尔积是定义域</a:t>
                </a:r>
                <a:endParaRPr lang="zh-CN" altLang="en-US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运算是具有特殊形式的定义域和陪域的函数，形如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的函数不是运算</a:t>
                </a:r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或直接说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en-US" altLang="zh-CN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1500" b="1">
                    <a:solidFill>
                      <a:srgbClr val="C00000"/>
                    </a:solidFill>
                    <a:latin typeface="+mn-ea"/>
                  </a:rPr>
                  <a:t>-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元</a:t>
                </a:r>
                <a:r>
                  <a:rPr lang="en-US" altLang="zh-CN" sz="1500" b="1">
                    <a:solidFill>
                      <a:srgbClr val="C00000"/>
                    </a:solidFill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15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1500" b="1">
                    <a:solidFill>
                      <a:srgbClr val="C00000"/>
                    </a:solidFill>
                    <a:latin typeface="+mn-ea"/>
                  </a:rPr>
                  <a:t>-ary)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运算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，是形如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必要时，将集合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的元素作为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零元运算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，也称为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常量运算</a:t>
                </a:r>
                <a:endParaRPr lang="zh-CN" altLang="en-US" sz="15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75" y="1063164"/>
                <a:ext cx="7094049" cy="2164695"/>
              </a:xfrm>
              <a:prstGeom prst="rect">
                <a:avLst/>
              </a:prstGeom>
              <a:blipFill rotWithShape="1">
                <a:blip r:embed="rId1"/>
                <a:stretch>
                  <a:fillRect l="-1" t="-8" r="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1024975" y="3341931"/>
            <a:ext cx="7099757" cy="1120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450"/>
              </a:spcBef>
            </a:pPr>
            <a:r>
              <a:rPr lang="zh-CN" altLang="en-US" sz="1500" b="1">
                <a:solidFill>
                  <a:schemeClr val="accent2">
                    <a:lumMod val="50000"/>
                  </a:schemeClr>
                </a:solidFill>
              </a:rPr>
              <a:t>这里定义的是严格意义上的运算，是具有特殊形式的定义域和陪域的函数</a:t>
            </a:r>
            <a:endParaRPr lang="en-US" altLang="zh-CN" sz="1500" b="1">
              <a:solidFill>
                <a:schemeClr val="accent2">
                  <a:lumMod val="50000"/>
                </a:schemeClr>
              </a:solidFill>
            </a:endParaRPr>
          </a:p>
          <a:p>
            <a:pPr marL="257175" indent="-257175">
              <a:lnSpc>
                <a:spcPts val="18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生活和数学中有时也将其他形式的函数称为运算，例如向量的数量积运算，两个向量的数量积是一个数，而不再是一个向量</a:t>
            </a:r>
            <a:endParaRPr lang="en-US" altLang="zh-CN" sz="135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57175" indent="-257175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生活和数学中提到运算，有时不太关注它是哪个集合上的运算</a:t>
            </a:r>
            <a:endParaRPr lang="zh-CN" altLang="en-US" sz="15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运算及其性质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运算的封闭性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65247" y="2645280"/>
                <a:ext cx="7613502" cy="17080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7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2100" b="1">
                    <a:solidFill>
                      <a:srgbClr val="C00000"/>
                    </a:solidFill>
                  </a:rPr>
                  <a:t>运算的封闭性</a:t>
                </a:r>
                <a:endParaRPr lang="en-US" altLang="zh-CN" sz="2100" b="1">
                  <a:solidFill>
                    <a:srgbClr val="C00000"/>
                  </a:solidFill>
                </a:endParaRPr>
              </a:p>
              <a:p>
                <a:pPr>
                  <a:lnSpc>
                    <a:spcPts val="27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若函数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×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是集合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的运算，则称</a:t>
                </a:r>
                <a:r>
                  <a:rPr lang="zh-CN" altLang="en-US" b="1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对运算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封闭</a:t>
                </a:r>
                <a:endParaRPr lang="zh-CN" altLang="en-US" b="1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  <a:p>
                <a:pPr marL="257175" indent="-257175">
                  <a:lnSpc>
                    <a:spcPts val="27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的子集，如果对任意的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都有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，则称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子集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的运算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封闭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，这时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的运算</a:t>
                </a:r>
                <a:endParaRPr lang="zh-CN" altLang="en-US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7" y="2645280"/>
                <a:ext cx="7613502" cy="1708032"/>
              </a:xfrm>
              <a:prstGeom prst="rect">
                <a:avLst/>
              </a:prstGeom>
              <a:blipFill rotWithShape="1">
                <a:blip r:embed="rId1"/>
                <a:stretch>
                  <a:fillRect l="-1" t="-30" r="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65247" y="1174109"/>
                <a:ext cx="7654853" cy="111447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450"/>
                  </a:spcBef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人们通常关注运算法则，但代数系统中更强调集合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的运算的下面两点性质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57175" indent="-257175">
                  <a:lnSpc>
                    <a:spcPts val="24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中任何两个元素都可进行该运算，且运算结果惟一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4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的任意两个元素的运算结果都属于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，这称为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𝑺</m:t>
                    </m:r>
                  </m:oMath>
                </a14:m>
                <a:r>
                  <a:rPr lang="zh-CN" altLang="en-US" sz="1500" b="1">
                    <a:solidFill>
                      <a:srgbClr val="C00000"/>
                    </a:solidFill>
                    <a:latin typeface="等线" panose="02010600030101010101" pitchFamily="2" charset="-122"/>
                    <a:ea typeface="等线" panose="02010600030101010101" pitchFamily="2" charset="-122"/>
                  </a:rPr>
                  <a:t>对于该运算封闭</a:t>
                </a:r>
                <a:endParaRPr lang="zh-CN" altLang="en-US" sz="1500" b="1">
                  <a:solidFill>
                    <a:srgbClr val="002060"/>
                  </a:solidFill>
                  <a:latin typeface="等线" panose="02010600030101010101" pitchFamily="2" charset="-122"/>
                  <a:ea typeface="等线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7" y="1174109"/>
                <a:ext cx="7654853" cy="1114472"/>
              </a:xfrm>
              <a:prstGeom prst="rect">
                <a:avLst/>
              </a:prstGeom>
              <a:blipFill rotWithShape="1">
                <a:blip r:embed="rId2"/>
                <a:stretch>
                  <a:fillRect l="-1" t="-5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运算及其性质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运算的性质和特殊元素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759805" y="1055836"/>
            <a:ext cx="4825271" cy="108747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</a:rPr>
              <a:t>运算的性质</a:t>
            </a:r>
            <a:endParaRPr lang="en-US" altLang="zh-CN" b="1">
              <a:solidFill>
                <a:schemeClr val="accent2">
                  <a:lumMod val="50000"/>
                </a:schemeClr>
              </a:solidFill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一个运算可能满足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交换律</a:t>
            </a: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结合律</a:t>
            </a: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幂等律</a:t>
            </a: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消去律</a:t>
            </a:r>
            <a:endParaRPr lang="en-US" altLang="zh-CN" sz="1500" b="1">
              <a:solidFill>
                <a:srgbClr val="C0000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两个运算之间可能满足分配律、吸收律</a:t>
            </a:r>
            <a:endParaRPr lang="zh-CN" altLang="en-US" sz="150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9806" y="2365091"/>
            <a:ext cx="3873045" cy="230390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运算的特殊元素</a:t>
            </a:r>
            <a:endParaRPr lang="en-US" altLang="zh-CN" b="1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一个运算可能有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单位元</a:t>
            </a: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零元</a:t>
            </a:r>
            <a:endParaRPr lang="en-US" altLang="zh-CN" sz="1500" b="1">
              <a:solidFill>
                <a:srgbClr val="C00000"/>
              </a:solidFill>
              <a:latin typeface="+mn-ea"/>
            </a:endParaRPr>
          </a:p>
          <a:p>
            <a:pPr marL="557530" lvl="1" indent="-214630">
              <a:lnSpc>
                <a:spcPts val="1875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运算如果有单位元或零元，则有</a:t>
            </a:r>
            <a:r>
              <a:rPr lang="zh-CN" altLang="en-US" sz="1350" b="1">
                <a:solidFill>
                  <a:srgbClr val="0000FF"/>
                </a:solidFill>
                <a:latin typeface="+mn-ea"/>
              </a:rPr>
              <a:t>唯一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的单位元或零元</a:t>
            </a:r>
            <a:endParaRPr lang="en-US" altLang="zh-CN" sz="135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一个元素对于有单位元的运算可能有</a:t>
            </a:r>
            <a:r>
              <a:rPr lang="zh-CN" altLang="en-US" sz="1500" b="1">
                <a:solidFill>
                  <a:srgbClr val="C00000"/>
                </a:solidFill>
                <a:latin typeface="+mn-ea"/>
              </a:rPr>
              <a:t>逆元</a:t>
            </a:r>
            <a:endParaRPr lang="en-US" altLang="zh-CN" sz="1500" b="1">
              <a:solidFill>
                <a:srgbClr val="C00000"/>
              </a:solidFill>
              <a:latin typeface="+mn-ea"/>
            </a:endParaRPr>
          </a:p>
          <a:p>
            <a:pPr marL="557530" lvl="1" indent="-214630">
              <a:lnSpc>
                <a:spcPts val="1875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当运算满足结合律时，一个元素有逆元，则有</a:t>
            </a:r>
            <a:r>
              <a:rPr lang="zh-CN" altLang="en-US" sz="1350" b="1">
                <a:solidFill>
                  <a:srgbClr val="0000FF"/>
                </a:solidFill>
                <a:latin typeface="+mn-ea"/>
              </a:rPr>
              <a:t>唯一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的逆元</a:t>
            </a:r>
            <a:endParaRPr lang="zh-CN" altLang="en-US" sz="1350" b="1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7892" y="2361952"/>
            <a:ext cx="3546303" cy="111569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214630" indent="-21463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集合并满足交换律、结合律、幂等律</a:t>
            </a:r>
            <a:endParaRPr lang="en-US" altLang="zh-CN" sz="135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4630" indent="-21463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集合交对集合并有分配律</a:t>
            </a:r>
            <a:endParaRPr lang="en-US" altLang="zh-CN" sz="135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4630" indent="-21463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集合交和集合并有吸收律</a:t>
            </a:r>
            <a:endParaRPr lang="en-US" altLang="zh-CN" sz="135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4630" indent="-214630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实数集或整数集上的加法运算满足消去律</a:t>
            </a:r>
            <a:endParaRPr lang="zh-CN" altLang="en-US" sz="135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907420" y="1055836"/>
                <a:ext cx="2260268" cy="10516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75"/>
                  </a:lnSpc>
                </a:pP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运算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满足</a:t>
                </a:r>
                <a:r>
                  <a:rPr lang="zh-CN" altLang="en-US" sz="1350" b="1">
                    <a:solidFill>
                      <a:srgbClr val="C00000"/>
                    </a:solidFill>
                  </a:rPr>
                  <a:t>消去律</a:t>
                </a: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指，对任意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350" b="1">
                    <a:solidFill>
                      <a:srgbClr val="0000FF"/>
                    </a:solidFill>
                  </a:rPr>
                  <a:t>不是零元</a:t>
                </a: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时有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，以及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</a:rPr>
                  <a:t>蕴涵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zh-CN" altLang="en-US" sz="135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420" y="1055836"/>
                <a:ext cx="2260268" cy="1051635"/>
              </a:xfrm>
              <a:prstGeom prst="rect">
                <a:avLst/>
              </a:prstGeom>
              <a:blipFill rotWithShape="1">
                <a:blip r:embed="rId1"/>
                <a:stretch>
                  <a:fillRect l="-1" t="-44" r="14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4837892" y="3521355"/>
                <a:ext cx="3796281" cy="112338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14630" indent="-214630">
                  <a:spcBef>
                    <a:spcPts val="45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整数集上的乘法有单位元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和零元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</m:oMath>
                </a14:m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lnSpc>
                    <a:spcPts val="1875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给定全集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𝑼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℘</m:t>
                    </m:r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𝑼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上的集合并运算的单位元是空集，零元是全集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𝑼</m:t>
                    </m:r>
                  </m:oMath>
                </a14:m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spcBef>
                    <a:spcPts val="45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整数加法有单位元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，这时整数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的逆元是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</m:oMath>
                </a14:m>
                <a:endParaRPr lang="zh-CN" altLang="en-US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892" y="3521355"/>
                <a:ext cx="3796281" cy="1123384"/>
              </a:xfrm>
              <a:prstGeom prst="rect">
                <a:avLst/>
              </a:prstGeom>
              <a:blipFill rotWithShape="1">
                <a:blip r:embed="rId2"/>
                <a:stretch>
                  <a:fillRect l="-12" t="-25" r="2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运算及其性质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运算的性质与特殊元素</a:t>
            </a:r>
            <a:endParaRPr lang="zh-CN" altLang="en-US" sz="1350"/>
          </a:p>
        </p:txBody>
      </p:sp>
      <p:sp>
        <p:nvSpPr>
          <p:cNvPr id="11" name="文本框 10"/>
          <p:cNvSpPr txBox="1"/>
          <p:nvPr/>
        </p:nvSpPr>
        <p:spPr>
          <a:xfrm>
            <a:off x="488798" y="1003828"/>
            <a:ext cx="816640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运算表定义的运算容易判断它是否满足交换律、是否有单位元、零元、以及元素的逆元等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88798" y="1641149"/>
                <a:ext cx="2818112" cy="1386342"/>
              </a:xfrm>
              <a:prstGeom prst="rect">
                <a:avLst/>
              </a:prstGeom>
              <a:solidFill>
                <a:srgbClr val="E5EFE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的余数集合记为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，可用运算表定义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</a:t>
                </a: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600" b="1">
                    <a:solidFill>
                      <a:srgbClr val="C00000"/>
                    </a:solidFill>
                    <a:latin typeface="+mn-ea"/>
                  </a:rPr>
                  <a:t>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运算</a:t>
                </a:r>
                <a:endParaRPr lang="zh-CN" altLang="en-US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98" y="1641149"/>
                <a:ext cx="2818112" cy="1386342"/>
              </a:xfrm>
              <a:prstGeom prst="rect">
                <a:avLst/>
              </a:prstGeom>
              <a:blipFill rotWithShape="1">
                <a:blip r:embed="rId1"/>
                <a:stretch>
                  <a:fillRect l="-17" t="-22" r="17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/>
              <p:cNvGraphicFramePr>
                <a:graphicFrameLocks noGrp="1"/>
              </p:cNvGraphicFramePr>
              <p:nvPr/>
            </p:nvGraphicFramePr>
            <p:xfrm>
              <a:off x="3783363" y="1602800"/>
              <a:ext cx="2066226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344371"/>
                    <a:gridCol w="344371"/>
                    <a:gridCol w="344371"/>
                    <a:gridCol w="344371"/>
                    <a:gridCol w="344371"/>
                    <a:gridCol w="344371"/>
                  </a:tblGrid>
                  <a:tr h="20320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solidFill>
                                          <a:schemeClr val="accent4">
                                            <a:lumMod val="20000"/>
                                            <a:lumOff val="8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solidFill>
                                          <a:schemeClr val="accent4">
                                            <a:lumMod val="20000"/>
                                            <a:lumOff val="8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⊕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solidFill>
                                          <a:schemeClr val="accent4">
                                            <a:lumMod val="20000"/>
                                            <a:lumOff val="8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/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0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1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2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3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4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/>
              <p:cNvGraphicFramePr>
                <a:graphicFrameLocks noGrp="1"/>
              </p:cNvGraphicFramePr>
              <p:nvPr/>
            </p:nvGraphicFramePr>
            <p:xfrm>
              <a:off x="3783363" y="1602800"/>
              <a:ext cx="2066226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344371"/>
                    <a:gridCol w="344371"/>
                    <a:gridCol w="344371"/>
                    <a:gridCol w="344371"/>
                    <a:gridCol w="344371"/>
                    <a:gridCol w="344371"/>
                  </a:tblGrid>
                  <a:tr h="243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0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1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2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3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203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4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6292704" y="1602800"/>
              <a:ext cx="2066226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344371"/>
                    <a:gridCol w="344371"/>
                    <a:gridCol w="344371"/>
                    <a:gridCol w="344371"/>
                    <a:gridCol w="344371"/>
                    <a:gridCol w="344371"/>
                  </a:tblGrid>
                  <a:tr h="18534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solidFill>
                                          <a:schemeClr val="accent4">
                                            <a:lumMod val="20000"/>
                                            <a:lumOff val="8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>
                                        <a:solidFill>
                                          <a:schemeClr val="accent4">
                                            <a:lumMod val="20000"/>
                                            <a:lumOff val="8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⊗</m:t>
                                    </m:r>
                                  </m:e>
                                  <m:sub>
                                    <m:r>
                                      <a:rPr lang="en-US" altLang="zh-CN" sz="1000" b="1">
                                        <a:solidFill>
                                          <a:schemeClr val="accent4">
                                            <a:lumMod val="20000"/>
                                            <a:lumOff val="8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/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0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1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2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3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4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/>
            </p:nvGraphicFramePr>
            <p:xfrm>
              <a:off x="6292704" y="1602800"/>
              <a:ext cx="2066226" cy="1463040"/>
            </p:xfrm>
            <a:graphic>
              <a:graphicData uri="http://schemas.openxmlformats.org/drawingml/2006/table">
                <a:tbl>
                  <a:tblPr firstRow="1" firstCol="1" bandRow="1">
                    <a:tableStyleId>{21E4AEA4-8DFA-4A89-87EB-49C32662AFE0}</a:tableStyleId>
                  </a:tblPr>
                  <a:tblGrid>
                    <a:gridCol w="344371"/>
                    <a:gridCol w="344371"/>
                    <a:gridCol w="344371"/>
                    <a:gridCol w="344371"/>
                    <a:gridCol w="344371"/>
                    <a:gridCol w="344371"/>
                  </a:tblGrid>
                  <a:tr h="243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CN" altLang="en-US" sz="100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accent2">
                            <a:lumMod val="50000"/>
                          </a:schemeClr>
                        </a:solidFill>
                      </a:tcPr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0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1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2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3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  <a:tr h="1853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/>
                            <a:t>4</a:t>
                          </a:r>
                          <a:endParaRPr lang="zh-CN" altLang="en-US" sz="1000"/>
                        </a:p>
                      </a:txBody>
                      <a:tcPr>
                        <a:solidFill>
                          <a:schemeClr val="accent4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0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4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3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2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1</a:t>
                          </a:r>
                          <a:endParaRPr lang="zh-CN" altLang="en-US" sz="10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88798" y="3282339"/>
                <a:ext cx="5945340" cy="135203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运算表关于对角线对称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满足交换律，因此这两个运算都满足交换律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模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5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加的单位元是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，模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5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乘的单位元是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，零元是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0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每个元素对模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5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加有逆元，非零元素对模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5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乘有逆元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可证明它们都满足结合律，且模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5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乘对模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5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加有分配律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98" y="3282339"/>
                <a:ext cx="5945340" cy="1352037"/>
              </a:xfrm>
              <a:prstGeom prst="rect">
                <a:avLst/>
              </a:prstGeom>
              <a:blipFill rotWithShape="1">
                <a:blip r:embed="rId4"/>
                <a:stretch>
                  <a:fillRect l="-8" t="-2" r="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运算及其性质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运算性质的判断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712864" y="931874"/>
                <a:ext cx="7611985" cy="14003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是实数集，在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上定义运算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𝒂𝒄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𝒃𝒅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𝒂𝒅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</m:oMath>
                  </m:oMathPara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是否满足交换律、结合律？运算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是否有单位元、零元？运算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是否每个元素有逆元？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运算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是否满足消去律？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931874"/>
                <a:ext cx="7611985" cy="1400383"/>
              </a:xfrm>
              <a:prstGeom prst="rect">
                <a:avLst/>
              </a:prstGeom>
              <a:blipFill rotWithShape="1">
                <a:blip r:embed="rId1"/>
                <a:stretch>
                  <a:fillRect l="-5" t="-23" r="8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12864" y="2595940"/>
                <a:ext cx="4546829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满足交换律：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𝒅𝒃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𝒄𝒃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</m:oMath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2595940"/>
                <a:ext cx="4546829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9" t="-22" r="14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712864" y="2982401"/>
            <a:ext cx="1080519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满足结合律：</a:t>
            </a:r>
            <a:endParaRPr lang="en-US" altLang="zh-CN" sz="12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712864" y="3402486"/>
                <a:ext cx="7645324" cy="4854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𝒂𝒄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𝒃𝒅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𝒂𝒅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𝒂𝒄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𝒃𝒅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𝒂𝒅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𝒃𝒄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𝒂𝒄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𝒃𝒅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𝒂𝒅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𝒃𝒄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</m:d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𝒂𝒄𝒆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𝒃𝒅𝒆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𝒂𝒅𝒇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𝒃𝒄𝒇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𝒂𝒄𝒇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𝒂𝒅𝒆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𝒃𝒄𝒆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𝒃𝒅𝒇</m:t>
                          </m:r>
                        </m:e>
                      </m:d>
                    </m:oMath>
                  </m:oMathPara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3402486"/>
                <a:ext cx="7645324" cy="485454"/>
              </a:xfrm>
              <a:prstGeom prst="rect">
                <a:avLst/>
              </a:prstGeom>
              <a:blipFill rotWithShape="1">
                <a:blip r:embed="rId3"/>
                <a:stretch>
                  <a:fillRect l="-5" t="-32" r="4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712864" y="4031026"/>
                <a:ext cx="7645324" cy="48545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</m:d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𝒄𝒆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𝒄𝒇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𝒅𝒆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𝒄𝒆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𝒅𝒇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𝒄𝒇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𝒅𝒆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𝒄𝒇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𝒅𝒆</m:t>
                              </m:r>
                            </m:e>
                          </m:d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  <m:d>
                            <m:dPr>
                              <m:ctrlP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𝒄𝒆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200" b="1" i="1" smtClean="0">
                                  <a:solidFill>
                                    <a:schemeClr val="accent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𝒅𝒇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200" b="1" i="1">
                  <a:solidFill>
                    <a:schemeClr val="accent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𝒂𝒄𝒆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𝒂𝒅𝒇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𝒃𝒄𝒇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𝒃𝒅𝒆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𝒂𝒄𝒇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𝒂𝒅𝒆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𝒃𝒄𝒆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𝒃𝒅𝒇</m:t>
                      </m:r>
                    </m:oMath>
                  </m:oMathPara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4031026"/>
                <a:ext cx="7645324" cy="485454"/>
              </a:xfrm>
              <a:prstGeom prst="rect">
                <a:avLst/>
              </a:prstGeom>
              <a:blipFill rotWithShape="1">
                <a:blip r:embed="rId4"/>
                <a:stretch>
                  <a:fillRect l="-5" t="-9" r="4" b="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运算及其性质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运算性质的判断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712864" y="959769"/>
                <a:ext cx="7611985" cy="140038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是实数集，在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上定义运算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, 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𝒂𝒄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𝒃𝒅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𝒂𝒅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𝒃𝒄</m:t>
                          </m:r>
                        </m:e>
                      </m:d>
                    </m:oMath>
                  </m:oMathPara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是否满足交换律、结合律？运算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是否有单位元、零元？运算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是否每个元素有逆元？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运算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是否满足消去律？</a:t>
                </a:r>
                <a:endParaRPr lang="zh-CN" altLang="en-US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959769"/>
                <a:ext cx="7611985" cy="1400383"/>
              </a:xfrm>
              <a:prstGeom prst="rect">
                <a:avLst/>
              </a:prstGeom>
              <a:blipFill rotWithShape="1">
                <a:blip r:embed="rId1"/>
                <a:stretch>
                  <a:fillRect l="-5" t="-20" r="8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12864" y="2652820"/>
                <a:ext cx="5894879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显然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是零元：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是单位元：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2652820"/>
                <a:ext cx="5894879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7" t="-153" r="10" b="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12864" y="3104087"/>
                <a:ext cx="7611985" cy="8162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对任意元素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，若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是它的逆元则需满足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𝒃𝒚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𝒂𝒚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𝒃𝒙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时，可解得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，因此当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，也即当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不是零元时，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的逆元是</a:t>
                </a:r>
                <a14:m>
                  <m:oMath xmlns:m="http://schemas.openxmlformats.org/officeDocument/2006/math">
                    <m:r>
                      <a:rPr lang="en-US" altLang="zh-CN" sz="1200" b="1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f>
                      <m:f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num>
                      <m:den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altLang="zh-CN" sz="12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64" y="3104087"/>
                <a:ext cx="7611985" cy="816249"/>
              </a:xfrm>
              <a:prstGeom prst="rect">
                <a:avLst/>
              </a:prstGeom>
              <a:blipFill rotWithShape="1">
                <a:blip r:embed="rId3"/>
                <a:stretch>
                  <a:fillRect l="-5" t="-25" r="8" b="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712864" y="4180073"/>
            <a:ext cx="389282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因此零元以外的元素都有逆元，从而该运算满足消去律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006176" y="4180073"/>
            <a:ext cx="286623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同学们在中学是否见过这个运算？</a:t>
            </a:r>
            <a:endParaRPr lang="zh-CN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代数、子代数和商代数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代数的定义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1064744" y="1196729"/>
            <a:ext cx="7291315" cy="82586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spcBef>
                <a:spcPts val="450"/>
              </a:spcBef>
              <a:spcAft>
                <a:spcPts val="900"/>
              </a:spcAft>
            </a:pPr>
            <a:r>
              <a:rPr lang="zh-CN" altLang="en-US" b="1" dirty="0">
                <a:solidFill>
                  <a:srgbClr val="C00000"/>
                </a:solidFill>
              </a:rPr>
              <a:t>代数</a:t>
            </a:r>
            <a:r>
              <a:rPr lang="en-US" altLang="zh-CN" b="1" dirty="0">
                <a:solidFill>
                  <a:srgbClr val="C00000"/>
                </a:solidFill>
              </a:rPr>
              <a:t>(algebra)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spcBef>
                <a:spcPts val="450"/>
              </a:spcBef>
              <a:spcAft>
                <a:spcPts val="900"/>
              </a:spcAft>
            </a:pPr>
            <a:r>
              <a:rPr lang="zh-CN" altLang="en-US" b="1" dirty="0">
                <a:solidFill>
                  <a:srgbClr val="C00000"/>
                </a:solidFill>
              </a:rPr>
              <a:t>代数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是一个集合及这个集合上的一些运算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solidFill>
                  <a:schemeClr val="accent6">
                    <a:lumMod val="50000"/>
                  </a:schemeClr>
                </a:solidFill>
              </a:rPr>
              <a:t>这个集合称为代数的</a:t>
            </a:r>
            <a:r>
              <a:rPr lang="zh-CN" altLang="en-US" b="1" dirty="0">
                <a:solidFill>
                  <a:srgbClr val="C00000"/>
                </a:solidFill>
              </a:rPr>
              <a:t>基集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64745" y="2242632"/>
                <a:ext cx="4801557" cy="7327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整数集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及它的加法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、乘法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运算构成代数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+, ∗</m:t>
                        </m:r>
                      </m:e>
                    </m:d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及模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和模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45" y="2242632"/>
                <a:ext cx="4801557" cy="732765"/>
              </a:xfrm>
              <a:prstGeom prst="rect">
                <a:avLst/>
              </a:prstGeom>
              <a:blipFill rotWithShape="1">
                <a:blip r:embed="rId1"/>
                <a:stretch>
                  <a:fillRect l="-10" t="-61" r="4" b="-30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064745" y="3110785"/>
                <a:ext cx="6385313" cy="3352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全集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℘</m:t>
                        </m:r>
                        <m:d>
                          <m:dPr>
                            <m:ctrlP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𝑼</m:t>
                            </m:r>
                          </m:e>
                        </m:d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∪, ∩, </m:t>
                        </m:r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是一个有两个二元运算，两个零元运算的代数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45" y="3110785"/>
                <a:ext cx="6385313" cy="335220"/>
              </a:xfrm>
              <a:prstGeom prst="rect">
                <a:avLst/>
              </a:prstGeom>
              <a:blipFill rotWithShape="1">
                <a:blip r:embed="rId2"/>
                <a:stretch>
                  <a:fillRect l="-8" t="-166" r="4" b="-72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064745" y="3597633"/>
                <a:ext cx="4865699" cy="7327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和逻辑运算构成代数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,¬, ∧, ∨,→, </m:t>
                        </m:r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↔</m:t>
                        </m:r>
                      </m:e>
                    </m:d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命题逻辑公式构成集合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和这些逻辑运算也构成代数</a:t>
                </a:r>
                <a:endParaRPr lang="zh-CN" altLang="en-US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745" y="3597633"/>
                <a:ext cx="4865699" cy="732765"/>
              </a:xfrm>
              <a:prstGeom prst="rect">
                <a:avLst/>
              </a:prstGeom>
              <a:blipFill rotWithShape="1">
                <a:blip r:embed="rId3"/>
                <a:stretch>
                  <a:fillRect l="-10" t="-49" r="4" b="-30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代数、子代数和商代数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子代数</a:t>
            </a:r>
            <a:r>
              <a:rPr lang="en-US" altLang="zh-CN" sz="1350"/>
              <a:t>(Sub-algebra)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805545" y="1276184"/>
            <a:ext cx="7527150" cy="77457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代数的子代数是基集的一个子集，且对代数的所有运算都</a:t>
            </a: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封闭</a:t>
            </a:r>
            <a:endParaRPr lang="en-US" altLang="zh-CN" b="1" dirty="0">
              <a:solidFill>
                <a:srgbClr val="C0000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750" b="1" dirty="0">
                <a:solidFill>
                  <a:schemeClr val="accent6">
                    <a:lumMod val="50000"/>
                  </a:schemeClr>
                </a:solidFill>
              </a:rPr>
              <a:t>子集对运算封闭意味着这个子集的任意元素做运算，结果还属于该子集</a:t>
            </a:r>
            <a:endParaRPr lang="zh-CN" altLang="en-US" sz="175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05545" y="2316297"/>
                <a:ext cx="7527150" cy="207627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+, ∗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，偶数集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𝑬</m:t>
                        </m:r>
                      </m:sub>
                    </m:sSub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</m:e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𝒌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∈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对运算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+, ∗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封闭，因此构成代数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+, ∗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的子代数，记为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𝑬</m:t>
                            </m:r>
                          </m:sub>
                        </m:sSub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+, ∗</m:t>
                        </m:r>
                      </m:e>
                    </m:d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这时封闭的直观含义就是，偶数加偶数仍是偶数，偶数乘偶数仍是偶数</a:t>
                </a:r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奇数集合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sub>
                    </m:sSub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对运算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+, ∗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不封闭，奇数加奇数得到的不再是奇数</a:t>
                </a:r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57175" indent="-257175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集合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的所有整数可由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用加法和乘法运算得到，因此子代数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𝑬</m:t>
                            </m:r>
                          </m:sub>
                        </m:sSub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+, ∗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是由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500" b="1">
                    <a:solidFill>
                      <a:srgbClr val="C00000"/>
                    </a:solidFill>
                  </a:rPr>
                  <a:t>生成的子代数</a:t>
                </a:r>
                <a:endParaRPr lang="zh-CN" altLang="en-US" sz="15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5" y="2316297"/>
                <a:ext cx="7527150" cy="2076274"/>
              </a:xfrm>
              <a:prstGeom prst="rect">
                <a:avLst/>
              </a:prstGeom>
              <a:blipFill rotWithShape="1">
                <a:blip r:embed="rId1"/>
                <a:stretch>
                  <a:fillRect l="-5" t="-22" r="3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代数、子代数和商代数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子代数</a:t>
            </a:r>
            <a:r>
              <a:rPr lang="en-US" altLang="zh-CN" sz="1350"/>
              <a:t>(Sub-algebra)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05545" y="2248585"/>
                <a:ext cx="7527150" cy="68223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，集合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𝑼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={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}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对运算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封闭，因此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𝑼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是它的子代数</a:t>
                </a:r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是由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500" b="1">
                    <a:solidFill>
                      <a:srgbClr val="C00000"/>
                    </a:solidFill>
                  </a:rPr>
                  <a:t>生成的子代数</a:t>
                </a: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b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15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5" y="2248585"/>
                <a:ext cx="7527150" cy="682238"/>
              </a:xfrm>
              <a:prstGeom prst="rect">
                <a:avLst/>
              </a:prstGeom>
              <a:blipFill rotWithShape="1">
                <a:blip r:embed="rId1"/>
                <a:stretch>
                  <a:fillRect l="-5" t="-7" r="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05545" y="3024606"/>
                <a:ext cx="7527150" cy="128118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，除集合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外，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的任意真子集对运算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都不封闭，因此它没有除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外的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真子代数</a:t>
                </a:r>
                <a:endParaRPr lang="en-US" altLang="zh-CN" sz="1500" b="1">
                  <a:solidFill>
                    <a:srgbClr val="C00000"/>
                  </a:solidFill>
                  <a:latin typeface="+mn-ea"/>
                </a:endParaRPr>
              </a:p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除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外，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的任意元素都可通过运算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的所有元素，因此说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5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都是代数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⊕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的</a:t>
                </a:r>
                <a:r>
                  <a:rPr lang="zh-CN" altLang="en-US" sz="1500" b="1">
                    <a:solidFill>
                      <a:srgbClr val="C00000"/>
                    </a:solidFill>
                  </a:rPr>
                  <a:t>生成元</a:t>
                </a:r>
                <a:endParaRPr lang="zh-CN" altLang="en-US" sz="15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45" y="3024606"/>
                <a:ext cx="7527150" cy="1281185"/>
              </a:xfrm>
              <a:prstGeom prst="rect">
                <a:avLst/>
              </a:prstGeom>
              <a:blipFill rotWithShape="1">
                <a:blip r:embed="rId2"/>
                <a:stretch>
                  <a:fillRect l="-5" t="-8" r="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805545" y="1276184"/>
            <a:ext cx="7527150" cy="774571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代数的子代数是基集的一个子集，且对代数的所有运算都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封闭</a:t>
            </a:r>
            <a:endParaRPr lang="en-US" altLang="zh-CN" b="1">
              <a:solidFill>
                <a:srgbClr val="C00000"/>
              </a:solidFill>
              <a:latin typeface="+mn-ea"/>
            </a:endParaRPr>
          </a:p>
          <a:p>
            <a:pPr marL="257175" indent="-257175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子集对运算封闭意味着这个子集的任意元素做运算，结果还属于该子集</a:t>
            </a:r>
            <a:endParaRPr lang="zh-CN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代数、子代数和商代数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同余关系</a:t>
            </a:r>
            <a:r>
              <a:rPr lang="en-US" altLang="zh-CN" sz="1350"/>
              <a:t>(Congruence Relation)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699367" y="1084589"/>
            <a:ext cx="7820746" cy="1192378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25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代数上的同余关系是基集上的一个等价关系，且与代数的所有运算都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可置换</a:t>
            </a:r>
            <a:endParaRPr lang="en-US" altLang="zh-CN" b="1">
              <a:solidFill>
                <a:srgbClr val="C00000"/>
              </a:solidFill>
              <a:latin typeface="+mn-ea"/>
            </a:endParaRPr>
          </a:p>
          <a:p>
            <a:pPr marL="257175" indent="-257175">
              <a:lnSpc>
                <a:spcPts val="225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或说代数的所有运算都</a:t>
            </a:r>
            <a:r>
              <a:rPr lang="zh-CN" altLang="en-US" b="1">
                <a:solidFill>
                  <a:srgbClr val="C00000"/>
                </a:solidFill>
              </a:rPr>
              <a:t>保持</a:t>
            </a: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这个等价关系</a:t>
            </a:r>
            <a:endParaRPr lang="en-US" altLang="zh-CN" b="1">
              <a:solidFill>
                <a:schemeClr val="accent6">
                  <a:lumMod val="50000"/>
                </a:schemeClr>
              </a:solidFill>
            </a:endParaRPr>
          </a:p>
          <a:p>
            <a:pPr marL="557530" lvl="1" indent="-214630">
              <a:lnSpc>
                <a:spcPts val="225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500" b="1">
                <a:solidFill>
                  <a:schemeClr val="accent2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直观含义是，参与运算的对应元素有这个关系，则运算的结果也有这个关系</a:t>
            </a:r>
            <a:endParaRPr lang="zh-CN" altLang="en-US" sz="1500" b="1">
              <a:solidFill>
                <a:schemeClr val="accent2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99367" y="2477302"/>
                <a:ext cx="7968108" cy="30008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={⟨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⟩∣</m:t>
                    </m:r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整除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余数相同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同余关系，则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上的同余关系</a:t>
                </a:r>
                <a:endParaRPr lang="zh-CN" altLang="en-US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67" y="2477302"/>
                <a:ext cx="7968108" cy="300082"/>
              </a:xfrm>
              <a:prstGeom prst="rect">
                <a:avLst/>
              </a:prstGeom>
              <a:blipFill rotWithShape="1">
                <a:blip r:embed="rId1"/>
                <a:stretch>
                  <a:fillRect l="-3" t="-56" r="5" b="-523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1030867" y="2886899"/>
            <a:ext cx="2920817" cy="991697"/>
            <a:chOff x="1532771" y="3091856"/>
            <a:chExt cx="3894423" cy="13222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1618291" y="3216847"/>
                  <a:ext cx="1249899" cy="40010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291" y="3216847"/>
                  <a:ext cx="1249899" cy="40010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本框 10"/>
                <p:cNvSpPr txBox="1"/>
                <p:nvPr/>
              </p:nvSpPr>
              <p:spPr>
                <a:xfrm>
                  <a:off x="1618291" y="3733938"/>
                  <a:ext cx="1249899" cy="40010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1" name="文本框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291" y="3733938"/>
                  <a:ext cx="1249899" cy="40010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右大括号 5"/>
            <p:cNvSpPr/>
            <p:nvPr/>
          </p:nvSpPr>
          <p:spPr>
            <a:xfrm>
              <a:off x="2868190" y="3259465"/>
              <a:ext cx="210509" cy="779683"/>
            </a:xfrm>
            <a:prstGeom prst="rightBrace">
              <a:avLst>
                <a:gd name="adj1" fmla="val 39583"/>
                <a:gd name="adj2" fmla="val 50000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3165316" y="3467793"/>
                  <a:ext cx="2163202" cy="40010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316" y="3467793"/>
                  <a:ext cx="2163202" cy="40010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3165316" y="3939281"/>
                  <a:ext cx="2022166" cy="40010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≡</m:t>
                          </m:r>
                        </m:e>
                        <m:sub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a14:m>
                  <a:r>
                    <a: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rPr>
                    <a:t>与</a:t>
                  </a:r>
                  <a14:m>
                    <m:oMath xmlns:m="http://schemas.openxmlformats.org/officeDocument/2006/math">
                      <m:r>
                        <a:rPr lang="en-US" altLang="zh-CN" sz="135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a14:m>
                  <a:r>
                    <a: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的可置换性</a:t>
                  </a:r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316" y="3939281"/>
                  <a:ext cx="2022166" cy="40010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: 圆角 13"/>
            <p:cNvSpPr/>
            <p:nvPr/>
          </p:nvSpPr>
          <p:spPr>
            <a:xfrm>
              <a:off x="1532771" y="3091856"/>
              <a:ext cx="3894423" cy="1322262"/>
            </a:xfrm>
            <a:prstGeom prst="roundRect">
              <a:avLst>
                <a:gd name="adj" fmla="val 14179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1476" y="2886899"/>
            <a:ext cx="3754633" cy="991697"/>
            <a:chOff x="1514743" y="3091856"/>
            <a:chExt cx="4572370" cy="132226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1618291" y="3216847"/>
                  <a:ext cx="1249899" cy="40010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291" y="3216847"/>
                  <a:ext cx="1249899" cy="40010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1618291" y="3733938"/>
                  <a:ext cx="1249899" cy="40010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18291" y="3733938"/>
                  <a:ext cx="1249899" cy="400109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右大括号 20"/>
            <p:cNvSpPr/>
            <p:nvPr/>
          </p:nvSpPr>
          <p:spPr>
            <a:xfrm>
              <a:off x="2868190" y="3259465"/>
              <a:ext cx="210509" cy="779683"/>
            </a:xfrm>
            <a:prstGeom prst="rightBrace">
              <a:avLst>
                <a:gd name="adj1" fmla="val 39583"/>
                <a:gd name="adj2" fmla="val 50000"/>
              </a:avLst>
            </a:prstGeom>
            <a:solidFill>
              <a:schemeClr val="bg1"/>
            </a:solidFill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3121911" y="3467793"/>
                  <a:ext cx="2894072" cy="40010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𝟗𝟔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911" y="3467793"/>
                  <a:ext cx="2894072" cy="400109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本框 22"/>
                <p:cNvSpPr txBox="1"/>
                <p:nvPr/>
              </p:nvSpPr>
              <p:spPr>
                <a:xfrm>
                  <a:off x="3581780" y="3939280"/>
                  <a:ext cx="1998742" cy="40010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≡</m:t>
                          </m:r>
                        </m:e>
                        <m:sub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a14:m>
                  <a:r>
                    <a: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rPr>
                    <a:t>与</a:t>
                  </a:r>
                  <a14:m>
                    <m:oMath xmlns:m="http://schemas.openxmlformats.org/officeDocument/2006/math">
                      <m:r>
                        <a:rPr lang="en-US" altLang="zh-CN" sz="1350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a14:m>
                  <a:r>
                    <a: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rPr>
                    <a:t>的可置换性</a:t>
                  </a:r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3" name="文本框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1780" y="3939280"/>
                  <a:ext cx="1998742" cy="400109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矩形: 圆角 23"/>
            <p:cNvSpPr/>
            <p:nvPr/>
          </p:nvSpPr>
          <p:spPr>
            <a:xfrm>
              <a:off x="1514743" y="3091856"/>
              <a:ext cx="4572370" cy="1322262"/>
            </a:xfrm>
            <a:prstGeom prst="roundRect">
              <a:avLst>
                <a:gd name="adj" fmla="val 14179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5" name="箭头: 右 24"/>
          <p:cNvSpPr/>
          <p:nvPr/>
        </p:nvSpPr>
        <p:spPr>
          <a:xfrm>
            <a:off x="3999266" y="3343019"/>
            <a:ext cx="498203" cy="63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699367" y="4099666"/>
                <a:ext cx="7041786" cy="3231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</a:rPr>
                  <a:t>不难验证，关系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</a:rPr>
                  <a:t>也是代数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5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+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</a:rPr>
                  <a:t>上的同余关系，这种例子是一般同余关系的发源</a:t>
                </a:r>
                <a:endParaRPr lang="zh-CN" altLang="en-US" sz="15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67" y="4099666"/>
                <a:ext cx="7041786" cy="323165"/>
              </a:xfrm>
              <a:prstGeom prst="rect">
                <a:avLst/>
              </a:prstGeom>
              <a:blipFill rotWithShape="1">
                <a:blip r:embed="rId10"/>
                <a:stretch>
                  <a:fillRect l="-3" t="-33" r="7" b="-55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代数、子代数和商代数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商代数</a:t>
            </a:r>
            <a:r>
              <a:rPr lang="en-US" altLang="zh-CN" sz="1350"/>
              <a:t>(Quotient Algebra)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80684" y="1076949"/>
                <a:ext cx="7382630" cy="17822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5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对代数上的同余关系，基集关于这个同余关系的商集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:r>
                  <a:rPr lang="zh-CN" altLang="en-US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即等价类的集合</a:t>
                </a:r>
                <a:r>
                  <a:rPr lang="en-US" altLang="zh-CN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endParaRPr lang="en-US" altLang="zh-CN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lnSpc>
                    <a:spcPts val="225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可定义与原代数对应的运算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同余关系的可置换性保证运算定义的可行性</a:t>
                </a:r>
                <a:r>
                  <a:rPr lang="en-US" altLang="zh-CN" b="1">
                    <a:solidFill>
                      <a:schemeClr val="accent6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b="1">
                    <a:solidFill>
                      <a:schemeClr val="accent6">
                        <a:lumMod val="50000"/>
                      </a:schemeClr>
                    </a:solidFill>
                  </a:rPr>
                  <a:t>而构成商代数</a:t>
                </a:r>
                <a:endParaRPr lang="en-US" altLang="zh-CN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600075" lvl="1" indent="-257175">
                  <a:lnSpc>
                    <a:spcPts val="225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直观地说，等价类做</a:t>
                </a:r>
                <a:r>
                  <a:rPr lang="zh-CN" altLang="en-US" sz="15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商代数运算</a:t>
                </a:r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的结果 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15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等价类代表</a:t>
                </a:r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做</a:t>
                </a:r>
                <a:r>
                  <a:rPr lang="zh-CN" altLang="en-US" sz="15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原来代数运算</a:t>
                </a:r>
                <a:r>
                  <a:rPr lang="zh-CN" altLang="en-US" sz="150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的结果所在的</a:t>
                </a:r>
                <a:r>
                  <a:rPr lang="zh-CN" altLang="en-US" sz="15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等价类</a:t>
                </a:r>
                <a:endParaRPr lang="zh-CN" altLang="en-US" sz="1500" b="1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84" y="1076949"/>
                <a:ext cx="7382630" cy="1782283"/>
              </a:xfrm>
              <a:prstGeom prst="rect">
                <a:avLst/>
              </a:prstGeom>
              <a:blipFill rotWithShape="1">
                <a:blip r:embed="rId1"/>
                <a:stretch>
                  <a:fillRect l="-8" t="-35" r="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80684" y="2910791"/>
                <a:ext cx="6689429" cy="9009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，模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同余关系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上的同余关系，商集是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sub>
                    </m:sSub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𝟎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𝟒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可在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上定义运算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⊗</m:t>
                        </m:r>
                      </m:e>
                      <m: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，构成商代数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lnSpc>
                    <a:spcPts val="18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  <m:sub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等等</a:t>
                </a:r>
                <a:endParaRPr lang="zh-CN" altLang="en-US" sz="135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684" y="2910791"/>
                <a:ext cx="6689429" cy="900952"/>
              </a:xfrm>
              <a:prstGeom prst="rect">
                <a:avLst/>
              </a:prstGeom>
              <a:blipFill rotWithShape="1">
                <a:blip r:embed="rId2"/>
                <a:stretch>
                  <a:fillRect l="-9" t="-65" r="4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880685" y="3977065"/>
            <a:ext cx="7237904" cy="373555"/>
            <a:chOff x="1503523" y="3880671"/>
            <a:chExt cx="9650539" cy="498073"/>
          </a:xfrm>
        </p:grpSpPr>
        <p:sp>
          <p:nvSpPr>
            <p:cNvPr id="13" name="箭头: 右 12"/>
            <p:cNvSpPr/>
            <p:nvPr/>
          </p:nvSpPr>
          <p:spPr>
            <a:xfrm>
              <a:off x="5470309" y="4104032"/>
              <a:ext cx="1528033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2703728" y="3929724"/>
                  <a:ext cx="2766580" cy="4249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3728" y="3929724"/>
                  <a:ext cx="2766580" cy="42498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6998341" y="3929724"/>
                  <a:ext cx="4155721" cy="4249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341" y="3929724"/>
                  <a:ext cx="4155721" cy="424989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/>
            <p:cNvSpPr txBox="1"/>
            <p:nvPr/>
          </p:nvSpPr>
          <p:spPr>
            <a:xfrm>
              <a:off x="1503523" y="3880671"/>
              <a:ext cx="1045969" cy="4924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200" b="1">
                  <a:solidFill>
                    <a:schemeClr val="accent2">
                      <a:lumMod val="50000"/>
                    </a:schemeClr>
                  </a:solidFill>
                </a:rPr>
                <a:t>等价类做商代数运算</a:t>
              </a:r>
              <a:endParaRPr lang="zh-CN" altLang="en-US" sz="1200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624546" y="3886302"/>
              <a:ext cx="907821" cy="4924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200" b="1">
                  <a:solidFill>
                    <a:schemeClr val="accent2">
                      <a:lumMod val="50000"/>
                    </a:schemeClr>
                  </a:solidFill>
                </a:rPr>
                <a:t>代表做原代数运算</a:t>
              </a:r>
              <a:endParaRPr lang="zh-CN" altLang="en-US" sz="1200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代数同态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代数同态</a:t>
            </a:r>
            <a:r>
              <a:rPr lang="en-US" altLang="zh-CN" sz="1350"/>
              <a:t>(Homomorphism)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50669" y="960979"/>
                <a:ext cx="7442659" cy="101822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两个</a:t>
                </a:r>
                <a:r>
                  <a:rPr lang="zh-CN" altLang="en-US" sz="150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同类型的代数</a:t>
                </a: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之间的同态是它们基集之间的函数，且对代数的所有运算可交换</a:t>
                </a:r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57175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</a:rPr>
                  <a:t>可交换的直观含义是，</a:t>
                </a:r>
                <a:r>
                  <a:rPr lang="zh-CN" altLang="en-US" sz="1500" b="1">
                    <a:solidFill>
                      <a:srgbClr val="C00000"/>
                    </a:solidFill>
                  </a:rPr>
                  <a:t>先运算再映射 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CN" altLang="en-US" sz="1500" b="1">
                    <a:solidFill>
                      <a:srgbClr val="C00000"/>
                    </a:solidFill>
                  </a:rPr>
                  <a:t>先映射再运算</a:t>
                </a:r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600075" lvl="1" indent="-257175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先做源代数的运算再映射（求函数值）的结果</a:t>
                </a:r>
                <a14:m>
                  <m:oMath xmlns:m="http://schemas.openxmlformats.org/officeDocument/2006/math">
                    <m:r>
                      <a:rPr lang="en-US" altLang="zh-CN" sz="135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先求函数值再做目标代数</a:t>
                </a:r>
                <a:r>
                  <a:rPr lang="zh-CN" altLang="en-US" sz="135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对应运算</a:t>
                </a: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的结果</a:t>
                </a:r>
                <a:endParaRPr lang="zh-CN" altLang="en-US" sz="1350" b="1">
                  <a:solidFill>
                    <a:schemeClr val="accent2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9" y="960979"/>
                <a:ext cx="7442659" cy="1018227"/>
              </a:xfrm>
              <a:prstGeom prst="rect">
                <a:avLst/>
              </a:prstGeom>
              <a:blipFill rotWithShape="1">
                <a:blip r:embed="rId1"/>
                <a:stretch>
                  <a:fillRect l="-5" t="-22" r="3" b="-122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50669" y="2091944"/>
                <a:ext cx="7442659" cy="5539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对于代数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d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50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，函数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ℤ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US" altLang="zh-CN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5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5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5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，是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同态</a:t>
                </a:r>
                <a:endParaRPr lang="zh-CN" altLang="en-US" sz="150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69" y="2091944"/>
                <a:ext cx="7442659" cy="553998"/>
              </a:xfrm>
              <a:prstGeom prst="rect">
                <a:avLst/>
              </a:prstGeom>
              <a:blipFill rotWithShape="1">
                <a:blip r:embed="rId2"/>
                <a:stretch>
                  <a:fillRect l="-5" t="-46" r="3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/>
          <p:cNvGrpSpPr/>
          <p:nvPr/>
        </p:nvGrpSpPr>
        <p:grpSpPr>
          <a:xfrm>
            <a:off x="449240" y="2516802"/>
            <a:ext cx="3389225" cy="1263056"/>
            <a:chOff x="572322" y="3361571"/>
            <a:chExt cx="4518966" cy="1684075"/>
          </a:xfrm>
        </p:grpSpPr>
        <p:grpSp>
          <p:nvGrpSpPr>
            <p:cNvPr id="31" name="组合 30"/>
            <p:cNvGrpSpPr/>
            <p:nvPr/>
          </p:nvGrpSpPr>
          <p:grpSpPr>
            <a:xfrm>
              <a:off x="685358" y="3444628"/>
              <a:ext cx="4298777" cy="1507646"/>
              <a:chOff x="1751504" y="3467606"/>
              <a:chExt cx="4298777" cy="1507646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1751504" y="4513793"/>
                <a:ext cx="1446154" cy="367391"/>
                <a:chOff x="1697231" y="3314350"/>
                <a:chExt cx="1446154" cy="367391"/>
              </a:xfrm>
            </p:grpSpPr>
            <p:sp>
              <p:nvSpPr>
                <p:cNvPr id="6" name="矩形 5"/>
                <p:cNvSpPr/>
                <p:nvPr/>
              </p:nvSpPr>
              <p:spPr>
                <a:xfrm>
                  <a:off x="1697231" y="3314350"/>
                  <a:ext cx="1446154" cy="36739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" name="文本框 3"/>
                    <p:cNvSpPr txBox="1"/>
                    <p:nvPr/>
                  </p:nvSpPr>
                  <p:spPr>
                    <a:xfrm>
                      <a:off x="1756438" y="3358985"/>
                      <a:ext cx="613985" cy="27699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zh-CN" altLang="en-US" sz="135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" name="文本框 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6438" y="3358985"/>
                      <a:ext cx="613985" cy="276999"/>
                    </a:xfrm>
                    <a:prstGeom prst="rect">
                      <a:avLst/>
                    </a:prstGeom>
                    <a:blipFill rotWithShape="1">
                      <a:blip r:embed="rId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" name="文本框 10"/>
                    <p:cNvSpPr txBox="1"/>
                    <p:nvPr/>
                  </p:nvSpPr>
                  <p:spPr>
                    <a:xfrm>
                      <a:off x="2468003" y="3360070"/>
                      <a:ext cx="613985" cy="27699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zh-CN" altLang="en-US" sz="135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1" name="文本框 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68003" y="3360070"/>
                      <a:ext cx="613985" cy="276999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4895490" y="3627362"/>
                    <a:ext cx="759164" cy="276999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oMath>
                      </m:oMathPara>
                    </a14:m>
                    <a:endPara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3" name="文本框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95490" y="3627362"/>
                    <a:ext cx="759164" cy="276999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4461262" y="4421254"/>
                    <a:ext cx="1589019" cy="553998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35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135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US" altLang="zh-CN" sz="1350" b="1" i="1">
                      <a:solidFill>
                        <a:srgbClr val="C00000"/>
                      </a:solidFill>
                      <a:latin typeface="Cambria Math" panose="02040503050406030204" pitchFamily="18" charset="0"/>
                    </a:endParaRPr>
                  </a:p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35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</m:e>
                            <m:sub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altLang="zh-CN" sz="135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3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4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1262" y="4421254"/>
                    <a:ext cx="1589019" cy="553998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" name="组合 17"/>
              <p:cNvGrpSpPr/>
              <p:nvPr/>
            </p:nvGrpSpPr>
            <p:grpSpPr>
              <a:xfrm>
                <a:off x="1836475" y="3581400"/>
                <a:ext cx="1276213" cy="367391"/>
                <a:chOff x="1684075" y="3314350"/>
                <a:chExt cx="1276213" cy="367391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1684075" y="3314350"/>
                  <a:ext cx="1276213" cy="36739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文本框 19"/>
                    <p:cNvSpPr txBox="1"/>
                    <p:nvPr/>
                  </p:nvSpPr>
                  <p:spPr>
                    <a:xfrm>
                      <a:off x="1756438" y="3358985"/>
                      <a:ext cx="394705" cy="27699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oMath>
                        </m:oMathPara>
                      </a14:m>
                      <a:endParaRPr lang="zh-CN" altLang="en-US" sz="135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0" name="文本框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6438" y="3358985"/>
                      <a:ext cx="394705" cy="276999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文本框 20"/>
                    <p:cNvSpPr txBox="1"/>
                    <p:nvPr/>
                  </p:nvSpPr>
                  <p:spPr>
                    <a:xfrm>
                      <a:off x="2468003" y="3360070"/>
                      <a:ext cx="394705" cy="27699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𝒃</m:t>
                            </m:r>
                          </m:oMath>
                        </m:oMathPara>
                      </a14:m>
                      <a:endParaRPr lang="zh-CN" altLang="en-US" sz="135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21" name="文本框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68003" y="3360070"/>
                      <a:ext cx="394705" cy="276999"/>
                    </a:xfrm>
                    <a:prstGeom prst="rect">
                      <a:avLst/>
                    </a:prstGeom>
                    <a:blipFill rotWithShape="1">
                      <a:blip r:embed="rId8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2" name="箭头: 右 21"/>
              <p:cNvSpPr/>
              <p:nvPr/>
            </p:nvSpPr>
            <p:spPr>
              <a:xfrm>
                <a:off x="3112688" y="3739107"/>
                <a:ext cx="1782804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3461919" y="3467606"/>
                <a:ext cx="1084343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源代数运算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4" name="箭头: 下 23"/>
              <p:cNvSpPr/>
              <p:nvPr/>
            </p:nvSpPr>
            <p:spPr>
              <a:xfrm>
                <a:off x="5227704" y="3904361"/>
                <a:ext cx="45719" cy="516892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299845" y="4020432"/>
                <a:ext cx="450403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映射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6" name="箭头: 下 25"/>
              <p:cNvSpPr/>
              <p:nvPr/>
            </p:nvSpPr>
            <p:spPr>
              <a:xfrm>
                <a:off x="2071984" y="3903034"/>
                <a:ext cx="45719" cy="65539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7" name="箭头: 下 26"/>
              <p:cNvSpPr/>
              <p:nvPr/>
            </p:nvSpPr>
            <p:spPr>
              <a:xfrm>
                <a:off x="2814466" y="3903033"/>
                <a:ext cx="45719" cy="65539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2249379" y="4096224"/>
                <a:ext cx="450403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映射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29" name="箭头: 右 28"/>
              <p:cNvSpPr/>
              <p:nvPr/>
            </p:nvSpPr>
            <p:spPr>
              <a:xfrm flipV="1">
                <a:off x="3197657" y="4670942"/>
                <a:ext cx="1263605" cy="45719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3193492" y="4380790"/>
                <a:ext cx="1267771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目标代数运算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52" name="矩形: 圆角 51"/>
            <p:cNvSpPr/>
            <p:nvPr/>
          </p:nvSpPr>
          <p:spPr>
            <a:xfrm>
              <a:off x="572322" y="3361571"/>
              <a:ext cx="4518966" cy="1684075"/>
            </a:xfrm>
            <a:prstGeom prst="roundRect">
              <a:avLst>
                <a:gd name="adj" fmla="val 10855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997673" y="2516801"/>
            <a:ext cx="4693515" cy="1258123"/>
            <a:chOff x="5163652" y="3361571"/>
            <a:chExt cx="6258020" cy="1677497"/>
          </a:xfrm>
        </p:grpSpPr>
        <p:grpSp>
          <p:nvGrpSpPr>
            <p:cNvPr id="32" name="组合 31"/>
            <p:cNvGrpSpPr/>
            <p:nvPr/>
          </p:nvGrpSpPr>
          <p:grpSpPr>
            <a:xfrm>
              <a:off x="5234435" y="3461818"/>
              <a:ext cx="6187236" cy="1467759"/>
              <a:chOff x="1751505" y="3466293"/>
              <a:chExt cx="4703984" cy="1467759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1751505" y="4513793"/>
                <a:ext cx="1713663" cy="367391"/>
                <a:chOff x="1697232" y="3314350"/>
                <a:chExt cx="1713663" cy="367391"/>
              </a:xfrm>
            </p:grpSpPr>
            <p:sp>
              <p:nvSpPr>
                <p:cNvPr id="49" name="矩形 48"/>
                <p:cNvSpPr/>
                <p:nvPr/>
              </p:nvSpPr>
              <p:spPr>
                <a:xfrm>
                  <a:off x="1697232" y="3314350"/>
                  <a:ext cx="1692889" cy="36739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0" name="文本框 49"/>
                    <p:cNvSpPr txBox="1"/>
                    <p:nvPr/>
                  </p:nvSpPr>
                  <p:spPr>
                    <a:xfrm>
                      <a:off x="1718007" y="3358985"/>
                      <a:ext cx="789684" cy="246221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oMath>
                        </m:oMathPara>
                      </a14:m>
                      <a:endParaRPr lang="zh-CN" altLang="en-US" sz="120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0" name="文本框 4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18007" y="3358985"/>
                      <a:ext cx="789684" cy="246221"/>
                    </a:xfrm>
                    <a:prstGeom prst="rect">
                      <a:avLst/>
                    </a:prstGeom>
                    <a:blipFill rotWithShape="1">
                      <a:blip r:embed="rId9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1" name="文本框 50"/>
                    <p:cNvSpPr txBox="1"/>
                    <p:nvPr/>
                  </p:nvSpPr>
                  <p:spPr>
                    <a:xfrm>
                      <a:off x="2524216" y="3358985"/>
                      <a:ext cx="886679" cy="246221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𝟏𝟐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altLang="zh-CN" sz="12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oMath>
                        </m:oMathPara>
                      </a14:m>
                      <a:endParaRPr lang="zh-CN" altLang="en-US" sz="120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51" name="文本框 5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24216" y="3358985"/>
                      <a:ext cx="886679" cy="246221"/>
                    </a:xfrm>
                    <a:prstGeom prst="rect">
                      <a:avLst/>
                    </a:prstGeom>
                    <a:blipFill rotWithShape="1">
                      <a:blip r:embed="rId10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文本框 33"/>
                  <p:cNvSpPr txBox="1"/>
                  <p:nvPr/>
                </p:nvSpPr>
                <p:spPr>
                  <a:xfrm>
                    <a:off x="4847264" y="3627120"/>
                    <a:ext cx="1101693" cy="276999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𝟗𝟔</m:t>
                          </m:r>
                        </m:oMath>
                      </m:oMathPara>
                    </a14:m>
                    <a:endParaRPr lang="zh-CN" altLang="en-US" sz="135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4" name="文本框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7264" y="3627120"/>
                    <a:ext cx="1101693" cy="276999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文本框 34"/>
                  <p:cNvSpPr txBox="1"/>
                  <p:nvPr/>
                </p:nvSpPr>
                <p:spPr>
                  <a:xfrm>
                    <a:off x="4356040" y="4441610"/>
                    <a:ext cx="2099449" cy="492442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txBody>
                  <a:bodyPr wrap="square" t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</m:d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𝟗𝟔</m:t>
                              </m:r>
                            </m:e>
                          </m:d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US" altLang="zh-CN" sz="1200" b="1" i="1">
                      <a:solidFill>
                        <a:srgbClr val="C00000"/>
                      </a:solidFill>
                      <a:latin typeface="Cambria Math" panose="02040503050406030204" pitchFamily="18" charset="0"/>
                    </a:endParaRPr>
                  </a:p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</m:e>
                            <m:sub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⊗</m:t>
                              </m:r>
                            </m:e>
                            <m:sub>
                              <m:r>
                                <a:rPr lang="en-US" altLang="zh-CN" sz="12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1200" b="1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5" name="文本框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6040" y="4441610"/>
                    <a:ext cx="2099449" cy="492442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6" name="组合 35"/>
              <p:cNvGrpSpPr/>
              <p:nvPr/>
            </p:nvGrpSpPr>
            <p:grpSpPr>
              <a:xfrm>
                <a:off x="1836475" y="3581400"/>
                <a:ext cx="1276213" cy="367391"/>
                <a:chOff x="1684075" y="3314350"/>
                <a:chExt cx="1276213" cy="367391"/>
              </a:xfrm>
            </p:grpSpPr>
            <p:sp>
              <p:nvSpPr>
                <p:cNvPr id="46" name="矩形 45"/>
                <p:cNvSpPr/>
                <p:nvPr/>
              </p:nvSpPr>
              <p:spPr>
                <a:xfrm>
                  <a:off x="1684075" y="3314350"/>
                  <a:ext cx="1276213" cy="367391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7" name="文本框 46"/>
                    <p:cNvSpPr txBox="1"/>
                    <p:nvPr/>
                  </p:nvSpPr>
                  <p:spPr>
                    <a:xfrm>
                      <a:off x="1756438" y="3358985"/>
                      <a:ext cx="394705" cy="27699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oMath>
                        </m:oMathPara>
                      </a14:m>
                      <a:endParaRPr lang="zh-CN" altLang="en-US" sz="135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7" name="文本框 4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56438" y="3358985"/>
                      <a:ext cx="394705" cy="276999"/>
                    </a:xfrm>
                    <a:prstGeom prst="rect">
                      <a:avLst/>
                    </a:prstGeom>
                    <a:blipFill rotWithShape="1">
                      <a:blip r:embed="rId1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8" name="文本框 47"/>
                    <p:cNvSpPr txBox="1"/>
                    <p:nvPr/>
                  </p:nvSpPr>
                  <p:spPr>
                    <a:xfrm>
                      <a:off x="2468003" y="3360070"/>
                      <a:ext cx="394705" cy="276999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txBody>
                    <a:bodyPr wrap="square" t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𝟏𝟐</m:t>
                            </m:r>
                          </m:oMath>
                        </m:oMathPara>
                      </a14:m>
                      <a:endParaRPr lang="zh-CN" altLang="en-US" sz="1350" b="1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48" name="文本框 4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68003" y="3360070"/>
                      <a:ext cx="394705" cy="276999"/>
                    </a:xfrm>
                    <a:prstGeom prst="rect">
                      <a:avLst/>
                    </a:prstGeom>
                    <a:blipFill rotWithShape="1">
                      <a:blip r:embed="rId1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37" name="箭头: 右 36"/>
              <p:cNvSpPr/>
              <p:nvPr/>
            </p:nvSpPr>
            <p:spPr>
              <a:xfrm>
                <a:off x="3112689" y="3734183"/>
                <a:ext cx="1734575" cy="5064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3579885" y="3466293"/>
                <a:ext cx="800181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源代数运算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39" name="箭头: 下 38"/>
              <p:cNvSpPr/>
              <p:nvPr/>
            </p:nvSpPr>
            <p:spPr>
              <a:xfrm>
                <a:off x="5357351" y="3904363"/>
                <a:ext cx="45719" cy="516892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5427512" y="4020794"/>
                <a:ext cx="350009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映射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41" name="箭头: 下 40"/>
              <p:cNvSpPr/>
              <p:nvPr/>
            </p:nvSpPr>
            <p:spPr>
              <a:xfrm>
                <a:off x="2071984" y="3903034"/>
                <a:ext cx="45719" cy="65539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2" name="箭头: 下 41"/>
              <p:cNvSpPr/>
              <p:nvPr/>
            </p:nvSpPr>
            <p:spPr>
              <a:xfrm>
                <a:off x="2814466" y="3903033"/>
                <a:ext cx="45719" cy="655394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2303543" y="4096223"/>
                <a:ext cx="360629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映射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  <p:sp>
            <p:nvSpPr>
              <p:cNvPr id="44" name="箭头: 右 43"/>
              <p:cNvSpPr/>
              <p:nvPr/>
            </p:nvSpPr>
            <p:spPr>
              <a:xfrm flipV="1">
                <a:off x="3444394" y="4670940"/>
                <a:ext cx="911646" cy="4572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3403822" y="4381382"/>
                <a:ext cx="992789" cy="24622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sz="1200" b="1">
                    <a:solidFill>
                      <a:srgbClr val="C00000"/>
                    </a:solidFill>
                  </a:rPr>
                  <a:t>目标代数运算</a:t>
                </a:r>
                <a:endParaRPr lang="zh-CN" altLang="en-US" sz="1200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53" name="矩形: 圆角 52"/>
            <p:cNvSpPr/>
            <p:nvPr/>
          </p:nvSpPr>
          <p:spPr>
            <a:xfrm>
              <a:off x="5163652" y="3361571"/>
              <a:ext cx="6258020" cy="1677497"/>
            </a:xfrm>
            <a:prstGeom prst="roundRect">
              <a:avLst>
                <a:gd name="adj" fmla="val 11355"/>
              </a:avLst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3849225" y="3114374"/>
            <a:ext cx="145547" cy="34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7" name="文本框 56"/>
          <p:cNvSpPr txBox="1"/>
          <p:nvPr/>
        </p:nvSpPr>
        <p:spPr>
          <a:xfrm>
            <a:off x="578423" y="3917678"/>
            <a:ext cx="8060752" cy="63607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450"/>
              </a:spcBef>
              <a:spcAft>
                <a:spcPts val="450"/>
              </a:spcAft>
            </a:pP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子代数、商代数都是与原来代数同类型的代数，它们实质上也可用</a:t>
            </a:r>
            <a:r>
              <a:rPr lang="zh-CN" altLang="en-US" sz="1350" b="1">
                <a:solidFill>
                  <a:srgbClr val="C00000"/>
                </a:solidFill>
                <a:latin typeface="+mn-ea"/>
              </a:rPr>
              <a:t>同态</a:t>
            </a:r>
            <a:r>
              <a:rPr lang="zh-CN" altLang="en-US" sz="1350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刻画</a:t>
            </a:r>
            <a:endParaRPr lang="en-US" altLang="zh-CN" sz="1350" b="1">
              <a:solidFill>
                <a:srgbClr val="00206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14630" indent="-214630"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sz="1350" b="1">
                <a:solidFill>
                  <a:srgbClr val="C00000"/>
                </a:solidFill>
              </a:rPr>
              <a:t>子代数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</a:rPr>
              <a:t>与</a:t>
            </a:r>
            <a:r>
              <a:rPr lang="zh-CN" altLang="en-US" sz="1350" b="1">
                <a:solidFill>
                  <a:srgbClr val="C00000"/>
                </a:solidFill>
              </a:rPr>
              <a:t>单同态</a:t>
            </a:r>
            <a:r>
              <a:rPr lang="en-US" altLang="zh-CN" sz="1350" b="1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</a:rPr>
              <a:t>即既是单函数又是同态</a:t>
            </a:r>
            <a:r>
              <a:rPr lang="en-US" altLang="zh-CN" sz="1350" b="1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</a:rPr>
              <a:t>一一对应，</a:t>
            </a:r>
            <a:r>
              <a:rPr lang="zh-CN" altLang="en-US" sz="1350" b="1">
                <a:solidFill>
                  <a:srgbClr val="C00000"/>
                </a:solidFill>
              </a:rPr>
              <a:t>商代数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</a:rPr>
              <a:t>与</a:t>
            </a:r>
            <a:r>
              <a:rPr lang="zh-CN" altLang="en-US" sz="1350" b="1">
                <a:solidFill>
                  <a:srgbClr val="C00000"/>
                </a:solidFill>
              </a:rPr>
              <a:t>满同态</a:t>
            </a:r>
            <a:r>
              <a:rPr lang="en-US" altLang="zh-CN" sz="1350" b="1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</a:rPr>
              <a:t>即既是满函数又是同态</a:t>
            </a:r>
            <a:r>
              <a:rPr lang="en-US" altLang="zh-CN" sz="1350" b="1">
                <a:solidFill>
                  <a:schemeClr val="accent6">
                    <a:lumMod val="50000"/>
                  </a:schemeClr>
                </a:solidFill>
              </a:rPr>
              <a:t>)</a:t>
            </a:r>
            <a:r>
              <a:rPr lang="zh-CN" altLang="en-US" sz="1350" b="1">
                <a:solidFill>
                  <a:schemeClr val="accent6">
                    <a:lumMod val="50000"/>
                  </a:schemeClr>
                </a:solidFill>
              </a:rPr>
              <a:t>一一对应</a:t>
            </a:r>
            <a:endParaRPr lang="zh-CN" altLang="en-US" sz="1350" b="1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6" grpId="0" animBg="1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代数同态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代数同构</a:t>
            </a:r>
            <a:r>
              <a:rPr lang="en-US" altLang="zh-CN" sz="1350"/>
              <a:t>(isomorphism)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864239" y="1184507"/>
            <a:ext cx="7165336" cy="798232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25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两个代数之间存在同态，且这个同态是双函数，则称这两个代数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同构</a:t>
            </a:r>
            <a:endParaRPr lang="en-US" altLang="zh-CN" b="1">
              <a:solidFill>
                <a:srgbClr val="C00000"/>
              </a:solidFill>
              <a:latin typeface="+mn-ea"/>
            </a:endParaRPr>
          </a:p>
          <a:p>
            <a:pPr marL="257175" indent="-257175">
              <a:lnSpc>
                <a:spcPts val="225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同构的两个代数具有完全相同的代数性质</a:t>
            </a:r>
            <a:endParaRPr lang="zh-CN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864239" y="2161267"/>
                <a:ext cx="7464860" cy="66967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对代数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</m:e>
                      <m: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上的同余关系，商集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sub>
                    </m:sSub>
                    <m:r>
                      <a:rPr lang="en-US" altLang="zh-CN" sz="135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𝟎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𝟒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构成商代数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  <m:sub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∣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  <m:r>
                      <a:rPr lang="en-US" altLang="zh-CN" sz="135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等等</a:t>
                </a:r>
                <a:endParaRPr lang="zh-CN" altLang="en-US" sz="135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39" y="2161267"/>
                <a:ext cx="7464860" cy="669671"/>
              </a:xfrm>
              <a:prstGeom prst="rect">
                <a:avLst/>
              </a:prstGeom>
              <a:blipFill rotWithShape="1">
                <a:blip r:embed="rId1"/>
                <a:stretch>
                  <a:fillRect t="-54" r="6" b="-23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864240" y="3008278"/>
            <a:ext cx="7237904" cy="373555"/>
            <a:chOff x="1503523" y="3880671"/>
            <a:chExt cx="9650539" cy="498073"/>
          </a:xfrm>
        </p:grpSpPr>
        <p:sp>
          <p:nvSpPr>
            <p:cNvPr id="13" name="箭头: 右 12"/>
            <p:cNvSpPr/>
            <p:nvPr/>
          </p:nvSpPr>
          <p:spPr>
            <a:xfrm>
              <a:off x="5470309" y="4104032"/>
              <a:ext cx="1528033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2703728" y="3929724"/>
                  <a:ext cx="2766580" cy="4249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3728" y="3929724"/>
                  <a:ext cx="2766580" cy="42498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6998341" y="3929724"/>
                  <a:ext cx="4155721" cy="42498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zh-CN" altLang="en-US" sz="1350" b="1">
                    <a:solidFill>
                      <a:schemeClr val="accent2">
                        <a:lumMod val="5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8341" y="3929724"/>
                  <a:ext cx="4155721" cy="424989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1503523" y="3880671"/>
              <a:ext cx="1045969" cy="4924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200" b="1">
                  <a:solidFill>
                    <a:schemeClr val="accent2">
                      <a:lumMod val="50000"/>
                    </a:schemeClr>
                  </a:solidFill>
                </a:rPr>
                <a:t>等价类做商代数运算</a:t>
              </a:r>
              <a:endParaRPr lang="zh-CN" altLang="en-US" sz="1200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624546" y="3886302"/>
              <a:ext cx="907821" cy="49244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200" b="1">
                  <a:solidFill>
                    <a:schemeClr val="accent2">
                      <a:lumMod val="50000"/>
                    </a:schemeClr>
                  </a:solidFill>
                </a:rPr>
                <a:t>代表做原代数运算</a:t>
              </a:r>
              <a:endParaRPr lang="zh-CN" altLang="en-US" sz="1200" b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864240" y="3599342"/>
                <a:ext cx="7512998" cy="68833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={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𝟎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𝟒</m:t>
                        </m:r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}, 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35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同构，</a:t>
                </a:r>
                <a14:m>
                  <m:oMath xmlns:m="http://schemas.openxmlformats.org/officeDocument/2006/math"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𝝓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:</m:t>
                    </m:r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≡</m:t>
                                </m:r>
                              </m:e>
                              <m:sub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𝟓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ℤ</m:t>
                            </m:r>
                          </m:e>
                          <m:sub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135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⊗</m:t>
                            </m:r>
                          </m:e>
                          <m:sub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  <m:r>
                      <a:rPr lang="zh-CN" altLang="en-US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𝝓</m:t>
                    </m:r>
                    <m:d>
                      <m:dPr>
                        <m:ctrlPr>
                          <a:rPr lang="en-US" altLang="zh-CN" sz="135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350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350" b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𝒂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350" b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𝟓</m:t>
                            </m:r>
                          </m:sub>
                        </m:sSub>
                      </m:e>
                    </m:d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𝒂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𝐦𝐨𝐝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135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</m:oMath>
                </a14:m>
                <a:endParaRPr lang="en-US" altLang="zh-CN" sz="135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  <m:sub>
                        <m:r>
                          <a:rPr lang="en-US" altLang="zh-CN" sz="135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对应</a:t>
                </a:r>
                <a14:m>
                  <m:oMath xmlns:m="http://schemas.openxmlformats.org/officeDocument/2006/math">
                    <m:r>
                      <a:rPr lang="en-US" altLang="zh-CN" sz="135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altLang="zh-CN" sz="135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对应</a:t>
                </a:r>
                <a14:m>
                  <m:oMath xmlns:m="http://schemas.openxmlformats.org/officeDocument/2006/math">
                    <m:r>
                      <a:rPr lang="en-US" altLang="zh-CN" sz="135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等等，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≡</m:t>
                            </m:r>
                          </m:e>
                          <m:sub>
                            <m:r>
                              <a:rPr lang="en-US" altLang="zh-CN" sz="135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sub>
                    </m:sSub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本质上就是模</a:t>
                </a:r>
                <a14:m>
                  <m:oMath xmlns:m="http://schemas.openxmlformats.org/officeDocument/2006/math">
                    <m:r>
                      <a:rPr lang="en-US" altLang="zh-CN" sz="135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sz="135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乘运算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sz="135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endParaRPr lang="zh-CN" altLang="en-US" sz="135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40" y="3599342"/>
                <a:ext cx="7512998" cy="688330"/>
              </a:xfrm>
              <a:prstGeom prst="rect">
                <a:avLst/>
              </a:prstGeom>
              <a:blipFill rotWithShape="1">
                <a:blip r:embed="rId4"/>
                <a:stretch>
                  <a:fillRect t="-24" r="4" b="-19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代数同态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代数同态基本定理</a:t>
            </a:r>
            <a:endParaRPr lang="zh-CN" altLang="en-US" sz="1350"/>
          </a:p>
        </p:txBody>
      </p:sp>
      <p:sp>
        <p:nvSpPr>
          <p:cNvPr id="2" name="文本框 1"/>
          <p:cNvSpPr txBox="1"/>
          <p:nvPr/>
        </p:nvSpPr>
        <p:spPr>
          <a:xfrm>
            <a:off x="888085" y="1307460"/>
            <a:ext cx="7136728" cy="82067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</a:pPr>
            <a:r>
              <a:rPr lang="zh-CN" altLang="en-US" b="1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两个代数之间存在同态，且这个同态是双函数，则称这两个代数</a:t>
            </a:r>
            <a:r>
              <a:rPr lang="zh-CN" altLang="en-US" b="1">
                <a:solidFill>
                  <a:srgbClr val="C00000"/>
                </a:solidFill>
                <a:latin typeface="+mn-ea"/>
              </a:rPr>
              <a:t>同构</a:t>
            </a:r>
            <a:endParaRPr lang="en-US" altLang="zh-CN" b="1">
              <a:solidFill>
                <a:srgbClr val="C00000"/>
              </a:solidFill>
              <a:latin typeface="+mn-ea"/>
            </a:endParaRPr>
          </a:p>
          <a:p>
            <a:pPr marL="257175" indent="-257175">
              <a:lnSpc>
                <a:spcPts val="2400"/>
              </a:lnSpc>
              <a:spcBef>
                <a:spcPts val="450"/>
              </a:spcBef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accent6">
                    <a:lumMod val="50000"/>
                  </a:schemeClr>
                </a:solidFill>
              </a:rPr>
              <a:t>同构的两个代数具有完全相同的代数性质</a:t>
            </a:r>
            <a:endParaRPr lang="zh-CN" altLang="en-US" b="1">
              <a:solidFill>
                <a:schemeClr val="accent6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888085" y="2515825"/>
                <a:ext cx="7080023" cy="18024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:r>
                  <a:rPr lang="zh-CN" altLang="en-US" sz="15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一般来说，对于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同态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𝒇</m:t>
                    </m:r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∗</m:t>
                        </m:r>
                      </m:e>
                    </m:d>
                    <m:r>
                      <a:rPr lang="en-US" altLang="zh-CN" sz="15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→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  <m:r>
                          <a:rPr lang="en-US" altLang="zh-CN" sz="15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 ∘</m:t>
                        </m:r>
                      </m:e>
                    </m:d>
                  </m:oMath>
                </a14:m>
                <a:endParaRPr lang="en-US" altLang="zh-CN" sz="15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导出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,∗)</m:t>
                    </m:r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上一个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同余关系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altLang="zh-CN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214630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1500" b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∘</m:t>
                        </m:r>
                      </m:e>
                    </m:d>
                  </m:oMath>
                </a14:m>
                <a:r>
                  <a:rPr lang="zh-CN" altLang="en-US" sz="1500" b="1">
                    <a:solidFill>
                      <a:schemeClr val="accent6">
                        <a:lumMod val="50000"/>
                      </a:schemeClr>
                    </a:solidFill>
                    <a:latin typeface="+mn-ea"/>
                  </a:rPr>
                  <a:t>的运算封闭，构成</a:t>
                </a:r>
                <a:r>
                  <a:rPr lang="zh-CN" altLang="en-US" sz="1500" b="1">
                    <a:solidFill>
                      <a:srgbClr val="C00000"/>
                    </a:solidFill>
                    <a:latin typeface="+mn-ea"/>
                  </a:rPr>
                  <a:t>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5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500" b="1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b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  <m:r>
                          <a:rPr lang="en-US" altLang="zh-CN" sz="1500" b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∘</m:t>
                        </m:r>
                      </m:e>
                    </m:d>
                  </m:oMath>
                </a14:m>
                <a:endParaRPr lang="en-US" altLang="zh-CN" sz="1500" b="1">
                  <a:solidFill>
                    <a:schemeClr val="accent6">
                      <a:lumMod val="50000"/>
                    </a:schemeClr>
                  </a:solidFill>
                  <a:latin typeface="+mn-ea"/>
                </a:endParaRPr>
              </a:p>
              <a:p>
                <a:pPr marL="557530" lvl="1" indent="-214630">
                  <a:lnSpc>
                    <a:spcPts val="2100"/>
                  </a:lnSpc>
                  <a:spcBef>
                    <a:spcPts val="450"/>
                  </a:spcBef>
                  <a:spcAft>
                    <a:spcPts val="45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关于同余关系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zh-CN" sz="135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:r>
                  <a:rPr lang="zh-CN" altLang="en-US" sz="135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商代数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135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  <m: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, ⊗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与子代数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135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d>
                        <m:r>
                          <a:rPr lang="en-US" altLang="zh-CN" sz="135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 ∘</m:t>
                        </m:r>
                      </m:e>
                    </m:d>
                  </m:oMath>
                </a14:m>
                <a:r>
                  <a:rPr lang="zh-CN" altLang="en-US" sz="1350" b="1">
                    <a:solidFill>
                      <a:srgbClr val="0000FF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同构</a:t>
                </a:r>
                <a:r>
                  <a:rPr lang="zh-CN" altLang="en-US" sz="1350" b="1">
                    <a:solidFill>
                      <a:schemeClr val="accent2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，这称为</a:t>
                </a:r>
                <a:r>
                  <a:rPr lang="zh-CN" altLang="en-US" sz="1350" b="1">
                    <a:solidFill>
                      <a:srgbClr val="C00000"/>
                    </a:solidFill>
                    <a:latin typeface="+mn-ea"/>
                  </a:rPr>
                  <a:t>代数同态基本定理</a:t>
                </a:r>
                <a:endParaRPr lang="zh-CN" altLang="en-US" sz="1350" b="1">
                  <a:solidFill>
                    <a:srgbClr val="C00000"/>
                  </a:solidFill>
                  <a:latin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085" y="2515825"/>
                <a:ext cx="7080023" cy="1802481"/>
              </a:xfrm>
              <a:prstGeom prst="rect">
                <a:avLst/>
              </a:prstGeom>
              <a:blipFill rotWithShape="1">
                <a:blip r:embed="rId1"/>
                <a:stretch>
                  <a:fillRect l="-5" t="-33" r="2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571500" y="1103243"/>
            <a:ext cx="7986091" cy="944218"/>
            <a:chOff x="571500" y="1103243"/>
            <a:chExt cx="7986091" cy="944218"/>
          </a:xfrm>
        </p:grpSpPr>
        <p:sp>
          <p:nvSpPr>
            <p:cNvPr id="11" name="矩形: 圆角 10"/>
            <p:cNvSpPr/>
            <p:nvPr/>
          </p:nvSpPr>
          <p:spPr>
            <a:xfrm>
              <a:off x="571500" y="1103243"/>
              <a:ext cx="7986091" cy="944218"/>
            </a:xfrm>
            <a:prstGeom prst="roundRect">
              <a:avLst>
                <a:gd name="adj" fmla="val 10965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1030" y="1152025"/>
              <a:ext cx="7881937" cy="835200"/>
            </a:xfrm>
            <a:prstGeom prst="rect">
              <a:avLst/>
            </a:prstGeom>
          </p:spPr>
        </p:pic>
      </p:grp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整数整除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31030" y="2453653"/>
                <a:ext cx="5074031" cy="158908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这里用乘法定义整除，因此不排除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是</a:t>
                </a: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的情形</a:t>
                </a:r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是任意整数的倍数，但</a:t>
                </a: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不是任何非零整数的因数</a:t>
                </a:r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整数</a:t>
                </a: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</a:rPr>
                  <a:t>-1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是任意整数的因数</a:t>
                </a:r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对整数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</a:rPr>
                  <a:t>也都是它的因数</a:t>
                </a:r>
                <a:endParaRPr lang="zh-CN" altLang="en-US" sz="16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030" y="2453653"/>
                <a:ext cx="5074031" cy="1589089"/>
              </a:xfrm>
              <a:prstGeom prst="rect">
                <a:avLst/>
              </a:prstGeom>
              <a:blipFill rotWithShape="1">
                <a:blip r:embed="rId2"/>
                <a:stretch>
                  <a:fillRect l="-9" t="-1" r="4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1" y="4704682"/>
            <a:ext cx="7091570" cy="1692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tIns="0" bIns="0" rtlCol="0">
            <a:spAutoFit/>
          </a:bodyPr>
          <a:lstStyle/>
          <a:p>
            <a:r>
              <a:rPr lang="zh-CN" altLang="en-US" sz="1100" b="1">
                <a:solidFill>
                  <a:schemeClr val="bg1"/>
                </a:solidFill>
              </a:rPr>
              <a:t>注：由于自编讲稿在不断修改和完善，所以定义、定理的编号有些错乱，请忽略所有幻灯片中定义和定理的编号。</a:t>
            </a:r>
            <a:endParaRPr lang="zh-CN" altLang="en-US" sz="11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472109" y="1321903"/>
            <a:ext cx="8189843" cy="2385391"/>
          </a:xfrm>
          <a:prstGeom prst="roundRect">
            <a:avLst>
              <a:gd name="adj" fmla="val 76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整数整除的基本性质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21" y="1361767"/>
            <a:ext cx="8040757" cy="22853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1088335" y="827974"/>
            <a:ext cx="6952422" cy="3818569"/>
          </a:xfrm>
          <a:prstGeom prst="roundRect">
            <a:avLst>
              <a:gd name="adj" fmla="val 45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整数的带余数除法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120" y="895122"/>
            <a:ext cx="6815757" cy="368844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03335" y="1734379"/>
            <a:ext cx="1828800" cy="5890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自然数集的良序原理与数学归纳法等价</a:t>
            </a:r>
            <a:endParaRPr lang="zh-CN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350"/>
                  <a:t>整数的模</a:t>
                </a:r>
                <a14:m>
                  <m:oMath xmlns:m="http://schemas.openxmlformats.org/officeDocument/2006/math">
                    <m:r>
                      <a:rPr lang="en-US" altLang="zh-CN" sz="135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350"/>
                  <a:t>运算</a:t>
                </a:r>
                <a:endParaRPr lang="zh-CN" altLang="en-US" sz="135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blipFill rotWithShape="1">
                <a:blip r:embed="rId1"/>
                <a:stretch>
                  <a:fillRect l="-69" t="-1976" r="-69" b="-1811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578953" y="1162877"/>
            <a:ext cx="7986091" cy="631135"/>
            <a:chOff x="571500" y="1346751"/>
            <a:chExt cx="7986091" cy="631135"/>
          </a:xfrm>
        </p:grpSpPr>
        <p:sp>
          <p:nvSpPr>
            <p:cNvPr id="11" name="矩形: 圆角 10"/>
            <p:cNvSpPr/>
            <p:nvPr/>
          </p:nvSpPr>
          <p:spPr>
            <a:xfrm>
              <a:off x="571500" y="1346751"/>
              <a:ext cx="7986091" cy="631135"/>
            </a:xfrm>
            <a:prstGeom prst="roundRect">
              <a:avLst>
                <a:gd name="adj" fmla="val 10965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164" y="1400179"/>
              <a:ext cx="7876762" cy="52816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578953" y="2109764"/>
                <a:ext cx="7986091" cy="236526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任意整数被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除的可能余数是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⋯, 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，将这个集合记为：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⋯, 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可在这个集合上定义两个运算，分别称为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加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:r>
                  <a:rPr lang="zh-CN" altLang="en-US" b="1">
                    <a:solidFill>
                      <a:srgbClr val="C00000"/>
                    </a:solidFill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rgbClr val="C00000"/>
                    </a:solidFill>
                  </a:rPr>
                  <a:t>乘</a:t>
                </a: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𝒂𝒃</m:t>
                          </m:r>
                        </m:e>
                      </m:d>
                      <m:r>
                        <a:rPr lang="en-US" altLang="zh-CN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𝒎𝒐𝒅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1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altLang="zh-CN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3000"/>
                  </a:lnSpc>
                </a:pPr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求模运算保证模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加和模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乘的结果仍在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中，即这两个运算对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b="1">
                    <a:solidFill>
                      <a:schemeClr val="accent2">
                        <a:lumMod val="50000"/>
                      </a:schemeClr>
                    </a:solidFill>
                  </a:rPr>
                  <a:t>封闭。</a:t>
                </a:r>
                <a:endParaRPr lang="zh-CN" altLang="en-US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53" y="2109764"/>
                <a:ext cx="7986091" cy="2365263"/>
              </a:xfrm>
              <a:prstGeom prst="rect">
                <a:avLst/>
              </a:prstGeom>
              <a:blipFill rotWithShape="1">
                <a:blip r:embed="rId3"/>
                <a:stretch>
                  <a:fillRect l="-6" t="-12" r="2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641074" y="1798983"/>
            <a:ext cx="7846943" cy="2300908"/>
          </a:xfrm>
          <a:prstGeom prst="roundRect">
            <a:avLst>
              <a:gd name="adj" fmla="val 759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350"/>
                  <a:t>模</a:t>
                </a:r>
                <a14:m>
                  <m:oMath xmlns:m="http://schemas.openxmlformats.org/officeDocument/2006/math">
                    <m:r>
                      <a:rPr lang="en-US" altLang="zh-CN" sz="135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350"/>
                  <a:t>同余</a:t>
                </a:r>
                <a:endParaRPr lang="zh-CN" altLang="en-US" sz="135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blipFill rotWithShape="1">
                <a:blip r:embed="rId1"/>
                <a:stretch>
                  <a:fillRect l="-69" t="-1976" r="-69" b="-1811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1053875"/>
            <a:ext cx="7081630" cy="2622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07" y="1850983"/>
            <a:ext cx="7742583" cy="218883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/>
          <p:nvPr/>
        </p:nvSpPr>
        <p:spPr>
          <a:xfrm>
            <a:off x="690770" y="3469199"/>
            <a:ext cx="6420678" cy="1176967"/>
          </a:xfrm>
          <a:prstGeom prst="roundRect">
            <a:avLst>
              <a:gd name="adj" fmla="val 10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690770" y="2373727"/>
            <a:ext cx="7513982" cy="865757"/>
          </a:xfrm>
          <a:prstGeom prst="roundRect">
            <a:avLst>
              <a:gd name="adj" fmla="val 10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725556" y="964097"/>
            <a:ext cx="7513982" cy="1176967"/>
          </a:xfrm>
          <a:prstGeom prst="roundRect">
            <a:avLst>
              <a:gd name="adj" fmla="val 10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53" y="993915"/>
            <a:ext cx="7369127" cy="112027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350"/>
                  <a:t>证明模</a:t>
                </a:r>
                <a14:m>
                  <m:oMath xmlns:m="http://schemas.openxmlformats.org/officeDocument/2006/math">
                    <m:r>
                      <a:rPr lang="en-US" altLang="zh-CN" sz="135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350"/>
                  <a:t>运算性质的准备</a:t>
                </a:r>
                <a:endParaRPr lang="zh-CN" altLang="en-US" sz="135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blipFill rotWithShape="1">
                <a:blip r:embed="rId2"/>
                <a:stretch>
                  <a:fillRect l="-69" t="-1976" r="-69" b="-1811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12" y="2426541"/>
            <a:ext cx="7374836" cy="76712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12" y="3499017"/>
            <a:ext cx="6286501" cy="11339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7370606" y="2823734"/>
                <a:ext cx="1286377" cy="845488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400" b="1">
                    <a:solidFill>
                      <a:schemeClr val="bg1"/>
                    </a:solidFill>
                  </a:rPr>
                  <a:t>这表明整数加法和乘法保持模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400" b="1">
                    <a:solidFill>
                      <a:schemeClr val="bg1"/>
                    </a:solidFill>
                  </a:rPr>
                  <a:t>同余关系</a:t>
                </a:r>
                <a:endParaRPr lang="zh-CN" altLang="en-US" sz="1400" b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06" y="2823734"/>
                <a:ext cx="1286377" cy="845488"/>
              </a:xfrm>
              <a:prstGeom prst="rect">
                <a:avLst/>
              </a:prstGeom>
              <a:blipFill rotWithShape="1">
                <a:blip r:embed="rId5"/>
                <a:stretch>
                  <a:fillRect l="-13" t="-62" r="2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805070" y="879613"/>
            <a:ext cx="5794513" cy="9193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350"/>
                  <a:t>模</a:t>
                </a:r>
                <a14:m>
                  <m:oMath xmlns:m="http://schemas.openxmlformats.org/officeDocument/2006/math">
                    <m:r>
                      <a:rPr lang="en-US" altLang="zh-CN" sz="135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350"/>
                  <a:t>加运算的性质</a:t>
                </a:r>
                <a:endParaRPr lang="zh-CN" altLang="en-US" sz="135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blipFill rotWithShape="1">
                <a:blip r:embed="rId1"/>
                <a:stretch>
                  <a:fillRect l="-69" t="-1976" r="-69" b="-1811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34" y="931106"/>
            <a:ext cx="5700092" cy="83108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34" y="1952401"/>
            <a:ext cx="6564796" cy="27189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559826" y="2477783"/>
                <a:ext cx="2206487" cy="130119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直接从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的定义，即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algn="ctr">
                  <a:lnSpc>
                    <a:spcPts val="24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⊕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0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𝐦𝐨𝐝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满足结合律并不容易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6" y="2477783"/>
                <a:ext cx="2206487" cy="1301190"/>
              </a:xfrm>
              <a:prstGeom prst="rect">
                <a:avLst/>
              </a:prstGeom>
              <a:blipFill rotWithShape="1">
                <a:blip r:embed="rId4"/>
                <a:stretch>
                  <a:fillRect l="-13" t="-1" r="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solidFill>
                <a:srgbClr val="21069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350"/>
                  <a:t>模</a:t>
                </a:r>
                <a14:m>
                  <m:oMath xmlns:m="http://schemas.openxmlformats.org/officeDocument/2006/math">
                    <m:r>
                      <a:rPr lang="en-US" altLang="zh-CN" sz="135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1350"/>
                  <a:t>乘运算的性质</a:t>
                </a:r>
                <a:endParaRPr lang="zh-CN" altLang="en-US" sz="1350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41757"/>
                <a:ext cx="9144002" cy="344460"/>
              </a:xfrm>
              <a:prstGeom prst="rect">
                <a:avLst/>
              </a:prstGeom>
              <a:blipFill rotWithShape="1">
                <a:blip r:embed="rId1"/>
                <a:stretch>
                  <a:fillRect l="-69" t="-1976" r="-69" b="-1811"/>
                </a:stretch>
              </a:blip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675860" y="1019493"/>
            <a:ext cx="7046844" cy="422414"/>
            <a:chOff x="591378" y="988943"/>
            <a:chExt cx="7046844" cy="422414"/>
          </a:xfrm>
        </p:grpSpPr>
        <p:sp>
          <p:nvSpPr>
            <p:cNvPr id="4" name="矩形: 圆角 3"/>
            <p:cNvSpPr/>
            <p:nvPr/>
          </p:nvSpPr>
          <p:spPr>
            <a:xfrm>
              <a:off x="591378" y="988943"/>
              <a:ext cx="7046844" cy="42241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982" y="1038683"/>
              <a:ext cx="6912665" cy="31926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75860" y="1695072"/>
                <a:ext cx="7802218" cy="270542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中哪些元素对模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乘有逆元是一个比较复杂的问题</a:t>
                </a:r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的每个元素对模</a:t>
                </a: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7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乘都有逆元，但对于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的模</a:t>
                </a:r>
                <a:r>
                  <a:rPr lang="en-US" altLang="zh-CN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8</a:t>
                </a: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乘，却有些元素有逆元，有些元素没有逆元</a:t>
                </a:r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，它的逆元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满足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𝒂𝒃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𝒎𝒐𝒅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𝒂𝒃</m:t>
                        </m:r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𝒎𝒐𝒅</m:t>
                        </m:r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一般地，对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以及整数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关于模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乘是否有逆元等价于同余方程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𝒂𝒙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ctrlP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𝒎𝒐𝒅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是否有解</a:t>
                </a:r>
                <a:endParaRPr lang="en-US" altLang="zh-CN" sz="16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lvl="1" indent="-285750">
                  <a:lnSpc>
                    <a:spcPts val="26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解决这个问题需要更多的数论知识</a:t>
                </a:r>
                <a:endParaRPr lang="zh-CN" altLang="en-US" sz="16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60" y="1695072"/>
                <a:ext cx="7802218" cy="2705421"/>
              </a:xfrm>
              <a:prstGeom prst="rect">
                <a:avLst/>
              </a:prstGeom>
              <a:blipFill rotWithShape="1">
                <a:blip r:embed="rId3"/>
                <a:stretch>
                  <a:fillRect l="-3" t="-9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5928691" y="4042060"/>
            <a:ext cx="2539449" cy="33855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bg1"/>
                </a:solidFill>
              </a:rPr>
              <a:t>有知道这个问题的答案吗？</a:t>
            </a:r>
            <a:endParaRPr lang="zh-CN" altLang="en-US" sz="1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/>
        </p:nvSpPr>
        <p:spPr>
          <a:xfrm>
            <a:off x="819152" y="1007768"/>
            <a:ext cx="7502029" cy="1367681"/>
          </a:xfrm>
          <a:prstGeom prst="roundRect">
            <a:avLst>
              <a:gd name="adj" fmla="val 976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贝祖定理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918" y="1056434"/>
            <a:ext cx="7396162" cy="127439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2661217"/>
            <a:ext cx="6634163" cy="2805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8" y="3294524"/>
            <a:ext cx="5838826" cy="2352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67" y="3893399"/>
            <a:ext cx="7396162" cy="463734"/>
          </a:xfrm>
          <a:prstGeom prst="rect">
            <a:avLst/>
          </a:prstGeom>
        </p:spPr>
      </p:pic>
      <p:sp>
        <p:nvSpPr>
          <p:cNvPr id="16" name="矩形: 圆角 15"/>
          <p:cNvSpPr/>
          <p:nvPr/>
        </p:nvSpPr>
        <p:spPr>
          <a:xfrm>
            <a:off x="725557" y="2661217"/>
            <a:ext cx="7663069" cy="1756726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辗转相除法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41075" y="894521"/>
                <a:ext cx="5680213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如何计算两个整数的最大公因数，以及贝祖定理中的系数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sz="1600" b="1">
                    <a:solidFill>
                      <a:schemeClr val="accent2">
                        <a:lumMod val="50000"/>
                      </a:schemeClr>
                    </a:solidFill>
                  </a:rPr>
                  <a:t>?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75" y="894521"/>
                <a:ext cx="5680213" cy="338554"/>
              </a:xfrm>
              <a:prstGeom prst="rect">
                <a:avLst/>
              </a:prstGeom>
              <a:blipFill rotWithShape="1">
                <a:blip r:embed="rId1"/>
                <a:stretch>
                  <a:fillRect l="-6" t="-130" r="9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/>
          <p:nvPr/>
        </p:nvGrpSpPr>
        <p:grpSpPr>
          <a:xfrm>
            <a:off x="621197" y="1408319"/>
            <a:ext cx="5824331" cy="338554"/>
            <a:chOff x="621197" y="1430354"/>
            <a:chExt cx="5824331" cy="338554"/>
          </a:xfrm>
        </p:grpSpPr>
        <p:sp>
          <p:nvSpPr>
            <p:cNvPr id="12" name="矩形: 圆角 11"/>
            <p:cNvSpPr/>
            <p:nvPr/>
          </p:nvSpPr>
          <p:spPr>
            <a:xfrm>
              <a:off x="621197" y="1430354"/>
              <a:ext cx="5824331" cy="3385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075" y="1460174"/>
              <a:ext cx="5789543" cy="268564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21197" y="1957630"/>
            <a:ext cx="5749786" cy="2783336"/>
            <a:chOff x="601317" y="1916078"/>
            <a:chExt cx="5749786" cy="2743943"/>
          </a:xfrm>
        </p:grpSpPr>
        <p:sp>
          <p:nvSpPr>
            <p:cNvPr id="13" name="矩形: 圆角 12"/>
            <p:cNvSpPr/>
            <p:nvPr/>
          </p:nvSpPr>
          <p:spPr>
            <a:xfrm>
              <a:off x="601317" y="1916078"/>
              <a:ext cx="5749786" cy="2743943"/>
            </a:xfrm>
            <a:prstGeom prst="roundRect">
              <a:avLst>
                <a:gd name="adj" fmla="val 4206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075" y="1955837"/>
              <a:ext cx="5660333" cy="233166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6445529" y="2070641"/>
                <a:ext cx="2310846" cy="17851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:r>
                  <a:rPr lang="zh-CN" altLang="en-US" sz="14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辗转相除法计算最大公因数的可行性：</a:t>
                </a:r>
                <a:endParaRPr lang="en-US" altLang="zh-CN" sz="14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带余数除法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𝒃𝒒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 marL="285750" indent="-285750">
                  <a:lnSpc>
                    <a:spcPts val="24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</a:rPr>
                  <a:t>整除的基本性质</a:t>
                </a:r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lnSpc>
                    <a:spcPts val="24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⟹∀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𝒂𝒔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1" i="1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𝒃𝒕</m:t>
                      </m:r>
                    </m:oMath>
                  </m:oMathPara>
                </a14:m>
                <a:endParaRPr lang="zh-CN" altLang="en-US" sz="1200" b="1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529" y="2070641"/>
                <a:ext cx="2310846" cy="1785104"/>
              </a:xfrm>
              <a:prstGeom prst="rect">
                <a:avLst/>
              </a:prstGeom>
              <a:blipFill rotWithShape="1">
                <a:blip r:embed="rId4"/>
                <a:stretch>
                  <a:fillRect l="-12" t="-30" r="16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55" y="4404750"/>
            <a:ext cx="5660333" cy="2890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/>
          <p:cNvSpPr/>
          <p:nvPr/>
        </p:nvSpPr>
        <p:spPr>
          <a:xfrm>
            <a:off x="815009" y="785191"/>
            <a:ext cx="5635487" cy="1639957"/>
          </a:xfrm>
          <a:prstGeom prst="roundRect">
            <a:avLst>
              <a:gd name="adj" fmla="val 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贝祖系数的计算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733" y="827974"/>
            <a:ext cx="5561946" cy="1550966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815009" y="2639031"/>
            <a:ext cx="4755874" cy="1639957"/>
            <a:chOff x="815009" y="2673626"/>
            <a:chExt cx="4755874" cy="1639957"/>
          </a:xfrm>
        </p:grpSpPr>
        <p:sp>
          <p:nvSpPr>
            <p:cNvPr id="12" name="矩形: 圆角 11"/>
            <p:cNvSpPr/>
            <p:nvPr/>
          </p:nvSpPr>
          <p:spPr>
            <a:xfrm>
              <a:off x="815009" y="2673626"/>
              <a:ext cx="4755874" cy="1639957"/>
            </a:xfrm>
            <a:prstGeom prst="roundRect">
              <a:avLst>
                <a:gd name="adj" fmla="val 8182"/>
              </a:avLst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734" y="2709083"/>
              <a:ext cx="4682331" cy="155946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815009" y="4358309"/>
                <a:ext cx="4532243" cy="33855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𝟖𝟑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(−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 ∗ 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𝟖𝟑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𝟑𝟏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</m:oMath>
                  </m:oMathPara>
                </a14:m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09" y="4358309"/>
                <a:ext cx="4532243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7" t="-90" r="12" b="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6698973" y="913939"/>
            <a:ext cx="1630018" cy="13973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这表明贝祖定理的证明可使用辗转相除法，无需再用良序原理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784574" y="2634923"/>
                <a:ext cx="2937013" cy="184665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𝟑𝟏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𝟕𝟓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𝟐𝟖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6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𝟖𝟑</m:t>
                      </m:r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1600" b="1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574" y="2634923"/>
                <a:ext cx="2937013" cy="1846659"/>
              </a:xfrm>
              <a:prstGeom prst="rect">
                <a:avLst/>
              </a:prstGeom>
              <a:blipFill rotWithShape="1">
                <a:blip r:embed="rId4"/>
                <a:stretch>
                  <a:fillRect l="-12" t="-17" r="17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4422913" y="3995483"/>
            <a:ext cx="1118152" cy="21544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tIns="0" bIns="0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程序的输出</a:t>
            </a:r>
            <a:endParaRPr lang="zh-CN" altLang="en-US" sz="1400" b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46943" y="2639031"/>
            <a:ext cx="895328" cy="21544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tIns="0" bIns="0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手工计算</a:t>
            </a:r>
            <a:endParaRPr lang="zh-CN" alt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整数模运算练习</a:t>
            </a:r>
            <a:endParaRPr lang="zh-CN" altLang="en-US" sz="135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541" y="853080"/>
            <a:ext cx="6634578" cy="86291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53" y="2055161"/>
            <a:ext cx="6634577" cy="107663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84" y="3529403"/>
            <a:ext cx="6773726" cy="8931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63487" y="1501162"/>
            <a:ext cx="40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033173" y="4143825"/>
            <a:ext cx="505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160229" y="2874825"/>
            <a:ext cx="505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289069" y="2622355"/>
            <a:ext cx="3340544" cy="7082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957972" y="887486"/>
                <a:ext cx="2271627" cy="99809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𝒎𝒐𝒅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𝒎𝒐𝒅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</a:p>
              <a:p>
                <a:pPr>
                  <a:lnSpc>
                    <a:spcPts val="1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d>
                        <m:dPr>
                          <m:ctrlP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𝒎𝒐𝒅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1200" b="1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e>
                      </m:d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zh-CN" sz="1200" b="1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972" y="887486"/>
                <a:ext cx="2271627" cy="998094"/>
              </a:xfrm>
              <a:prstGeom prst="rect">
                <a:avLst/>
              </a:prstGeom>
              <a:blipFill rotWithShape="1">
                <a:blip r:embed="rId5"/>
                <a:stretch>
                  <a:fillRect l="-18" t="-39" r="28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5289069" y="3497374"/>
            <a:ext cx="208224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贝祖系数不唯一，但用辗转相除法算出来的是唯一的。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高斯整数及其剩余类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高斯整数的整除</a:t>
            </a:r>
            <a:endParaRPr lang="zh-CN" altLang="en-US" sz="1350"/>
          </a:p>
        </p:txBody>
      </p:sp>
      <p:grpSp>
        <p:nvGrpSpPr>
          <p:cNvPr id="13" name="组合 12"/>
          <p:cNvGrpSpPr/>
          <p:nvPr/>
        </p:nvGrpSpPr>
        <p:grpSpPr>
          <a:xfrm>
            <a:off x="887067" y="934278"/>
            <a:ext cx="7369865" cy="2290969"/>
            <a:chOff x="894522" y="974035"/>
            <a:chExt cx="7369865" cy="2290969"/>
          </a:xfrm>
        </p:grpSpPr>
        <p:sp>
          <p:nvSpPr>
            <p:cNvPr id="4" name="矩形: 圆角 3"/>
            <p:cNvSpPr/>
            <p:nvPr/>
          </p:nvSpPr>
          <p:spPr>
            <a:xfrm>
              <a:off x="894522" y="974035"/>
              <a:ext cx="7369865" cy="2290969"/>
            </a:xfrm>
            <a:prstGeom prst="roundRect">
              <a:avLst>
                <a:gd name="adj" fmla="val 6472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34277" y="1020510"/>
              <a:ext cx="7275443" cy="2192823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887067" y="3573308"/>
            <a:ext cx="7404652" cy="834887"/>
            <a:chOff x="894522" y="3617843"/>
            <a:chExt cx="7404652" cy="834887"/>
          </a:xfrm>
        </p:grpSpPr>
        <p:sp>
          <p:nvSpPr>
            <p:cNvPr id="12" name="矩形: 圆角 11"/>
            <p:cNvSpPr/>
            <p:nvPr/>
          </p:nvSpPr>
          <p:spPr>
            <a:xfrm>
              <a:off x="894522" y="3617843"/>
              <a:ext cx="7404652" cy="834887"/>
            </a:xfrm>
            <a:prstGeom prst="roundRect">
              <a:avLst>
                <a:gd name="adj" fmla="val 13096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277" y="3652822"/>
              <a:ext cx="7315198" cy="75861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高斯整数及其剩余类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高斯整数模运算练习</a:t>
            </a:r>
            <a:endParaRPr lang="zh-CN" altLang="en-US" sz="135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63" y="2404578"/>
            <a:ext cx="6977269" cy="11432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63" y="880863"/>
            <a:ext cx="6977269" cy="11348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177" y="1794245"/>
            <a:ext cx="2912166" cy="2196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21295" y="1801703"/>
            <a:ext cx="40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964595" y="3315604"/>
            <a:ext cx="40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363" y="3639213"/>
            <a:ext cx="6997146" cy="10246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高斯整数及其剩余类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高斯整数模运算练习</a:t>
            </a:r>
            <a:endParaRPr lang="zh-CN" altLang="en-US" sz="135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364" y="1029547"/>
            <a:ext cx="6977269" cy="116165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65" y="2329717"/>
            <a:ext cx="6977269" cy="1522846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11356" y="1933348"/>
            <a:ext cx="40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25248" y="3934699"/>
            <a:ext cx="483538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accent2">
                    <a:lumMod val="50000"/>
                  </a:schemeClr>
                </a:solidFill>
              </a:rPr>
              <a:t>手工计算无需使用带余数除法计算每个剩余类代表的标准值，但编程实现使用带余数除法计算对应的标准值更为方便。</a:t>
            </a:r>
            <a:endParaRPr lang="zh-CN" altLang="en-US" sz="14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595673" y="2182256"/>
            <a:ext cx="7952651" cy="1999921"/>
          </a:xfrm>
          <a:prstGeom prst="roundRect">
            <a:avLst>
              <a:gd name="adj" fmla="val 49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数域上的多项式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595673" y="926533"/>
                <a:ext cx="7952651" cy="9501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代表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ℂ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，或其他数域，例如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𝒑</m:t>
                    </m:r>
                  </m:oMath>
                </a14:m>
                <a:r>
                  <a:rPr lang="zh-CN" altLang="en-US" sz="1600" b="1">
                    <a:solidFill>
                      <a:srgbClr val="00206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是素数</a:t>
                </a:r>
                <a:endParaRPr lang="en-US" altLang="zh-CN" sz="1600" b="1">
                  <a:solidFill>
                    <a:srgbClr val="00206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rgbClr val="C00000"/>
                    </a:solidFill>
                  </a:rPr>
                  <a:t>数域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是能做加减乘除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(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除数非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)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的集合，加法和乘法满足交换律、结合律，乘法对加法有分配律</a:t>
                </a:r>
                <a:endParaRPr lang="en-US" altLang="zh-CN" sz="14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加法有单位元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，乘法有单位元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，每个元素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关于加法有逆元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，每个非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元素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有乘法逆元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3" y="926533"/>
                <a:ext cx="7952651" cy="950197"/>
              </a:xfrm>
              <a:prstGeom prst="rect">
                <a:avLst/>
              </a:prstGeom>
              <a:blipFill rotWithShape="1">
                <a:blip r:embed="rId1"/>
                <a:stretch>
                  <a:fillRect l="-1" t="-7" r="7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92" y="2217046"/>
            <a:ext cx="7847616" cy="193906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/>
          <p:cNvSpPr/>
          <p:nvPr/>
        </p:nvSpPr>
        <p:spPr>
          <a:xfrm>
            <a:off x="1003855" y="857207"/>
            <a:ext cx="7131647" cy="1052356"/>
          </a:xfrm>
          <a:prstGeom prst="roundRect">
            <a:avLst>
              <a:gd name="adj" fmla="val 863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多项式的运算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287" y="896969"/>
            <a:ext cx="7057425" cy="96661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04" y="2194622"/>
            <a:ext cx="6654248" cy="69210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198" y="3011074"/>
            <a:ext cx="5779604" cy="2651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379" y="3314548"/>
            <a:ext cx="7654597" cy="5656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406127" y="2068979"/>
                <a:ext cx="2692262" cy="53681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1800"/>
                  </a:lnSpc>
                </a:pPr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时，若</a:t>
                </a:r>
                <a14:m>
                  <m:oMath xmlns:m="http://schemas.openxmlformats.org/officeDocument/2006/math"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sz="1200" b="1">
                    <a:solidFill>
                      <a:schemeClr val="accent2">
                        <a:lumMod val="50000"/>
                      </a:schemeClr>
                    </a:solidFill>
                  </a:rPr>
                  <a:t>，为方便见，令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=⋯</m:t>
                    </m:r>
                    <m:r>
                      <a:rPr lang="en-US" altLang="zh-CN" sz="12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sz="12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en-US" sz="12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127" y="2068979"/>
                <a:ext cx="2692262" cy="536814"/>
              </a:xfrm>
              <a:prstGeom prst="rect">
                <a:avLst/>
              </a:prstGeom>
              <a:blipFill rotWithShape="1">
                <a:blip r:embed="rId5"/>
                <a:stretch>
                  <a:fillRect l="-14" t="-28" r="9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040964" y="3919670"/>
                <a:ext cx="7057425" cy="63389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多项式的加法和乘法满足交换律、结合律，且乘法对加法有分配律，加法的单位元是零多项式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0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，乘法的单位元是零次多项式</a:t>
                </a:r>
                <a:r>
                  <a:rPr lang="en-US" altLang="zh-CN" sz="1400" b="1">
                    <a:solidFill>
                      <a:schemeClr val="accent2">
                        <a:lumMod val="50000"/>
                      </a:schemeClr>
                    </a:solidFill>
                  </a:rPr>
                  <a:t>1</a:t>
                </a: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关于加法有逆元，记为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964" y="3919670"/>
                <a:ext cx="7057425" cy="633891"/>
              </a:xfrm>
              <a:prstGeom prst="rect">
                <a:avLst/>
              </a:prstGeom>
              <a:blipFill rotWithShape="1">
                <a:blip r:embed="rId6"/>
                <a:stretch>
                  <a:fillRect l="-3" t="-71" r="3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/>
          <p:cNvSpPr/>
          <p:nvPr/>
        </p:nvSpPr>
        <p:spPr>
          <a:xfrm>
            <a:off x="643556" y="3728307"/>
            <a:ext cx="7856883" cy="3727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多项式的次数、零因子与可逆元</a:t>
            </a:r>
            <a:endParaRPr lang="zh-CN" altLang="en-US" sz="1350"/>
          </a:p>
        </p:txBody>
      </p:sp>
      <p:grpSp>
        <p:nvGrpSpPr>
          <p:cNvPr id="11" name="组合 10"/>
          <p:cNvGrpSpPr/>
          <p:nvPr/>
        </p:nvGrpSpPr>
        <p:grpSpPr>
          <a:xfrm>
            <a:off x="643556" y="1059969"/>
            <a:ext cx="7856883" cy="1174887"/>
            <a:chOff x="641073" y="1043612"/>
            <a:chExt cx="7856883" cy="1174887"/>
          </a:xfrm>
        </p:grpSpPr>
        <p:sp>
          <p:nvSpPr>
            <p:cNvPr id="6" name="矩形: 圆角 5"/>
            <p:cNvSpPr/>
            <p:nvPr/>
          </p:nvSpPr>
          <p:spPr>
            <a:xfrm>
              <a:off x="641073" y="1043612"/>
              <a:ext cx="7856883" cy="1174887"/>
            </a:xfrm>
            <a:prstGeom prst="roundRect">
              <a:avLst>
                <a:gd name="adj" fmla="val 1032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0768" y="1072445"/>
              <a:ext cx="7762461" cy="1111266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93250" y="2481998"/>
                <a:ext cx="6877879" cy="9233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是数域，每个非零元素都有乘法逆元，因此对任意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altLang="zh-CN" sz="1600" b="1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若存在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14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若存在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b="1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都是零次多项式，即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zh-CN" altLang="en-US" sz="1400" b="1">
                    <a:solidFill>
                      <a:schemeClr val="accent6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的非零元素</a:t>
                </a:r>
                <a:endParaRPr lang="zh-CN" altLang="en-US" sz="1400" b="1">
                  <a:solidFill>
                    <a:schemeClr val="accent6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50" y="2481998"/>
                <a:ext cx="687787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7" t="-45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50" y="3766522"/>
            <a:ext cx="7762462" cy="31700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538578" y="4187552"/>
            <a:ext cx="2917134" cy="30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bg1"/>
                </a:solidFill>
              </a:rPr>
              <a:t>多项式的加法与乘法都满足消去律</a:t>
            </a:r>
            <a:endParaRPr lang="zh-CN" altLang="en-US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/>
        </p:nvSpPr>
        <p:spPr>
          <a:xfrm>
            <a:off x="757856" y="2706374"/>
            <a:ext cx="7615859" cy="1438244"/>
          </a:xfrm>
          <a:prstGeom prst="roundRect">
            <a:avLst>
              <a:gd name="adj" fmla="val 975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767794" y="1144892"/>
            <a:ext cx="7615859" cy="1141105"/>
          </a:xfrm>
          <a:prstGeom prst="roundRect">
            <a:avLst>
              <a:gd name="adj" fmla="val 88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多项式的整除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584" y="1179684"/>
            <a:ext cx="7538830" cy="10695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84" y="2764296"/>
            <a:ext cx="7538830" cy="133437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多项式整除的基本性质</a:t>
            </a:r>
            <a:endParaRPr lang="zh-CN" altLang="en-US" sz="135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038" y="1979246"/>
            <a:ext cx="7523922" cy="107597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38" y="767869"/>
            <a:ext cx="7523922" cy="107769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38" y="3206334"/>
            <a:ext cx="7523922" cy="480166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34" y="3871142"/>
            <a:ext cx="7523922" cy="8128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/>
        </p:nvSpPr>
        <p:spPr>
          <a:xfrm>
            <a:off x="795130" y="839848"/>
            <a:ext cx="7548768" cy="877519"/>
          </a:xfrm>
          <a:prstGeom prst="roundRect">
            <a:avLst>
              <a:gd name="adj" fmla="val 138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多项式的带余数除法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887" y="880202"/>
            <a:ext cx="7474226" cy="8073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4887" y="1826707"/>
            <a:ext cx="5546036" cy="28283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559826" y="2529509"/>
                <a:ext cx="1749287" cy="9154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200"/>
                  </a:lnSpc>
                </a:pPr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基于多项式整除的性质不难证明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的唯一性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826" y="2529509"/>
                <a:ext cx="1749287" cy="915443"/>
              </a:xfrm>
              <a:prstGeom prst="rect">
                <a:avLst/>
              </a:prstGeom>
              <a:blipFill rotWithShape="1">
                <a:blip r:embed="rId3"/>
                <a:stretch>
                  <a:fillRect l="-16" t="-33" r="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/>
          <p:cNvSpPr/>
          <p:nvPr/>
        </p:nvSpPr>
        <p:spPr>
          <a:xfrm>
            <a:off x="854765" y="1138030"/>
            <a:ext cx="7434470" cy="2678596"/>
          </a:xfrm>
          <a:prstGeom prst="roundRect">
            <a:avLst>
              <a:gd name="adj" fmla="val 4979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多项式带余数除法举例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125" y="1190647"/>
            <a:ext cx="7327747" cy="258330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08125" y="4009047"/>
            <a:ext cx="5746123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accent2">
                    <a:lumMod val="50000"/>
                  </a:schemeClr>
                </a:solidFill>
              </a:rPr>
              <a:t>实际上，带余数除法只需要除式的首项系数存在乘法逆元即可</a:t>
            </a:r>
            <a:endParaRPr lang="zh-CN" altLang="en-US" sz="1600" b="1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多项式的同余与剩余类</a:t>
            </a:r>
            <a:endParaRPr lang="zh-CN" altLang="en-US" sz="1350"/>
          </a:p>
        </p:txBody>
      </p:sp>
      <p:grpSp>
        <p:nvGrpSpPr>
          <p:cNvPr id="14" name="组合 13"/>
          <p:cNvGrpSpPr/>
          <p:nvPr/>
        </p:nvGrpSpPr>
        <p:grpSpPr>
          <a:xfrm>
            <a:off x="892658" y="894035"/>
            <a:ext cx="7384774" cy="808555"/>
            <a:chOff x="874643" y="950668"/>
            <a:chExt cx="7384774" cy="808555"/>
          </a:xfrm>
        </p:grpSpPr>
        <p:sp>
          <p:nvSpPr>
            <p:cNvPr id="11" name="矩形: 圆角 10"/>
            <p:cNvSpPr/>
            <p:nvPr/>
          </p:nvSpPr>
          <p:spPr>
            <a:xfrm>
              <a:off x="874643" y="950668"/>
              <a:ext cx="7384774" cy="808555"/>
            </a:xfrm>
            <a:prstGeom prst="roundRect">
              <a:avLst>
                <a:gd name="adj" fmla="val 1175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20611" y="985458"/>
              <a:ext cx="7302776" cy="744551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849796" y="3628474"/>
            <a:ext cx="7427636" cy="987563"/>
            <a:chOff x="849796" y="3698738"/>
            <a:chExt cx="7427636" cy="987563"/>
          </a:xfrm>
        </p:grpSpPr>
        <p:sp>
          <p:nvSpPr>
            <p:cNvPr id="15" name="矩形: 圆角 14"/>
            <p:cNvSpPr/>
            <p:nvPr/>
          </p:nvSpPr>
          <p:spPr>
            <a:xfrm>
              <a:off x="849796" y="3698738"/>
              <a:ext cx="7427636" cy="987563"/>
            </a:xfrm>
            <a:prstGeom prst="roundRect">
              <a:avLst>
                <a:gd name="adj" fmla="val 1465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2595" y="3740205"/>
              <a:ext cx="7338807" cy="900444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57" y="1915132"/>
            <a:ext cx="7302776" cy="151145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/>
        </p:nvSpPr>
        <p:spPr>
          <a:xfrm>
            <a:off x="770283" y="3536065"/>
            <a:ext cx="7598465" cy="847087"/>
          </a:xfrm>
          <a:prstGeom prst="roundRect">
            <a:avLst>
              <a:gd name="adj" fmla="val 1314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770283" y="2067607"/>
            <a:ext cx="7598465" cy="1157638"/>
          </a:xfrm>
          <a:prstGeom prst="roundRect">
            <a:avLst>
              <a:gd name="adj" fmla="val 89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770283" y="970153"/>
            <a:ext cx="7598465" cy="813920"/>
          </a:xfrm>
          <a:prstGeom prst="roundRect">
            <a:avLst>
              <a:gd name="adj" fmla="val 1483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多项式的模运算与最大公因式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978" y="1013102"/>
            <a:ext cx="7504044" cy="728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78" y="2102399"/>
            <a:ext cx="7504044" cy="108949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78" y="3585768"/>
            <a:ext cx="7504044" cy="75703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多项式的辗转相除法与贝祖定理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79918" y="1216940"/>
            <a:ext cx="4092081" cy="13548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2953" y="1113579"/>
            <a:ext cx="3781128" cy="1522023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432353" y="2906294"/>
            <a:ext cx="8184164" cy="593073"/>
            <a:chOff x="432353" y="2960958"/>
            <a:chExt cx="8184164" cy="593073"/>
          </a:xfrm>
        </p:grpSpPr>
        <p:sp>
          <p:nvSpPr>
            <p:cNvPr id="15" name="矩形: 圆角 14"/>
            <p:cNvSpPr/>
            <p:nvPr/>
          </p:nvSpPr>
          <p:spPr>
            <a:xfrm>
              <a:off x="432353" y="2960958"/>
              <a:ext cx="8184164" cy="593073"/>
            </a:xfrm>
            <a:prstGeom prst="roundRect">
              <a:avLst>
                <a:gd name="adj" fmla="val 108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917" y="2992369"/>
              <a:ext cx="8092583" cy="541782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432353" y="3770059"/>
            <a:ext cx="8184164" cy="593073"/>
            <a:chOff x="432353" y="3819924"/>
            <a:chExt cx="8184164" cy="593073"/>
          </a:xfrm>
        </p:grpSpPr>
        <p:sp>
          <p:nvSpPr>
            <p:cNvPr id="18" name="矩形: 圆角 17"/>
            <p:cNvSpPr/>
            <p:nvPr/>
          </p:nvSpPr>
          <p:spPr>
            <a:xfrm>
              <a:off x="432353" y="3819924"/>
              <a:ext cx="8184164" cy="593073"/>
            </a:xfrm>
            <a:prstGeom prst="roundRect">
              <a:avLst>
                <a:gd name="adj" fmla="val 1080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917" y="3858321"/>
              <a:ext cx="8092583" cy="5162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多项式的完全剩余类系</a:t>
            </a:r>
            <a:endParaRPr lang="zh-CN" altLang="en-US" sz="13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976671" y="1082597"/>
                <a:ext cx="7190653" cy="99277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ts val="2400"/>
                  </a:lnSpc>
                </a:pP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对次数大于等于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的多项式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，所有次数小于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的多项式构成了模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的一个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完全剩余类系</a:t>
                </a:r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𝛀</m:t>
                        </m:r>
                      </m:e>
                      <m:sub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d>
                          <m:dPr>
                            <m:ctrlP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sub>
                    </m:sSub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m:rPr>
                        <m:lit/>
                      </m:rP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∣</m:t>
                    </m:r>
                    <m:func>
                      <m:func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6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d>
                              <m:dPr>
                                <m:ctrlP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&lt;</m:t>
                    </m:r>
                    <m:func>
                      <m:func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1600" b="1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en-US" altLang="zh-CN" sz="16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1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  <m:d>
                              <m:dPr>
                                <m:ctrlP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00" b="1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m:rPr>
                        <m:lit/>
                      </m:rP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是模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的一个</a:t>
                </a:r>
                <a:r>
                  <a:rPr lang="zh-CN" altLang="en-US" sz="1600" b="1">
                    <a:solidFill>
                      <a:srgbClr val="C00000"/>
                    </a:solidFill>
                  </a:rPr>
                  <a:t>完全剩余类系</a:t>
                </a:r>
                <a:endParaRPr lang="zh-CN" altLang="en-US" sz="1600" b="1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671" y="1082597"/>
                <a:ext cx="7190653" cy="992772"/>
              </a:xfrm>
              <a:prstGeom prst="rect">
                <a:avLst/>
              </a:prstGeom>
              <a:blipFill rotWithShape="1">
                <a:blip r:embed="rId1"/>
                <a:stretch>
                  <a:fillRect l="-1" t="-56" r="8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71" y="2571750"/>
            <a:ext cx="7190653" cy="16314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976670" y="2571748"/>
                <a:ext cx="7190653" cy="5906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 /⟨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^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⟩ 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的所有元素（即每个等价类的不同代表）包括：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670" y="2571748"/>
                <a:ext cx="7190653" cy="590675"/>
              </a:xfrm>
              <a:prstGeom prst="rect">
                <a:avLst/>
              </a:prstGeom>
              <a:blipFill rotWithShape="1">
                <a:blip r:embed="rId3"/>
                <a:stretch>
                  <a:fillRect l="-1" t="-107" r="8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多项式模运算的运算表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817" y="730886"/>
            <a:ext cx="4721892" cy="19165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660" y="2743610"/>
            <a:ext cx="4760843" cy="20527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911153" y="2304072"/>
            <a:ext cx="2127261" cy="2609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14" name="文本框 13"/>
          <p:cNvSpPr txBox="1"/>
          <p:nvPr/>
        </p:nvSpPr>
        <p:spPr>
          <a:xfrm>
            <a:off x="5847313" y="1753129"/>
            <a:ext cx="22549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系数做模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加和模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乘运算，例如下面常数项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与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模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zh-CN" altLang="en-US" sz="1200" b="1">
                <a:solidFill>
                  <a:schemeClr val="accent2">
                    <a:lumMod val="50000"/>
                  </a:schemeClr>
                </a:solidFill>
              </a:rPr>
              <a:t>加等于</a:t>
            </a:r>
            <a:r>
              <a:rPr lang="en-US" altLang="zh-CN" sz="1200" b="1">
                <a:solidFill>
                  <a:schemeClr val="accent2">
                    <a:lumMod val="50000"/>
                  </a:schemeClr>
                </a:solidFill>
              </a:rPr>
              <a:t>0</a:t>
            </a:r>
            <a:endParaRPr lang="zh-CN" altLang="en-US" sz="1200" b="1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808025" y="2712754"/>
                <a:ext cx="2536492" cy="75411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从乘法表可看到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有乘法逆元，且都是它们自己，表明它们在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b="1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中与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4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4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1400" b="1">
                    <a:solidFill>
                      <a:schemeClr val="accent2">
                        <a:lumMod val="50000"/>
                      </a:schemeClr>
                    </a:solidFill>
                  </a:rPr>
                  <a:t>互素</a:t>
                </a:r>
                <a:endParaRPr lang="zh-CN" altLang="en-US" sz="14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25" y="2712754"/>
                <a:ext cx="2536492" cy="754117"/>
              </a:xfrm>
              <a:prstGeom prst="rect">
                <a:avLst/>
              </a:prstGeom>
              <a:blipFill rotWithShape="1">
                <a:blip r:embed="rId4"/>
                <a:stretch>
                  <a:fillRect l="-12" t="-5" r="24" b="-22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5669517" y="871386"/>
                <a:ext cx="2610531" cy="5965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  <m:d>
                      <m:d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1600" b="1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 /⟨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zh-CN" sz="1600" b="1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600" b="1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⟩ </m:t>
                    </m:r>
                  </m:oMath>
                </a14:m>
                <a:r>
                  <a:rPr lang="zh-CN" altLang="en-US" sz="1600" b="1">
                    <a:solidFill>
                      <a:schemeClr val="accent2">
                        <a:lumMod val="50000"/>
                      </a:schemeClr>
                    </a:solidFill>
                  </a:rPr>
                  <a:t>的运算表</a:t>
                </a:r>
                <a:endParaRPr lang="zh-CN" altLang="en-US" sz="1600" b="1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517" y="871386"/>
                <a:ext cx="2610531" cy="596574"/>
              </a:xfrm>
              <a:prstGeom prst="rect">
                <a:avLst/>
              </a:prstGeom>
              <a:blipFill rotWithShape="1">
                <a:blip r:embed="rId5"/>
                <a:stretch>
                  <a:fillRect l="-9" t="-28" r="11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4826" y="3562999"/>
            <a:ext cx="2499691" cy="84439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336813" y="4510683"/>
            <a:ext cx="1331888" cy="22539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"/>
            <a:ext cx="4572000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050">
                <a:latin typeface="楷体" panose="02010609060101010101" pitchFamily="49" charset="-122"/>
                <a:ea typeface="楷体" panose="02010609060101010101" pitchFamily="49" charset="-122"/>
              </a:rPr>
              <a:t>多项式及其剩余类</a:t>
            </a:r>
            <a:endParaRPr lang="zh-CN" altLang="en-US" sz="10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0" y="0"/>
            <a:ext cx="4572000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/>
        </p:nvSpPr>
        <p:spPr>
          <a:xfrm>
            <a:off x="0" y="4892475"/>
            <a:ext cx="3039763" cy="24175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代数结构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39763" y="4892473"/>
            <a:ext cx="3064476" cy="241757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50">
                <a:latin typeface="楷体" panose="02010609060101010101" pitchFamily="49" charset="-122"/>
                <a:ea typeface="楷体" panose="02010609060101010101" pitchFamily="49" charset="-122"/>
              </a:rPr>
              <a:t>第二讲  运算与代数一般概念</a:t>
            </a:r>
            <a:endParaRPr lang="zh-CN" altLang="en-US" sz="135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04238" y="4892473"/>
            <a:ext cx="3039762" cy="241757"/>
          </a:xfrm>
          <a:prstGeom prst="rect">
            <a:avLst/>
          </a:prstGeom>
          <a:solidFill>
            <a:srgbClr val="371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月 </a:t>
            </a:r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fld id="{C1930FB3-E902-4C54-9574-582199016723}" type="slidenum">
              <a:rPr lang="en-US" altLang="zh-CN" sz="135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r>
              <a:rPr lang="en-US" altLang="zh-CN" sz="135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/69</a:t>
            </a:r>
            <a:endParaRPr lang="zh-CN" altLang="en-US" sz="135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-2" y="241757"/>
            <a:ext cx="9144002" cy="344460"/>
          </a:xfrm>
          <a:prstGeom prst="rect">
            <a:avLst/>
          </a:prstGeom>
          <a:solidFill>
            <a:srgbClr val="21069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0"/>
              <a:t>多项式模运算练习</a:t>
            </a:r>
            <a:endParaRPr lang="zh-CN" altLang="en-US" sz="135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02" y="896287"/>
            <a:ext cx="7250594" cy="174285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02" y="2916631"/>
            <a:ext cx="7250594" cy="14058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817" y="4358588"/>
            <a:ext cx="5963479" cy="45969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944" y="2625770"/>
            <a:ext cx="4571352" cy="194308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949686" y="2344000"/>
            <a:ext cx="40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2976769" y="4027291"/>
            <a:ext cx="40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✔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9410</Words>
  <Application>WPS 演示</Application>
  <PresentationFormat>全屏显示(16:9)</PresentationFormat>
  <Paragraphs>906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6" baseType="lpstr">
      <vt:lpstr>Arial</vt:lpstr>
      <vt:lpstr>宋体</vt:lpstr>
      <vt:lpstr>Wingdings</vt:lpstr>
      <vt:lpstr>楷体</vt:lpstr>
      <vt:lpstr>仿宋</vt:lpstr>
      <vt:lpstr>Cambria Math</vt:lpstr>
      <vt:lpstr>等线</vt:lpstr>
      <vt:lpstr>Calibri</vt:lpstr>
      <vt:lpstr>微软雅黑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王泰然</cp:lastModifiedBy>
  <cp:revision>174</cp:revision>
  <dcterms:created xsi:type="dcterms:W3CDTF">2022-01-01T06:39:00Z</dcterms:created>
  <dcterms:modified xsi:type="dcterms:W3CDTF">2026-07-07T06:36:18Z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DDB411EDA5A0474090B04A3CB8C8C71E_13</vt:lpwstr>
  </property>
  <property fmtid="{D5CDD505-2E9C-101B-9397-08002B2CF9AE}" pid="3" name="KSOProductBuildVer">
    <vt:lpwstr>2052-12.1.0.26375</vt:lpwstr>
  </property>
</Properties>
</file>