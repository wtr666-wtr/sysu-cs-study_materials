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25" r:id="rId4"/>
    <p:sldId id="323" r:id="rId5"/>
    <p:sldId id="319" r:id="rId6"/>
    <p:sldId id="324" r:id="rId7"/>
    <p:sldId id="317" r:id="rId8"/>
    <p:sldId id="313" r:id="rId9"/>
    <p:sldId id="328" r:id="rId10"/>
    <p:sldId id="327" r:id="rId11"/>
    <p:sldId id="332" r:id="rId12"/>
    <p:sldId id="335" r:id="rId13"/>
    <p:sldId id="336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-494" y="-72"/>
      </p:cViewPr>
      <p:guideLst>
        <p:guide orient="horz" pos="164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第五讲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子群的陪集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群的子集的运算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群子集运算的性质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49792" y="1130993"/>
                <a:ext cx="7444409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的非空子集，证明若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𝑩𝑨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92" y="1130993"/>
                <a:ext cx="7444409" cy="393569"/>
              </a:xfrm>
              <a:prstGeom prst="rect">
                <a:avLst/>
              </a:prstGeom>
              <a:blipFill rotWithShape="1">
                <a:blip r:embed="rId1"/>
                <a:stretch>
                  <a:fillRect l="-2" t="-15" r="6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49791" y="2176994"/>
                <a:ext cx="7444409" cy="15092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indent="45720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，则存在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。由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91" y="2176994"/>
                <a:ext cx="7444409" cy="1509259"/>
              </a:xfrm>
              <a:prstGeom prst="rect">
                <a:avLst/>
              </a:prstGeom>
              <a:blipFill rotWithShape="1">
                <a:blip r:embed="rId2"/>
                <a:stretch>
                  <a:fillRect l="-2" t="-14"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子群的陪集及其性质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07918" y="1029908"/>
                <a:ext cx="5268191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在整数加群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中，计算子群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的所有左陪集。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918" y="1029908"/>
                <a:ext cx="5268191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" t="-155" r="8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07918" y="1688309"/>
                <a:ext cx="7136622" cy="265713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子群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±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±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，因此它的所有左陪集是（注意，加群的运算用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+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表示）：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918" y="1688309"/>
                <a:ext cx="7136622" cy="2657138"/>
              </a:xfrm>
              <a:prstGeom prst="rect">
                <a:avLst/>
              </a:prstGeom>
              <a:blipFill rotWithShape="1">
                <a:blip r:embed="rId2"/>
                <a:stretch>
                  <a:fillRect l="-2" t="-18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子群的陪集及其性质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46" y="1266911"/>
            <a:ext cx="5822663" cy="13455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35946" y="3034014"/>
                <a:ext cx="6339497" cy="126188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不是子群，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是子群，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zh-CN" altLang="en-US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𝟏𝟒</m:t>
                            </m:r>
                          </m:sub>
                        </m:s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𝟏𝟒</m:t>
                            </m:r>
                          </m:sub>
                        </m:s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是子群，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𝟏𝟒</m:t>
                            </m:r>
                          </m:sub>
                        </m:s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46" y="3034014"/>
                <a:ext cx="6339497" cy="1261884"/>
              </a:xfrm>
              <a:prstGeom prst="rect">
                <a:avLst/>
              </a:prstGeom>
              <a:blipFill rotWithShape="1">
                <a:blip r:embed="rId2"/>
                <a:stretch>
                  <a:fillRect l="-9" t="-49" r="4" b="-12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115596" y="1945616"/>
            <a:ext cx="301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✔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15596" y="2185251"/>
            <a:ext cx="301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✔</a:t>
            </a:r>
            <a:endParaRPr lang="zh-CN" altLang="en-US" sz="140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子群的陪集及其性质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子群陪集的性质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50450" y="956203"/>
            <a:ext cx="6843091" cy="1018761"/>
            <a:chOff x="730526" y="834887"/>
            <a:chExt cx="6843091" cy="1018761"/>
          </a:xfrm>
        </p:grpSpPr>
        <p:sp>
          <p:nvSpPr>
            <p:cNvPr id="4" name="矩形: 圆角 3"/>
            <p:cNvSpPr/>
            <p:nvPr/>
          </p:nvSpPr>
          <p:spPr>
            <a:xfrm>
              <a:off x="730526" y="834887"/>
              <a:ext cx="6843091" cy="1018761"/>
            </a:xfrm>
            <a:prstGeom prst="roundRect">
              <a:avLst>
                <a:gd name="adj" fmla="val 837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5250" y="862893"/>
              <a:ext cx="6758609" cy="950263"/>
            </a:xfrm>
            <a:prstGeom prst="rect">
              <a:avLst/>
            </a:prstGeom>
          </p:spPr>
        </p:pic>
      </p:grpSp>
      <p:sp>
        <p:nvSpPr>
          <p:cNvPr id="18" name="矩形: 圆角 17"/>
          <p:cNvSpPr/>
          <p:nvPr/>
        </p:nvSpPr>
        <p:spPr>
          <a:xfrm>
            <a:off x="1150451" y="2502658"/>
            <a:ext cx="6843091" cy="1534596"/>
          </a:xfrm>
          <a:prstGeom prst="roundRect">
            <a:avLst>
              <a:gd name="adj" fmla="val 424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0" y="2542343"/>
            <a:ext cx="6758609" cy="1447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子群的陪集及其性质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子群陪集的性质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50454" y="859060"/>
            <a:ext cx="6843091" cy="724959"/>
            <a:chOff x="1150450" y="956204"/>
            <a:chExt cx="6843091" cy="724959"/>
          </a:xfrm>
        </p:grpSpPr>
        <p:sp>
          <p:nvSpPr>
            <p:cNvPr id="9" name="矩形: 圆角 8"/>
            <p:cNvSpPr/>
            <p:nvPr/>
          </p:nvSpPr>
          <p:spPr>
            <a:xfrm>
              <a:off x="1150450" y="956204"/>
              <a:ext cx="6843091" cy="724959"/>
            </a:xfrm>
            <a:prstGeom prst="roundRect">
              <a:avLst>
                <a:gd name="adj" fmla="val 837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90625" y="992075"/>
              <a:ext cx="6767513" cy="65473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150620" y="1729740"/>
                <a:ext cx="7220585" cy="64135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𝒉𝒃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且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𝒉𝒂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𝒉𝒃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620" y="1729740"/>
                <a:ext cx="7220585" cy="6413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: 圆角 19"/>
          <p:cNvSpPr/>
          <p:nvPr/>
        </p:nvSpPr>
        <p:spPr>
          <a:xfrm>
            <a:off x="1150620" y="2489835"/>
            <a:ext cx="6842760" cy="2263140"/>
          </a:xfrm>
          <a:prstGeom prst="roundRect">
            <a:avLst>
              <a:gd name="adj" fmla="val 47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" y="2524125"/>
            <a:ext cx="6767830" cy="2192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子群的陪集及其性质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子群陪集导出的等价关系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85237" y="920851"/>
            <a:ext cx="6773517" cy="2574235"/>
            <a:chOff x="1192695" y="745435"/>
            <a:chExt cx="6773517" cy="2574235"/>
          </a:xfrm>
        </p:grpSpPr>
        <p:sp>
          <p:nvSpPr>
            <p:cNvPr id="6" name="矩形: 圆角 5"/>
            <p:cNvSpPr/>
            <p:nvPr/>
          </p:nvSpPr>
          <p:spPr>
            <a:xfrm>
              <a:off x="1192695" y="745435"/>
              <a:ext cx="6773517" cy="2574235"/>
            </a:xfrm>
            <a:prstGeom prst="roundRect">
              <a:avLst>
                <a:gd name="adj" fmla="val 527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37418" y="795743"/>
              <a:ext cx="6669157" cy="2486538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1185237" y="3766930"/>
            <a:ext cx="6773517" cy="616226"/>
            <a:chOff x="1192695" y="3677478"/>
            <a:chExt cx="6773517" cy="616226"/>
          </a:xfrm>
        </p:grpSpPr>
        <p:sp>
          <p:nvSpPr>
            <p:cNvPr id="7" name="矩形: 圆角 6"/>
            <p:cNvSpPr/>
            <p:nvPr/>
          </p:nvSpPr>
          <p:spPr>
            <a:xfrm>
              <a:off x="1192695" y="3677478"/>
              <a:ext cx="6773517" cy="616226"/>
            </a:xfrm>
            <a:prstGeom prst="roundRect">
              <a:avLst>
                <a:gd name="adj" fmla="val 1363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7418" y="3712996"/>
              <a:ext cx="6669157" cy="54104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子群的陪集及其性质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9975" y="954156"/>
            <a:ext cx="750404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50" b="1">
                <a:solidFill>
                  <a:schemeClr val="accent2">
                    <a:lumMod val="50000"/>
                  </a:schemeClr>
                </a:solidFill>
              </a:rPr>
              <a:t>证明：一个子群的左陪集的所有元素的逆元素组成这个子群的一个右陪集</a:t>
            </a:r>
            <a:endParaRPr lang="zh-CN" altLang="en-US" sz="175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19975" y="1699591"/>
                <a:ext cx="7504044" cy="6806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，记集合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𝒂𝑯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。证明存在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75" y="1699591"/>
                <a:ext cx="7504044" cy="680636"/>
              </a:xfrm>
              <a:prstGeom prst="rect">
                <a:avLst/>
              </a:prstGeom>
              <a:blipFill rotWithShape="1">
                <a:blip r:embed="rId1"/>
                <a:stretch>
                  <a:fillRect l="-3" t="-49" r="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19975" y="2578608"/>
                <a:ext cx="5829303" cy="40363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实际上，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，因此可证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75" y="2578608"/>
                <a:ext cx="5829303" cy="403637"/>
              </a:xfrm>
              <a:prstGeom prst="rect">
                <a:avLst/>
              </a:prstGeom>
              <a:blipFill rotWithShape="1">
                <a:blip r:embed="rId2"/>
                <a:stretch>
                  <a:fillRect l="-3" t="-126" r="3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19975" y="3180626"/>
                <a:ext cx="7504044" cy="13163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，即存在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𝒂𝒉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indent="457200"/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反之，对任意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。综上有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75" y="3180626"/>
                <a:ext cx="7504044" cy="1316386"/>
              </a:xfrm>
              <a:prstGeom prst="rect">
                <a:avLst/>
              </a:prstGeom>
              <a:blipFill rotWithShape="1">
                <a:blip r:embed="rId3"/>
                <a:stretch>
                  <a:fillRect l="-3" t="-41" r="-137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拉格朗日定理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陪集元素个数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62006" y="1076325"/>
            <a:ext cx="7419976" cy="1938338"/>
            <a:chOff x="862012" y="1257300"/>
            <a:chExt cx="7419976" cy="1938338"/>
          </a:xfrm>
        </p:grpSpPr>
        <p:sp>
          <p:nvSpPr>
            <p:cNvPr id="4" name="矩形: 圆角 3"/>
            <p:cNvSpPr/>
            <p:nvPr/>
          </p:nvSpPr>
          <p:spPr>
            <a:xfrm>
              <a:off x="862012" y="1257300"/>
              <a:ext cx="7419976" cy="1938338"/>
            </a:xfrm>
            <a:prstGeom prst="roundRect">
              <a:avLst>
                <a:gd name="adj" fmla="val 63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3922" y="1312091"/>
              <a:ext cx="7296150" cy="1821156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923916" y="3307770"/>
            <a:ext cx="7296150" cy="1070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集合等势：若两个集合之间存在双函数，即称它们等势。对于有限集，就是这两个集合有相同元素个数</a:t>
            </a:r>
            <a:endParaRPr lang="en-US" altLang="zh-CN" sz="1600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证明函数是双函数，只要证明这个函数既是单函数又是满函数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拉格朗日定理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拉格朗日定理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27432" y="1252331"/>
            <a:ext cx="7489135" cy="2390361"/>
            <a:chOff x="829917" y="1118152"/>
            <a:chExt cx="7489135" cy="2390361"/>
          </a:xfrm>
        </p:grpSpPr>
        <p:sp>
          <p:nvSpPr>
            <p:cNvPr id="4" name="矩形: 圆角 3"/>
            <p:cNvSpPr/>
            <p:nvPr/>
          </p:nvSpPr>
          <p:spPr>
            <a:xfrm>
              <a:off x="829917" y="1118152"/>
              <a:ext cx="7489135" cy="2390361"/>
            </a:xfrm>
            <a:prstGeom prst="roundRect">
              <a:avLst>
                <a:gd name="adj" fmla="val 523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74640" y="1163068"/>
              <a:ext cx="7394713" cy="22973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874643" y="2753139"/>
            <a:ext cx="7394714" cy="1369477"/>
          </a:xfrm>
          <a:prstGeom prst="roundRect">
            <a:avLst>
              <a:gd name="adj" fmla="val 940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874643" y="1020884"/>
            <a:ext cx="7394714" cy="1115114"/>
          </a:xfrm>
          <a:prstGeom prst="roundRect">
            <a:avLst>
              <a:gd name="adj" fmla="val 836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拉格朗日定理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拉格朗日定理应用练习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98" y="1073007"/>
            <a:ext cx="7309003" cy="10068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98" y="2785639"/>
            <a:ext cx="7309003" cy="1289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拉格朗日定理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拉格朗日定理应用练习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子群的陪集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74640" y="715188"/>
            <a:ext cx="7394714" cy="1115114"/>
            <a:chOff x="874643" y="1020884"/>
            <a:chExt cx="7394714" cy="1115114"/>
          </a:xfrm>
        </p:grpSpPr>
        <p:sp>
          <p:nvSpPr>
            <p:cNvPr id="7" name="矩形: 圆角 6"/>
            <p:cNvSpPr/>
            <p:nvPr/>
          </p:nvSpPr>
          <p:spPr>
            <a:xfrm>
              <a:off x="874643" y="1020884"/>
              <a:ext cx="7394714" cy="1115114"/>
            </a:xfrm>
            <a:prstGeom prst="roundRect">
              <a:avLst>
                <a:gd name="adj" fmla="val 836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17498" y="1073007"/>
              <a:ext cx="7309003" cy="1006884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874640" y="1977887"/>
            <a:ext cx="5923725" cy="2758109"/>
            <a:chOff x="874640" y="1977887"/>
            <a:chExt cx="5923725" cy="2758109"/>
          </a:xfrm>
        </p:grpSpPr>
        <p:sp>
          <p:nvSpPr>
            <p:cNvPr id="5" name="矩形: 圆角 4"/>
            <p:cNvSpPr/>
            <p:nvPr/>
          </p:nvSpPr>
          <p:spPr>
            <a:xfrm>
              <a:off x="874640" y="1977887"/>
              <a:ext cx="5923725" cy="2758109"/>
            </a:xfrm>
            <a:prstGeom prst="roundRect">
              <a:avLst>
                <a:gd name="adj" fmla="val 508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495" y="2032957"/>
              <a:ext cx="5816266" cy="2654248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7056783" y="2818332"/>
            <a:ext cx="1212571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这个证明虽然有点长，但思路还是比较简单！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2129</Words>
  <Application>WPS 演示</Application>
  <PresentationFormat>全屏显示(16:9)</PresentationFormat>
  <Paragraphs>165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85</cp:revision>
  <dcterms:created xsi:type="dcterms:W3CDTF">2022-01-01T06:39:00Z</dcterms:created>
  <dcterms:modified xsi:type="dcterms:W3CDTF">2026-07-03T05:53:25Z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B0DE31C43D754A078F9EF2FE46CB9AB1_12</vt:lpwstr>
  </property>
</Properties>
</file>