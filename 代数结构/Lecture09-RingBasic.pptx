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336" r:id="rId4"/>
    <p:sldId id="340" r:id="rId6"/>
    <p:sldId id="341" r:id="rId7"/>
    <p:sldId id="342" r:id="rId8"/>
    <p:sldId id="348" r:id="rId9"/>
    <p:sldId id="350" r:id="rId10"/>
    <p:sldId id="352" r:id="rId11"/>
    <p:sldId id="354" r:id="rId12"/>
    <p:sldId id="355" r:id="rId13"/>
    <p:sldId id="357" r:id="rId14"/>
    <p:sldId id="360" r:id="rId15"/>
    <p:sldId id="364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0CC00"/>
    <a:srgbClr val="0000CC"/>
    <a:srgbClr val="210694"/>
    <a:srgbClr val="371E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627" autoAdjust="0"/>
  </p:normalViewPr>
  <p:slideViewPr>
    <p:cSldViewPr snapToGrid="0">
      <p:cViewPr varScale="1">
        <p:scale>
          <a:sx n="92" d="100"/>
          <a:sy n="92" d="100"/>
        </p:scale>
        <p:origin x="111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C6314E-2030-422E-B452-DC710C1B7A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D0AD4-3E9A-45F4-8842-828DF8DC3C9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这个只是整环，不是域！</a:t>
            </a:r>
            <a:r>
              <a:rPr lang="en-US" altLang="zh-CN" dirty="0"/>
              <a:t>3</a:t>
            </a:r>
            <a:r>
              <a:rPr lang="zh-CN" altLang="en-US" dirty="0"/>
              <a:t>没有逆元！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9D0AD4-3E9A-45F4-8842-828DF8DC3C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8" name="矩形 7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第九讲  环的定义与基本性质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5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1054359" y="888925"/>
            <a:ext cx="7045495" cy="667265"/>
          </a:xfrm>
          <a:prstGeom prst="round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第九讲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环的定义与基本性质</a:t>
            </a:r>
            <a:endParaRPr lang="zh-CN" altLang="en-US" sz="3600" b="1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279174" y="1912075"/>
            <a:ext cx="25856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>
                <a:solidFill>
                  <a:srgbClr val="21069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周 晓 聪</a:t>
            </a:r>
            <a:endParaRPr lang="zh-CN" altLang="en-US" sz="3000">
              <a:solidFill>
                <a:srgbClr val="210694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706131" y="2700512"/>
            <a:ext cx="3883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中山大学计算机学院</a:t>
            </a:r>
            <a:endParaRPr lang="zh-CN" altLang="en-US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632887" y="3419732"/>
            <a:ext cx="2150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8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8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5</a:t>
            </a:r>
            <a:r>
              <a:rPr lang="zh-CN" altLang="en-US" sz="18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  <a:endParaRPr lang="zh-CN" altLang="en-US" sz="18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278924" y="3966519"/>
            <a:ext cx="6820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>
                <a:solidFill>
                  <a:srgbClr val="FF0000"/>
                </a:solidFill>
              </a:rPr>
              <a:t>isszxc@mail.sysu.edu.cn</a:t>
            </a:r>
            <a:endParaRPr lang="zh-CN" altLang="en-US" sz="1800">
              <a:solidFill>
                <a:srgbClr val="FF0000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237" y="2334583"/>
            <a:ext cx="1324937" cy="11704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环的例子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更多例子（一）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第九讲  环的定义与基本性质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5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098274" y="757139"/>
            <a:ext cx="6947452" cy="3859586"/>
            <a:chOff x="998882" y="757139"/>
            <a:chExt cx="6947452" cy="3859586"/>
          </a:xfrm>
        </p:grpSpPr>
        <p:sp>
          <p:nvSpPr>
            <p:cNvPr id="4" name="矩形: 圆角 3"/>
            <p:cNvSpPr/>
            <p:nvPr/>
          </p:nvSpPr>
          <p:spPr>
            <a:xfrm>
              <a:off x="998882" y="757139"/>
              <a:ext cx="6947452" cy="3859586"/>
            </a:xfrm>
            <a:prstGeom prst="roundRect">
              <a:avLst>
                <a:gd name="adj" fmla="val 2375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43609" y="798456"/>
              <a:ext cx="6853029" cy="3781917"/>
            </a:xfrm>
            <a:prstGeom prst="rect">
              <a:avLst/>
            </a:prstGeom>
          </p:spPr>
        </p:pic>
      </p:grpSp>
      <p:cxnSp>
        <p:nvCxnSpPr>
          <p:cNvPr id="6" name="直接连接符 5"/>
          <p:cNvCxnSpPr/>
          <p:nvPr/>
        </p:nvCxnSpPr>
        <p:spPr>
          <a:xfrm>
            <a:off x="4954385" y="1579418"/>
            <a:ext cx="51539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6724997" y="1105588"/>
            <a:ext cx="1271033" cy="0"/>
          </a:xfrm>
          <a:prstGeom prst="line">
            <a:avLst/>
          </a:prstGeom>
          <a:ln w="57150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7323512" y="3266900"/>
            <a:ext cx="315884" cy="0"/>
          </a:xfrm>
          <a:prstGeom prst="line">
            <a:avLst/>
          </a:prstGeom>
          <a:ln w="571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环的例子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多项式环（一）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第九讲  环的定义与基本性质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5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00100" y="1208591"/>
            <a:ext cx="7543800" cy="2841605"/>
            <a:chOff x="800100" y="1183743"/>
            <a:chExt cx="7543800" cy="2841605"/>
          </a:xfrm>
        </p:grpSpPr>
        <p:sp>
          <p:nvSpPr>
            <p:cNvPr id="4" name="矩形: 圆角 3"/>
            <p:cNvSpPr/>
            <p:nvPr/>
          </p:nvSpPr>
          <p:spPr>
            <a:xfrm>
              <a:off x="800100" y="1183743"/>
              <a:ext cx="7543800" cy="2841605"/>
            </a:xfrm>
            <a:prstGeom prst="roundRect">
              <a:avLst>
                <a:gd name="adj" fmla="val 5125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44823" y="1223646"/>
              <a:ext cx="7454348" cy="2766744"/>
            </a:xfrm>
            <a:prstGeom prst="rect">
              <a:avLst/>
            </a:prstGeom>
          </p:spPr>
        </p:pic>
      </p:grpSp>
      <p:cxnSp>
        <p:nvCxnSpPr>
          <p:cNvPr id="2" name="直接连接符 1"/>
          <p:cNvCxnSpPr/>
          <p:nvPr/>
        </p:nvCxnSpPr>
        <p:spPr>
          <a:xfrm>
            <a:off x="2715567" y="1512913"/>
            <a:ext cx="518084" cy="0"/>
          </a:xfrm>
          <a:prstGeom prst="line">
            <a:avLst/>
          </a:prstGeom>
          <a:ln w="57150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V="1">
            <a:off x="3422149" y="1512913"/>
            <a:ext cx="459895" cy="8312"/>
          </a:xfrm>
          <a:prstGeom prst="line">
            <a:avLst/>
          </a:prstGeom>
          <a:ln w="57150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环的例子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多项式环（二）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第九讲  环的定义与基本性质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5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725557" y="1084555"/>
            <a:ext cx="7692886" cy="3313510"/>
            <a:chOff x="725557" y="1084555"/>
            <a:chExt cx="7692886" cy="3313510"/>
          </a:xfrm>
        </p:grpSpPr>
        <p:sp>
          <p:nvSpPr>
            <p:cNvPr id="4" name="矩形: 圆角 3"/>
            <p:cNvSpPr/>
            <p:nvPr/>
          </p:nvSpPr>
          <p:spPr>
            <a:xfrm>
              <a:off x="725557" y="1084555"/>
              <a:ext cx="7692886" cy="3313510"/>
            </a:xfrm>
            <a:prstGeom prst="roundRect">
              <a:avLst>
                <a:gd name="adj" fmla="val 3919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72764" y="1141242"/>
              <a:ext cx="7598465" cy="320475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环的例子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solidFill>
                <a:srgbClr val="2106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40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1400"/>
                  <a:t>上的多项式环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4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zh-CN" altLang="en-US" sz="1400"/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blipFill rotWithShape="1">
                <a:blip r:embed="rId1"/>
                <a:stretch>
                  <a:fillRect t="-67" r="7" b="256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第九讲  环的定义与基本性质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5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979004" y="805069"/>
            <a:ext cx="7181022" cy="3771901"/>
            <a:chOff x="979004" y="805069"/>
            <a:chExt cx="7181022" cy="3771901"/>
          </a:xfrm>
        </p:grpSpPr>
        <p:sp>
          <p:nvSpPr>
            <p:cNvPr id="4" name="矩形: 圆角 3"/>
            <p:cNvSpPr/>
            <p:nvPr/>
          </p:nvSpPr>
          <p:spPr>
            <a:xfrm>
              <a:off x="979004" y="805069"/>
              <a:ext cx="7181022" cy="3771901"/>
            </a:xfrm>
            <a:prstGeom prst="roundRect">
              <a:avLst>
                <a:gd name="adj" fmla="val 3469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6212" y="857911"/>
              <a:ext cx="7091570" cy="367523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环的基本性质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环基本性质练习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第九讲  环的定义与基本性质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5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747920" y="1167848"/>
            <a:ext cx="7648160" cy="1202635"/>
            <a:chOff x="690770" y="1167848"/>
            <a:chExt cx="7648160" cy="1202635"/>
          </a:xfrm>
        </p:grpSpPr>
        <p:sp>
          <p:nvSpPr>
            <p:cNvPr id="4" name="矩形: 圆角 3"/>
            <p:cNvSpPr/>
            <p:nvPr/>
          </p:nvSpPr>
          <p:spPr>
            <a:xfrm>
              <a:off x="690770" y="1167848"/>
              <a:ext cx="7648160" cy="1202635"/>
            </a:xfrm>
            <a:prstGeom prst="roundRect">
              <a:avLst>
                <a:gd name="adj" fmla="val 7576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35495" y="1206300"/>
              <a:ext cx="7558709" cy="1122581"/>
            </a:xfrm>
            <a:prstGeom prst="rect">
              <a:avLst/>
            </a:prstGeom>
          </p:spPr>
        </p:pic>
      </p:grpSp>
      <p:grpSp>
        <p:nvGrpSpPr>
          <p:cNvPr id="9" name="组合 8"/>
          <p:cNvGrpSpPr/>
          <p:nvPr/>
        </p:nvGrpSpPr>
        <p:grpSpPr>
          <a:xfrm>
            <a:off x="747920" y="2882348"/>
            <a:ext cx="7648160" cy="1391478"/>
            <a:chOff x="747920" y="2837622"/>
            <a:chExt cx="7648160" cy="1391478"/>
          </a:xfrm>
        </p:grpSpPr>
        <p:sp>
          <p:nvSpPr>
            <p:cNvPr id="8" name="矩形: 圆角 7"/>
            <p:cNvSpPr/>
            <p:nvPr/>
          </p:nvSpPr>
          <p:spPr>
            <a:xfrm>
              <a:off x="747920" y="2837622"/>
              <a:ext cx="7648160" cy="1391478"/>
            </a:xfrm>
            <a:prstGeom prst="roundRect">
              <a:avLst>
                <a:gd name="adj" fmla="val 7129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2650" y="2884440"/>
              <a:ext cx="7558709" cy="130281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环的基本性质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环的练习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第九讲  环的定义与基本性质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5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59123" y="1147750"/>
            <a:ext cx="5183256" cy="7232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b="1">
                <a:solidFill>
                  <a:schemeClr val="accent2">
                    <a:lumMod val="50000"/>
                  </a:schemeClr>
                </a:solidFill>
              </a:rPr>
              <a:t>(1) </a:t>
            </a: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给出一个有限的非交换环的例子 </a:t>
            </a:r>
            <a:endParaRPr lang="en-US" altLang="zh-CN" b="1">
              <a:solidFill>
                <a:schemeClr val="accent2">
                  <a:lumMod val="50000"/>
                </a:schemeClr>
              </a:solidFill>
            </a:endParaRPr>
          </a:p>
          <a:p>
            <a:pPr>
              <a:spcBef>
                <a:spcPts val="600"/>
              </a:spcBef>
            </a:pPr>
            <a:r>
              <a:rPr lang="en-US" altLang="zh-CN" b="1">
                <a:solidFill>
                  <a:schemeClr val="accent2">
                    <a:lumMod val="50000"/>
                  </a:schemeClr>
                </a:solidFill>
              </a:rPr>
              <a:t>(2) </a:t>
            </a: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给出一个没有单位元的无限的非交换环的例子</a:t>
            </a:r>
            <a:endParaRPr lang="zh-CN" altLang="en-US" b="1">
              <a:solidFill>
                <a:schemeClr val="accent2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959123" y="2112473"/>
                <a:ext cx="7156177" cy="230146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ts val="24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一个有限的非交换环的例子是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1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en-US" altLang="zh-CN" sz="1600" b="1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，它的每个矩阵有</a:t>
                </a:r>
                <a:r>
                  <a:rPr lang="en-US" altLang="zh-CN" sz="1600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4</a:t>
                </a:r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个元素，每个元素都可取</a:t>
                </a:r>
                <a:r>
                  <a:rPr lang="en-US" altLang="zh-CN" sz="1600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或</a:t>
                </a:r>
                <a:r>
                  <a:rPr lang="en-US" altLang="zh-CN" sz="1600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两个值，因此总共有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𝟏𝟔</m:t>
                    </m:r>
                  </m:oMath>
                </a14:m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个元素，是有限环，而且基于模</a:t>
                </a:r>
                <a:r>
                  <a:rPr lang="en-US" altLang="zh-CN" sz="1600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2</a:t>
                </a:r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加运算和模</a:t>
                </a:r>
                <a:r>
                  <a:rPr lang="en-US" altLang="zh-CN" sz="1600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2</a:t>
                </a:r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乘运算定义的矩阵运算也满足交换律、交换律与分配律，因此构成环，零元是全零矩阵，单位元是对角线是</a:t>
                </a:r>
                <a:r>
                  <a:rPr lang="en-US" altLang="zh-CN" sz="1600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的二阶矩阵。</a:t>
                </a:r>
                <a:endParaRPr lang="zh-CN" altLang="en-US" sz="1600" b="1" dirty="0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lnSpc>
                    <a:spcPts val="24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一个没有单位元的无限的非交换环的例子是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600" b="1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</m:d>
                  </m:oMath>
                </a14:m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，即</a:t>
                </a:r>
                <a:r>
                  <a:rPr lang="en-US" altLang="zh-CN" sz="1600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2</a:t>
                </a:r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阶矩阵中的每个元素都是偶数，关于普通加法和普通乘法构成环，这个环是无限集，且没有单位元，矩阵乘法不满足交换律，是非交换环。</a:t>
                </a:r>
                <a:endParaRPr lang="zh-CN" altLang="en-US" sz="1600" b="1" dirty="0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123" y="2112473"/>
                <a:ext cx="7156177" cy="2301464"/>
              </a:xfrm>
              <a:prstGeom prst="rect">
                <a:avLst/>
              </a:prstGeom>
              <a:blipFill rotWithShape="1">
                <a:blip r:embed="rId1"/>
                <a:stretch>
                  <a:fillRect l="-4" t="-20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环的基本性质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环的判定练习（一）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第九讲  环的定义与基本性质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5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951668" y="959126"/>
                <a:ext cx="7240657" cy="8263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ra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，定义集合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r>
                      <m:rPr>
                        <m:lit/>
                      </m:rP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，证明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关于普通复数加法和乘法构成整环，并给出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的所有单位。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668" y="959126"/>
                <a:ext cx="7240657" cy="826380"/>
              </a:xfrm>
              <a:prstGeom prst="rect">
                <a:avLst/>
              </a:prstGeom>
              <a:blipFill rotWithShape="1">
                <a:blip r:embed="rId1"/>
                <a:stretch>
                  <a:fillRect l="-6" t="-33" r="3" b="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925579" y="2261152"/>
            <a:ext cx="7292841" cy="1669774"/>
            <a:chOff x="951668" y="2261152"/>
            <a:chExt cx="7292841" cy="1669774"/>
          </a:xfrm>
        </p:grpSpPr>
        <p:sp>
          <p:nvSpPr>
            <p:cNvPr id="5" name="矩形: 圆角 4"/>
            <p:cNvSpPr/>
            <p:nvPr/>
          </p:nvSpPr>
          <p:spPr>
            <a:xfrm>
              <a:off x="951668" y="2261152"/>
              <a:ext cx="7292841" cy="1669774"/>
            </a:xfrm>
            <a:prstGeom prst="roundRect">
              <a:avLst>
                <a:gd name="adj" fmla="val 5357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3852" y="2312517"/>
              <a:ext cx="7188473" cy="158089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环的基本性质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环的判定练习（二）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第九讲  环的定义与基本性质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5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951668" y="959126"/>
                <a:ext cx="7240657" cy="8263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ra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，定义集合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r>
                      <m:rPr>
                        <m:lit/>
                      </m:rP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，证明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关于普通复数加法和乘法构成整环，并给出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的所有单位。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668" y="959126"/>
                <a:ext cx="7240657" cy="826380"/>
              </a:xfrm>
              <a:prstGeom prst="rect">
                <a:avLst/>
              </a:prstGeom>
              <a:blipFill rotWithShape="1">
                <a:blip r:embed="rId1"/>
                <a:stretch>
                  <a:fillRect l="-6" t="-33" r="3" b="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/>
          <p:cNvGrpSpPr/>
          <p:nvPr/>
        </p:nvGrpSpPr>
        <p:grpSpPr>
          <a:xfrm>
            <a:off x="899491" y="2156791"/>
            <a:ext cx="7318929" cy="2132893"/>
            <a:chOff x="899491" y="2156791"/>
            <a:chExt cx="7318929" cy="2132893"/>
          </a:xfrm>
        </p:grpSpPr>
        <p:sp>
          <p:nvSpPr>
            <p:cNvPr id="5" name="矩形: 圆角 4"/>
            <p:cNvSpPr/>
            <p:nvPr/>
          </p:nvSpPr>
          <p:spPr>
            <a:xfrm>
              <a:off x="899491" y="2156791"/>
              <a:ext cx="7318929" cy="2132893"/>
            </a:xfrm>
            <a:prstGeom prst="roundRect">
              <a:avLst>
                <a:gd name="adj" fmla="val 5357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6698" y="2213464"/>
              <a:ext cx="7240657" cy="202853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环的基本性质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环的判定练习（二）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第九讲  环的定义与基本性质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5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951668" y="959126"/>
                <a:ext cx="7240657" cy="8263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ra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，定义集合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r>
                      <m:rPr>
                        <m:lit/>
                      </m:rP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，证明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关于普通复数加法和乘法构成整环，并给出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的所有单位。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668" y="959126"/>
                <a:ext cx="7240657" cy="826380"/>
              </a:xfrm>
              <a:prstGeom prst="rect">
                <a:avLst/>
              </a:prstGeom>
              <a:blipFill rotWithShape="1">
                <a:blip r:embed="rId1"/>
                <a:stretch>
                  <a:fillRect l="-6" t="-33" r="3" b="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899491" y="1918253"/>
            <a:ext cx="7318929" cy="2822712"/>
            <a:chOff x="899491" y="1918253"/>
            <a:chExt cx="7318929" cy="2822712"/>
          </a:xfrm>
        </p:grpSpPr>
        <p:sp>
          <p:nvSpPr>
            <p:cNvPr id="5" name="矩形: 圆角 4"/>
            <p:cNvSpPr/>
            <p:nvPr/>
          </p:nvSpPr>
          <p:spPr>
            <a:xfrm>
              <a:off x="899491" y="1918253"/>
              <a:ext cx="7318929" cy="2822712"/>
            </a:xfrm>
            <a:prstGeom prst="roundRect">
              <a:avLst>
                <a:gd name="adj" fmla="val 3068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2293" y="1956140"/>
              <a:ext cx="7233324" cy="273106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/>
          <p:cNvSpPr/>
          <p:nvPr/>
        </p:nvSpPr>
        <p:spPr>
          <a:xfrm>
            <a:off x="832399" y="2335696"/>
            <a:ext cx="7479196" cy="1669774"/>
          </a:xfrm>
          <a:prstGeom prst="roundRect">
            <a:avLst>
              <a:gd name="adj" fmla="val 7143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环的基本性质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无零因子与消去律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第九讲  环的定义与基本性质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5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832399" y="1053547"/>
                <a:ext cx="7479196" cy="76944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:r>
                  <a:rPr lang="zh-CN" altLang="en-US" b="1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无零因子</a:t>
                </a:r>
                <a:r>
                  <a:rPr lang="zh-CN" altLang="en-US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环当且仅当它的乘法运算满足</a:t>
                </a:r>
                <a:r>
                  <a:rPr lang="zh-CN" altLang="en-US" b="1" dirty="0">
                    <a:solidFill>
                      <a:srgbClr val="FF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左消去律</a:t>
                </a:r>
                <a:r>
                  <a:rPr lang="zh-CN" altLang="en-US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或</a:t>
                </a:r>
                <a:r>
                  <a:rPr lang="zh-CN" altLang="en-US" b="1" dirty="0">
                    <a:solidFill>
                      <a:srgbClr val="FF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右消去律</a:t>
                </a:r>
                <a:endParaRPr lang="en-US" altLang="zh-CN" b="1" dirty="0">
                  <a:solidFill>
                    <a:srgbClr val="FF00FF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</a:rPr>
                  <a:t>对任意非零元素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</a:rPr>
                  <a:t>和任意元素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𝒂𝒃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𝒂𝒄</m:t>
                    </m:r>
                  </m:oMath>
                </a14:m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</a:rPr>
                  <a:t>蕴涵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</a:rPr>
                  <a:t>，或者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𝒄𝒂</m:t>
                    </m:r>
                  </m:oMath>
                </a14:m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</a:rPr>
                  <a:t>蕴涵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endParaRPr lang="zh-CN" altLang="en-US" sz="1600" b="1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399" y="1053547"/>
                <a:ext cx="7479196" cy="769441"/>
              </a:xfrm>
              <a:prstGeom prst="rect">
                <a:avLst/>
              </a:prstGeom>
              <a:blipFill rotWithShape="1">
                <a:blip r:embed="rId1"/>
                <a:stretch>
                  <a:fillRect l="-7" t="-11" r="1" b="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12" y="2389286"/>
            <a:ext cx="7384775" cy="157246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子环与子环判定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子环判定练习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第九讲  环的定义与基本性质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5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762825" y="974035"/>
                <a:ext cx="7618344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r>
                      <m:rPr>
                        <m:lit/>
                      </m:rP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。证明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是有理数域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ℚ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的子环，并求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的单位群。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825" y="974035"/>
                <a:ext cx="7618344" cy="369332"/>
              </a:xfrm>
              <a:prstGeom prst="rect">
                <a:avLst/>
              </a:prstGeom>
              <a:blipFill rotWithShape="1">
                <a:blip r:embed="rId1"/>
                <a:stretch>
                  <a:fillRect l="-2" t="-157" r="6" b="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762825" y="1669774"/>
            <a:ext cx="7618344" cy="2638839"/>
            <a:chOff x="762825" y="1659835"/>
            <a:chExt cx="7618344" cy="2638839"/>
          </a:xfrm>
        </p:grpSpPr>
        <p:sp>
          <p:nvSpPr>
            <p:cNvPr id="5" name="矩形: 圆角 4"/>
            <p:cNvSpPr/>
            <p:nvPr/>
          </p:nvSpPr>
          <p:spPr>
            <a:xfrm>
              <a:off x="762825" y="1659835"/>
              <a:ext cx="7618344" cy="2638839"/>
            </a:xfrm>
            <a:prstGeom prst="roundRect">
              <a:avLst>
                <a:gd name="adj" fmla="val 5556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7551" y="1713637"/>
              <a:ext cx="7528891" cy="252956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子环与子环判定</a:t>
            </a:r>
            <a:endParaRPr lang="zh-CN" altLang="en-US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环与子环之间的异同（二）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第九讲  环的定义与基本性质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5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899491" y="904461"/>
                <a:ext cx="2529509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是环，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的子环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491" y="904461"/>
                <a:ext cx="2529509" cy="369332"/>
              </a:xfrm>
              <a:prstGeom prst="rect">
                <a:avLst/>
              </a:prstGeom>
              <a:blipFill rotWithShape="1">
                <a:blip r:embed="rId1"/>
                <a:stretch>
                  <a:fillRect l="-13" t="-60" b="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899492" y="1548380"/>
                <a:ext cx="4268856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无零因子，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不一定也无零因子。</a:t>
                </a:r>
                <a:endParaRPr lang="zh-CN" altLang="en-US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492" y="1548380"/>
                <a:ext cx="4268856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8" t="-68" r="2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899491" y="2390506"/>
                <a:ext cx="7215809" cy="70981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ts val="25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例如模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𝟏𝟐</m:t>
                    </m:r>
                  </m:oMath>
                </a14:m>
                <a:r>
                  <a:rPr lang="zh-CN" altLang="en-US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剩余类环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ℤ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𝟏𝟐</m:t>
                        </m:r>
                      </m:sub>
                    </m:sSub>
                  </m:oMath>
                </a14:m>
                <a:r>
                  <a:rPr lang="zh-CN" altLang="en-US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有零因子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𝟔</m:t>
                    </m:r>
                  </m:oMath>
                </a14:m>
                <a:r>
                  <a:rPr lang="zh-CN" altLang="en-US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</m:oMath>
                </a14:m>
                <a:r>
                  <a:rPr lang="zh-CN" altLang="en-US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等，不难看到模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𝟑</m:t>
                    </m:r>
                  </m:oMath>
                </a14:m>
                <a:r>
                  <a:rPr lang="zh-CN" altLang="en-US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剩余类环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ℤ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en-US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是它的子环，但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ℤ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en-US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是无零因子环。</a:t>
                </a:r>
                <a:endParaRPr lang="zh-CN" altLang="en-US" dirty="0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491" y="2390506"/>
                <a:ext cx="7215809" cy="709810"/>
              </a:xfrm>
              <a:prstGeom prst="rect">
                <a:avLst/>
              </a:prstGeom>
              <a:blipFill rotWithShape="1">
                <a:blip r:embed="rId3"/>
                <a:stretch>
                  <a:fillRect l="-5" t="-52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899490" y="3573114"/>
                <a:ext cx="7215809" cy="70981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ts val="25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例如模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𝟏𝟐</m:t>
                    </m:r>
                  </m:oMath>
                </a14:m>
                <a:r>
                  <a:rPr lang="zh-CN" altLang="en-US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剩余类环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ℤ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𝟏𝟐</m:t>
                        </m:r>
                      </m:sub>
                    </m:sSub>
                  </m:oMath>
                </a14:m>
                <a:r>
                  <a:rPr lang="zh-CN" altLang="en-US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有零因子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𝟔</m:t>
                    </m:r>
                  </m:oMath>
                </a14:m>
                <a:r>
                  <a:rPr lang="zh-CN" altLang="en-US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</m:oMath>
                </a14:m>
                <a:r>
                  <a:rPr lang="zh-CN" altLang="en-US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等，不难看到</a:t>
                </a:r>
                <a:r>
                  <a:rPr lang="en-US" altLang="zh-CN" b="1" dirty="0">
                    <a:solidFill>
                      <a:srgbClr val="7030A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4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ℤ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𝟏𝟐</m:t>
                        </m:r>
                      </m:sub>
                    </m:sSub>
                  </m:oMath>
                </a14:m>
                <a:r>
                  <a:rPr lang="zh-CN" altLang="en-US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是它的子环，但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𝟒</m:t>
                        </m:r>
                        <m:r>
                          <a:rPr lang="en-US" altLang="zh-CN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ℤ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𝟏𝟐</m:t>
                        </m:r>
                      </m:sub>
                    </m:sSub>
                  </m:oMath>
                </a14:m>
                <a:r>
                  <a:rPr lang="zh-CN" altLang="en-US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是无零因子环。</a:t>
                </a:r>
                <a:endParaRPr lang="zh-CN" altLang="en-US" dirty="0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490" y="3573114"/>
                <a:ext cx="7215809" cy="709810"/>
              </a:xfrm>
              <a:prstGeom prst="rect">
                <a:avLst/>
              </a:prstGeom>
              <a:blipFill rotWithShape="1">
                <a:blip r:embed="rId4"/>
                <a:stretch>
                  <a:fillRect l="-5" t="-85" r="-405" b="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组合 16"/>
          <p:cNvGrpSpPr/>
          <p:nvPr/>
        </p:nvGrpSpPr>
        <p:grpSpPr>
          <a:xfrm>
            <a:off x="5686097" y="2151108"/>
            <a:ext cx="1171903" cy="1149140"/>
            <a:chOff x="5686097" y="2151108"/>
            <a:chExt cx="1171903" cy="1149140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5686097" y="2196662"/>
              <a:ext cx="1171903" cy="1103586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 flipH="1">
              <a:off x="5686097" y="2151108"/>
              <a:ext cx="955184" cy="114914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/>
        </p:nvGrpSpPr>
        <p:grpSpPr>
          <a:xfrm>
            <a:off x="6536776" y="3259691"/>
            <a:ext cx="1455683" cy="1149140"/>
            <a:chOff x="5490398" y="3430709"/>
            <a:chExt cx="1455683" cy="1149140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5490398" y="4177493"/>
              <a:ext cx="521519" cy="378297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5990897" y="3430709"/>
              <a:ext cx="955184" cy="114914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1518</Words>
  <Application>WPS 演示</Application>
  <PresentationFormat>全屏显示(16:9)</PresentationFormat>
  <Paragraphs>161</Paragraphs>
  <Slides>13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宋体</vt:lpstr>
      <vt:lpstr>Wingdings</vt:lpstr>
      <vt:lpstr>楷体</vt:lpstr>
      <vt:lpstr>仿宋</vt:lpstr>
      <vt:lpstr>Cambria Math</vt:lpstr>
      <vt:lpstr>Calibri</vt:lpstr>
      <vt:lpstr>微软雅黑</vt:lpstr>
      <vt:lpstr>Arial Unicode MS</vt:lpstr>
      <vt:lpstr>等线 Light</vt:lpstr>
      <vt:lpstr>Calibri 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王泰然</cp:lastModifiedBy>
  <cp:revision>88</cp:revision>
  <dcterms:created xsi:type="dcterms:W3CDTF">2022-01-01T06:39:00Z</dcterms:created>
  <dcterms:modified xsi:type="dcterms:W3CDTF">2026-07-03T09:34:59Z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2E58996A589F43929B9FA1FDBA0E47B7_12</vt:lpwstr>
  </property>
  <property fmtid="{D5CDD505-2E9C-101B-9397-08002B2CF9AE}" pid="3" name="KSOProductBuildVer">
    <vt:lpwstr>2052-12.1.0.26375</vt:lpwstr>
  </property>
</Properties>
</file>