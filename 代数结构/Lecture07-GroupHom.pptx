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3" r:id="rId4"/>
    <p:sldId id="318" r:id="rId5"/>
    <p:sldId id="314" r:id="rId6"/>
    <p:sldId id="315" r:id="rId7"/>
    <p:sldId id="322" r:id="rId8"/>
    <p:sldId id="328" r:id="rId9"/>
    <p:sldId id="330" r:id="rId10"/>
    <p:sldId id="335" r:id="rId11"/>
    <p:sldId id="337" r:id="rId12"/>
    <p:sldId id="332" r:id="rId13"/>
    <p:sldId id="333" r:id="rId14"/>
    <p:sldId id="339" r:id="rId15"/>
    <p:sldId id="34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1" d="100"/>
          <a:sy n="201" d="100"/>
        </p:scale>
        <p:origin x="6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microsoft.com/office/2007/relationships/hdphoto" Target="../media/image19.wdp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208579" y="872902"/>
            <a:ext cx="6726839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第七讲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群的同态与同构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2887" y="3419732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80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966519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群同态的例子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84580" y="998883"/>
            <a:ext cx="7374834" cy="3294822"/>
            <a:chOff x="879614" y="924340"/>
            <a:chExt cx="7374834" cy="3294822"/>
          </a:xfrm>
        </p:grpSpPr>
        <p:sp>
          <p:nvSpPr>
            <p:cNvPr id="10" name="矩形: 圆角 9"/>
            <p:cNvSpPr/>
            <p:nvPr/>
          </p:nvSpPr>
          <p:spPr>
            <a:xfrm>
              <a:off x="879614" y="924340"/>
              <a:ext cx="7374834" cy="3294822"/>
            </a:xfrm>
            <a:prstGeom prst="roundRect">
              <a:avLst>
                <a:gd name="adj" fmla="val 399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924339" y="987303"/>
              <a:ext cx="7280413" cy="31688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75747" y="987303"/>
              <a:ext cx="6820336" cy="1757087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5744" y="2944041"/>
              <a:ext cx="7192505" cy="12121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群同态的例子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84580" y="3849196"/>
                <a:ext cx="5789546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上的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个自同态？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0" y="3849196"/>
                <a:ext cx="5789546" cy="369332"/>
              </a:xfrm>
              <a:prstGeom prst="rect">
                <a:avLst/>
              </a:prstGeom>
              <a:blipFill rotWithShape="1">
                <a:blip r:embed="rId1"/>
                <a:stretch>
                  <a:fillRect t="-125" r="5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884580" y="1046094"/>
            <a:ext cx="7374834" cy="2464903"/>
            <a:chOff x="884580" y="916885"/>
            <a:chExt cx="7374834" cy="2464903"/>
          </a:xfrm>
        </p:grpSpPr>
        <p:sp>
          <p:nvSpPr>
            <p:cNvPr id="10" name="矩形: 圆角 9"/>
            <p:cNvSpPr/>
            <p:nvPr/>
          </p:nvSpPr>
          <p:spPr>
            <a:xfrm>
              <a:off x="884580" y="916885"/>
              <a:ext cx="7374834" cy="2464903"/>
            </a:xfrm>
            <a:prstGeom prst="roundRect">
              <a:avLst>
                <a:gd name="adj" fmla="val 399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6821" y="980429"/>
              <a:ext cx="7300291" cy="23378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群同态的定义与例子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群的内自同构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38030" y="879614"/>
            <a:ext cx="6867939" cy="3617844"/>
            <a:chOff x="1138030" y="864705"/>
            <a:chExt cx="6867939" cy="3617844"/>
          </a:xfrm>
        </p:grpSpPr>
        <p:sp>
          <p:nvSpPr>
            <p:cNvPr id="4" name="矩形: 圆角 3"/>
            <p:cNvSpPr/>
            <p:nvPr/>
          </p:nvSpPr>
          <p:spPr>
            <a:xfrm>
              <a:off x="1138030" y="864705"/>
              <a:ext cx="6867939" cy="3617844"/>
            </a:xfrm>
            <a:prstGeom prst="roundRect">
              <a:avLst>
                <a:gd name="adj" fmla="val 3374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87725" y="911678"/>
              <a:ext cx="6768549" cy="35288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群同构的基本例子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群的左正则表示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43606" y="1032223"/>
            <a:ext cx="7056782" cy="2077278"/>
            <a:chOff x="1043609" y="974035"/>
            <a:chExt cx="7056782" cy="2077278"/>
          </a:xfrm>
        </p:grpSpPr>
        <p:sp>
          <p:nvSpPr>
            <p:cNvPr id="5" name="矩形: 圆角 4"/>
            <p:cNvSpPr/>
            <p:nvPr/>
          </p:nvSpPr>
          <p:spPr>
            <a:xfrm>
              <a:off x="1043609" y="974035"/>
              <a:ext cx="7056782" cy="2077278"/>
            </a:xfrm>
            <a:prstGeom prst="roundRect">
              <a:avLst>
                <a:gd name="adj" fmla="val 5423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83363" y="1016607"/>
              <a:ext cx="6977268" cy="199350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83360" y="3518452"/>
                <a:ext cx="6977268" cy="7141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置换群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称为群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左正则表示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(left regular representation)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，置换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称为由元素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确定的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左平移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(left translation)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360" y="3518452"/>
                <a:ext cx="6977268" cy="714170"/>
              </a:xfrm>
              <a:prstGeom prst="rect">
                <a:avLst/>
              </a:prstGeom>
              <a:blipFill rotWithShape="1">
                <a:blip r:embed="rId2"/>
                <a:stretch>
                  <a:fillRect l="-1" t="-77" r="8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/>
          <p:cNvSpPr/>
          <p:nvPr/>
        </p:nvSpPr>
        <p:spPr>
          <a:xfrm>
            <a:off x="683317" y="735496"/>
            <a:ext cx="7804701" cy="3896139"/>
          </a:xfrm>
          <a:prstGeom prst="roundRect">
            <a:avLst>
              <a:gd name="adj" fmla="val 34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30527" y="839857"/>
            <a:ext cx="7720216" cy="3744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群同构的基本例子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循环群之间的同构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26" y="793306"/>
            <a:ext cx="7720216" cy="5759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35" y="1539264"/>
            <a:ext cx="1863619" cy="15229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048" y="1542119"/>
            <a:ext cx="1863619" cy="152004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13" y="3232134"/>
            <a:ext cx="7685429" cy="135268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190" y="1554912"/>
            <a:ext cx="1863620" cy="1509902"/>
          </a:xfrm>
          <a:prstGeom prst="rect">
            <a:avLst/>
          </a:prstGeom>
        </p:spPr>
      </p:pic>
      <p:sp>
        <p:nvSpPr>
          <p:cNvPr id="19" name="箭头: 右 18"/>
          <p:cNvSpPr/>
          <p:nvPr/>
        </p:nvSpPr>
        <p:spPr>
          <a:xfrm>
            <a:off x="3022731" y="2218717"/>
            <a:ext cx="541681" cy="1639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/>
          <p:cNvSpPr/>
          <p:nvPr/>
        </p:nvSpPr>
        <p:spPr>
          <a:xfrm>
            <a:off x="5630492" y="2218717"/>
            <a:ext cx="541681" cy="1639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/>
        </p:nvSpPr>
        <p:spPr>
          <a:xfrm>
            <a:off x="655983" y="1336813"/>
            <a:ext cx="5448255" cy="6167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群同态的基本性质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群同态基本性质举例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55177" y="833963"/>
                <a:ext cx="3672509" cy="33855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d>
                        <m:dPr>
                          <m:ctrlPr>
                            <a:rPr lang="pl-PL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16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m:rPr>
                          <m:lit/>
                        </m:rPr>
                        <a:rPr lang="pl-PL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7" y="833963"/>
                <a:ext cx="3672509" cy="338554"/>
              </a:xfrm>
              <a:prstGeom prst="rect">
                <a:avLst/>
              </a:prstGeom>
              <a:blipFill rotWithShape="1">
                <a:blip r:embed="rId1"/>
                <a:stretch>
                  <a:fillRect l="-13" t="-61" r="4" b="-57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36" y="1367396"/>
            <a:ext cx="5377073" cy="55748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655983" y="2146852"/>
            <a:ext cx="5774634" cy="1962163"/>
            <a:chOff x="655983" y="2146852"/>
            <a:chExt cx="5774634" cy="1962163"/>
          </a:xfrm>
        </p:grpSpPr>
        <p:sp>
          <p:nvSpPr>
            <p:cNvPr id="17" name="矩形: 圆角 16"/>
            <p:cNvSpPr/>
            <p:nvPr/>
          </p:nvSpPr>
          <p:spPr>
            <a:xfrm>
              <a:off x="655983" y="2146852"/>
              <a:ext cx="5774634" cy="1962163"/>
            </a:xfrm>
            <a:prstGeom prst="roundRect">
              <a:avLst>
                <a:gd name="adj" fmla="val 5017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736" y="2193190"/>
              <a:ext cx="5690155" cy="188862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55177" y="4294127"/>
                <a:ext cx="7265508" cy="31284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</m:d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的子群，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𝟏𝟗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𝟐𝟗</m:t>
                    </m:r>
                    <m:r>
                      <m:rPr>
                        <m:lit/>
                      </m:rP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的子群。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7" y="4294127"/>
                <a:ext cx="7265508" cy="312843"/>
              </a:xfrm>
              <a:prstGeom prst="rect">
                <a:avLst/>
              </a:prstGeom>
              <a:blipFill rotWithShape="1">
                <a:blip r:embed="rId4"/>
                <a:stretch>
                  <a:fillRect l="-7" t="-82" r="5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8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7109" y="808435"/>
            <a:ext cx="2430118" cy="1592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群同态的核练习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的所有同态，以及每个同态的同态核。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" t="-23" r="-71" b="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939245" y="1565413"/>
            <a:ext cx="7265504" cy="2539448"/>
            <a:chOff x="939245" y="1565413"/>
            <a:chExt cx="7265504" cy="2539448"/>
          </a:xfrm>
        </p:grpSpPr>
        <p:sp>
          <p:nvSpPr>
            <p:cNvPr id="5" name="矩形: 圆角 4"/>
            <p:cNvSpPr/>
            <p:nvPr/>
          </p:nvSpPr>
          <p:spPr>
            <a:xfrm>
              <a:off x="939245" y="1565413"/>
              <a:ext cx="7265504" cy="2539448"/>
            </a:xfrm>
            <a:prstGeom prst="roundRect">
              <a:avLst>
                <a:gd name="adj" fmla="val 492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458" y="1608736"/>
              <a:ext cx="7171083" cy="24565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群同态的核练习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给出模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到模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𝟏𝟖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的所有同态，以及每个同态的同态核。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5" y="939249"/>
                <a:ext cx="7265504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1" t="-23" r="-71" b="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"/>
          <p:cNvSpPr/>
          <p:nvPr/>
        </p:nvSpPr>
        <p:spPr>
          <a:xfrm>
            <a:off x="939245" y="1565414"/>
            <a:ext cx="7265504" cy="2375452"/>
          </a:xfrm>
          <a:prstGeom prst="roundRect">
            <a:avLst>
              <a:gd name="adj" fmla="val 492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88" y="1624240"/>
            <a:ext cx="7116418" cy="22450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群的同态基本定理举例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8940" y="959126"/>
            <a:ext cx="716611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由正规子群导出的商群的自然映射是满同态，且它的核是该正规子群。</a:t>
            </a:r>
            <a:endParaRPr lang="zh-CN" altLang="en-US" b="1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8757" y="1840559"/>
            <a:ext cx="7106477" cy="2123653"/>
            <a:chOff x="1048576" y="1861937"/>
            <a:chExt cx="7106477" cy="2123653"/>
          </a:xfrm>
        </p:grpSpPr>
        <p:sp>
          <p:nvSpPr>
            <p:cNvPr id="5" name="矩形: 圆角 4"/>
            <p:cNvSpPr/>
            <p:nvPr/>
          </p:nvSpPr>
          <p:spPr>
            <a:xfrm>
              <a:off x="1048576" y="1861937"/>
              <a:ext cx="7106477" cy="2123653"/>
            </a:xfrm>
            <a:prstGeom prst="roundRect">
              <a:avLst>
                <a:gd name="adj" fmla="val 426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8396" y="1900654"/>
              <a:ext cx="7046847" cy="204622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群同态基本定理的应用例子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08821" y="980208"/>
            <a:ext cx="7126357" cy="571500"/>
            <a:chOff x="1003852" y="790161"/>
            <a:chExt cx="7126357" cy="571500"/>
          </a:xfrm>
        </p:grpSpPr>
        <p:sp>
          <p:nvSpPr>
            <p:cNvPr id="4" name="矩形: 圆角 3"/>
            <p:cNvSpPr/>
            <p:nvPr/>
          </p:nvSpPr>
          <p:spPr>
            <a:xfrm>
              <a:off x="1003852" y="790161"/>
              <a:ext cx="7126357" cy="571500"/>
            </a:xfrm>
            <a:prstGeom prst="roundRect">
              <a:avLst>
                <a:gd name="adj" fmla="val 12319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36154" y="824659"/>
              <a:ext cx="7071691" cy="499905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008821" y="1825145"/>
            <a:ext cx="7126357" cy="2533164"/>
            <a:chOff x="1008821" y="1700906"/>
            <a:chExt cx="7126357" cy="2533164"/>
          </a:xfrm>
        </p:grpSpPr>
        <p:sp>
          <p:nvSpPr>
            <p:cNvPr id="10" name="矩形: 圆角 9"/>
            <p:cNvSpPr/>
            <p:nvPr/>
          </p:nvSpPr>
          <p:spPr>
            <a:xfrm>
              <a:off x="1008821" y="1700906"/>
              <a:ext cx="7126357" cy="2533164"/>
            </a:xfrm>
            <a:prstGeom prst="roundRect">
              <a:avLst>
                <a:gd name="adj" fmla="val 2738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6154" y="1750607"/>
              <a:ext cx="7071692" cy="196310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671" y="3714183"/>
              <a:ext cx="7071692" cy="47819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750404" y="1043609"/>
            <a:ext cx="7628283" cy="6261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第二同构定理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094732"/>
            <a:ext cx="7543799" cy="5337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750404" y="2221396"/>
                <a:ext cx="7687917" cy="166314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利用子群判定定理证明：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！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利用正规子群判断定理证明：对任意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𝒉𝒏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；以及对任意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！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构造同态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𝑯𝑲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𝐊𝐞𝐫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𝝋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!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04" y="2221396"/>
                <a:ext cx="7687917" cy="1663148"/>
              </a:xfrm>
              <a:prstGeom prst="rect">
                <a:avLst/>
              </a:prstGeom>
              <a:blipFill rotWithShape="1">
                <a:blip r:embed="rId2"/>
                <a:stretch>
                  <a:fillRect l="-6" t="-10" r="-556" b="-16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第二同构定理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57853" y="807099"/>
            <a:ext cx="7628283" cy="626165"/>
            <a:chOff x="750404" y="1043609"/>
            <a:chExt cx="7628283" cy="626165"/>
          </a:xfrm>
        </p:grpSpPr>
        <p:sp>
          <p:nvSpPr>
            <p:cNvPr id="4" name="矩形: 圆角 3"/>
            <p:cNvSpPr/>
            <p:nvPr/>
          </p:nvSpPr>
          <p:spPr>
            <a:xfrm>
              <a:off x="750404" y="1043609"/>
              <a:ext cx="7628283" cy="6261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0100" y="1094732"/>
              <a:ext cx="7543799" cy="533702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757853" y="1595230"/>
            <a:ext cx="7628283" cy="3012462"/>
            <a:chOff x="750402" y="1674743"/>
            <a:chExt cx="7628283" cy="3012462"/>
          </a:xfrm>
        </p:grpSpPr>
        <p:sp>
          <p:nvSpPr>
            <p:cNvPr id="8" name="矩形: 圆角 7"/>
            <p:cNvSpPr/>
            <p:nvPr/>
          </p:nvSpPr>
          <p:spPr>
            <a:xfrm>
              <a:off x="750402" y="1674743"/>
              <a:ext cx="7628283" cy="3012462"/>
            </a:xfrm>
            <a:prstGeom prst="roundRect">
              <a:avLst>
                <a:gd name="adj" fmla="val 264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643" y="1710870"/>
              <a:ext cx="7543799" cy="29383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latin typeface="楷体" panose="02010609060101010101" pitchFamily="49" charset="-122"/>
                <a:ea typeface="楷体" panose="02010609060101010101" pitchFamily="49" charset="-122"/>
              </a:rPr>
              <a:t>群的同态基本定理</a:t>
            </a:r>
            <a:endParaRPr lang="zh-CN" altLang="en-US" sz="12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-4" y="205268"/>
            <a:ext cx="9144003" cy="241757"/>
          </a:xfrm>
          <a:prstGeom prst="rect">
            <a:avLst/>
          </a:prstGeom>
          <a:solidFill>
            <a:srgbClr val="210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/>
              <a:t>第二同构定理</a:t>
            </a:r>
            <a:endParaRPr lang="zh-CN" altLang="en-US" sz="1400"/>
          </a:p>
        </p:txBody>
      </p:sp>
      <p:sp>
        <p:nvSpPr>
          <p:cNvPr id="14" name="矩形 13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第七讲  群的同态与同构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   </a:t>
            </a:r>
            <a:fld id="{67E5B0CF-9CF9-4EF2-9DE1-55386CD573EB}" type="slidenum">
              <a:rPr lang="en-US" altLang="zh-CN" sz="140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/35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57853" y="996397"/>
            <a:ext cx="7628283" cy="626165"/>
            <a:chOff x="750404" y="1043609"/>
            <a:chExt cx="7628283" cy="626165"/>
          </a:xfrm>
        </p:grpSpPr>
        <p:sp>
          <p:nvSpPr>
            <p:cNvPr id="4" name="矩形: 圆角 3"/>
            <p:cNvSpPr/>
            <p:nvPr/>
          </p:nvSpPr>
          <p:spPr>
            <a:xfrm>
              <a:off x="750404" y="1043609"/>
              <a:ext cx="7628283" cy="6261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0100" y="1094732"/>
              <a:ext cx="7543799" cy="533702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65306" y="2209206"/>
            <a:ext cx="7628283" cy="1933161"/>
            <a:chOff x="757853" y="1595230"/>
            <a:chExt cx="7628283" cy="1933161"/>
          </a:xfrm>
        </p:grpSpPr>
        <p:sp>
          <p:nvSpPr>
            <p:cNvPr id="8" name="矩形: 圆角 7"/>
            <p:cNvSpPr/>
            <p:nvPr/>
          </p:nvSpPr>
          <p:spPr>
            <a:xfrm>
              <a:off x="757853" y="1595230"/>
              <a:ext cx="7628283" cy="1933161"/>
            </a:xfrm>
            <a:prstGeom prst="roundRect">
              <a:avLst>
                <a:gd name="adj" fmla="val 2645"/>
              </a:avLst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" y="1652923"/>
              <a:ext cx="7543800" cy="18277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1376</Words>
  <Application>WPS 演示</Application>
  <PresentationFormat>全屏显示(16:9)</PresentationFormat>
  <Paragraphs>164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楷体</vt:lpstr>
      <vt:lpstr>仿宋</vt:lpstr>
      <vt:lpstr>Cambria Math</vt:lpstr>
      <vt:lpstr>Calibri</vt:lpstr>
      <vt:lpstr>微软雅黑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65</cp:revision>
  <dcterms:created xsi:type="dcterms:W3CDTF">2022-01-01T06:39:00Z</dcterms:created>
  <dcterms:modified xsi:type="dcterms:W3CDTF">2026-07-03T08:00:58Z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151502BF04674C678104B7AAE4AA23BB_12</vt:lpwstr>
  </property>
  <property fmtid="{D5CDD505-2E9C-101B-9397-08002B2CF9AE}" pid="3" name="KSOProductBuildVer">
    <vt:lpwstr>2052-12.1.0.26375</vt:lpwstr>
  </property>
</Properties>
</file>