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handoutMasterIdLst>
    <p:handoutMasterId r:id="rId15"/>
  </p:handoutMasterIdLst>
  <p:sldIdLst>
    <p:sldId id="256" r:id="rId3"/>
    <p:sldId id="336" r:id="rId4"/>
    <p:sldId id="338" r:id="rId5"/>
    <p:sldId id="352" r:id="rId7"/>
    <p:sldId id="316" r:id="rId8"/>
    <p:sldId id="354" r:id="rId9"/>
    <p:sldId id="355" r:id="rId10"/>
    <p:sldId id="357" r:id="rId11"/>
    <p:sldId id="344" r:id="rId12"/>
    <p:sldId id="345" r:id="rId13"/>
    <p:sldId id="346" r:id="rId1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84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0F7EC"/>
    <a:srgbClr val="E5EFE5"/>
    <a:srgbClr val="210694"/>
    <a:srgbClr val="371E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4981" autoAdjust="0"/>
  </p:normalViewPr>
  <p:slideViewPr>
    <p:cSldViewPr snapToGrid="0" showGuides="1">
      <p:cViewPr varScale="1">
        <p:scale>
          <a:sx n="70" d="100"/>
          <a:sy n="70" d="100"/>
        </p:scale>
        <p:origin x="1066" y="0"/>
      </p:cViewPr>
      <p:guideLst>
        <p:guide orient="horz" pos="2137"/>
        <p:guide pos="384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handoutMaster" Target="handoutMasters/handoutMaster1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4885EC-FC31-4C02-A6B7-CB928C67246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03CE1D-8704-4C63-9775-0632F4087D4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反例：自然数乘法</a:t>
            </a:r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dirty="0"/>
              <a:t>当</a:t>
            </a:r>
            <a:r>
              <a:rPr lang="en-US" altLang="zh-CN" dirty="0"/>
              <a:t>n=1</a:t>
            </a:r>
            <a:r>
              <a:rPr lang="zh-CN" altLang="en-US" dirty="0"/>
              <a:t>时，写法不规范</a:t>
            </a:r>
            <a:endParaRPr lang="en-US" altLang="zh-CN" dirty="0"/>
          </a:p>
          <a:p>
            <a:r>
              <a:rPr lang="zh-CN" altLang="en-US" dirty="0"/>
              <a:t>还要继续证明</a:t>
            </a:r>
            <a:r>
              <a:rPr lang="en-US" altLang="zh-CN" dirty="0"/>
              <a:t>n=-m&lt;0</a:t>
            </a:r>
            <a:r>
              <a:rPr lang="zh-CN" altLang="en-US" dirty="0"/>
              <a:t>时成立。</a:t>
            </a:r>
            <a:r>
              <a:rPr lang="en-US" altLang="zh-CN" dirty="0"/>
              <a:t>m&gt;0</a:t>
            </a:r>
            <a:endParaRPr lang="en-US" altLang="zh-CN" dirty="0"/>
          </a:p>
          <a:p>
            <a:r>
              <a:rPr lang="en-US" altLang="zh-CN" dirty="0"/>
              <a:t>(aba^{-1})^n=(aba^{-1})^{-m}=((aba^{-1})^{-1})^m=(ab^{-1}a^{-1})^m=a(b^{-1})^ma^{-1} =ab^{-m}a^{-1} =</a:t>
            </a:r>
            <a:r>
              <a:rPr lang="en-US" altLang="zh-CN" dirty="0" err="1"/>
              <a:t>ab^na</a:t>
            </a:r>
            <a:r>
              <a:rPr lang="en-US" altLang="zh-CN" dirty="0"/>
              <a:t>^{-1}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 dirty="0" err="1"/>
              <a:t>ord</a:t>
            </a:r>
            <a:r>
              <a:rPr lang="en-US" altLang="zh-CN" dirty="0"/>
              <a:t>(a^{-1})=n</a:t>
            </a:r>
            <a:r>
              <a:rPr lang="zh-CN" altLang="en-US" dirty="0"/>
              <a:t>的另外一种证明方法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由</a:t>
            </a:r>
            <a:r>
              <a:rPr lang="en-US" altLang="zh-CN" dirty="0"/>
              <a:t> </a:t>
            </a:r>
            <a:r>
              <a:rPr lang="en-US" altLang="zh-CN" dirty="0" err="1"/>
              <a:t>a^n</a:t>
            </a:r>
            <a:r>
              <a:rPr lang="en-US" altLang="zh-CN" dirty="0"/>
              <a:t>=e</a:t>
            </a:r>
            <a:r>
              <a:rPr lang="zh-CN" altLang="en-US" dirty="0"/>
              <a:t>有，（</a:t>
            </a:r>
            <a:r>
              <a:rPr lang="en-US" altLang="zh-CN" dirty="0">
                <a:sym typeface="+mn-ea"/>
              </a:rPr>
              <a:t>a^{-1}</a:t>
            </a:r>
            <a:r>
              <a:rPr lang="zh-CN" altLang="en-US" dirty="0">
                <a:sym typeface="+mn-ea"/>
              </a:rPr>
              <a:t>）</a:t>
            </a:r>
            <a:r>
              <a:rPr lang="en-US" altLang="zh-CN" dirty="0">
                <a:sym typeface="+mn-ea"/>
              </a:rPr>
              <a:t>^n=e*</a:t>
            </a:r>
            <a:r>
              <a:rPr lang="zh-CN" altLang="en-US" dirty="0">
                <a:sym typeface="+mn-ea"/>
              </a:rPr>
              <a:t>（</a:t>
            </a:r>
            <a:r>
              <a:rPr lang="en-US" altLang="zh-CN" dirty="0">
                <a:sym typeface="+mn-ea"/>
              </a:rPr>
              <a:t>a^{-1}</a:t>
            </a:r>
            <a:r>
              <a:rPr lang="zh-CN" altLang="en-US" dirty="0">
                <a:sym typeface="+mn-ea"/>
              </a:rPr>
              <a:t>）</a:t>
            </a:r>
            <a:r>
              <a:rPr lang="en-US" altLang="zh-CN" dirty="0">
                <a:sym typeface="+mn-ea"/>
              </a:rPr>
              <a:t>^n=</a:t>
            </a:r>
            <a:r>
              <a:rPr lang="en-US" altLang="zh-CN" dirty="0" err="1">
                <a:sym typeface="+mn-ea"/>
              </a:rPr>
              <a:t>a^n</a:t>
            </a:r>
            <a:r>
              <a:rPr lang="en-US" altLang="zh-CN" dirty="0">
                <a:sym typeface="+mn-ea"/>
              </a:rPr>
              <a:t>*</a:t>
            </a:r>
            <a:r>
              <a:rPr lang="zh-CN" altLang="en-US" dirty="0">
                <a:sym typeface="+mn-ea"/>
              </a:rPr>
              <a:t>（</a:t>
            </a:r>
            <a:r>
              <a:rPr lang="en-US" altLang="zh-CN" dirty="0">
                <a:sym typeface="+mn-ea"/>
              </a:rPr>
              <a:t>a^{-1}</a:t>
            </a:r>
            <a:r>
              <a:rPr lang="zh-CN" altLang="en-US" dirty="0">
                <a:sym typeface="+mn-ea"/>
              </a:rPr>
              <a:t>）</a:t>
            </a:r>
            <a:r>
              <a:rPr lang="en-US" altLang="zh-CN" dirty="0">
                <a:sym typeface="+mn-ea"/>
              </a:rPr>
              <a:t>^n=e</a:t>
            </a:r>
            <a:r>
              <a:rPr lang="zh-CN" altLang="en-US" dirty="0">
                <a:sym typeface="+mn-ea"/>
              </a:rPr>
              <a:t>。</a:t>
            </a:r>
            <a:endParaRPr lang="zh-CN" altLang="en-US" dirty="0">
              <a:sym typeface="+mn-ea"/>
            </a:endParaRPr>
          </a:p>
          <a:p>
            <a:r>
              <a:rPr lang="zh-CN" altLang="en-US" dirty="0">
                <a:sym typeface="+mn-ea"/>
              </a:rPr>
              <a:t>以下证明不存在</a:t>
            </a:r>
            <a:r>
              <a:rPr lang="en-US" altLang="zh-CN" dirty="0">
                <a:sym typeface="+mn-ea"/>
              </a:rPr>
              <a:t>0&lt;m&lt;n</a:t>
            </a:r>
            <a:r>
              <a:rPr lang="zh-CN" altLang="en-US" dirty="0">
                <a:sym typeface="+mn-ea"/>
              </a:rPr>
              <a:t>使得（</a:t>
            </a:r>
            <a:r>
              <a:rPr lang="en-US" altLang="zh-CN" dirty="0">
                <a:sym typeface="+mn-ea"/>
              </a:rPr>
              <a:t>a^{-1}</a:t>
            </a:r>
            <a:r>
              <a:rPr lang="zh-CN" altLang="en-US" dirty="0">
                <a:sym typeface="+mn-ea"/>
              </a:rPr>
              <a:t>）</a:t>
            </a:r>
            <a:r>
              <a:rPr lang="en-US" altLang="zh-CN" dirty="0">
                <a:sym typeface="+mn-ea"/>
              </a:rPr>
              <a:t>^m=e</a:t>
            </a:r>
            <a:endParaRPr lang="en-US" altLang="zh-CN" dirty="0">
              <a:sym typeface="+mn-ea"/>
            </a:endParaRPr>
          </a:p>
          <a:p>
            <a:r>
              <a:rPr lang="zh-CN" altLang="en-US" dirty="0">
                <a:sym typeface="+mn-ea"/>
              </a:rPr>
              <a:t>若（</a:t>
            </a:r>
            <a:r>
              <a:rPr lang="en-US" altLang="zh-CN" dirty="0">
                <a:sym typeface="+mn-ea"/>
              </a:rPr>
              <a:t>a^{-1}</a:t>
            </a:r>
            <a:r>
              <a:rPr lang="zh-CN" altLang="en-US" dirty="0">
                <a:sym typeface="+mn-ea"/>
              </a:rPr>
              <a:t>）</a:t>
            </a:r>
            <a:r>
              <a:rPr lang="en-US" altLang="zh-CN" dirty="0">
                <a:sym typeface="+mn-ea"/>
              </a:rPr>
              <a:t>^m=e</a:t>
            </a:r>
            <a:endParaRPr lang="en-US" altLang="zh-CN" dirty="0">
              <a:sym typeface="+mn-ea"/>
            </a:endParaRPr>
          </a:p>
          <a:p>
            <a:r>
              <a:rPr lang="zh-CN" altLang="en-US" dirty="0">
                <a:sym typeface="+mn-ea"/>
              </a:rPr>
              <a:t>则（</a:t>
            </a:r>
            <a:r>
              <a:rPr lang="en-US" altLang="zh-CN" dirty="0">
                <a:sym typeface="+mn-ea"/>
              </a:rPr>
              <a:t>a^{-1}</a:t>
            </a:r>
            <a:r>
              <a:rPr lang="zh-CN" altLang="en-US" dirty="0">
                <a:sym typeface="+mn-ea"/>
              </a:rPr>
              <a:t>）</a:t>
            </a:r>
            <a:r>
              <a:rPr lang="en-US" altLang="zh-CN" dirty="0">
                <a:sym typeface="+mn-ea"/>
              </a:rPr>
              <a:t>^n=</a:t>
            </a:r>
            <a:r>
              <a:rPr lang="zh-CN" altLang="en-US" dirty="0">
                <a:sym typeface="+mn-ea"/>
              </a:rPr>
              <a:t>（</a:t>
            </a:r>
            <a:r>
              <a:rPr lang="en-US" altLang="zh-CN" dirty="0">
                <a:sym typeface="+mn-ea"/>
              </a:rPr>
              <a:t>a^{-1}</a:t>
            </a:r>
            <a:r>
              <a:rPr lang="zh-CN" altLang="en-US" dirty="0">
                <a:sym typeface="+mn-ea"/>
              </a:rPr>
              <a:t>）</a:t>
            </a:r>
            <a:r>
              <a:rPr lang="en-US" altLang="zh-CN" dirty="0">
                <a:sym typeface="+mn-ea"/>
              </a:rPr>
              <a:t>^m*</a:t>
            </a:r>
            <a:r>
              <a:rPr lang="zh-CN" altLang="en-US" dirty="0">
                <a:sym typeface="+mn-ea"/>
              </a:rPr>
              <a:t>（</a:t>
            </a:r>
            <a:r>
              <a:rPr lang="en-US" altLang="zh-CN" dirty="0">
                <a:sym typeface="+mn-ea"/>
              </a:rPr>
              <a:t>a^{-1}</a:t>
            </a:r>
            <a:r>
              <a:rPr lang="zh-CN" altLang="en-US" dirty="0">
                <a:sym typeface="+mn-ea"/>
              </a:rPr>
              <a:t>）</a:t>
            </a:r>
            <a:r>
              <a:rPr lang="en-US" altLang="zh-CN" dirty="0">
                <a:sym typeface="+mn-ea"/>
              </a:rPr>
              <a:t>^(n-m)=e*</a:t>
            </a:r>
            <a:r>
              <a:rPr lang="zh-CN" altLang="en-US" dirty="0">
                <a:sym typeface="+mn-ea"/>
              </a:rPr>
              <a:t>（</a:t>
            </a:r>
            <a:r>
              <a:rPr lang="en-US" altLang="zh-CN" dirty="0">
                <a:sym typeface="+mn-ea"/>
              </a:rPr>
              <a:t>a^{-1}</a:t>
            </a:r>
            <a:r>
              <a:rPr lang="zh-CN" altLang="en-US" dirty="0">
                <a:sym typeface="+mn-ea"/>
              </a:rPr>
              <a:t>）</a:t>
            </a:r>
            <a:r>
              <a:rPr lang="en-US" altLang="zh-CN" dirty="0">
                <a:sym typeface="+mn-ea"/>
              </a:rPr>
              <a:t>^(n-m)=</a:t>
            </a:r>
            <a:r>
              <a:rPr lang="zh-CN" altLang="en-US" dirty="0">
                <a:sym typeface="+mn-ea"/>
              </a:rPr>
              <a:t>（</a:t>
            </a:r>
            <a:r>
              <a:rPr lang="en-US" altLang="zh-CN" dirty="0">
                <a:sym typeface="+mn-ea"/>
              </a:rPr>
              <a:t>a^{-1}</a:t>
            </a:r>
            <a:r>
              <a:rPr lang="zh-CN" altLang="en-US" dirty="0">
                <a:sym typeface="+mn-ea"/>
              </a:rPr>
              <a:t>）</a:t>
            </a:r>
            <a:r>
              <a:rPr lang="en-US" altLang="zh-CN" dirty="0">
                <a:sym typeface="+mn-ea"/>
              </a:rPr>
              <a:t>^(n-m)=e</a:t>
            </a:r>
            <a:endParaRPr lang="en-US" altLang="zh-CN" dirty="0">
              <a:sym typeface="+mn-ea"/>
            </a:endParaRPr>
          </a:p>
          <a:p>
            <a:r>
              <a:rPr lang="zh-CN" altLang="en-US" dirty="0">
                <a:sym typeface="+mn-ea"/>
              </a:rPr>
              <a:t>进而</a:t>
            </a:r>
            <a:r>
              <a:rPr lang="en-US" altLang="zh-CN" dirty="0">
                <a:sym typeface="+mn-ea"/>
              </a:rPr>
              <a:t>a^(n-m)*</a:t>
            </a:r>
            <a:r>
              <a:rPr lang="zh-CN" altLang="en-US" dirty="0">
                <a:sym typeface="+mn-ea"/>
              </a:rPr>
              <a:t>（</a:t>
            </a:r>
            <a:r>
              <a:rPr lang="en-US" altLang="zh-CN" dirty="0">
                <a:sym typeface="+mn-ea"/>
              </a:rPr>
              <a:t>a^{-1}</a:t>
            </a:r>
            <a:r>
              <a:rPr lang="zh-CN" altLang="en-US" dirty="0">
                <a:sym typeface="+mn-ea"/>
              </a:rPr>
              <a:t>）</a:t>
            </a:r>
            <a:r>
              <a:rPr lang="en-US" altLang="zh-CN" dirty="0">
                <a:sym typeface="+mn-ea"/>
              </a:rPr>
              <a:t>^(n-m)=a^(n-m)*e=a^(n-m)=e</a:t>
            </a:r>
            <a:r>
              <a:rPr lang="zh-CN" altLang="en-US" dirty="0">
                <a:sym typeface="+mn-ea"/>
              </a:rPr>
              <a:t>，这与</a:t>
            </a:r>
            <a:r>
              <a:rPr lang="en-US" altLang="zh-CN" dirty="0">
                <a:sym typeface="+mn-ea"/>
              </a:rPr>
              <a:t>a</a:t>
            </a:r>
            <a:r>
              <a:rPr lang="zh-CN" altLang="en-US" dirty="0">
                <a:sym typeface="+mn-ea"/>
              </a:rPr>
              <a:t>的阶为</a:t>
            </a:r>
            <a:r>
              <a:rPr lang="en-US" altLang="zh-CN" dirty="0">
                <a:sym typeface="+mn-ea"/>
              </a:rPr>
              <a:t>n</a:t>
            </a:r>
            <a:r>
              <a:rPr lang="zh-CN" altLang="en-US" dirty="0">
                <a:sym typeface="+mn-ea"/>
              </a:rPr>
              <a:t>矛盾</a:t>
            </a:r>
            <a:endParaRPr lang="zh-CN" altLang="en-US" dirty="0">
              <a:sym typeface="+mn-ea"/>
            </a:endParaRPr>
          </a:p>
          <a:p>
            <a:r>
              <a:rPr lang="zh-CN" altLang="en-US" dirty="0">
                <a:sym typeface="+mn-ea"/>
              </a:rPr>
              <a:t>故</a:t>
            </a:r>
            <a:r>
              <a:rPr lang="en-US" altLang="zh-CN" dirty="0" err="1">
                <a:sym typeface="+mn-ea"/>
              </a:rPr>
              <a:t>ord</a:t>
            </a:r>
            <a:r>
              <a:rPr lang="en-US" altLang="zh-CN" dirty="0">
                <a:sym typeface="+mn-ea"/>
              </a:rPr>
              <a:t>(a^{-1})=n</a:t>
            </a:r>
            <a:endParaRPr lang="en-US" altLang="zh-CN" dirty="0">
              <a:sym typeface="+mn-ea"/>
            </a:endParaRPr>
          </a:p>
          <a:p>
            <a:endParaRPr lang="zh-CN" altLang="en-US" dirty="0">
              <a:sym typeface="+mn-ea"/>
            </a:endParaRPr>
          </a:p>
          <a:p>
            <a:r>
              <a:rPr lang="en-US" altLang="zh-CN" dirty="0" err="1">
                <a:sym typeface="+mn-ea"/>
              </a:rPr>
              <a:t>ord</a:t>
            </a:r>
            <a:r>
              <a:rPr lang="en-US" altLang="zh-CN" dirty="0">
                <a:sym typeface="+mn-ea"/>
              </a:rPr>
              <a:t>(</a:t>
            </a:r>
            <a:r>
              <a:rPr lang="en-US" altLang="zh-CN" dirty="0" err="1">
                <a:sym typeface="+mn-ea"/>
              </a:rPr>
              <a:t>a^m</a:t>
            </a:r>
            <a:r>
              <a:rPr lang="en-US" altLang="zh-CN" dirty="0">
                <a:sym typeface="+mn-ea"/>
              </a:rPr>
              <a:t>)=n/(</a:t>
            </a:r>
            <a:r>
              <a:rPr lang="en-US" altLang="zh-CN" dirty="0" err="1">
                <a:sym typeface="+mn-ea"/>
              </a:rPr>
              <a:t>n,m</a:t>
            </a:r>
            <a:r>
              <a:rPr lang="en-US" altLang="zh-CN" dirty="0">
                <a:sym typeface="+mn-ea"/>
              </a:rPr>
              <a:t>)</a:t>
            </a:r>
            <a:r>
              <a:rPr lang="zh-CN" altLang="en-US" dirty="0">
                <a:sym typeface="+mn-ea"/>
              </a:rPr>
              <a:t>的另外一种证明方法</a:t>
            </a:r>
            <a:endParaRPr lang="zh-CN" altLang="en-US" dirty="0">
              <a:sym typeface="+mn-ea"/>
            </a:endParaRPr>
          </a:p>
          <a:p>
            <a:endParaRPr lang="zh-CN" altLang="en-US" dirty="0"/>
          </a:p>
          <a:p>
            <a:r>
              <a:rPr lang="zh-CN" altLang="en-US" dirty="0">
                <a:sym typeface="+mn-ea"/>
              </a:rPr>
              <a:t>设</a:t>
            </a:r>
            <a:r>
              <a:rPr lang="en-US" altLang="zh-CN" dirty="0" err="1">
                <a:sym typeface="+mn-ea"/>
              </a:rPr>
              <a:t>ord</a:t>
            </a:r>
            <a:r>
              <a:rPr lang="en-US" altLang="zh-CN" dirty="0">
                <a:sym typeface="+mn-ea"/>
              </a:rPr>
              <a:t>(</a:t>
            </a:r>
            <a:r>
              <a:rPr lang="en-US" altLang="zh-CN" dirty="0" err="1">
                <a:sym typeface="+mn-ea"/>
              </a:rPr>
              <a:t>a^m</a:t>
            </a:r>
            <a:r>
              <a:rPr lang="en-US" altLang="zh-CN" dirty="0">
                <a:sym typeface="+mn-ea"/>
              </a:rPr>
              <a:t>)=d</a:t>
            </a:r>
            <a:endParaRPr lang="en-US" altLang="zh-CN" dirty="0">
              <a:sym typeface="+mn-ea"/>
            </a:endParaRPr>
          </a:p>
          <a:p>
            <a:r>
              <a:rPr lang="zh-CN" altLang="en-US" dirty="0">
                <a:sym typeface="+mn-ea"/>
              </a:rPr>
              <a:t>则</a:t>
            </a:r>
            <a:r>
              <a:rPr lang="en-US" altLang="zh-CN" dirty="0">
                <a:sym typeface="+mn-ea"/>
              </a:rPr>
              <a:t>(</a:t>
            </a:r>
            <a:r>
              <a:rPr lang="en-US" altLang="zh-CN" dirty="0" err="1">
                <a:sym typeface="+mn-ea"/>
              </a:rPr>
              <a:t>a^m</a:t>
            </a:r>
            <a:r>
              <a:rPr lang="en-US" altLang="zh-CN" dirty="0">
                <a:sym typeface="+mn-ea"/>
              </a:rPr>
              <a:t>)^d=a^{md}=e</a:t>
            </a:r>
            <a:endParaRPr lang="en-US" altLang="zh-CN" dirty="0">
              <a:sym typeface="+mn-ea"/>
            </a:endParaRPr>
          </a:p>
          <a:p>
            <a:r>
              <a:rPr lang="zh-CN" altLang="en-US" dirty="0">
                <a:sym typeface="+mn-ea"/>
              </a:rPr>
              <a:t>故</a:t>
            </a:r>
            <a:r>
              <a:rPr lang="en-US" altLang="zh-CN" dirty="0" err="1">
                <a:sym typeface="+mn-ea"/>
              </a:rPr>
              <a:t>n|md</a:t>
            </a:r>
            <a:r>
              <a:rPr lang="zh-CN" altLang="en-US" dirty="0">
                <a:sym typeface="+mn-ea"/>
              </a:rPr>
              <a:t>，进而</a:t>
            </a:r>
            <a:r>
              <a:rPr lang="en-US" altLang="zh-CN" dirty="0">
                <a:sym typeface="+mn-ea"/>
              </a:rPr>
              <a:t>(n/(</a:t>
            </a:r>
            <a:r>
              <a:rPr lang="en-US" altLang="zh-CN" dirty="0" err="1">
                <a:sym typeface="+mn-ea"/>
              </a:rPr>
              <a:t>n,m</a:t>
            </a:r>
            <a:r>
              <a:rPr lang="en-US" altLang="zh-CN" dirty="0">
                <a:sym typeface="+mn-ea"/>
              </a:rPr>
              <a:t>))|(m/(</a:t>
            </a:r>
            <a:r>
              <a:rPr lang="en-US" altLang="zh-CN" dirty="0" err="1">
                <a:sym typeface="+mn-ea"/>
              </a:rPr>
              <a:t>n,m</a:t>
            </a:r>
            <a:r>
              <a:rPr lang="en-US" altLang="zh-CN" dirty="0">
                <a:sym typeface="+mn-ea"/>
              </a:rPr>
              <a:t>))d</a:t>
            </a:r>
            <a:r>
              <a:rPr lang="zh-CN" altLang="en-US" dirty="0">
                <a:sym typeface="+mn-ea"/>
              </a:rPr>
              <a:t>，即有</a:t>
            </a:r>
            <a:r>
              <a:rPr lang="en-US" altLang="zh-CN" dirty="0">
                <a:sym typeface="+mn-ea"/>
              </a:rPr>
              <a:t>(n/(</a:t>
            </a:r>
            <a:r>
              <a:rPr lang="en-US" altLang="zh-CN" dirty="0" err="1">
                <a:sym typeface="+mn-ea"/>
              </a:rPr>
              <a:t>n,m</a:t>
            </a:r>
            <a:r>
              <a:rPr lang="en-US" altLang="zh-CN" dirty="0">
                <a:sym typeface="+mn-ea"/>
              </a:rPr>
              <a:t>))|d</a:t>
            </a:r>
            <a:endParaRPr lang="en-US" altLang="zh-CN" dirty="0">
              <a:sym typeface="+mn-ea"/>
            </a:endParaRPr>
          </a:p>
          <a:p>
            <a:r>
              <a:rPr lang="zh-CN" altLang="en-US" dirty="0">
                <a:sym typeface="+mn-ea"/>
              </a:rPr>
              <a:t>又</a:t>
            </a:r>
            <a:r>
              <a:rPr lang="en-US" altLang="zh-CN" dirty="0">
                <a:sym typeface="+mn-ea"/>
              </a:rPr>
              <a:t>(</a:t>
            </a:r>
            <a:r>
              <a:rPr lang="en-US" altLang="zh-CN" dirty="0" err="1">
                <a:sym typeface="+mn-ea"/>
              </a:rPr>
              <a:t>a^m</a:t>
            </a:r>
            <a:r>
              <a:rPr lang="en-US" altLang="zh-CN" dirty="0">
                <a:sym typeface="+mn-ea"/>
              </a:rPr>
              <a:t>)^{n/(</a:t>
            </a:r>
            <a:r>
              <a:rPr lang="en-US" altLang="zh-CN" dirty="0" err="1">
                <a:sym typeface="+mn-ea"/>
              </a:rPr>
              <a:t>n,m</a:t>
            </a:r>
            <a:r>
              <a:rPr lang="en-US" altLang="zh-CN" dirty="0">
                <a:sym typeface="+mn-ea"/>
              </a:rPr>
              <a:t>)}=(</a:t>
            </a:r>
            <a:r>
              <a:rPr lang="en-US" altLang="zh-CN" dirty="0" err="1">
                <a:sym typeface="+mn-ea"/>
              </a:rPr>
              <a:t>a^n</a:t>
            </a:r>
            <a:r>
              <a:rPr lang="en-US" altLang="zh-CN" dirty="0">
                <a:sym typeface="+mn-ea"/>
              </a:rPr>
              <a:t>)^{m/(</a:t>
            </a:r>
            <a:r>
              <a:rPr lang="en-US" altLang="zh-CN" dirty="0" err="1">
                <a:sym typeface="+mn-ea"/>
              </a:rPr>
              <a:t>n,m</a:t>
            </a:r>
            <a:r>
              <a:rPr lang="en-US" altLang="zh-CN" dirty="0">
                <a:sym typeface="+mn-ea"/>
              </a:rPr>
              <a:t>)}=e</a:t>
            </a:r>
            <a:endParaRPr lang="en-US" altLang="zh-CN" dirty="0">
              <a:sym typeface="+mn-ea"/>
            </a:endParaRPr>
          </a:p>
          <a:p>
            <a:r>
              <a:rPr lang="zh-CN" altLang="en-US" dirty="0">
                <a:sym typeface="+mn-ea"/>
              </a:rPr>
              <a:t>故</a:t>
            </a:r>
            <a:r>
              <a:rPr lang="en-US" altLang="zh-CN" dirty="0">
                <a:sym typeface="+mn-ea"/>
              </a:rPr>
              <a:t>d|(n/(</a:t>
            </a:r>
            <a:r>
              <a:rPr lang="en-US" altLang="zh-CN" dirty="0" err="1">
                <a:sym typeface="+mn-ea"/>
              </a:rPr>
              <a:t>n,m</a:t>
            </a:r>
            <a:r>
              <a:rPr lang="en-US" altLang="zh-CN" dirty="0">
                <a:sym typeface="+mn-ea"/>
              </a:rPr>
              <a:t>))</a:t>
            </a:r>
            <a:endParaRPr lang="zh-CN" altLang="en-US" dirty="0">
              <a:sym typeface="+mn-ea"/>
            </a:endParaRPr>
          </a:p>
          <a:p>
            <a:r>
              <a:rPr lang="zh-CN" altLang="en-US" dirty="0">
                <a:sym typeface="+mn-ea"/>
              </a:rPr>
              <a:t>所以</a:t>
            </a:r>
            <a:r>
              <a:rPr lang="en-US" altLang="zh-CN" dirty="0">
                <a:sym typeface="+mn-ea"/>
              </a:rPr>
              <a:t>d=n/(</a:t>
            </a:r>
            <a:r>
              <a:rPr lang="en-US" altLang="zh-CN" dirty="0" err="1">
                <a:sym typeface="+mn-ea"/>
              </a:rPr>
              <a:t>n,m</a:t>
            </a:r>
            <a:r>
              <a:rPr lang="en-US" altLang="zh-CN" dirty="0">
                <a:sym typeface="+mn-ea"/>
              </a:rPr>
              <a:t>)</a:t>
            </a:r>
            <a:endParaRPr lang="en-US" altLang="zh-CN" dirty="0">
              <a:sym typeface="+mn-ea"/>
            </a:endParaRPr>
          </a:p>
          <a:p>
            <a:endParaRPr lang="en-US" altLang="zh-CN" dirty="0">
              <a:sym typeface="+mn-ea"/>
            </a:endParaRPr>
          </a:p>
          <a:p>
            <a:r>
              <a:rPr lang="zh-CN" altLang="en-US">
                <a:sym typeface="+mn-ea"/>
              </a:rPr>
              <a:t>任意二字去掉</a:t>
            </a:r>
            <a:endParaRPr lang="zh-CN" altLang="en-US">
              <a:sym typeface="+mn-ea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充分性证明中，条件</a:t>
            </a:r>
            <a:r>
              <a:rPr lang="en-US" altLang="zh-CN" dirty="0"/>
              <a:t>ab \in H</a:t>
            </a:r>
            <a:r>
              <a:rPr lang="zh-CN" altLang="en-US" dirty="0"/>
              <a:t>用在哪里？                    </a:t>
            </a:r>
            <a:r>
              <a:rPr lang="en-US" altLang="zh-CN" dirty="0"/>
              <a:t>S \subset H</a:t>
            </a:r>
            <a:endParaRPr lang="en-US" altLang="zh-CN" dirty="0"/>
          </a:p>
          <a:p>
            <a:r>
              <a:rPr lang="zh-CN" altLang="en-US" dirty="0"/>
              <a:t>可否将</a:t>
            </a:r>
            <a:r>
              <a:rPr lang="en-US" altLang="zh-CN" dirty="0"/>
              <a:t>a=e</a:t>
            </a:r>
            <a:r>
              <a:rPr lang="zh-CN" altLang="en-US" dirty="0"/>
              <a:t>这种合并到下面</a:t>
            </a:r>
            <a:r>
              <a:rPr lang="en-US" altLang="zh-CN" dirty="0"/>
              <a:t>a!=e</a:t>
            </a:r>
            <a:r>
              <a:rPr lang="zh-CN" altLang="en-US" dirty="0"/>
              <a:t>的证明过程中？          不行：做不到</a:t>
            </a:r>
            <a:r>
              <a:rPr lang="en-US" altLang="zh-CN" dirty="0" err="1"/>
              <a:t>i</a:t>
            </a:r>
            <a:r>
              <a:rPr lang="en-US" altLang="zh-CN" dirty="0"/>
              <a:t>&lt;j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03CE1D-8704-4C63-9775-0632F4087D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10D257-3BE1-47F0-9688-13EF46E6FAF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B9369F-48C0-4C81-8F4C-2D9B5E779A12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1" Type="http://schemas.openxmlformats.org/officeDocument/2006/relationships/hyperlink" Target="https://mooc1.chaoxing.com/course-ans/courseportal/260163778.html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2.png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6.png"/><Relationship Id="rId1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7.png"/><Relationship Id="rId1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  <a:endParaRPr lang="zh-CN" altLang="en-US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第三讲  群与子群基础知识</a:t>
            </a:r>
            <a:endParaRPr lang="zh-CN" altLang="en-US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2026年3月</a:t>
            </a:r>
            <a:endParaRPr lang="zh-CN" altLang="en-US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2" name="矩形: 圆角 11"/>
          <p:cNvSpPr/>
          <p:nvPr/>
        </p:nvSpPr>
        <p:spPr>
          <a:xfrm>
            <a:off x="1405812" y="1185233"/>
            <a:ext cx="9393993" cy="889686"/>
          </a:xfrm>
          <a:prstGeom prst="round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4800" b="1" dirty="0">
                <a:latin typeface="仿宋" panose="02010609060101010101" pitchFamily="49" charset="-122"/>
                <a:ea typeface="仿宋" panose="02010609060101010101" pitchFamily="49" charset="-122"/>
              </a:rPr>
              <a:t>第三讲</a:t>
            </a:r>
            <a:r>
              <a:rPr lang="en-US" altLang="zh-CN" sz="4800" b="1" dirty="0">
                <a:latin typeface="仿宋" panose="02010609060101010101" pitchFamily="49" charset="-122"/>
                <a:ea typeface="仿宋" panose="02010609060101010101" pitchFamily="49" charset="-122"/>
              </a:rPr>
              <a:t>	</a:t>
            </a:r>
            <a:r>
              <a:rPr lang="zh-CN" altLang="en-US" sz="4800" b="1" dirty="0">
                <a:latin typeface="仿宋" panose="02010609060101010101" pitchFamily="49" charset="-122"/>
                <a:ea typeface="仿宋" panose="02010609060101010101" pitchFamily="49" charset="-122"/>
              </a:rPr>
              <a:t>群与子群基础知识</a:t>
            </a:r>
            <a:endParaRPr lang="zh-CN" altLang="en-US" sz="4800" b="1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4372231" y="2549433"/>
            <a:ext cx="34475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>
                <a:solidFill>
                  <a:srgbClr val="210694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周 晓 聪</a:t>
            </a:r>
            <a:endParaRPr lang="zh-CN" altLang="en-US" sz="4000">
              <a:solidFill>
                <a:srgbClr val="210694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3608174" y="3600682"/>
            <a:ext cx="51774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>
                <a:solidFill>
                  <a:schemeClr val="accent6">
                    <a:lumMod val="50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中山大学计算机学院</a:t>
            </a:r>
            <a:endParaRPr lang="zh-CN" altLang="en-US" sz="3200" b="1">
              <a:solidFill>
                <a:schemeClr val="accent6">
                  <a:lumMod val="50000"/>
                </a:schemeClr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4843849" y="4559643"/>
            <a:ext cx="28667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2026</a:t>
            </a:r>
            <a:r>
              <a:rPr lang="zh-CN" altLang="en-US" sz="2400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2400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3</a:t>
            </a:r>
            <a:r>
              <a:rPr lang="zh-CN" altLang="en-US" sz="2400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</a:t>
            </a:r>
            <a:endParaRPr lang="zh-CN" altLang="en-US" sz="2400" dirty="0">
              <a:solidFill>
                <a:schemeClr val="accent2">
                  <a:lumMod val="50000"/>
                </a:schemeClr>
              </a:solidFill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1280160" y="5288692"/>
            <a:ext cx="978092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>
                <a:solidFill>
                  <a:srgbClr val="002060"/>
                </a:solidFill>
                <a:hlinkClick r:id="rId1"/>
              </a:rPr>
              <a:t>https://mooc1.chaoxing.com/course-ans/courseportal/260163778.html</a:t>
            </a:r>
            <a:endParaRPr lang="en-US" altLang="zh-CN" sz="2400">
              <a:solidFill>
                <a:srgbClr val="002060"/>
              </a:solidFill>
            </a:endParaRPr>
          </a:p>
          <a:p>
            <a:pPr algn="ctr"/>
            <a:r>
              <a:rPr lang="en-US" altLang="zh-CN" sz="2400">
                <a:solidFill>
                  <a:srgbClr val="FF0000"/>
                </a:solidFill>
              </a:rPr>
              <a:t>isszxc@mail.sysu.edu.cn</a:t>
            </a:r>
            <a:endParaRPr lang="zh-CN" altLang="en-US" sz="2400">
              <a:solidFill>
                <a:srgbClr val="FF0000"/>
              </a:solidFill>
            </a:endParaRP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5649" y="3112777"/>
            <a:ext cx="1766582" cy="156058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群的定义与基本性质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  <a:endParaRPr lang="zh-CN" altLang="en-US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第三讲  群与子群基础知识</a:t>
            </a:r>
            <a:endParaRPr lang="zh-CN" altLang="en-US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2026年3月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 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1930FB3-E902-4C54-9574-582199016723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</a:fld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/41</a:t>
            </a:r>
            <a:endParaRPr lang="zh-CN" altLang="en-US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群的基本性质</a:t>
            </a:r>
            <a:r>
              <a:rPr lang="en-US" altLang="zh-CN"/>
              <a:t>-</a:t>
            </a:r>
            <a:r>
              <a:rPr lang="zh-CN" altLang="en-US"/>
              <a:t>练习</a:t>
            </a:r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文本框 10"/>
              <p:cNvSpPr txBox="1"/>
              <p:nvPr/>
            </p:nvSpPr>
            <p:spPr>
              <a:xfrm>
                <a:off x="1130938" y="1333185"/>
                <a:ext cx="9930121" cy="1147365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>
                  <a:lnSpc>
                    <a:spcPts val="2800"/>
                  </a:lnSpc>
                </a:pPr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</a:rPr>
                  <a:t>给定非空集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</a:rPr>
                  <a:t>及其上的二元运算（假定是乘法运算而省略其运算符号）满足：</a:t>
                </a:r>
                <a:r>
                  <a:rPr lang="en-US" altLang="zh-CN" sz="2000" b="1">
                    <a:solidFill>
                      <a:schemeClr val="accent2">
                        <a:lumMod val="50000"/>
                      </a:schemeClr>
                    </a:solidFill>
                  </a:rPr>
                  <a:t>(1) </a:t>
                </a:r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</a:rPr>
                  <a:t>该运算有左单位元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𝒆</m:t>
                    </m:r>
                  </m:oMath>
                </a14:m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</a:rPr>
                  <a:t>，即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altLang="zh-CN" sz="20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sz="20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</a:rPr>
                  <a:t>有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𝒆𝒂</m:t>
                    </m:r>
                    <m:r>
                      <a:rPr lang="en-US" altLang="zh-CN" sz="20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</a:rPr>
                  <a:t>；且 </a:t>
                </a:r>
                <a:r>
                  <a:rPr lang="en-US" altLang="zh-CN" sz="2000" b="1">
                    <a:solidFill>
                      <a:schemeClr val="accent2">
                        <a:lumMod val="50000"/>
                      </a:schemeClr>
                    </a:solidFill>
                  </a:rPr>
                  <a:t>(2) </a:t>
                </a:r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</a:rPr>
                  <a:t>对关于该左单位元，每个元素有右逆，即任意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sz="20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</a:rPr>
                  <a:t>，存在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</a:rPr>
                  <a:t>使得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𝒂𝒃</m:t>
                    </m:r>
                    <m:r>
                      <a:rPr lang="en-US" altLang="zh-CN" sz="20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𝒆</m:t>
                    </m:r>
                  </m:oMath>
                </a14:m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</a:rPr>
                  <a:t>。请问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</a:rPr>
                  <a:t>关于该运算是否一定构成群？</a:t>
                </a:r>
                <a:endParaRPr lang="zh-CN" altLang="en-US" sz="2000" b="1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11" name="文本框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0938" y="1333185"/>
                <a:ext cx="9930121" cy="1147365"/>
              </a:xfrm>
              <a:prstGeom prst="rect">
                <a:avLst/>
              </a:prstGeom>
              <a:blipFill rotWithShape="1">
                <a:blip r:embed="rId1"/>
                <a:stretch>
                  <a:fillRect t="-28" r="6" b="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0938" y="3255869"/>
            <a:ext cx="9940327" cy="221844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群的定义与基本性质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  <a:endParaRPr lang="zh-CN" altLang="en-US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第三讲  群与子群基础知识</a:t>
            </a:r>
            <a:endParaRPr lang="zh-CN" altLang="en-US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2026年3月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 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1930FB3-E902-4C54-9574-582199016723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</a:fld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/41</a:t>
            </a:r>
            <a:endParaRPr lang="zh-CN" altLang="en-US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群的基本性质</a:t>
            </a:r>
            <a:r>
              <a:rPr lang="en-US" altLang="zh-CN"/>
              <a:t>-</a:t>
            </a:r>
            <a:r>
              <a:rPr lang="zh-CN" altLang="en-US"/>
              <a:t>练习</a:t>
            </a:r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文本框 10"/>
              <p:cNvSpPr txBox="1"/>
              <p:nvPr/>
            </p:nvSpPr>
            <p:spPr>
              <a:xfrm>
                <a:off x="1174108" y="1398969"/>
                <a:ext cx="9843782" cy="789255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>
                  <a:lnSpc>
                    <a:spcPts val="2800"/>
                  </a:lnSpc>
                </a:pPr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</a:rPr>
                  <a:t>给定</a:t>
                </a:r>
                <a:r>
                  <a:rPr lang="zh-CN" altLang="en-US" sz="2000" b="1">
                    <a:solidFill>
                      <a:srgbClr val="C00000"/>
                    </a:solidFill>
                  </a:rPr>
                  <a:t>非空</a:t>
                </a:r>
                <a:r>
                  <a:rPr lang="zh-CN" altLang="en-US" sz="2000" b="1">
                    <a:solidFill>
                      <a:srgbClr val="0000FF"/>
                    </a:solidFill>
                  </a:rPr>
                  <a:t>有限</a:t>
                </a:r>
                <a:r>
                  <a:rPr lang="zh-CN" altLang="en-US" sz="2000" b="1">
                    <a:solidFill>
                      <a:srgbClr val="C00000"/>
                    </a:solidFill>
                  </a:rPr>
                  <a:t>集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</a:rPr>
                  <a:t>及其二元运算，该二元运算满足结合律且满足消去律，即对任意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sz="20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0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𝒄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𝒂𝒃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𝒂𝒄</m:t>
                    </m:r>
                  </m:oMath>
                </a14:m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</a:rPr>
                  <a:t>蕴含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𝒄</m:t>
                    </m:r>
                  </m:oMath>
                </a14:m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</a:rPr>
                  <a:t>以及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𝒃𝒂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𝒄𝒂</m:t>
                    </m:r>
                  </m:oMath>
                </a14:m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</a:rPr>
                  <a:t>蕴含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𝒄</m:t>
                    </m:r>
                  </m:oMath>
                </a14:m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</a:rPr>
                  <a:t>。证明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</a:rPr>
                  <a:t>关于该运算构成群。</a:t>
                </a:r>
                <a:endParaRPr lang="zh-CN" altLang="en-US" sz="2000" b="1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11" name="文本框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4108" y="1398969"/>
                <a:ext cx="9843782" cy="789255"/>
              </a:xfrm>
              <a:prstGeom prst="rect">
                <a:avLst/>
              </a:prstGeom>
              <a:blipFill rotWithShape="1">
                <a:blip r:embed="rId1"/>
                <a:stretch>
                  <a:fillRect l="-6" t="-8" b="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4108" y="2428735"/>
            <a:ext cx="9040487" cy="2000529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文本框 11"/>
              <p:cNvSpPr txBox="1"/>
              <p:nvPr/>
            </p:nvSpPr>
            <p:spPr>
              <a:xfrm>
                <a:off x="1174109" y="5089699"/>
                <a:ext cx="5193800" cy="369332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如果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zh-CN" altLang="en-US" b="1">
                    <a:solidFill>
                      <a:srgbClr val="00B050"/>
                    </a:solidFill>
                  </a:rPr>
                  <a:t>不</a:t>
                </a:r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是</a:t>
                </a:r>
                <a:r>
                  <a:rPr lang="zh-CN" altLang="en-US" b="1">
                    <a:solidFill>
                      <a:srgbClr val="0000FF"/>
                    </a:solidFill>
                  </a:rPr>
                  <a:t>有限</a:t>
                </a:r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集，上述结论还成立吗？为什么？</a:t>
                </a:r>
                <a:endParaRPr lang="zh-CN" altLang="en-US" b="1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12" name="文本框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4109" y="5089699"/>
                <a:ext cx="5193800" cy="369332"/>
              </a:xfrm>
              <a:prstGeom prst="rect">
                <a:avLst/>
              </a:prstGeom>
              <a:blipFill rotWithShape="1">
                <a:blip r:embed="rId3"/>
                <a:stretch>
                  <a:fillRect l="-12" t="-47" r="2" b="15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群的定义与基本性质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  <a:endParaRPr lang="zh-CN" altLang="en-US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第三讲  群与子群基础知识</a:t>
            </a:r>
            <a:endParaRPr lang="zh-CN" altLang="en-US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2026年3月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 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1930FB3-E902-4C54-9574-582199016723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</a:fld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/41</a:t>
            </a:r>
            <a:endParaRPr lang="zh-CN" altLang="en-US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群的幂运算</a:t>
            </a:r>
            <a:r>
              <a:rPr lang="en-US" altLang="zh-CN"/>
              <a:t>-</a:t>
            </a:r>
            <a:r>
              <a:rPr lang="zh-CN" altLang="en-US"/>
              <a:t>练习</a:t>
            </a:r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文本框 10"/>
              <p:cNvSpPr txBox="1"/>
              <p:nvPr/>
            </p:nvSpPr>
            <p:spPr>
              <a:xfrm>
                <a:off x="1174107" y="1552415"/>
                <a:ext cx="7534764" cy="451406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>
                  <a:lnSpc>
                    <a:spcPts val="2800"/>
                  </a:lnSpc>
                </a:pPr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</a:rPr>
                  <a:t>是群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</a:rPr>
                  <a:t>的元素，证明：对任意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ℤ</m:t>
                    </m:r>
                  </m:oMath>
                </a14:m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</a:rPr>
                  <a:t>有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20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𝒂𝒃</m:t>
                            </m:r>
                            <m:sSup>
                              <m:sSupPr>
                                <m:ctrlPr>
                                  <a:rPr lang="en-US" altLang="zh-CN" sz="2000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000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</m:e>
                              <m:sup>
                                <m:r>
                                  <a:rPr lang="en-US" altLang="zh-CN" sz="2000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CN" sz="2000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p>
                    </m:sSup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  <m:sSup>
                      <m:sSupPr>
                        <m:ctrlP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  <m:sup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p>
                    </m:sSup>
                    <m:sSup>
                      <m:sSupPr>
                        <m:ctrlP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p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p>
                  </m:oMath>
                </a14:m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</a:rPr>
                  <a:t>。</a:t>
                </a:r>
                <a:endParaRPr lang="zh-CN" altLang="en-US" sz="2000" b="1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11" name="文本框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4107" y="1552415"/>
                <a:ext cx="7534764" cy="451406"/>
              </a:xfrm>
              <a:prstGeom prst="rect">
                <a:avLst/>
              </a:prstGeom>
              <a:blipFill rotWithShape="1">
                <a:blip r:embed="rId1"/>
                <a:stretch>
                  <a:fillRect l="-8" t="-105" r="6" b="8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/>
              <p:cNvSpPr txBox="1"/>
              <p:nvPr/>
            </p:nvSpPr>
            <p:spPr>
              <a:xfrm>
                <a:off x="1174107" y="2682963"/>
                <a:ext cx="9811850" cy="1938992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27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altLang="zh-CN" sz="2000" b="1">
                    <a:solidFill>
                      <a:schemeClr val="accent2">
                        <a:lumMod val="50000"/>
                      </a:schemeClr>
                    </a:solidFill>
                  </a:rPr>
                  <a:t>【</a:t>
                </a:r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</a:rPr>
                  <a:t>证明</a:t>
                </a:r>
                <a:r>
                  <a:rPr lang="en-US" altLang="zh-CN" sz="2000" b="1">
                    <a:solidFill>
                      <a:schemeClr val="accent2">
                        <a:lumMod val="50000"/>
                      </a:schemeClr>
                    </a:solidFill>
                  </a:rPr>
                  <a:t>】</a:t>
                </a:r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</a:rPr>
                  <a:t>对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</a:rPr>
                  <a:t>实施数学归纳法：</a:t>
                </a:r>
                <a:endParaRPr lang="en-US" altLang="zh-CN" sz="2000" b="1">
                  <a:solidFill>
                    <a:schemeClr val="accent2">
                      <a:lumMod val="50000"/>
                    </a:schemeClr>
                  </a:solidFill>
                </a:endParaRPr>
              </a:p>
              <a:p>
                <a:pPr marL="342900" indent="-342900">
                  <a:lnSpc>
                    <a:spcPts val="2700"/>
                  </a:lnSpc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>
                    <a:solidFill>
                      <a:srgbClr val="002060"/>
                    </a:solidFill>
                  </a:rPr>
                  <a:t>归纳基</a:t>
                </a:r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</a:rPr>
                  <a:t>：显然当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</a:rPr>
                  <a:t>时有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20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𝒂𝒃</m:t>
                            </m:r>
                            <m:sSup>
                              <m:sSupPr>
                                <m:ctrlPr>
                                  <a:rPr lang="en-US" altLang="zh-CN" sz="2000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000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</m:e>
                              <m:sup>
                                <m:r>
                                  <a:rPr lang="en-US" altLang="zh-CN" sz="2000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CN" sz="2000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p>
                    </m:sSup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𝒆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  <m:sSup>
                      <m:sSupPr>
                        <m:ctrlP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  <m:sup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p>
                    </m:sSup>
                    <m:sSup>
                      <m:sSupPr>
                        <m:ctrlP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p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p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𝒂𝒆</m:t>
                    </m:r>
                    <m:sSup>
                      <m:sSupPr>
                        <m:ctrlP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p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p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𝒆</m:t>
                    </m:r>
                  </m:oMath>
                </a14:m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</a:rPr>
                  <a:t>，成立</a:t>
                </a:r>
                <a:endParaRPr lang="en-US" altLang="zh-CN" sz="2000" b="1">
                  <a:solidFill>
                    <a:schemeClr val="accent2">
                      <a:lumMod val="50000"/>
                    </a:schemeClr>
                  </a:solidFill>
                </a:endParaRPr>
              </a:p>
              <a:p>
                <a:pPr marL="342900" indent="-342900">
                  <a:lnSpc>
                    <a:spcPts val="2700"/>
                  </a:lnSpc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>
                    <a:solidFill>
                      <a:srgbClr val="002060"/>
                    </a:solidFill>
                  </a:rPr>
                  <a:t>归纳步</a:t>
                </a:r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</a:rPr>
                  <a:t>：假设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𝒌</m:t>
                    </m:r>
                  </m:oMath>
                </a14:m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</a:rPr>
                  <a:t>时成立，即有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20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𝒂𝒃</m:t>
                            </m:r>
                            <m:sSup>
                              <m:sSupPr>
                                <m:ctrlPr>
                                  <a:rPr lang="en-US" altLang="zh-CN" sz="2000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000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</m:e>
                              <m:sup>
                                <m:r>
                                  <a:rPr lang="en-US" altLang="zh-CN" sz="2000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CN" sz="2000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</m:sup>
                    </m:sSup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  <m:sSup>
                      <m:sSupPr>
                        <m:ctrlP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  <m:sup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</m:sup>
                    </m:sSup>
                    <m:sSup>
                      <m:sSupPr>
                        <m:ctrlP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p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p>
                  </m:oMath>
                </a14:m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</a:rPr>
                  <a:t>，对于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</a:rPr>
                  <a:t>，有：</a:t>
                </a:r>
                <a:endParaRPr lang="en-US" altLang="zh-CN" sz="2000" b="1">
                  <a:solidFill>
                    <a:schemeClr val="accent2">
                      <a:lumMod val="50000"/>
                    </a:schemeClr>
                  </a:solidFill>
                </a:endParaRPr>
              </a:p>
              <a:p>
                <a:pPr>
                  <a:lnSpc>
                    <a:spcPts val="27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0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20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𝒂𝒃</m:t>
                              </m:r>
                              <m:sSup>
                                <m:sSupPr>
                                  <m:ctrlPr>
                                    <a:rPr lang="en-US" altLang="zh-CN" sz="2000" b="1" i="1" smtClean="0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000" b="1" i="1" smtClean="0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𝒂</m:t>
                                  </m:r>
                                </m:e>
                                <m:sup>
                                  <m:r>
                                    <a:rPr lang="en-US" altLang="zh-CN" sz="2000" b="1" i="1" smtClean="0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sz="2000" b="1" i="1" smtClean="0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altLang="zh-CN" sz="20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𝒌</m:t>
                          </m:r>
                          <m:r>
                            <a:rPr lang="en-US" altLang="zh-CN" sz="20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0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r>
                        <a:rPr lang="en-US" altLang="zh-CN" sz="20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20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20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𝒂𝒃</m:t>
                              </m:r>
                              <m:sSup>
                                <m:sSupPr>
                                  <m:ctrlPr>
                                    <a:rPr lang="en-US" altLang="zh-CN" sz="2000" b="1" i="1" smtClean="0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000" b="1" i="1" smtClean="0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𝒂</m:t>
                                  </m:r>
                                </m:e>
                                <m:sup>
                                  <m:r>
                                    <a:rPr lang="en-US" altLang="zh-CN" sz="2000" b="1" i="1" smtClean="0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sz="2000" b="1" i="1" smtClean="0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altLang="zh-CN" sz="20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𝒌</m:t>
                          </m:r>
                        </m:sup>
                      </m:sSup>
                      <m:d>
                        <m:dPr>
                          <m:ctrlPr>
                            <a:rPr lang="en-US" altLang="zh-CN" sz="20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𝒂𝒃</m:t>
                          </m:r>
                          <m:sSup>
                            <m:sSupPr>
                              <m:ctrlPr>
                                <a:rPr lang="en-US" altLang="zh-CN" sz="20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0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p>
                              <m:r>
                                <a:rPr lang="en-US" altLang="zh-CN" sz="20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0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p>
                          </m:sSup>
                        </m:e>
                      </m:d>
                      <m:r>
                        <a:rPr lang="en-US" altLang="zh-CN" sz="20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0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sSup>
                        <m:sSupPr>
                          <m:ctrlPr>
                            <a:rPr lang="en-US" altLang="zh-CN" sz="20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p>
                          <m:r>
                            <a:rPr lang="en-US" altLang="zh-CN" sz="20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𝒌</m:t>
                          </m:r>
                        </m:sup>
                      </m:sSup>
                      <m:sSup>
                        <m:sSupPr>
                          <m:ctrlPr>
                            <a:rPr lang="en-US" altLang="zh-CN" sz="20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r>
                            <a:rPr lang="en-US" altLang="zh-CN" sz="20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0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d>
                        <m:dPr>
                          <m:ctrlPr>
                            <a:rPr lang="en-US" altLang="zh-CN" sz="20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𝒂𝒃</m:t>
                          </m:r>
                          <m:sSup>
                            <m:sSupPr>
                              <m:ctrlPr>
                                <a:rPr lang="en-US" altLang="zh-CN" sz="20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0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p>
                              <m:r>
                                <a:rPr lang="en-US" altLang="zh-CN" sz="20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0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p>
                          </m:sSup>
                        </m:e>
                      </m:d>
                      <m:r>
                        <a:rPr lang="en-US" altLang="zh-CN" sz="20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altLang="zh-CN" sz="20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sSup>
                        <m:sSupPr>
                          <m:ctrlPr>
                            <a:rPr lang="en-US" altLang="zh-CN" sz="20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p>
                          <m:r>
                            <a:rPr lang="en-US" altLang="zh-CN" sz="20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𝒌</m:t>
                          </m:r>
                        </m:sup>
                      </m:sSup>
                      <m:r>
                        <a:rPr lang="en-US" altLang="zh-CN" sz="20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  <m:sSup>
                        <m:sSupPr>
                          <m:ctrlPr>
                            <a:rPr lang="en-US" altLang="zh-CN" sz="20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r>
                            <a:rPr lang="en-US" altLang="zh-CN" sz="20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0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r>
                        <a:rPr lang="en-US" altLang="zh-CN" sz="20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altLang="zh-CN" sz="20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sSup>
                        <m:sSupPr>
                          <m:ctrlPr>
                            <a:rPr lang="en-US" altLang="zh-CN" sz="20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p>
                          <m:r>
                            <a:rPr lang="en-US" altLang="zh-CN" sz="20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𝒌</m:t>
                          </m:r>
                          <m:r>
                            <a:rPr lang="en-US" altLang="zh-CN" sz="20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0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sSup>
                        <m:sSupPr>
                          <m:ctrlPr>
                            <a:rPr lang="en-US" altLang="zh-CN" sz="20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r>
                            <a:rPr lang="en-US" altLang="zh-CN" sz="20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0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</m:oMath>
                  </m:oMathPara>
                </a14:m>
                <a:endParaRPr lang="zh-CN" altLang="en-US" sz="2000" b="1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4107" y="2682963"/>
                <a:ext cx="9811850" cy="1938992"/>
              </a:xfrm>
              <a:prstGeom prst="rect">
                <a:avLst/>
              </a:prstGeom>
              <a:blipFill rotWithShape="1">
                <a:blip r:embed="rId2"/>
                <a:stretch>
                  <a:fillRect l="-6" t="-5" r="5" b="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群元素的阶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  <a:endParaRPr lang="zh-CN" altLang="en-US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第三讲  群与子群基础知识</a:t>
            </a:r>
            <a:endParaRPr lang="zh-CN" altLang="en-US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2026年3月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 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1930FB3-E902-4C54-9574-582199016723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</a:fld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/41</a:t>
            </a:r>
            <a:endParaRPr lang="zh-CN" altLang="en-US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群元素阶的性质</a:t>
            </a:r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/>
              <p:cNvSpPr txBox="1"/>
              <p:nvPr/>
            </p:nvSpPr>
            <p:spPr>
              <a:xfrm>
                <a:off x="1460410" y="1249175"/>
                <a:ext cx="8847970" cy="180517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en-US" altLang="zh-CN" sz="2400" b="1">
                    <a:solidFill>
                      <a:schemeClr val="accent2">
                        <a:lumMod val="50000"/>
                      </a:schemeClr>
                    </a:solidFill>
                  </a:rPr>
                  <a:t>【</a:t>
                </a:r>
                <a:r>
                  <a:rPr lang="zh-CN" altLang="en-US" sz="2400" b="1">
                    <a:solidFill>
                      <a:schemeClr val="accent2">
                        <a:lumMod val="50000"/>
                      </a:schemeClr>
                    </a:solidFill>
                  </a:rPr>
                  <a:t>定理</a:t>
                </a:r>
                <a:r>
                  <a:rPr lang="en-US" altLang="zh-CN" sz="2400" b="1">
                    <a:solidFill>
                      <a:schemeClr val="accent2">
                        <a:lumMod val="50000"/>
                      </a:schemeClr>
                    </a:solidFill>
                  </a:rPr>
                  <a:t>】</a:t>
                </a:r>
                <a:r>
                  <a:rPr lang="zh-CN" altLang="en-US" sz="2400" b="1">
                    <a:solidFill>
                      <a:schemeClr val="accent2">
                        <a:lumMod val="50000"/>
                      </a:schemeClr>
                    </a:solidFill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zh-CN" altLang="en-US" sz="2400" b="1">
                    <a:solidFill>
                      <a:schemeClr val="accent2">
                        <a:lumMod val="50000"/>
                      </a:schemeClr>
                    </a:solidFill>
                  </a:rPr>
                  <a:t>是群，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𝒆</m:t>
                    </m:r>
                  </m:oMath>
                </a14:m>
                <a:r>
                  <a:rPr lang="zh-CN" altLang="en-US" sz="2400" b="1">
                    <a:solidFill>
                      <a:schemeClr val="accent2">
                        <a:lumMod val="50000"/>
                      </a:schemeClr>
                    </a:solidFill>
                  </a:rPr>
                  <a:t>是其单位元，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zh-CN" altLang="en-US" sz="2400" b="1">
                    <a:solidFill>
                      <a:schemeClr val="accent2">
                        <a:lumMod val="50000"/>
                      </a:schemeClr>
                    </a:solidFill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zh-CN" altLang="en-US" sz="2400" b="1">
                    <a:solidFill>
                      <a:schemeClr val="accent2">
                        <a:lumMod val="50000"/>
                      </a:schemeClr>
                    </a:solidFill>
                  </a:rPr>
                  <a:t>的任意元素，且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zh-CN" sz="2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sz="2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| = </m:t>
                    </m:r>
                    <m:r>
                      <a:rPr lang="en-US" altLang="zh-CN" sz="2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endParaRPr lang="en-US" altLang="zh-CN" sz="2400" b="1">
                  <a:solidFill>
                    <a:schemeClr val="accent2">
                      <a:lumMod val="50000"/>
                    </a:schemeClr>
                  </a:solidFill>
                </a:endParaRPr>
              </a:p>
              <a:p>
                <a:pPr marL="342900" indent="-342900">
                  <a:lnSpc>
                    <a:spcPts val="2400"/>
                  </a:lnSpc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对任意整数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𝒎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p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</m:sup>
                    </m:sSup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𝒆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当且仅当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∣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𝒎</m:t>
                    </m:r>
                  </m:oMath>
                </a14:m>
                <a:endParaRPr lang="en-US" altLang="zh-CN" sz="2000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342900" indent="-342900">
                  <a:lnSpc>
                    <a:spcPts val="2400"/>
                  </a:lnSpc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2000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000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sup>
                            <m:r>
                              <a:rPr lang="en-US" altLang="zh-CN" sz="2000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sz="2000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p>
                        </m:sSup>
                      </m:e>
                    </m:d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endParaRPr lang="en-US" altLang="zh-CN" sz="2000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342900" indent="-342900">
                  <a:lnSpc>
                    <a:spcPts val="2400"/>
                  </a:lnSpc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对任意整数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𝒎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20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0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sup>
                            <m:r>
                              <a:rPr lang="en-US" altLang="zh-CN" sz="20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𝒎</m:t>
                            </m:r>
                          </m:sup>
                        </m:sSup>
                      </m:e>
                    </m:d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num>
                      <m:den>
                        <m:d>
                          <m:dPr>
                            <m:ctrlPr>
                              <a:rPr lang="en-US" altLang="zh-CN" sz="20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  <m:r>
                              <a:rPr lang="en-US" altLang="zh-CN" sz="20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altLang="zh-CN" sz="20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𝒎</m:t>
                            </m:r>
                          </m:e>
                        </m:d>
                      </m:den>
                    </m:f>
                  </m:oMath>
                </a14:m>
                <a:endParaRPr lang="en-US" altLang="zh-CN" sz="2000" b="1">
                  <a:solidFill>
                    <a:schemeClr val="accent2">
                      <a:lumMod val="50000"/>
                    </a:schemeClr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0410" y="1249175"/>
                <a:ext cx="8847970" cy="1805174"/>
              </a:xfrm>
              <a:prstGeom prst="rect">
                <a:avLst/>
              </a:prstGeom>
              <a:blipFill rotWithShape="1">
                <a:blip r:embed="rId1"/>
                <a:stretch>
                  <a:fillRect l="-6" t="-7" r="5" b="3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/>
              <p:cNvSpPr txBox="1"/>
              <p:nvPr/>
            </p:nvSpPr>
            <p:spPr>
              <a:xfrm>
                <a:off x="5760499" y="2555339"/>
                <a:ext cx="4971091" cy="40011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</a:rPr>
                  <a:t>从而由元素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</a:rPr>
                  <a:t>的阶可得到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</a:rPr>
                  <a:t>的任意幂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p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</m:sup>
                    </m:sSup>
                  </m:oMath>
                </a14:m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</a:rPr>
                  <a:t>的阶</a:t>
                </a:r>
                <a:endParaRPr lang="zh-CN" altLang="en-US" sz="2000" b="1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0499" y="2555339"/>
                <a:ext cx="4971091" cy="400110"/>
              </a:xfrm>
              <a:prstGeom prst="rect">
                <a:avLst/>
              </a:prstGeom>
              <a:blipFill rotWithShape="1">
                <a:blip r:embed="rId2"/>
                <a:stretch>
                  <a:fillRect l="-8" t="-25" r="2" b="4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文本框 12"/>
              <p:cNvSpPr txBox="1"/>
              <p:nvPr/>
            </p:nvSpPr>
            <p:spPr>
              <a:xfrm>
                <a:off x="9358345" y="4190557"/>
                <a:ext cx="1890749" cy="1077218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这里直接用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表示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的最小公倍数，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表示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的最大公因数。</a:t>
                </a:r>
                <a:endParaRPr lang="zh-CN" altLang="en-US" sz="1600" b="1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13" name="文本框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58345" y="4190557"/>
                <a:ext cx="1890749" cy="1077218"/>
              </a:xfrm>
              <a:prstGeom prst="rect">
                <a:avLst/>
              </a:prstGeom>
              <a:blipFill rotWithShape="1">
                <a:blip r:embed="rId3"/>
                <a:stretch>
                  <a:fillRect l="-19" t="-18" r="4" b="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1857" y="3316389"/>
            <a:ext cx="8156951" cy="2825554"/>
          </a:xfrm>
          <a:prstGeom prst="rect">
            <a:avLst/>
          </a:prstGeom>
        </p:spPr>
      </p:pic>
      <p:sp>
        <p:nvSpPr>
          <p:cNvPr id="2" name="线形标注 1 1"/>
          <p:cNvSpPr/>
          <p:nvPr/>
        </p:nvSpPr>
        <p:spPr>
          <a:xfrm flipH="1">
            <a:off x="0" y="4537075"/>
            <a:ext cx="1081405" cy="383540"/>
          </a:xfrm>
          <a:prstGeom prst="borderCallout1">
            <a:avLst>
              <a:gd name="adj1" fmla="val 50993"/>
              <a:gd name="adj2" fmla="val -6048"/>
              <a:gd name="adj3" fmla="val 125000"/>
              <a:gd name="adj4" fmla="val -42330"/>
            </a:avLst>
          </a:prstGeom>
          <a:solidFill>
            <a:srgbClr val="00B0F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>
                <a:solidFill>
                  <a:srgbClr val="FF0000"/>
                </a:solidFill>
              </a:rPr>
              <a:t>另一种证法？</a:t>
            </a:r>
            <a:endParaRPr lang="zh-CN" altLang="en-US" sz="1400" b="1">
              <a:solidFill>
                <a:srgbClr val="FF0000"/>
              </a:solidFill>
            </a:endParaRPr>
          </a:p>
        </p:txBody>
      </p:sp>
      <p:sp>
        <p:nvSpPr>
          <p:cNvPr id="11" name="线形标注 1 10"/>
          <p:cNvSpPr/>
          <p:nvPr/>
        </p:nvSpPr>
        <p:spPr>
          <a:xfrm flipH="1">
            <a:off x="-15240" y="5111115"/>
            <a:ext cx="1081405" cy="383540"/>
          </a:xfrm>
          <a:prstGeom prst="borderCallout1">
            <a:avLst>
              <a:gd name="adj1" fmla="val 50993"/>
              <a:gd name="adj2" fmla="val -6048"/>
              <a:gd name="adj3" fmla="val 125000"/>
              <a:gd name="adj4" fmla="val -42330"/>
            </a:avLst>
          </a:prstGeom>
          <a:solidFill>
            <a:srgbClr val="00B0F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>
                <a:solidFill>
                  <a:srgbClr val="FF0000"/>
                </a:solidFill>
              </a:rPr>
              <a:t>另一种证法？</a:t>
            </a:r>
            <a:endParaRPr lang="zh-CN" altLang="en-US" sz="1400" b="1">
              <a:solidFill>
                <a:srgbClr val="FF0000"/>
              </a:solidFill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1839310" y="5717628"/>
            <a:ext cx="472966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2" grpId="1" animBg="1"/>
      <p:bldP spid="11" grpId="0" bldLvl="0" animBg="1"/>
      <p:bldP spid="11" grpId="1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群的定义与基本性质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  <a:endParaRPr lang="zh-CN" altLang="en-US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第三讲  群与子群基础知识</a:t>
            </a:r>
            <a:endParaRPr lang="zh-CN" altLang="en-US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2026年3月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 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1930FB3-E902-4C54-9574-582199016723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</a:fld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/41</a:t>
            </a:r>
            <a:endParaRPr lang="zh-CN" altLang="en-US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群元素的阶</a:t>
            </a:r>
            <a:r>
              <a:rPr lang="en-US" altLang="zh-CN"/>
              <a:t>-</a:t>
            </a:r>
            <a:r>
              <a:rPr lang="zh-CN" altLang="en-US"/>
              <a:t>练习</a:t>
            </a:r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文本框 10"/>
              <p:cNvSpPr txBox="1"/>
              <p:nvPr/>
            </p:nvSpPr>
            <p:spPr>
              <a:xfrm>
                <a:off x="1174106" y="1552415"/>
                <a:ext cx="8917185" cy="789255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>
                  <a:lnSpc>
                    <a:spcPts val="2800"/>
                  </a:lnSpc>
                </a:pPr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𝒄</m:t>
                    </m:r>
                  </m:oMath>
                </a14:m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</a:rPr>
                  <a:t>是群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</a:rPr>
                  <a:t>的元素，证明：</a:t>
                </a:r>
                <a:r>
                  <a:rPr lang="en-US" altLang="zh-CN" sz="2000" b="1">
                    <a:solidFill>
                      <a:schemeClr val="accent2">
                        <a:lumMod val="50000"/>
                      </a:schemeClr>
                    </a:solidFill>
                  </a:rPr>
                  <a:t>(1)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</m:d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20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0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sup>
                            <m:r>
                              <a:rPr lang="en-US" altLang="zh-CN" sz="20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sz="20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p>
                        </m:sSup>
                      </m:e>
                    </m:d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𝒄𝒂</m:t>
                        </m:r>
                        <m:sSup>
                          <m:sSupPr>
                            <m:ctrlPr>
                              <a:rPr lang="en-US" altLang="zh-CN" sz="20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0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p>
                            <m:r>
                              <a:rPr lang="en-US" altLang="zh-CN" sz="20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sz="20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p>
                        </m:sSup>
                      </m:e>
                    </m:d>
                  </m:oMath>
                </a14:m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</a:rPr>
                  <a:t>；</a:t>
                </a:r>
                <a:r>
                  <a:rPr lang="en-US" altLang="zh-CN" sz="2000" b="1">
                    <a:solidFill>
                      <a:schemeClr val="accent2">
                        <a:lumMod val="50000"/>
                      </a:schemeClr>
                    </a:solidFill>
                  </a:rPr>
                  <a:t>(2) 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𝒂𝒃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|=|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𝒃𝒂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</a:rPr>
                  <a:t>；</a:t>
                </a:r>
                <a:r>
                  <a:rPr lang="en-US" altLang="zh-CN" sz="2000" b="1">
                    <a:solidFill>
                      <a:schemeClr val="accent2">
                        <a:lumMod val="50000"/>
                      </a:schemeClr>
                    </a:solidFill>
                  </a:rPr>
                  <a:t>(3)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𝒂𝒃𝒄</m:t>
                        </m:r>
                      </m:e>
                    </m:d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𝒃𝒄𝒂</m:t>
                        </m:r>
                      </m:e>
                    </m:d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𝒄𝒂𝒃</m:t>
                        </m:r>
                      </m:e>
                    </m:d>
                  </m:oMath>
                </a14:m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</a:rPr>
                  <a:t>。</a:t>
                </a:r>
                <a:endParaRPr lang="zh-CN" altLang="en-US" sz="2000" b="1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11" name="文本框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4106" y="1552415"/>
                <a:ext cx="8917185" cy="789255"/>
              </a:xfrm>
              <a:prstGeom prst="rect">
                <a:avLst/>
              </a:prstGeom>
              <a:blipFill rotWithShape="1">
                <a:blip r:embed="rId1"/>
                <a:stretch>
                  <a:fillRect l="-7" t="-60" r="6" b="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1"/>
              <p:cNvSpPr txBox="1"/>
              <p:nvPr/>
            </p:nvSpPr>
            <p:spPr>
              <a:xfrm>
                <a:off x="1174106" y="2776092"/>
                <a:ext cx="9272421" cy="2211375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3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altLang="zh-CN" b="1">
                    <a:solidFill>
                      <a:schemeClr val="accent2">
                        <a:lumMod val="50000"/>
                      </a:schemeClr>
                    </a:solidFill>
                  </a:rPr>
                  <a:t>【</a:t>
                </a:r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证明</a:t>
                </a:r>
                <a:r>
                  <a:rPr lang="en-US" altLang="zh-CN" b="1">
                    <a:solidFill>
                      <a:schemeClr val="accent2">
                        <a:lumMod val="50000"/>
                      </a:schemeClr>
                    </a:solidFill>
                  </a:rPr>
                  <a:t>】(1) </a:t>
                </a:r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设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</m:d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d>
                      <m:dPr>
                        <m:begChr m:val="|"/>
                        <m:endChr m:val="|"/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sup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p>
                        </m:sSup>
                      </m:e>
                    </m:d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d>
                      <m:dPr>
                        <m:begChr m:val="|"/>
                        <m:endChr m:val="|"/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𝒄𝒂</m:t>
                        </m:r>
                        <m:sSup>
                          <m:sSupPr>
                            <m:ctrlP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p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p>
                        </m:sSup>
                      </m:e>
                    </m:d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𝒌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，从而有：</a:t>
                </a:r>
                <a:endParaRPr lang="en-US" altLang="zh-CN" b="1">
                  <a:solidFill>
                    <a:schemeClr val="accent2">
                      <a:lumMod val="50000"/>
                    </a:schemeClr>
                  </a:solidFill>
                </a:endParaRPr>
              </a:p>
              <a:p>
                <a:pPr algn="ctr">
                  <a:lnSpc>
                    <a:spcPts val="3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sup>
                      </m:sSup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CN" b="1" i="1" smtClean="0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b="1" i="1" smtClean="0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𝒂</m:t>
                                  </m:r>
                                </m:e>
                                <m:sup>
                                  <m:r>
                                    <a:rPr lang="en-US" altLang="zh-CN" b="1" i="1" smtClean="0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b="1" i="1" smtClean="0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sup>
                      </m:sSup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CN" b="1" i="1" smtClean="0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altLang="zh-CN" b="1" i="1" smtClean="0">
                                          <a:solidFill>
                                            <a:schemeClr val="accent2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altLang="zh-CN" b="1" i="1" smtClean="0">
                                              <a:solidFill>
                                                <a:schemeClr val="accent2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zh-CN" b="1" i="1" smtClean="0">
                                              <a:solidFill>
                                                <a:schemeClr val="accent2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𝒂</m:t>
                                          </m:r>
                                        </m:e>
                                        <m:sup>
                                          <m:r>
                                            <a:rPr lang="en-US" altLang="zh-CN" b="1" i="1" smtClean="0">
                                              <a:solidFill>
                                                <a:schemeClr val="accent2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en-US" altLang="zh-CN" b="1" i="1" smtClean="0">
                                              <a:solidFill>
                                                <a:schemeClr val="accent2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𝟏</m:t>
                                          </m:r>
                                        </m:sup>
                                      </m:sSup>
                                    </m:e>
                                  </m:d>
                                </m:e>
                                <m:sup>
                                  <m:r>
                                    <a:rPr lang="en-US" altLang="zh-CN" b="1" i="1" smtClean="0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𝒎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p>
                          <m: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𝒆</m:t>
                      </m:r>
                    </m:oMath>
                  </m:oMathPara>
                </a14:m>
                <a:endParaRPr lang="en-US" altLang="zh-CN" b="1">
                  <a:solidFill>
                    <a:schemeClr val="accent2">
                      <a:lumMod val="50000"/>
                    </a:schemeClr>
                  </a:solidFill>
                </a:endParaRPr>
              </a:p>
              <a:p>
                <a:pPr>
                  <a:lnSpc>
                    <a:spcPts val="3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从而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∣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𝒎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，另一方面：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</m:e>
                              <m:sup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p>
                    </m:sSup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p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p>
                    </m:sSup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</m:e>
                              <m:sup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𝒏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p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  <m:sup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p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𝒆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，因此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∣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，因此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𝒎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。而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𝒆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𝒄𝒂</m:t>
                            </m:r>
                            <m:sSup>
                              <m:sSupPr>
                                <m:ctrlP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𝒄</m:t>
                                </m:r>
                              </m:e>
                              <m:sup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</m:sup>
                    </m:sSup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𝒄</m:t>
                    </m:r>
                    <m:sSup>
                      <m:sSupPr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p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</m:sup>
                    </m:sSup>
                    <m:d>
                      <m:dPr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p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p>
                        </m:sSup>
                      </m:e>
                    </m:d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，因此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p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</m:sup>
                    </m:sSup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𝒆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，从而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∣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𝒌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，另一方面，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𝒄𝒂</m:t>
                            </m:r>
                            <m:sSup>
                              <m:sSupPr>
                                <m:ctrlP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𝒄</m:t>
                                </m:r>
                              </m:e>
                              <m:sup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CN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p>
                    </m:sSup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𝒄</m:t>
                    </m:r>
                    <m:sSup>
                      <m:sSupPr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p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p>
                    </m:sSup>
                    <m:sSup>
                      <m:sSupPr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  <m:sup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p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𝒆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，因此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∣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，因此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𝒌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。</a:t>
                </a:r>
                <a:endParaRPr lang="en-US" altLang="zh-CN" b="1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4106" y="2776092"/>
                <a:ext cx="9272421" cy="2211375"/>
              </a:xfrm>
              <a:prstGeom prst="rect">
                <a:avLst/>
              </a:prstGeom>
              <a:blipFill rotWithShape="1">
                <a:blip r:embed="rId2"/>
                <a:stretch>
                  <a:fillRect l="-7" t="-23" r="2" b="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群的定义与基本性质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  <a:endParaRPr lang="zh-CN" altLang="en-US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第三讲  群与子群基础知识</a:t>
            </a:r>
            <a:endParaRPr lang="zh-CN" altLang="en-US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2026年3月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 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1930FB3-E902-4C54-9574-582199016723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</a:fld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/41</a:t>
            </a:r>
            <a:endParaRPr lang="zh-CN" altLang="en-US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群元素的阶</a:t>
            </a:r>
            <a:r>
              <a:rPr lang="en-US" altLang="zh-CN"/>
              <a:t>-</a:t>
            </a:r>
            <a:r>
              <a:rPr lang="zh-CN" altLang="en-US"/>
              <a:t>练习</a:t>
            </a:r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文本框 10"/>
              <p:cNvSpPr txBox="1"/>
              <p:nvPr/>
            </p:nvSpPr>
            <p:spPr>
              <a:xfrm>
                <a:off x="1174106" y="1552415"/>
                <a:ext cx="8917185" cy="789255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>
                  <a:lnSpc>
                    <a:spcPts val="2800"/>
                  </a:lnSpc>
                </a:pPr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𝒄</m:t>
                    </m:r>
                  </m:oMath>
                </a14:m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</a:rPr>
                  <a:t>是群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</a:rPr>
                  <a:t>的元素，证明：</a:t>
                </a:r>
                <a:r>
                  <a:rPr lang="en-US" altLang="zh-CN" sz="2000" b="1">
                    <a:solidFill>
                      <a:schemeClr val="accent2">
                        <a:lumMod val="50000"/>
                      </a:schemeClr>
                    </a:solidFill>
                  </a:rPr>
                  <a:t>(1)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</m:d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20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0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sup>
                            <m:r>
                              <a:rPr lang="en-US" altLang="zh-CN" sz="20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sz="20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p>
                        </m:sSup>
                      </m:e>
                    </m:d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𝒄𝒂</m:t>
                        </m:r>
                        <m:sSup>
                          <m:sSupPr>
                            <m:ctrlPr>
                              <a:rPr lang="en-US" altLang="zh-CN" sz="20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0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p>
                            <m:r>
                              <a:rPr lang="en-US" altLang="zh-CN" sz="20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sz="20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p>
                        </m:sSup>
                      </m:e>
                    </m:d>
                  </m:oMath>
                </a14:m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</a:rPr>
                  <a:t>；</a:t>
                </a:r>
                <a:r>
                  <a:rPr lang="en-US" altLang="zh-CN" sz="2000" b="1">
                    <a:solidFill>
                      <a:schemeClr val="accent2">
                        <a:lumMod val="50000"/>
                      </a:schemeClr>
                    </a:solidFill>
                  </a:rPr>
                  <a:t>(2) 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𝒂𝒃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|=|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𝒃𝒂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</a:rPr>
                  <a:t>；</a:t>
                </a:r>
                <a:r>
                  <a:rPr lang="en-US" altLang="zh-CN" sz="2000" b="1">
                    <a:solidFill>
                      <a:schemeClr val="accent2">
                        <a:lumMod val="50000"/>
                      </a:schemeClr>
                    </a:solidFill>
                  </a:rPr>
                  <a:t>(3)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𝒂𝒃𝒄</m:t>
                        </m:r>
                      </m:e>
                    </m:d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𝒃𝒄𝒂</m:t>
                        </m:r>
                      </m:e>
                    </m:d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𝒄𝒂𝒃</m:t>
                        </m:r>
                      </m:e>
                    </m:d>
                  </m:oMath>
                </a14:m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</a:rPr>
                  <a:t>。</a:t>
                </a:r>
                <a:endParaRPr lang="zh-CN" altLang="en-US" sz="2000" b="1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11" name="文本框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4106" y="1552415"/>
                <a:ext cx="8917185" cy="789255"/>
              </a:xfrm>
              <a:prstGeom prst="rect">
                <a:avLst/>
              </a:prstGeom>
              <a:blipFill rotWithShape="1">
                <a:blip r:embed="rId1"/>
                <a:stretch>
                  <a:fillRect l="-7" t="-60" r="6" b="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文本框 11"/>
              <p:cNvSpPr txBox="1"/>
              <p:nvPr/>
            </p:nvSpPr>
            <p:spPr>
              <a:xfrm>
                <a:off x="1174105" y="5179505"/>
                <a:ext cx="9272421" cy="736612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26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元素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𝒂𝒃𝒄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的阶与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𝒃𝒂𝒄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的阶不相同！例子请自行查找资料！为什么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𝒂𝒃𝒄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与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𝒃𝒄𝒂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的阶相同，但与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𝒃𝒂𝒄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不同呢？这都与下一次课要讲的</a:t>
                </a:r>
                <a:r>
                  <a:rPr lang="zh-CN" altLang="en-US" b="1">
                    <a:solidFill>
                      <a:srgbClr val="C00000"/>
                    </a:solidFill>
                  </a:rPr>
                  <a:t>置换群</a:t>
                </a:r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有关！</a:t>
                </a:r>
                <a:endParaRPr lang="zh-CN" altLang="en-US" b="1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12" name="文本框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4105" y="5179505"/>
                <a:ext cx="9272421" cy="736612"/>
              </a:xfrm>
              <a:prstGeom prst="rect">
                <a:avLst/>
              </a:prstGeom>
              <a:blipFill rotWithShape="1">
                <a:blip r:embed="rId2"/>
                <a:stretch>
                  <a:fillRect l="-7" t="-60" r="2" b="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4105" y="2653379"/>
            <a:ext cx="8328276" cy="223629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群的定义与基本性质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  <a:endParaRPr lang="zh-CN" altLang="en-US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第三讲  群与子群基础知识</a:t>
            </a:r>
            <a:endParaRPr lang="zh-CN" altLang="en-US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2026年3月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 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1930FB3-E902-4C54-9574-582199016723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</a:fld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/41</a:t>
            </a:r>
            <a:endParaRPr lang="zh-CN" altLang="en-US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群元素阶的计算</a:t>
            </a:r>
            <a:r>
              <a:rPr lang="en-US" altLang="zh-CN"/>
              <a:t>-</a:t>
            </a:r>
            <a:r>
              <a:rPr lang="zh-CN" altLang="en-US"/>
              <a:t>练习</a:t>
            </a:r>
            <a:endParaRPr lang="zh-CN" altLang="en-US"/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65738" y="1175007"/>
            <a:ext cx="8008883" cy="322392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0180" y="1541622"/>
            <a:ext cx="5177396" cy="287253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5652" y="2012052"/>
            <a:ext cx="7668348" cy="4222800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44900" y="4079270"/>
            <a:ext cx="2000868" cy="304630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44900" y="4500872"/>
            <a:ext cx="1765737" cy="259455"/>
          </a:xfrm>
          <a:prstGeom prst="rect">
            <a:avLst/>
          </a:prstGeom>
        </p:spPr>
      </p:pic>
      <p:sp>
        <p:nvSpPr>
          <p:cNvPr id="23" name="文本框 22"/>
          <p:cNvSpPr txBox="1"/>
          <p:nvPr/>
        </p:nvSpPr>
        <p:spPr>
          <a:xfrm>
            <a:off x="7630512" y="1111609"/>
            <a:ext cx="3090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>
                <a:solidFill>
                  <a:srgbClr val="C00000"/>
                </a:solidFill>
              </a:rPr>
              <a:t>6</a:t>
            </a:r>
            <a:endParaRPr lang="zh-CN" altLang="en-US" b="1">
              <a:solidFill>
                <a:srgbClr val="C00000"/>
              </a:solidFill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4295580" y="5825077"/>
            <a:ext cx="3090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>
                <a:solidFill>
                  <a:srgbClr val="C00000"/>
                </a:solidFill>
              </a:rPr>
              <a:t>3</a:t>
            </a:r>
            <a:endParaRPr lang="zh-CN" altLang="en-US" b="1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子群的定义与判定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  <a:endParaRPr lang="zh-CN" altLang="en-US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第三讲  群与子群基础知识</a:t>
            </a:r>
            <a:endParaRPr lang="zh-CN" altLang="en-US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2026年3月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 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1930FB3-E902-4C54-9574-582199016723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</a:fld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/41</a:t>
            </a:r>
            <a:endParaRPr lang="zh-CN" altLang="en-US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子群判定证明举例</a:t>
            </a:r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文本框 12"/>
              <p:cNvSpPr txBox="1"/>
              <p:nvPr/>
            </p:nvSpPr>
            <p:spPr>
              <a:xfrm>
                <a:off x="986784" y="1536105"/>
                <a:ext cx="7920394" cy="40011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000" b="1" dirty="0">
                    <a:solidFill>
                      <a:schemeClr val="accent2">
                        <a:lumMod val="50000"/>
                      </a:schemeClr>
                    </a:solidFill>
                  </a:rPr>
                  <a:t>证明：群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zh-CN" altLang="en-US" sz="2000" b="1" dirty="0">
                    <a:solidFill>
                      <a:schemeClr val="accent2">
                        <a:lumMod val="50000"/>
                      </a:schemeClr>
                    </a:solidFill>
                  </a:rPr>
                  <a:t>的非空</a:t>
                </a:r>
                <a:r>
                  <a:rPr lang="zh-CN" altLang="en-US" sz="2000" b="1" dirty="0">
                    <a:solidFill>
                      <a:srgbClr val="FF0000"/>
                    </a:solidFill>
                  </a:rPr>
                  <a:t>有限</a:t>
                </a:r>
                <a:r>
                  <a:rPr lang="zh-CN" altLang="en-US" sz="2000" b="1" dirty="0">
                    <a:solidFill>
                      <a:schemeClr val="accent2">
                        <a:lumMod val="50000"/>
                      </a:schemeClr>
                    </a:solidFill>
                  </a:rPr>
                  <a:t>子集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zh-CN" altLang="en-US" sz="2000" b="1" dirty="0">
                    <a:solidFill>
                      <a:schemeClr val="accent2">
                        <a:lumMod val="50000"/>
                      </a:schemeClr>
                    </a:solidFill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zh-CN" altLang="en-US" sz="2000" b="1" dirty="0">
                    <a:solidFill>
                      <a:schemeClr val="accent2">
                        <a:lumMod val="50000"/>
                      </a:schemeClr>
                    </a:solidFill>
                  </a:rPr>
                  <a:t>的子群当且仅当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𝑯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𝒂𝒃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zh-CN" altLang="en-US" sz="2000" b="1" dirty="0">
                    <a:solidFill>
                      <a:schemeClr val="accent2">
                        <a:lumMod val="50000"/>
                      </a:schemeClr>
                    </a:solidFill>
                  </a:rPr>
                  <a:t>。</a:t>
                </a:r>
                <a:endParaRPr lang="zh-CN" altLang="en-US" sz="2000" b="1" dirty="0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13" name="文本框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6784" y="1536105"/>
                <a:ext cx="7920394" cy="400110"/>
              </a:xfrm>
              <a:prstGeom prst="rect">
                <a:avLst/>
              </a:prstGeom>
              <a:blipFill rotWithShape="1">
                <a:blip r:embed="rId1"/>
                <a:stretch>
                  <a:fillRect l="-8" t="-10" b="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784" y="2402552"/>
            <a:ext cx="10122930" cy="1095242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6785" y="3802312"/>
            <a:ext cx="10122930" cy="150443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子群的定义与判定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  <a:endParaRPr lang="zh-CN" altLang="en-US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第三讲  群与子群基础知识</a:t>
            </a:r>
            <a:endParaRPr lang="zh-CN" altLang="en-US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2026年3月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 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1930FB3-E902-4C54-9574-582199016723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</a:fld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/41</a:t>
            </a:r>
            <a:endParaRPr lang="zh-CN" altLang="en-US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子群判定证明练习</a:t>
            </a:r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文本框 12"/>
              <p:cNvSpPr txBox="1"/>
              <p:nvPr/>
            </p:nvSpPr>
            <p:spPr>
              <a:xfrm>
                <a:off x="986783" y="1536105"/>
                <a:ext cx="10122929" cy="833177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3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</a:rPr>
                  <a:t>证明：定义群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</a:rPr>
                  <a:t>的</a:t>
                </a:r>
                <a:r>
                  <a:rPr lang="zh-CN" altLang="en-US" sz="2000" b="1">
                    <a:solidFill>
                      <a:srgbClr val="C00000"/>
                    </a:solidFill>
                  </a:rPr>
                  <a:t>中心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𝑪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∣"/>
                        <m:endChr m:val="}"/>
                        <m:ctrlP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e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∀</m:t>
                        </m:r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𝑮</m:t>
                        </m:r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𝒙𝒂</m:t>
                        </m:r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𝒂𝒙</m:t>
                        </m:r>
                      </m:e>
                    </m:d>
                  </m:oMath>
                </a14:m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</a:rPr>
                  <a:t>，即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𝑪</m:t>
                    </m:r>
                  </m:oMath>
                </a14:m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</a:rPr>
                  <a:t>中那些与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</a:rPr>
                  <a:t>的任何元素都可交换的元素构成的集合，证明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𝑪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</a:rPr>
                  <a:t>。</a:t>
                </a:r>
                <a:endParaRPr lang="zh-CN" altLang="en-US" sz="2000" b="1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13" name="文本框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6783" y="1536105"/>
                <a:ext cx="10122929" cy="833177"/>
              </a:xfrm>
              <a:prstGeom prst="rect">
                <a:avLst/>
              </a:prstGeom>
              <a:blipFill rotWithShape="1">
                <a:blip r:embed="rId1"/>
                <a:stretch>
                  <a:fillRect l="-6" t="-5" r="4" b="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1"/>
              <p:cNvSpPr txBox="1"/>
              <p:nvPr/>
            </p:nvSpPr>
            <p:spPr>
              <a:xfrm>
                <a:off x="986783" y="2954541"/>
                <a:ext cx="10037430" cy="121668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lnSpc>
                    <a:spcPts val="3000"/>
                  </a:lnSpc>
                  <a:spcBef>
                    <a:spcPts val="600"/>
                  </a:spcBef>
                  <a:spcAft>
                    <a:spcPts val="600"/>
                  </a:spcAft>
                  <a:defRPr sz="2000" b="1">
                    <a:solidFill>
                      <a:schemeClr val="accent2">
                        <a:lumMod val="50000"/>
                      </a:schemeClr>
                    </a:solidFill>
                  </a:defRPr>
                </a:lvl1pPr>
              </a:lstStyle>
              <a:p>
                <a:r>
                  <a:rPr lang="en-US" altLang="zh-CN"/>
                  <a:t>【</a:t>
                </a:r>
                <a:r>
                  <a:rPr lang="zh-CN" altLang="en-US"/>
                  <a:t>提示</a:t>
                </a:r>
                <a:r>
                  <a:rPr lang="en-US" altLang="zh-CN"/>
                  <a:t>】</a:t>
                </a:r>
                <a:r>
                  <a:rPr lang="zh-CN" altLang="en-US"/>
                  <a:t>：首先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𝑪</m:t>
                    </m:r>
                  </m:oMath>
                </a14:m>
                <a:r>
                  <a:rPr lang="zh-CN" altLang="en-US"/>
                  <a:t>是否是非空集？哪个元素一定属于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𝑪</m:t>
                    </m:r>
                  </m:oMath>
                </a14:m>
                <a:r>
                  <a:rPr lang="zh-CN" altLang="en-US"/>
                  <a:t>？其次，如何运用子群的判定定理证明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𝑪</m:t>
                    </m:r>
                  </m:oMath>
                </a14:m>
                <a:r>
                  <a:rPr lang="zh-CN" altLang="en-US"/>
                  <a:t>是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zh-CN" altLang="en-US"/>
                  <a:t>的子群，例如利用子群判定定理二，如何证明对任意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𝑪</m:t>
                    </m:r>
                  </m:oMath>
                </a14:m>
                <a:r>
                  <a:rPr lang="zh-CN" altLang="en-US"/>
                  <a:t>，都有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𝒂</m:t>
                    </m:r>
                    <m:sSup>
                      <m:sSup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  <m:sup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p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𝑪</m:t>
                    </m:r>
                  </m:oMath>
                </a14:m>
                <a:r>
                  <a:rPr lang="zh-CN" altLang="en-US"/>
                  <a:t>？或者利用子群判定定理一，证明对任意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b="1" i="1">
                        <a:latin typeface="Cambria Math" panose="02040503050406030204" pitchFamily="18" charset="0"/>
                      </a:rPr>
                      <m:t>𝑪</m:t>
                    </m:r>
                  </m:oMath>
                </a14:m>
                <a:r>
                  <a:rPr lang="zh-CN" altLang="en-US"/>
                  <a:t>有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p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p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𝑪</m:t>
                    </m:r>
                  </m:oMath>
                </a14:m>
                <a:r>
                  <a:rPr lang="zh-CN" altLang="en-US"/>
                  <a:t>，以及对任意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b="1" i="1">
                        <a:latin typeface="Cambria Math" panose="02040503050406030204" pitchFamily="18" charset="0"/>
                      </a:rPr>
                      <m:t>𝑪</m:t>
                    </m:r>
                  </m:oMath>
                </a14:m>
                <a:r>
                  <a:rPr lang="zh-CN" altLang="en-US"/>
                  <a:t>有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𝒂𝒃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𝑪</m:t>
                    </m:r>
                  </m:oMath>
                </a14:m>
                <a:r>
                  <a:rPr lang="zh-CN" altLang="en-US"/>
                  <a:t>？</a:t>
                </a:r>
                <a:endParaRPr lang="zh-CN" altLang="en-US"/>
              </a:p>
            </p:txBody>
          </p:sp>
        </mc:Choice>
        <mc:Fallback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6783" y="2954541"/>
                <a:ext cx="10037430" cy="1216680"/>
              </a:xfrm>
              <a:prstGeom prst="rect">
                <a:avLst/>
              </a:prstGeom>
              <a:blipFill rotWithShape="1">
                <a:blip r:embed="rId2"/>
                <a:stretch>
                  <a:fillRect l="-6" t="-43" r="6" b="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子群的定义与判定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  <a:endParaRPr lang="zh-CN" altLang="en-US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第三讲  群与子群基础知识</a:t>
            </a:r>
            <a:endParaRPr lang="zh-CN" altLang="en-US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2026年3月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 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1930FB3-E902-4C54-9574-582199016723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</a:fld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/41</a:t>
            </a:r>
            <a:endParaRPr lang="zh-CN" altLang="en-US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子群判定证明练习</a:t>
            </a:r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文本框 12"/>
              <p:cNvSpPr txBox="1"/>
              <p:nvPr/>
            </p:nvSpPr>
            <p:spPr>
              <a:xfrm>
                <a:off x="986783" y="1536105"/>
                <a:ext cx="10122929" cy="833177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3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</a:rPr>
                  <a:t>证明：定义群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</a:rPr>
                  <a:t>的</a:t>
                </a:r>
                <a:r>
                  <a:rPr lang="zh-CN" altLang="en-US" sz="2000" b="1">
                    <a:solidFill>
                      <a:srgbClr val="C00000"/>
                    </a:solidFill>
                  </a:rPr>
                  <a:t>中心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𝑪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∣"/>
                        <m:endChr m:val="}"/>
                        <m:ctrlP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e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∀</m:t>
                        </m:r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𝑮</m:t>
                        </m:r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𝒙𝒂</m:t>
                        </m:r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𝒂𝒙</m:t>
                        </m:r>
                      </m:e>
                    </m:d>
                  </m:oMath>
                </a14:m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</a:rPr>
                  <a:t>，即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𝑪</m:t>
                    </m:r>
                  </m:oMath>
                </a14:m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</a:rPr>
                  <a:t>中那些与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</a:rPr>
                  <a:t>的任何元素都可交换的元素构成的集合，证明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𝑪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</a:rPr>
                  <a:t>。</a:t>
                </a:r>
                <a:endParaRPr lang="zh-CN" altLang="en-US" sz="2000" b="1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13" name="文本框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6783" y="1536105"/>
                <a:ext cx="10122929" cy="833177"/>
              </a:xfrm>
              <a:prstGeom prst="rect">
                <a:avLst/>
              </a:prstGeom>
              <a:blipFill rotWithShape="1">
                <a:blip r:embed="rId1"/>
                <a:stretch>
                  <a:fillRect l="-6" t="-5" r="4" b="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783" y="2902007"/>
            <a:ext cx="10122929" cy="263131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2396</Words>
  <Application>WPS 演示</Application>
  <PresentationFormat>宽屏</PresentationFormat>
  <Paragraphs>165</Paragraphs>
  <Slides>11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5" baseType="lpstr">
      <vt:lpstr>Arial</vt:lpstr>
      <vt:lpstr>宋体</vt:lpstr>
      <vt:lpstr>Wingdings</vt:lpstr>
      <vt:lpstr>楷体</vt:lpstr>
      <vt:lpstr>仿宋</vt:lpstr>
      <vt:lpstr>Cambria Math</vt:lpstr>
      <vt:lpstr>等线</vt:lpstr>
      <vt:lpstr>Times New Roman</vt:lpstr>
      <vt:lpstr>黑体</vt:lpstr>
      <vt:lpstr>微软雅黑</vt:lpstr>
      <vt:lpstr>Arial Unicode MS</vt:lpstr>
      <vt:lpstr>等线 Light</vt:lpstr>
      <vt:lpstr>MS PGothic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user</dc:creator>
  <cp:lastModifiedBy>王泰然</cp:lastModifiedBy>
  <cp:revision>248</cp:revision>
  <dcterms:created xsi:type="dcterms:W3CDTF">2022-01-01T06:39:00Z</dcterms:created>
  <dcterms:modified xsi:type="dcterms:W3CDTF">2026-07-03T04:51:38Z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0137C5F366F144AFBF98EBB379707FD6_12</vt:lpwstr>
  </property>
  <property fmtid="{D5CDD505-2E9C-101B-9397-08002B2CF9AE}" pid="3" name="KSOProductBuildVer">
    <vt:lpwstr>2052-12.1.0.26375</vt:lpwstr>
  </property>
</Properties>
</file>