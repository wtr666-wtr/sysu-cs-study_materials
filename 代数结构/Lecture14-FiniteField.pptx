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42" r:id="rId4"/>
    <p:sldId id="345" r:id="rId5"/>
    <p:sldId id="346" r:id="rId6"/>
    <p:sldId id="347" r:id="rId7"/>
    <p:sldId id="348" r:id="rId8"/>
    <p:sldId id="349" r:id="rId9"/>
    <p:sldId id="350" r:id="rId10"/>
    <p:sldId id="353" r:id="rId11"/>
    <p:sldId id="354" r:id="rId12"/>
    <p:sldId id="355" r:id="rId13"/>
    <p:sldId id="356" r:id="rId14"/>
    <p:sldId id="357" r:id="rId15"/>
    <p:sldId id="358" r:id="rId16"/>
    <p:sldId id="360" r:id="rId17"/>
    <p:sldId id="359" r:id="rId18"/>
    <p:sldId id="361" r:id="rId19"/>
    <p:sldId id="362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第十四讲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域的扩张和有限域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有限域的阶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7901" y="944217"/>
            <a:ext cx="430861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【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定理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】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有限域的阶是一个素数的方幂。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23119" y="1591124"/>
            <a:ext cx="6897756" cy="1028083"/>
            <a:chOff x="1187726" y="1581024"/>
            <a:chExt cx="6897756" cy="1028083"/>
          </a:xfrm>
        </p:grpSpPr>
        <p:sp>
          <p:nvSpPr>
            <p:cNvPr id="17" name="矩形: 圆角 16"/>
            <p:cNvSpPr/>
            <p:nvPr/>
          </p:nvSpPr>
          <p:spPr>
            <a:xfrm>
              <a:off x="1187726" y="1581024"/>
              <a:ext cx="6897756" cy="1028083"/>
            </a:xfrm>
            <a:prstGeom prst="roundRect">
              <a:avLst>
                <a:gd name="adj" fmla="val 57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22512" y="1611457"/>
              <a:ext cx="6828184" cy="977770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1123119" y="2896782"/>
            <a:ext cx="6897756" cy="1457182"/>
            <a:chOff x="1113183" y="2821614"/>
            <a:chExt cx="6897756" cy="1457182"/>
          </a:xfrm>
        </p:grpSpPr>
        <p:sp>
          <p:nvSpPr>
            <p:cNvPr id="7" name="矩形: 圆角 6"/>
            <p:cNvSpPr/>
            <p:nvPr/>
          </p:nvSpPr>
          <p:spPr>
            <a:xfrm>
              <a:off x="1113183" y="2821614"/>
              <a:ext cx="6897756" cy="1457182"/>
            </a:xfrm>
            <a:prstGeom prst="roundRect">
              <a:avLst>
                <a:gd name="adj" fmla="val 57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7965" y="2851434"/>
              <a:ext cx="6828184" cy="1403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有限域的形式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72159" y="838482"/>
                <a:ext cx="7399682" cy="141032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00"/>
                  </a:lnSpc>
                  <a:spcBef>
                    <a:spcPts val="600"/>
                  </a:spcBef>
                </a:pP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定理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对每个素数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和每个正整数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，在同构的意义下存在唯一的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阶有限域。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3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由于对每个素数幂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在同构的意义下仅存在一个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阶域，所以可将这个域记为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，以纪念伽罗华，并称为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阶的</a:t>
                </a:r>
                <a:r>
                  <a:rPr lang="zh-CN" altLang="en-US" sz="1400" b="1">
                    <a:solidFill>
                      <a:srgbClr val="C00000"/>
                    </a:solidFill>
                    <a:latin typeface="+mn-ea"/>
                  </a:rPr>
                  <a:t>伽罗华域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3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通常也用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阶有限域。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59" y="838482"/>
                <a:ext cx="7399682" cy="1410322"/>
              </a:xfrm>
              <a:prstGeom prst="rect">
                <a:avLst/>
              </a:prstGeom>
              <a:blipFill rotWithShape="1">
                <a:blip r:embed="rId1"/>
                <a:stretch>
                  <a:fillRect l="-4" t="-20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872159" y="2445026"/>
            <a:ext cx="5270224" cy="1262269"/>
            <a:chOff x="877129" y="2390361"/>
            <a:chExt cx="5270224" cy="1262269"/>
          </a:xfrm>
        </p:grpSpPr>
        <p:sp>
          <p:nvSpPr>
            <p:cNvPr id="6" name="矩形: 圆角 5"/>
            <p:cNvSpPr/>
            <p:nvPr/>
          </p:nvSpPr>
          <p:spPr>
            <a:xfrm>
              <a:off x="877129" y="2390361"/>
              <a:ext cx="5270224" cy="1262269"/>
            </a:xfrm>
            <a:prstGeom prst="roundRect">
              <a:avLst>
                <a:gd name="adj" fmla="val 87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290" y="2422700"/>
              <a:ext cx="5199858" cy="119524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88266" y="3903517"/>
                <a:ext cx="7367461" cy="62889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实际上，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通常这样得到：取域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上的一个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</a:rPr>
                  <a:t>次不可约多项式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/⟨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)⟩ 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66" y="3903517"/>
                <a:ext cx="7367461" cy="628890"/>
              </a:xfrm>
              <a:prstGeom prst="rect">
                <a:avLst/>
              </a:prstGeom>
              <a:blipFill rotWithShape="1">
                <a:blip r:embed="rId3"/>
                <a:stretch>
                  <a:fillRect l="-7" t="-27" r="1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有限域的本原元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44826" y="981547"/>
            <a:ext cx="6425648" cy="916827"/>
            <a:chOff x="844826" y="981547"/>
            <a:chExt cx="6425648" cy="916827"/>
          </a:xfrm>
        </p:grpSpPr>
        <p:sp>
          <p:nvSpPr>
            <p:cNvPr id="7" name="矩形: 圆角 6"/>
            <p:cNvSpPr/>
            <p:nvPr/>
          </p:nvSpPr>
          <p:spPr>
            <a:xfrm>
              <a:off x="844826" y="981547"/>
              <a:ext cx="6425648" cy="916827"/>
            </a:xfrm>
            <a:prstGeom prst="roundRect">
              <a:avLst>
                <a:gd name="adj" fmla="val 1341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4581" y="1011687"/>
              <a:ext cx="6351105" cy="855075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44826" y="2295722"/>
            <a:ext cx="7454348" cy="851998"/>
            <a:chOff x="844826" y="2189376"/>
            <a:chExt cx="7454348" cy="851998"/>
          </a:xfrm>
        </p:grpSpPr>
        <p:sp>
          <p:nvSpPr>
            <p:cNvPr id="9" name="矩形: 圆角 8"/>
            <p:cNvSpPr/>
            <p:nvPr/>
          </p:nvSpPr>
          <p:spPr>
            <a:xfrm>
              <a:off x="844826" y="2189376"/>
              <a:ext cx="7454348" cy="851998"/>
            </a:xfrm>
            <a:prstGeom prst="roundRect">
              <a:avLst>
                <a:gd name="adj" fmla="val 131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2037" y="2225958"/>
              <a:ext cx="7379805" cy="78173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92037" y="3545068"/>
                <a:ext cx="7379805" cy="7822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有限域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的非零元乘法群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的每个生成元都称为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本原元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(primitive element)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037" y="3545068"/>
                <a:ext cx="7379805" cy="782202"/>
              </a:xfrm>
              <a:prstGeom prst="rect">
                <a:avLst/>
              </a:prstGeom>
              <a:blipFill rotWithShape="1">
                <a:blip r:embed="rId3"/>
                <a:stretch>
                  <a:fillRect l="-7" t="-64" r="4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原根的例子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24339" y="1530626"/>
            <a:ext cx="7300291" cy="2062370"/>
            <a:chOff x="924339" y="1530626"/>
            <a:chExt cx="7300291" cy="2062370"/>
          </a:xfrm>
        </p:grpSpPr>
        <p:sp>
          <p:nvSpPr>
            <p:cNvPr id="4" name="矩形: 圆角 3"/>
            <p:cNvSpPr/>
            <p:nvPr/>
          </p:nvSpPr>
          <p:spPr>
            <a:xfrm>
              <a:off x="924339" y="1530626"/>
              <a:ext cx="7300291" cy="2062370"/>
            </a:xfrm>
            <a:prstGeom prst="roundRect">
              <a:avLst>
                <a:gd name="adj" fmla="val 6306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450" y="1569084"/>
              <a:ext cx="7227040" cy="1985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1050672" y="1997562"/>
            <a:ext cx="7014929" cy="2370687"/>
          </a:xfrm>
          <a:prstGeom prst="roundRect">
            <a:avLst>
              <a:gd name="adj" fmla="val 6483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05342" y="2062370"/>
            <a:ext cx="6912668" cy="2246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有限域的子域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78393" y="909430"/>
                <a:ext cx="6987208" cy="6849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的每个正因数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中存在唯一的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阶的子域，并且这些是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𝑮𝑭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中仅有的子域。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393" y="909430"/>
                <a:ext cx="6987208" cy="684996"/>
              </a:xfrm>
              <a:prstGeom prst="rect">
                <a:avLst/>
              </a:prstGeom>
              <a:blipFill rotWithShape="1">
                <a:blip r:embed="rId1"/>
                <a:stretch>
                  <a:fillRect l="-2" t="-16" r="7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7" y="2161572"/>
            <a:ext cx="6910563" cy="624587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1429583" y="2950603"/>
            <a:ext cx="2633826" cy="1239435"/>
            <a:chOff x="1229161" y="2755961"/>
            <a:chExt cx="2633826" cy="123943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7796" y="3036711"/>
              <a:ext cx="2465191" cy="958685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229161" y="2755961"/>
              <a:ext cx="581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</a:rPr>
                <a:t>所以</a:t>
              </a:r>
              <a:endParaRPr lang="zh-CN" altLang="en-US" sz="12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36095" y="2940070"/>
            <a:ext cx="2438884" cy="1271159"/>
            <a:chOff x="5307320" y="2755961"/>
            <a:chExt cx="2438884" cy="127115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6157" y="3036711"/>
              <a:ext cx="2220047" cy="99040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5307320" y="2755961"/>
                  <a:ext cx="146619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因此</a:t>
                  </a:r>
                  <a14:m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𝑭</m:t>
                      </m:r>
                    </m:oMath>
                  </a14:m>
                  <a:r>
                    <a:rPr lang="zh-CN" altLang="en-US" sz="1200" b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的子域有：</a:t>
                  </a:r>
                  <a:endPara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320" y="2755961"/>
                  <a:ext cx="1466198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785183" y="1118734"/>
            <a:ext cx="7553745" cy="5941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有限域与不可约多项式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5" y="1147626"/>
            <a:ext cx="7478549" cy="540901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785183" y="2297474"/>
            <a:ext cx="6372647" cy="418900"/>
            <a:chOff x="1191031" y="2299535"/>
            <a:chExt cx="6372647" cy="418900"/>
          </a:xfrm>
        </p:grpSpPr>
        <p:sp>
          <p:nvSpPr>
            <p:cNvPr id="17" name="矩形: 圆角 16"/>
            <p:cNvSpPr/>
            <p:nvPr/>
          </p:nvSpPr>
          <p:spPr>
            <a:xfrm>
              <a:off x="1191031" y="2299535"/>
              <a:ext cx="6372647" cy="4189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0290" y="2339060"/>
              <a:ext cx="6288663" cy="344584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785183" y="3356085"/>
            <a:ext cx="5343945" cy="376056"/>
            <a:chOff x="1186061" y="3356085"/>
            <a:chExt cx="5343945" cy="376056"/>
          </a:xfrm>
        </p:grpSpPr>
        <p:sp>
          <p:nvSpPr>
            <p:cNvPr id="18" name="矩形: 圆角 17"/>
            <p:cNvSpPr/>
            <p:nvPr/>
          </p:nvSpPr>
          <p:spPr>
            <a:xfrm>
              <a:off x="1186061" y="3356085"/>
              <a:ext cx="5343945" cy="376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0290" y="3385905"/>
              <a:ext cx="5271513" cy="3211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的二次不可约多项式与有限域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8577" y="750403"/>
            <a:ext cx="7041874" cy="3856382"/>
            <a:chOff x="1048577" y="750403"/>
            <a:chExt cx="7041874" cy="3856382"/>
          </a:xfrm>
        </p:grpSpPr>
        <p:sp>
          <p:nvSpPr>
            <p:cNvPr id="4" name="矩形: 圆角 3"/>
            <p:cNvSpPr/>
            <p:nvPr/>
          </p:nvSpPr>
          <p:spPr>
            <a:xfrm>
              <a:off x="1048577" y="750403"/>
              <a:ext cx="7041874" cy="3856382"/>
            </a:xfrm>
            <a:prstGeom prst="roundRect">
              <a:avLst>
                <a:gd name="adj" fmla="val 382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0755" y="816319"/>
              <a:ext cx="6942483" cy="37412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的三次不可约多项式与有限域（一）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8274" y="815009"/>
            <a:ext cx="6942483" cy="3732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66" y="1969007"/>
            <a:ext cx="6092688" cy="253700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666" y="819978"/>
            <a:ext cx="5764695" cy="1107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的三次不可约多项式与有限域（二）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8274" y="815009"/>
            <a:ext cx="6942483" cy="3732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66" y="819978"/>
            <a:ext cx="5764695" cy="11078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40" y="2002362"/>
            <a:ext cx="6028082" cy="25358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858000" y="3737878"/>
                <a:ext cx="1739348" cy="6948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的所有根正好是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</m:sub>
                    </m:sSub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中如下的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个元素：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sup>
                    </m:sSup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p>
                      <m:sSup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sup>
                    </m:sSup>
                  </m:oMath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737878"/>
                <a:ext cx="1739348" cy="694806"/>
              </a:xfrm>
              <a:prstGeom prst="rect">
                <a:avLst/>
              </a:prstGeom>
              <a:blipFill rotWithShape="1">
                <a:blip r:embed="rId4"/>
                <a:stretch>
                  <a:fillRect t="-39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的三次不可约多项式与有限域（三）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98274" y="815009"/>
            <a:ext cx="6942483" cy="3732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43" y="855907"/>
            <a:ext cx="5342284" cy="3662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的四次不可约多项式与有限域（一）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51060" y="1125391"/>
            <a:ext cx="7041874" cy="2812775"/>
            <a:chOff x="1051063" y="1043179"/>
            <a:chExt cx="7041874" cy="2812775"/>
          </a:xfrm>
        </p:grpSpPr>
        <p:sp>
          <p:nvSpPr>
            <p:cNvPr id="4" name="矩形: 圆角 3"/>
            <p:cNvSpPr/>
            <p:nvPr/>
          </p:nvSpPr>
          <p:spPr>
            <a:xfrm>
              <a:off x="1051063" y="1043179"/>
              <a:ext cx="7041874" cy="2812775"/>
            </a:xfrm>
            <a:prstGeom prst="roundRect">
              <a:avLst>
                <a:gd name="adj" fmla="val 417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0759" y="1097076"/>
              <a:ext cx="6942482" cy="27041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的四次不可约多项式与有限域（二）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93305" y="805071"/>
            <a:ext cx="6957390" cy="3752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99" y="805071"/>
            <a:ext cx="5869305" cy="37520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的四次不可约多项式与有限域（三）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51063" y="1575351"/>
            <a:ext cx="7041874" cy="1992797"/>
            <a:chOff x="1048577" y="1575351"/>
            <a:chExt cx="7041874" cy="1992797"/>
          </a:xfrm>
        </p:grpSpPr>
        <p:sp>
          <p:nvSpPr>
            <p:cNvPr id="4" name="矩形: 圆角 3"/>
            <p:cNvSpPr/>
            <p:nvPr/>
          </p:nvSpPr>
          <p:spPr>
            <a:xfrm>
              <a:off x="1048577" y="1575351"/>
              <a:ext cx="7041874" cy="1992797"/>
            </a:xfrm>
            <a:prstGeom prst="roundRect">
              <a:avLst>
                <a:gd name="adj" fmla="val 8066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3242" y="1637005"/>
              <a:ext cx="6937515" cy="1869489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2192942" y="1575351"/>
            <a:ext cx="493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16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的二次不可约多项式与有限域（一）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93305" y="805071"/>
            <a:ext cx="6957390" cy="3752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18" y="805069"/>
            <a:ext cx="6957391" cy="6779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91" y="1453206"/>
            <a:ext cx="6957390" cy="13703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18" y="2924728"/>
            <a:ext cx="6957390" cy="1602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的二次不可约多项式与有限域（二）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93305" y="805071"/>
            <a:ext cx="6957390" cy="3752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49" y="1036710"/>
            <a:ext cx="6938746" cy="32837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的二次不可约多项式与有限域（三）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750403"/>
            <a:ext cx="7041874" cy="3856382"/>
          </a:xfrm>
          <a:prstGeom prst="roundRect">
            <a:avLst>
              <a:gd name="adj" fmla="val 382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93305" y="805071"/>
            <a:ext cx="6957390" cy="3752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5" y="864890"/>
            <a:ext cx="6957390" cy="36274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有限域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400"/>
                  <a:t>的二次不可约多项式与有限域（四）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第十四讲  域的扩张和有限域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/55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048577" y="1207604"/>
            <a:ext cx="7041874" cy="2733261"/>
          </a:xfrm>
          <a:prstGeom prst="roundRect">
            <a:avLst>
              <a:gd name="adj" fmla="val 51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5" y="1259345"/>
            <a:ext cx="6957390" cy="2624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1520</Words>
  <Application>WPS 演示</Application>
  <PresentationFormat>全屏显示(16:9)</PresentationFormat>
  <Paragraphs>206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80</cp:revision>
  <dcterms:created xsi:type="dcterms:W3CDTF">2022-01-01T06:39:00Z</dcterms:created>
  <dcterms:modified xsi:type="dcterms:W3CDTF">2026-07-03T03:02:42Z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16B3D53D9B154C939CC5566E06F180F1_12</vt:lpwstr>
  </property>
  <property fmtid="{D5CDD505-2E9C-101B-9397-08002B2CF9AE}" pid="3" name="KSOProductBuildVer">
    <vt:lpwstr>2052-12.1.0.26375</vt:lpwstr>
  </property>
</Properties>
</file>