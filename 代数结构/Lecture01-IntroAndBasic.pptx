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3"/>
    <p:sldId id="284" r:id="rId4"/>
    <p:sldId id="290" r:id="rId5"/>
    <p:sldId id="298" r:id="rId6"/>
    <p:sldId id="332" r:id="rId7"/>
    <p:sldId id="304" r:id="rId8"/>
    <p:sldId id="297" r:id="rId9"/>
    <p:sldId id="320" r:id="rId10"/>
    <p:sldId id="322" r:id="rId11"/>
    <p:sldId id="305" r:id="rId12"/>
    <p:sldId id="306" r:id="rId13"/>
    <p:sldId id="307" r:id="rId14"/>
    <p:sldId id="285" r:id="rId15"/>
    <p:sldId id="330" r:id="rId16"/>
    <p:sldId id="300" r:id="rId17"/>
    <p:sldId id="323" r:id="rId18"/>
    <p:sldId id="329" r:id="rId19"/>
    <p:sldId id="324" r:id="rId20"/>
    <p:sldId id="326" r:id="rId21"/>
    <p:sldId id="327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7EC"/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-494" y="-72"/>
      </p:cViewPr>
      <p:guideLst>
        <p:guide orient="horz" pos="1620"/>
        <p:guide pos="28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1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1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矩形 7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054359" y="888925"/>
            <a:ext cx="7045495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第一讲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课程简介与基础知识</a:t>
            </a:r>
            <a:endParaRPr lang="zh-CN" altLang="en-US" sz="36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  <a:endParaRPr lang="zh-CN" altLang="en-US" sz="3000">
              <a:solidFill>
                <a:srgbClr val="21069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  <a:endParaRPr lang="zh-CN" altLang="en-US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51937" y="3343440"/>
            <a:ext cx="215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80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80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8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78924" y="3870950"/>
            <a:ext cx="6820930" cy="83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>
                <a:solidFill>
                  <a:srgbClr val="002060"/>
                </a:solidFill>
              </a:rPr>
              <a:t>https://mooc1.chaoxing.com/course-ans/courseportal/300163778.html</a:t>
            </a:r>
            <a:endParaRPr lang="en-US" altLang="zh-CN" sz="1600">
              <a:solidFill>
                <a:srgbClr val="00206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集合基本概念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ABE87288-E7D9-4365-AAFC-7A61C1CFBACA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734890" y="741161"/>
                <a:ext cx="7157446" cy="185890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不严格定义的概念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集合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：作为整体研究的一堆东西，用大写字母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表示</a:t>
                </a:r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元素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：集合这一堆东西中的每一个，用小写字母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表示</a:t>
                </a:r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属于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：元素与集合间的关系，元素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属于集合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不属于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600075" lvl="1" indent="-257175">
                  <a:spcBef>
                    <a:spcPts val="450"/>
                  </a:spcBef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2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元素与集合间的属于关系也称为</a:t>
                </a:r>
                <a:r>
                  <a:rPr lang="zh-CN" altLang="en-US" sz="1200" b="1">
                    <a:solidFill>
                      <a:srgbClr val="C00000"/>
                    </a:solidFill>
                    <a:latin typeface="+mn-ea"/>
                  </a:rPr>
                  <a:t>成员关系</a:t>
                </a:r>
                <a:r>
                  <a:rPr lang="zh-CN" altLang="en-US" sz="12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，元素是集合的成员</a:t>
                </a:r>
                <a:endParaRPr lang="en-US" altLang="zh-CN" sz="12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全集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：研究范围内的所有东西，记为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endParaRPr lang="zh-CN" altLang="en-US" sz="11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90" y="741161"/>
                <a:ext cx="7157446" cy="1858907"/>
              </a:xfrm>
              <a:prstGeom prst="rect">
                <a:avLst/>
              </a:prstGeom>
              <a:blipFill rotWithShape="1">
                <a:blip r:embed="rId1"/>
                <a:stretch>
                  <a:fillRect l="-3" t="-6" r="8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734890" y="2759655"/>
                <a:ext cx="4122860" cy="162557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600" b="1">
                    <a:solidFill>
                      <a:srgbClr val="002060"/>
                    </a:solidFill>
                  </a:rPr>
                  <a:t>用逻辑语言严格定义的概念</a:t>
                </a:r>
                <a:endParaRPr lang="en-US" altLang="zh-CN" sz="1600" b="1">
                  <a:solidFill>
                    <a:srgbClr val="002060"/>
                  </a:solidFill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C00000"/>
                    </a:solidFill>
                  </a:rPr>
                  <a:t>子集关系：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endParaRPr lang="en-US" altLang="zh-CN" sz="1400" b="1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C00000"/>
                    </a:solidFill>
                  </a:rPr>
                  <a:t>集合相等：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↔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endParaRPr lang="en-US" altLang="zh-CN" sz="1400" b="1">
                  <a:solidFill>
                    <a:srgbClr val="C00000"/>
                  </a:solidFill>
                </a:endParaRPr>
              </a:p>
              <a:p>
                <a:pPr marL="600075" lvl="1" indent="-257175">
                  <a:spcBef>
                    <a:spcPts val="450"/>
                  </a:spcBef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zh-CN" sz="14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C00000"/>
                    </a:solidFill>
                  </a:rPr>
                  <a:t>空集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sz="1400" b="1">
                    <a:solidFill>
                      <a:srgbClr val="C0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∉∅</m:t>
                        </m:r>
                      </m:e>
                    </m:d>
                  </m:oMath>
                </a14:m>
                <a:endParaRPr lang="zh-CN" altLang="en-US" sz="14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90" y="2759655"/>
                <a:ext cx="4122860" cy="1625573"/>
              </a:xfrm>
              <a:prstGeom prst="rect">
                <a:avLst/>
              </a:prstGeom>
              <a:blipFill rotWithShape="1">
                <a:blip r:embed="rId2"/>
                <a:stretch>
                  <a:fillRect l="-5" t="-36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/>
          <p:cNvSpPr txBox="1"/>
          <p:nvPr/>
        </p:nvSpPr>
        <p:spPr>
          <a:xfrm>
            <a:off x="5224819" y="2687775"/>
            <a:ext cx="3004694" cy="870816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450"/>
              </a:spcBef>
            </a:pPr>
            <a:r>
              <a:rPr lang="zh-CN" altLang="en-US" sz="1400" b="1">
                <a:solidFill>
                  <a:srgbClr val="C00000"/>
                </a:solidFill>
              </a:rPr>
              <a:t>朴素集合论的外延原则</a:t>
            </a:r>
            <a:endParaRPr lang="zh-CN" altLang="en-US" sz="1400" b="1">
              <a:solidFill>
                <a:srgbClr val="C00000"/>
              </a:solidFill>
            </a:endParaRPr>
          </a:p>
          <a:p>
            <a:pPr>
              <a:lnSpc>
                <a:spcPts val="1950"/>
              </a:lnSpc>
              <a:spcBef>
                <a:spcPts val="450"/>
              </a:spcBef>
              <a:spcAft>
                <a:spcPts val="450"/>
              </a:spcAft>
            </a:pPr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</a:rPr>
              <a:t>两个集合只要有完全相同的元素则是相等的集合，不考虑集合名字本身的内涵</a:t>
            </a:r>
            <a:endParaRPr lang="zh-CN" altLang="en-US" sz="12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224819" y="3645573"/>
            <a:ext cx="3004694" cy="987130"/>
          </a:xfrm>
          <a:prstGeom prst="rect">
            <a:avLst/>
          </a:prstGeom>
          <a:solidFill>
            <a:schemeClr val="bg2">
              <a:lumMod val="9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214630" indent="-214630">
              <a:lnSpc>
                <a:spcPts val="165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zh-CN" altLang="en-US" sz="12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概念</a:t>
            </a:r>
            <a:r>
              <a:rPr lang="en-US" altLang="zh-CN" sz="12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12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名字</a:t>
            </a:r>
            <a:r>
              <a:rPr lang="en-US" altLang="zh-CN" sz="12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12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sz="1200" b="1">
                <a:solidFill>
                  <a:srgbClr val="C00000"/>
                </a:solidFill>
                <a:latin typeface="+mn-ea"/>
              </a:rPr>
              <a:t>外延</a:t>
            </a:r>
            <a:r>
              <a:rPr lang="zh-CN" altLang="en-US" sz="12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是它所指称的对象，</a:t>
            </a:r>
            <a:r>
              <a:rPr lang="zh-CN" altLang="en-US" sz="1200" b="1">
                <a:solidFill>
                  <a:srgbClr val="C00000"/>
                </a:solidFill>
                <a:latin typeface="+mn-ea"/>
              </a:rPr>
              <a:t>内涵</a:t>
            </a:r>
            <a:r>
              <a:rPr lang="zh-CN" altLang="en-US" sz="12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是它有区别于其他概念的属性全体</a:t>
            </a:r>
            <a:endParaRPr lang="zh-CN" altLang="en-US" sz="12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14630" indent="-214630">
              <a:lnSpc>
                <a:spcPts val="165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zh-CN" altLang="en-US" sz="12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对于集合</a:t>
            </a:r>
            <a:r>
              <a:rPr lang="en-US" altLang="zh-CN" sz="12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12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名字</a:t>
            </a:r>
            <a:r>
              <a:rPr lang="en-US" altLang="zh-CN" sz="12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12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，外延是它包含的所有元素，内涵则视具体的应用而定</a:t>
            </a:r>
            <a:endParaRPr lang="zh-CN" altLang="en-US" sz="12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集合基本概念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A8573282-1000-43EA-A191-6680DBFBCAF3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9443" y="890866"/>
            <a:ext cx="5508967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定义集合的方法有：</a:t>
            </a:r>
            <a:r>
              <a:rPr lang="zh-CN" altLang="en-US" sz="1600" b="1">
                <a:solidFill>
                  <a:srgbClr val="C00000"/>
                </a:solidFill>
              </a:rPr>
              <a:t>元素枚举法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、</a:t>
            </a:r>
            <a:r>
              <a:rPr lang="zh-CN" altLang="en-US" sz="1600" b="1">
                <a:solidFill>
                  <a:srgbClr val="C00000"/>
                </a:solidFill>
              </a:rPr>
              <a:t>性质概括法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和</a:t>
            </a:r>
            <a:r>
              <a:rPr lang="zh-CN" altLang="en-US" sz="1600" b="1">
                <a:solidFill>
                  <a:srgbClr val="C00000"/>
                </a:solidFill>
              </a:rPr>
              <a:t>归纳定义法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9444" y="1446492"/>
            <a:ext cx="2823182" cy="1435714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450"/>
              </a:spcBef>
            </a:pPr>
            <a:r>
              <a:rPr lang="zh-CN" altLang="en-US" sz="1600" b="1">
                <a:solidFill>
                  <a:srgbClr val="C00000"/>
                </a:solidFill>
              </a:rPr>
              <a:t>元素枚举法</a:t>
            </a:r>
            <a:endParaRPr lang="en-US" altLang="zh-CN" sz="1600" b="1">
              <a:solidFill>
                <a:srgbClr val="C00000"/>
              </a:solidFill>
            </a:endParaRPr>
          </a:p>
          <a:p>
            <a:pPr>
              <a:spcBef>
                <a:spcPts val="450"/>
              </a:spcBef>
            </a:pPr>
            <a:r>
              <a:rPr lang="zh-CN" altLang="en-US" sz="1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将集合的所有元素一一罗列出来</a:t>
            </a:r>
            <a:endParaRPr lang="en-US" altLang="zh-CN" sz="14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lnSpc>
                <a:spcPts val="1875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200" b="1">
                <a:solidFill>
                  <a:schemeClr val="accent6">
                    <a:lumMod val="50000"/>
                  </a:schemeClr>
                </a:solidFill>
              </a:rPr>
              <a:t>适合元素比较少，或可按明显规律罗列元素时定义集合</a:t>
            </a:r>
            <a:endParaRPr lang="zh-CN" altLang="en-US" sz="1200" b="1">
              <a:solidFill>
                <a:schemeClr val="accent6">
                  <a:lumMod val="50000"/>
                </a:schemeClr>
              </a:solidFill>
            </a:endParaRPr>
          </a:p>
          <a:p>
            <a:pPr marL="257175" indent="-257175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200" b="1">
                <a:solidFill>
                  <a:schemeClr val="accent6">
                    <a:lumMod val="50000"/>
                  </a:schemeClr>
                </a:solidFill>
              </a:rPr>
              <a:t>元素罗列规律明显时可使用省略号</a:t>
            </a:r>
            <a:endParaRPr lang="zh-CN" altLang="en-US" sz="1200" b="1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3752924" y="1446492"/>
                <a:ext cx="4819576" cy="307956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1600" b="1">
                    <a:solidFill>
                      <a:srgbClr val="C00000"/>
                    </a:solidFill>
                  </a:rPr>
                  <a:t>性质概括法</a:t>
                </a:r>
                <a:endParaRPr lang="en-US" altLang="zh-CN" sz="16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用</a:t>
                </a: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谓词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概括一个集合的所有元素满足的共同性质</a:t>
                </a:r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基本形式：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m:rPr>
                        <m:lit/>
                      </m:rP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，含义是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↔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1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endParaRPr lang="en-US" altLang="zh-CN" sz="1400" b="1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600075" lvl="1" indent="-257175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2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允许</a:t>
                </a:r>
                <a14:m>
                  <m:oMath xmlns:m="http://schemas.openxmlformats.org/officeDocument/2006/math">
                    <m:r>
                      <a:rPr lang="en-US" altLang="zh-CN" sz="12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zh-CN" altLang="en-US" sz="12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是任意性质时有可能产生悖论：</a:t>
                </a:r>
                <a:r>
                  <a:rPr lang="zh-CN" altLang="en-US" sz="1200" b="1">
                    <a:solidFill>
                      <a:srgbClr val="C00000"/>
                    </a:solidFill>
                    <a:latin typeface="+mn-ea"/>
                  </a:rPr>
                  <a:t>罗素悖论</a:t>
                </a:r>
                <a:endParaRPr lang="zh-CN" altLang="en-US" sz="1200" b="1">
                  <a:solidFill>
                    <a:srgbClr val="C00000"/>
                  </a:solidFill>
                  <a:latin typeface="+mn-ea"/>
                </a:endParaRPr>
              </a:p>
              <a:p>
                <a:pPr marL="600075" lvl="1" indent="-257175">
                  <a:lnSpc>
                    <a:spcPts val="195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2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公理集合论运用</a:t>
                </a:r>
                <a:r>
                  <a:rPr lang="zh-CN" altLang="en-US" sz="1200" b="1">
                    <a:solidFill>
                      <a:srgbClr val="C00000"/>
                    </a:solidFill>
                    <a:latin typeface="+mn-ea"/>
                  </a:rPr>
                  <a:t>子集分离原则</a:t>
                </a:r>
                <a:r>
                  <a:rPr lang="zh-CN" altLang="en-US" sz="12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避免悖论：</a:t>
                </a:r>
                <a14:m>
                  <m:oMath xmlns:m="http://schemas.openxmlformats.org/officeDocument/2006/math">
                    <m: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m:rPr>
                        <m:lit/>
                      </m:rP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2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2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12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是已知的大集合</a:t>
                </a:r>
                <a:endParaRPr lang="zh-CN" altLang="en-US" sz="1200" b="1">
                  <a:solidFill>
                    <a:schemeClr val="accent4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lnSpc>
                    <a:spcPts val="225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扩展形式：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m:rPr>
                        <m:lit/>
                      </m:rP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，含义是：</a:t>
                </a:r>
                <a:endParaRPr lang="en-US" altLang="zh-CN" sz="14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lnSpc>
                    <a:spcPts val="2250"/>
                  </a:lnSpc>
                  <a:spcBef>
                    <a:spcPts val="6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1400" b="1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600075" lvl="1" indent="-257175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2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这里</a:t>
                </a:r>
                <a14:m>
                  <m:oMath xmlns:m="http://schemas.openxmlformats.org/officeDocument/2006/math">
                    <m:r>
                      <a:rPr lang="en-US" altLang="zh-CN" sz="12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</m:oMath>
                </a14:m>
                <a:r>
                  <a:rPr lang="zh-CN" altLang="en-US" sz="12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是一个函数，或说</a:t>
                </a:r>
                <a14:m>
                  <m:oMath xmlns:m="http://schemas.openxmlformats.org/officeDocument/2006/math">
                    <m:r>
                      <a:rPr lang="en-US" altLang="zh-CN" sz="12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12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2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2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2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是含有自由变量</a:t>
                </a:r>
                <a14:m>
                  <m:oMath xmlns:m="http://schemas.openxmlformats.org/officeDocument/2006/math">
                    <m:r>
                      <a:rPr lang="en-US" altLang="zh-CN" sz="12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12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1200" b="1">
                    <a:solidFill>
                      <a:srgbClr val="C00000"/>
                    </a:solidFill>
                    <a:latin typeface="+mn-ea"/>
                  </a:rPr>
                  <a:t>表达式</a:t>
                </a:r>
                <a:endParaRPr lang="zh-CN" altLang="en-US" sz="12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924" y="1446492"/>
                <a:ext cx="4819576" cy="3079561"/>
              </a:xfrm>
              <a:prstGeom prst="rect">
                <a:avLst/>
              </a:prstGeom>
              <a:blipFill rotWithShape="1">
                <a:blip r:embed="rId1"/>
                <a:stretch>
                  <a:fillRect l="-2" t="-19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649443" y="2985730"/>
            <a:ext cx="2823182" cy="1497269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450"/>
              </a:spcAft>
            </a:pPr>
            <a:r>
              <a:rPr lang="zh-CN" altLang="en-US" sz="1600" b="1">
                <a:solidFill>
                  <a:srgbClr val="C00000"/>
                </a:solidFill>
              </a:rPr>
              <a:t>归纳定义法</a:t>
            </a:r>
            <a:endParaRPr lang="en-US" altLang="zh-CN" sz="1600" b="1">
              <a:solidFill>
                <a:srgbClr val="C00000"/>
              </a:solidFill>
            </a:endParaRPr>
          </a:p>
          <a:p>
            <a:pPr>
              <a:lnSpc>
                <a:spcPts val="2100"/>
              </a:lnSpc>
            </a:pPr>
            <a:r>
              <a:rPr lang="zh-CN" altLang="en-US" sz="1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给出基本元素和从已有元素构造其他元素的规则</a:t>
            </a:r>
            <a:endParaRPr lang="zh-CN" altLang="en-US" sz="14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lnSpc>
                <a:spcPts val="1875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200" b="1">
                <a:solidFill>
                  <a:schemeClr val="accent6">
                    <a:lumMod val="50000"/>
                  </a:schemeClr>
                </a:solidFill>
              </a:rPr>
              <a:t>从某种意义上说，集合的归纳定义给出了构造集合元素的算法</a:t>
            </a:r>
            <a:endParaRPr lang="zh-CN" altLang="en-US" sz="1200" b="1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关系的定义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F4E3BB26-CDF5-4CCD-B374-ED15B0FDBC1F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52873" y="856509"/>
            <a:ext cx="6200157" cy="2087751"/>
            <a:chOff x="1434094" y="1103964"/>
            <a:chExt cx="8266876" cy="2783668"/>
          </a:xfrm>
          <a:solidFill>
            <a:schemeClr val="accent2">
              <a:lumMod val="20000"/>
              <a:lumOff val="80000"/>
              <a:alpha val="50000"/>
            </a:schemeClr>
          </a:solidFill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1434094" y="1103964"/>
                  <a:ext cx="8266876" cy="2783668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450"/>
                    </a:spcBef>
                    <a:spcAft>
                      <a:spcPts val="450"/>
                    </a:spcAft>
                  </a:pPr>
                  <a:r>
                    <a:rPr lang="zh-CN" altLang="en-US" sz="1600" b="1">
                      <a:solidFill>
                        <a:srgbClr val="C00000"/>
                      </a:solidFill>
                    </a:rPr>
                    <a:t>二元关系</a:t>
                  </a:r>
                  <a:r>
                    <a:rPr lang="en-US" altLang="zh-CN" sz="1600" b="1">
                      <a:solidFill>
                        <a:srgbClr val="C00000"/>
                      </a:solidFill>
                    </a:rPr>
                    <a:t>(binary relation)</a:t>
                  </a:r>
                  <a:endParaRPr lang="en-US" altLang="zh-CN" sz="1600" b="1">
                    <a:solidFill>
                      <a:srgbClr val="C00000"/>
                    </a:solidFill>
                  </a:endParaRPr>
                </a:p>
                <a:p>
                  <a:pPr>
                    <a:spcBef>
                      <a:spcPts val="450"/>
                    </a:spcBef>
                    <a:spcAft>
                      <a:spcPts val="450"/>
                    </a:spcAft>
                  </a:pPr>
                  <a:r>
                    <a:rPr lang="zh-CN" altLang="en-US" sz="1600" b="1">
                      <a:solidFill>
                        <a:srgbClr val="C00000"/>
                      </a:solidFill>
                      <a:latin typeface="+mn-ea"/>
                    </a:rPr>
                    <a:t>集合</a:t>
                  </a:r>
                  <a14:m>
                    <m:oMath xmlns:m="http://schemas.openxmlformats.org/officeDocument/2006/math">
                      <m:r>
                        <a:rPr lang="en-US" altLang="zh-CN" sz="16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sz="1600" b="1">
                      <a:solidFill>
                        <a:srgbClr val="C00000"/>
                      </a:solidFill>
                      <a:latin typeface="+mn-ea"/>
                    </a:rPr>
                    <a:t>到</a:t>
                  </a:r>
                  <a14:m>
                    <m:oMath xmlns:m="http://schemas.openxmlformats.org/officeDocument/2006/math">
                      <m:r>
                        <a:rPr lang="en-US" altLang="zh-CN" sz="16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zh-CN" altLang="en-US" sz="1600" b="1">
                      <a:solidFill>
                        <a:srgbClr val="C00000"/>
                      </a:solidFill>
                      <a:latin typeface="+mn-ea"/>
                    </a:rPr>
                    <a:t>的二元关系</a:t>
                  </a:r>
                  <a14:m>
                    <m:oMath xmlns:m="http://schemas.openxmlformats.org/officeDocument/2006/math"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16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定义为笛卡尔积</a:t>
                  </a:r>
                  <a14:m>
                    <m:oMath xmlns:m="http://schemas.openxmlformats.org/officeDocument/2006/math"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zh-CN" altLang="en-US" sz="16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的子集，即</a:t>
                  </a:r>
                  <a14:m>
                    <m:oMath xmlns:m="http://schemas.openxmlformats.org/officeDocument/2006/math"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endParaRPr lang="en-US" altLang="zh-CN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257175" indent="-257175">
                    <a:spcBef>
                      <a:spcPts val="450"/>
                    </a:spcBef>
                    <a:spcAft>
                      <a:spcPts val="45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1400" b="1">
                      <a:solidFill>
                        <a:schemeClr val="tx2">
                          <a:lumMod val="50000"/>
                        </a:schemeClr>
                      </a:solidFill>
                    </a:rPr>
                    <a:t>当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en-US" altLang="zh-CN" sz="1400" b="1">
                      <a:solidFill>
                        <a:schemeClr val="tx2">
                          <a:lumMod val="50000"/>
                        </a:schemeClr>
                      </a:solidFill>
                    </a:rPr>
                    <a:t> = 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zh-CN" altLang="en-US" sz="1400" b="1">
                      <a:solidFill>
                        <a:schemeClr val="tx2">
                          <a:lumMod val="50000"/>
                        </a:schemeClr>
                      </a:solidFill>
                    </a:rPr>
                    <a:t>时，称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1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altLang="zh-CN" sz="1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1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1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sz="1400" b="1">
                      <a:solidFill>
                        <a:schemeClr val="tx2">
                          <a:lumMod val="50000"/>
                        </a:schemeClr>
                      </a:solidFill>
                    </a:rPr>
                    <a:t>为</a:t>
                  </a:r>
                  <a:r>
                    <a:rPr lang="zh-CN" altLang="en-US" sz="1400" b="1">
                      <a:solidFill>
                        <a:srgbClr val="C00000"/>
                      </a:solidFill>
                      <a:latin typeface="+mn-ea"/>
                    </a:rPr>
                    <a:t>集合</a:t>
                  </a:r>
                  <a14:m>
                    <m:oMath xmlns:m="http://schemas.openxmlformats.org/officeDocument/2006/math">
                      <m:r>
                        <a:rPr lang="en-US" altLang="zh-CN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sz="1400" b="1">
                      <a:solidFill>
                        <a:srgbClr val="C00000"/>
                      </a:solidFill>
                      <a:latin typeface="+mn-ea"/>
                    </a:rPr>
                    <a:t>上的二元关系</a:t>
                  </a:r>
                  <a:endParaRPr lang="en-US" altLang="zh-CN" sz="1600" b="1">
                    <a:solidFill>
                      <a:srgbClr val="C00000"/>
                    </a:solidFill>
                    <a:latin typeface="+mn-ea"/>
                  </a:endParaRPr>
                </a:p>
                <a:p>
                  <a:pPr marL="257175" indent="-257175">
                    <a:spcBef>
                      <a:spcPts val="450"/>
                    </a:spcBef>
                    <a:spcAft>
                      <a:spcPts val="45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1400" b="1">
                      <a:solidFill>
                        <a:schemeClr val="tx2">
                          <a:lumMod val="50000"/>
                        </a:schemeClr>
                      </a:solidFill>
                    </a:rPr>
                    <a:t>对于元素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1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1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1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1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zh-CN" altLang="en-US" sz="1400" b="1">
                      <a:solidFill>
                        <a:schemeClr val="tx2">
                          <a:lumMod val="50000"/>
                        </a:schemeClr>
                      </a:solidFill>
                    </a:rPr>
                    <a:t>，</a:t>
                  </a:r>
                  <a:endParaRPr lang="zh-CN" altLang="en-US" sz="1400" b="1">
                    <a:solidFill>
                      <a:schemeClr val="tx2">
                        <a:lumMod val="50000"/>
                      </a:schemeClr>
                    </a:solidFill>
                  </a:endParaRPr>
                </a:p>
                <a:p>
                  <a:pPr marL="600075" lvl="1" indent="-257175">
                    <a:spcBef>
                      <a:spcPts val="450"/>
                    </a:spcBef>
                    <a:spcAft>
                      <a:spcPts val="45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14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若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𝒃</m:t>
                          </m:r>
                        </m:e>
                      </m:d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∈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𝑹</m:t>
                      </m:r>
                    </m:oMath>
                  </a14:m>
                  <a:r>
                    <a:rPr lang="zh-CN" altLang="en-US" sz="14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，则称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𝒂</m:t>
                      </m:r>
                    </m:oMath>
                  </a14:m>
                  <a:r>
                    <a:rPr lang="zh-CN" altLang="en-US" sz="14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𝒃</m:t>
                      </m:r>
                    </m:oMath>
                  </a14:m>
                  <a:r>
                    <a:rPr lang="zh-CN" altLang="en-US" sz="14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有关系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𝑹</m:t>
                      </m:r>
                    </m:oMath>
                  </a14:m>
                  <a:r>
                    <a:rPr lang="zh-CN" altLang="en-US" sz="14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，有时简记为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𝒂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𝑹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𝒃</m:t>
                      </m:r>
                    </m:oMath>
                  </a14:m>
                  <a:endParaRPr lang="en-US" altLang="zh-CN" sz="14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600075" lvl="1" indent="-257175">
                    <a:spcBef>
                      <a:spcPts val="450"/>
                    </a:spcBef>
                    <a:spcAft>
                      <a:spcPts val="45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14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若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𝒃</m:t>
                          </m:r>
                        </m:e>
                      </m:d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∉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𝑹</m:t>
                      </m:r>
                    </m:oMath>
                  </a14:m>
                  <a:r>
                    <a:rPr lang="zh-CN" altLang="en-US" sz="14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，则称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𝒂</m:t>
                      </m:r>
                    </m:oMath>
                  </a14:m>
                  <a:r>
                    <a:rPr lang="zh-CN" altLang="en-US" sz="14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𝒃</m:t>
                      </m:r>
                    </m:oMath>
                  </a14:m>
                  <a:r>
                    <a:rPr lang="zh-CN" altLang="en-US" sz="1400" b="1">
                      <a:solidFill>
                        <a:srgbClr val="C0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没有</a:t>
                  </a:r>
                  <a:r>
                    <a:rPr lang="zh-CN" altLang="en-US" sz="14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关系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𝑹</m:t>
                      </m:r>
                    </m:oMath>
                  </a14:m>
                  <a:r>
                    <a:rPr lang="zh-CN" altLang="en-US" sz="14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，有时简记为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𝒂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𝑹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𝒃</m:t>
                      </m:r>
                    </m:oMath>
                  </a14:m>
                  <a:endParaRPr lang="zh-CN" altLang="en-US" sz="14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4094" y="1103964"/>
                  <a:ext cx="8266876" cy="2783668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接连接符 9"/>
            <p:cNvCxnSpPr/>
            <p:nvPr/>
          </p:nvCxnSpPr>
          <p:spPr>
            <a:xfrm flipH="1">
              <a:off x="7582391" y="3546175"/>
              <a:ext cx="164461" cy="223667"/>
            </a:xfrm>
            <a:prstGeom prst="line">
              <a:avLst/>
            </a:prstGeom>
            <a:grpFill/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652873" y="3148586"/>
                <a:ext cx="6277839" cy="136960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600" b="1">
                    <a:solidFill>
                      <a:srgbClr val="C00000"/>
                    </a:solidFill>
                  </a:rPr>
                  <a:t>一些特殊的关系（下面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</a:rPr>
                  <a:t>是任意集合）</a:t>
                </a:r>
                <a:endParaRPr lang="en-US" altLang="zh-CN" sz="1600" b="1">
                  <a:solidFill>
                    <a:srgbClr val="C00000"/>
                  </a:solidFill>
                </a:endParaRPr>
              </a:p>
              <a:p>
                <a:pPr marL="214630" indent="-214630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笛卡尔积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空关系</a:t>
                </a:r>
                <a:endParaRPr lang="zh-CN" altLang="en-US" sz="1400" b="1">
                  <a:solidFill>
                    <a:srgbClr val="C00000"/>
                  </a:solidFill>
                  <a:latin typeface="+mn-ea"/>
                </a:endParaRPr>
              </a:p>
              <a:p>
                <a:pPr marL="214630" indent="-214630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笛卡尔积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全关系</a:t>
                </a:r>
                <a:endParaRPr lang="zh-CN" altLang="en-US" sz="1400" b="1">
                  <a:solidFill>
                    <a:srgbClr val="C00000"/>
                  </a:solidFill>
                  <a:latin typeface="+mn-ea"/>
                </a:endParaRPr>
              </a:p>
              <a:p>
                <a:pPr marL="214630" indent="-214630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笛卡尔积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sz="1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lit/>
                      </m:rP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m:rPr>
                        <m:lit/>
                      </m:rP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⟩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</a:t>
                </a: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恒等关系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，或</a:t>
                </a: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对角关系</a:t>
                </a:r>
                <a:endParaRPr lang="zh-CN" altLang="en-US" sz="14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73" y="3148586"/>
                <a:ext cx="6277839" cy="1369606"/>
              </a:xfrm>
              <a:prstGeom prst="rect">
                <a:avLst/>
              </a:prstGeom>
              <a:blipFill rotWithShape="1">
                <a:blip r:embed="rId2"/>
                <a:stretch>
                  <a:fillRect l="-1" t="-19" r="5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5480065" y="3635010"/>
                <a:ext cx="2704552" cy="5232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>
                    <a:solidFill>
                      <a:schemeClr val="bg2">
                        <a:lumMod val="1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1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={</m:t>
                    </m:r>
                    <m:r>
                      <a:rPr lang="en-US" altLang="zh-CN" sz="1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1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1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1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1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1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𝒅</m:t>
                    </m:r>
                    <m:r>
                      <a:rPr lang="en-US" altLang="zh-CN" sz="1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en-US" altLang="zh-CN" sz="14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1400" b="1">
                    <a:solidFill>
                      <a:schemeClr val="bg2">
                        <a:lumMod val="1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:r>
                  <a:rPr lang="en-US" altLang="zh-CN" sz="1400" b="1">
                    <a:solidFill>
                      <a:schemeClr val="bg2">
                        <a:lumMod val="1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endParaRPr lang="en-US" altLang="zh-CN" sz="1400" b="1">
                  <a:solidFill>
                    <a:schemeClr val="bg2">
                      <a:lumMod val="1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𝚫</m:t>
                          </m:r>
                        </m:e>
                        <m:sub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𝑨</m:t>
                          </m:r>
                        </m:sub>
                      </m:sSub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m:rPr>
                              <m:lit/>
                            </m:rP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m:rPr>
                              <m:lit/>
                            </m:rP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lit/>
                            </m:rP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m:rPr>
                              <m:lit/>
                            </m:rP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lit/>
                            </m:rP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m:rPr>
                              <m:lit/>
                            </m:rP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lit/>
                            </m:rP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m:rPr>
                              <m:lit/>
                            </m:rP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</m:oMath>
                  </m:oMathPara>
                </a14:m>
                <a:endParaRPr lang="zh-CN" alt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065" y="3635010"/>
                <a:ext cx="2704552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1" t="-52" r="4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关系的定义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F4E3BB26-CDF5-4CCD-B374-ED15B0FDBC1F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42913" y="747713"/>
            <a:ext cx="8258175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等价关系、等价类与商集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171D4BC5-4D92-4FBA-8F06-5B5B8E710315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02055" y="1091853"/>
                <a:ext cx="7043596" cy="3385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非空集合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上的</a:t>
                </a:r>
                <a:r>
                  <a:rPr lang="zh-CN" altLang="en-US" sz="1600" b="1">
                    <a:solidFill>
                      <a:srgbClr val="C00000"/>
                    </a:solidFill>
                  </a:rPr>
                  <a:t>等价关系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是集合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上同时满足</a:t>
                </a:r>
                <a:r>
                  <a:rPr lang="zh-CN" altLang="en-US" sz="1600" b="1">
                    <a:solidFill>
                      <a:srgbClr val="C00000"/>
                    </a:solidFill>
                  </a:rPr>
                  <a:t>自反性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、</a:t>
                </a:r>
                <a:r>
                  <a:rPr lang="zh-CN" altLang="en-US" sz="1600" b="1">
                    <a:solidFill>
                      <a:srgbClr val="C00000"/>
                    </a:solidFill>
                  </a:rPr>
                  <a:t>对称性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:r>
                  <a:rPr lang="zh-CN" altLang="en-US" sz="1600" b="1">
                    <a:solidFill>
                      <a:srgbClr val="C00000"/>
                    </a:solidFill>
                  </a:rPr>
                  <a:t>传递性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的关系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55" y="1091853"/>
                <a:ext cx="7043596" cy="338554"/>
              </a:xfrm>
              <a:prstGeom prst="rect">
                <a:avLst/>
              </a:prstGeom>
              <a:blipFill rotWithShape="1">
                <a:blip r:embed="rId1"/>
                <a:stretch>
                  <a:fillRect l="-1" t="-85" r="4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602055" y="2043758"/>
                <a:ext cx="4153313" cy="198259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450"/>
                  </a:spcBef>
                  <a:spcAft>
                    <a:spcPts val="900"/>
                  </a:spcAft>
                </a:pPr>
                <a:r>
                  <a:rPr lang="zh-CN" altLang="en-US" sz="1600" b="1">
                    <a:solidFill>
                      <a:srgbClr val="C00000"/>
                    </a:solidFill>
                  </a:rPr>
                  <a:t>等价类</a:t>
                </a:r>
                <a:r>
                  <a:rPr lang="en-US" altLang="zh-CN" sz="1600" b="1">
                    <a:solidFill>
                      <a:srgbClr val="C00000"/>
                    </a:solidFill>
                  </a:rPr>
                  <a:t>(equivalence class)</a:t>
                </a:r>
                <a:endParaRPr lang="en-US" altLang="zh-CN" sz="16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是非空集合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上的等价关系</a:t>
                </a:r>
                <a:endParaRPr lang="zh-CN" altLang="en-US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400" b="1">
                    <a:solidFill>
                      <a:schemeClr val="accent6">
                        <a:lumMod val="50000"/>
                      </a:schemeClr>
                    </a:solidFill>
                  </a:rPr>
                  <a:t>∀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sz="1400" b="1">
                    <a:solidFill>
                      <a:schemeClr val="accent6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所在的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rgbClr val="C00000"/>
                    </a:solidFill>
                  </a:rPr>
                  <a:t>等价类</a:t>
                </a:r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1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altLang="zh-CN" sz="1400" b="1">
                    <a:solidFill>
                      <a:schemeClr val="accent6">
                        <a:lumMod val="50000"/>
                      </a:schemeClr>
                    </a:solidFill>
                  </a:rPr>
                  <a:t>, </a:t>
                </a:r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定义为：</a:t>
                </a:r>
                <a:endParaRPr lang="en-US" altLang="zh-CN" sz="14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  <m:sub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m:rPr>
                          <m:lit/>
                        </m:rP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600075" lvl="1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2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即对任意</a:t>
                </a:r>
                <a14:m>
                  <m:oMath xmlns:m="http://schemas.openxmlformats.org/officeDocument/2006/math">
                    <m:r>
                      <a:rPr lang="en-US" altLang="zh-CN" sz="12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2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2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sz="12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2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2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12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2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12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12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2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2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2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2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2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altLang="zh-CN" sz="1200" b="1">
                  <a:solidFill>
                    <a:schemeClr val="tx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600075" lvl="1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2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2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的每个元素所在的</a:t>
                </a:r>
                <a:r>
                  <a:rPr lang="zh-CN" altLang="en-US" sz="1200" b="1">
                    <a:solidFill>
                      <a:srgbClr val="C00000"/>
                    </a:solidFill>
                    <a:latin typeface="+mn-ea"/>
                  </a:rPr>
                  <a:t>等价类都是一个集合</a:t>
                </a:r>
                <a:endParaRPr lang="zh-CN" altLang="en-US" sz="12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55" y="2043758"/>
                <a:ext cx="4153313" cy="1982594"/>
              </a:xfrm>
              <a:prstGeom prst="rect">
                <a:avLst/>
              </a:prstGeom>
              <a:blipFill rotWithShape="1">
                <a:blip r:embed="rId2"/>
                <a:stretch>
                  <a:fillRect l="-2" t="-17" r="12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5186003" y="1924955"/>
                <a:ext cx="3294230" cy="235705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450"/>
                  </a:spcBef>
                  <a:spcAft>
                    <a:spcPts val="900"/>
                  </a:spcAft>
                </a:pPr>
                <a:r>
                  <a:rPr lang="zh-CN" altLang="en-US" sz="1600" b="1">
                    <a:solidFill>
                      <a:srgbClr val="C00000"/>
                    </a:solidFill>
                  </a:rPr>
                  <a:t>商集</a:t>
                </a:r>
                <a:r>
                  <a:rPr lang="en-US" altLang="zh-CN" sz="1600" b="1">
                    <a:solidFill>
                      <a:srgbClr val="C00000"/>
                    </a:solidFill>
                  </a:rPr>
                  <a:t>(quotient set)</a:t>
                </a:r>
                <a:endParaRPr lang="en-US" altLang="zh-CN" sz="16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是非空集合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上的等价关系</a:t>
                </a:r>
                <a:endParaRPr lang="zh-CN" altLang="en-US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lnSpc>
                    <a:spcPts val="225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的所有等价类构成的集合称为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关于等价</a:t>
                </a:r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关系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商集</a:t>
                </a:r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，即</a:t>
                </a:r>
                <a:endParaRPr lang="en-US" altLang="zh-CN" sz="14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  <m:sub>
                          <m:r>
                            <a:rPr lang="en-US" altLang="zh-CN" sz="1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m:rPr>
                          <m:lit/>
                        </m:rPr>
                        <a:rPr lang="en-US" altLang="zh-CN" sz="1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557530" lvl="1" indent="-214630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2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注意</a:t>
                </a:r>
                <a14:m>
                  <m:oMath xmlns:m="http://schemas.openxmlformats.org/officeDocument/2006/math">
                    <m:r>
                      <a:rPr lang="en-US" altLang="zh-CN" sz="12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12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/</m:t>
                    </m:r>
                    <m:r>
                      <a:rPr lang="en-US" altLang="zh-CN" sz="12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12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是集合的集合，即</a:t>
                </a:r>
                <a:r>
                  <a:rPr lang="zh-CN" altLang="en-US" sz="1200" b="1">
                    <a:solidFill>
                      <a:srgbClr val="C00000"/>
                    </a:solidFill>
                    <a:latin typeface="+mn-ea"/>
                  </a:rPr>
                  <a:t>集合族</a:t>
                </a:r>
                <a:endParaRPr lang="zh-CN" altLang="en-US" sz="1200" b="1">
                  <a:solidFill>
                    <a:srgbClr val="C00000"/>
                  </a:solidFill>
                  <a:latin typeface="+mn-ea"/>
                </a:endParaRPr>
              </a:p>
              <a:p>
                <a:pPr marL="557530" lvl="1" indent="-214630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2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注意要剔除重复的等价类</a:t>
                </a:r>
                <a:endParaRPr lang="en-US" altLang="zh-CN" sz="1200" b="1">
                  <a:solidFill>
                    <a:schemeClr val="tx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003" y="1924955"/>
                <a:ext cx="3294230" cy="2357056"/>
              </a:xfrm>
              <a:prstGeom prst="rect">
                <a:avLst/>
              </a:prstGeom>
              <a:blipFill rotWithShape="1">
                <a:blip r:embed="rId3"/>
                <a:stretch>
                  <a:fillRect l="-18" t="-11" r="13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等价关系与划分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F595FCD7-2245-42BD-838D-0178371CD05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727757" y="844263"/>
                <a:ext cx="7243459" cy="210826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900"/>
                  </a:spcAft>
                </a:pPr>
                <a:r>
                  <a:rPr lang="zh-CN" altLang="en-US" sz="1600" b="1">
                    <a:solidFill>
                      <a:srgbClr val="C00000"/>
                    </a:solidFill>
                  </a:rPr>
                  <a:t>集合的划分</a:t>
                </a:r>
                <a:r>
                  <a:rPr lang="en-US" altLang="zh-CN" sz="1600" b="1">
                    <a:solidFill>
                      <a:srgbClr val="C00000"/>
                    </a:solidFill>
                  </a:rPr>
                  <a:t>(partition)</a:t>
                </a:r>
                <a:endParaRPr lang="en-US" altLang="zh-CN" sz="16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是非空集合，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集合族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，其中每个集合都是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的子集。说集合族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的划分，如果：</a:t>
                </a:r>
                <a:endParaRPr lang="zh-CN" altLang="en-US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C00000"/>
                    </a:solidFill>
                  </a:rPr>
                  <a:t>非空</a:t>
                </a:r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：对任意的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endParaRPr lang="en-US" altLang="zh-CN" sz="14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C00000"/>
                    </a:solidFill>
                  </a:rPr>
                  <a:t>两两不交</a:t>
                </a:r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：对任意两个集合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1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altLang="zh-CN" sz="14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C00000"/>
                    </a:solidFill>
                  </a:rPr>
                  <a:t>覆盖集合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⋃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𝓕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zh-CN" sz="14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非空集合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的划分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𝓕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中的每个集合称为这个划分的一个</a:t>
                </a: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划分块</a:t>
                </a:r>
                <a:r>
                  <a:rPr lang="en-US" altLang="zh-CN" sz="1400" b="1">
                    <a:solidFill>
                      <a:srgbClr val="C00000"/>
                    </a:solidFill>
                    <a:latin typeface="+mn-ea"/>
                  </a:rPr>
                  <a:t>(block)</a:t>
                </a:r>
                <a:endParaRPr lang="en-US" altLang="zh-CN" sz="14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57" y="844263"/>
                <a:ext cx="7243459" cy="2108269"/>
              </a:xfrm>
              <a:prstGeom prst="rect">
                <a:avLst/>
              </a:prstGeom>
              <a:blipFill rotWithShape="1">
                <a:blip r:embed="rId1"/>
                <a:stretch>
                  <a:fillRect l="-1" t="-17" r="1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727757" y="3090234"/>
                <a:ext cx="7637010" cy="143936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450"/>
                  </a:spcBef>
                  <a:spcAft>
                    <a:spcPts val="675"/>
                  </a:spcAft>
                </a:pPr>
                <a:r>
                  <a:rPr lang="zh-CN" altLang="en-US" sz="1600" b="1">
                    <a:solidFill>
                      <a:srgbClr val="C00000"/>
                    </a:solidFill>
                  </a:rPr>
                  <a:t>非空集合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</a:rPr>
                  <a:t>上的等价关系与它的划分有一一对应关系</a:t>
                </a:r>
                <a:endParaRPr lang="zh-CN" altLang="en-US" sz="16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关于一个等价关系的</a:t>
                </a: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商集是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的划分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的一个划分导出的</a:t>
                </a: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“在同一划分块”关系是等价关系</a:t>
                </a:r>
                <a:endParaRPr lang="zh-CN" altLang="en-US" sz="1400" b="1">
                  <a:solidFill>
                    <a:srgbClr val="C00000"/>
                  </a:solidFill>
                  <a:latin typeface="+mn-ea"/>
                </a:endParaRPr>
              </a:p>
              <a:p>
                <a:pPr marL="257175" indent="-257175">
                  <a:lnSpc>
                    <a:spcPts val="225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进一步，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关于“在同一划分块”这个等价关系的商集就是这个划分，而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关于等价关系的商集作为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的划分所导出的“在同一划分块”关系就是这个等价关系本身</a:t>
                </a:r>
                <a:endParaRPr lang="zh-CN" altLang="en-US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57" y="3090234"/>
                <a:ext cx="7637010" cy="1439368"/>
              </a:xfrm>
              <a:prstGeom prst="rect">
                <a:avLst/>
              </a:prstGeom>
              <a:blipFill rotWithShape="1">
                <a:blip r:embed="rId2"/>
                <a:stretch>
                  <a:fillRect l="-1" t="-23" r="7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同余关系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F595FCD7-2245-42BD-838D-0178371CD05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93251" y="877582"/>
                <a:ext cx="7757492" cy="329070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是正整数（通常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），在整数集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上定义关系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altLang="zh-CN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是等价关系，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通常记为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，读做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同余，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同余关系</a:t>
                </a: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，简称</a:t>
                </a:r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同余关系</a:t>
                </a:r>
                <a:endParaRPr lang="zh-CN" altLang="en-US" sz="1600" b="1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对任意整数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altLang="zh-CN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下的等价类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称为整数集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的一个（与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同余的）</a:t>
                </a:r>
                <a:r>
                  <a:rPr lang="zh-CN" altLang="en-US" sz="1600" b="1">
                    <a:solidFill>
                      <a:srgbClr val="C00000"/>
                    </a:solidFill>
                    <a:latin typeface="+mn-ea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+mn-ea"/>
                  </a:rPr>
                  <a:t>剩余类</a:t>
                </a: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，并记为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，商集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lang="en-US" altLang="zh-CN" sz="1600" b="1" i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6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6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US" altLang="zh-CN" sz="16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sepChr m:val="∣"/>
                          <m:endChr m:val="}"/>
                          <m:ctrlP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e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≡</m:t>
                          </m:r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d>
                            <m:dPr>
                              <m:ctrlPr>
                                <a:rPr lang="en-US" altLang="zh-CN" sz="16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16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6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</m:d>
                        </m:e>
                      </m:d>
                      <m:r>
                        <a:rPr lang="en-US" altLang="zh-CN" sz="16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sepChr m:val="∣"/>
                          <m:endChr m:val="}"/>
                          <m:ctrlP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e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e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altLang="zh-CN" sz="16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sepChr m:val="∣"/>
                          <m:endChr m:val="}"/>
                          <m:ctrlP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𝒎𝒛</m:t>
                          </m:r>
                        </m:e>
                        <m:e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ℤ</m:t>
                          </m:r>
                          <m:r>
                            <a:rPr lang="en-US" altLang="zh-CN" sz="16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altLang="zh-CN" sz="16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acc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16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acc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⋯,</m:t>
                        </m:r>
                        <m: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16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d>
                              <m:dPr>
                                <m:ctrlPr>
                                  <a:rPr lang="en-US" altLang="zh-CN" sz="16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US" altLang="zh-CN" sz="16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</m:acc>
                      </m:e>
                    </m:d>
                  </m:oMath>
                </a14:m>
                <a:r>
                  <a:rPr lang="en-US" altLang="zh-CN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, </a:t>
                </a: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有时直接记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⋯, 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altLang="zh-CN" sz="16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257175" indent="-257175">
                  <a:lnSpc>
                    <a:spcPts val="24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不难证明，对任意整数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，则有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𝒃𝒅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endParaRPr lang="en-US" altLang="zh-CN" sz="16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251" y="877582"/>
                <a:ext cx="7757492" cy="3290709"/>
              </a:xfrm>
              <a:prstGeom prst="rect">
                <a:avLst/>
              </a:prstGeom>
              <a:blipFill rotWithShape="1">
                <a:blip r:embed="rId1"/>
                <a:stretch>
                  <a:fillRect l="-6" r="2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693251" y="4393677"/>
            <a:ext cx="3230218" cy="30777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F0F7EC"/>
                </a:solidFill>
              </a:rPr>
              <a:t>下一讲将对整数整除与同余做更多讨论</a:t>
            </a:r>
            <a:endParaRPr lang="zh-CN" altLang="en-US" sz="1400" b="1">
              <a:solidFill>
                <a:srgbClr val="F0F7E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等价关系练习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C425B289-DD82-4EA4-8D2D-0B513C3DEB33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69924" y="913740"/>
                <a:ext cx="7804141" cy="68499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在有理数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上定义关系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是整数，证明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是等价关系，并给出所有的等价类，以及商集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24" y="913740"/>
                <a:ext cx="7804141" cy="684996"/>
              </a:xfrm>
              <a:prstGeom prst="rect">
                <a:avLst/>
              </a:prstGeom>
              <a:blipFill rotWithShape="1">
                <a:blip r:embed="rId1"/>
                <a:stretch>
                  <a:fillRect l="-8" t="-89" r="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669924" y="1794012"/>
                <a:ext cx="7804141" cy="22849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24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是自反的，因为对任意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ℚ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𝟎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是整数，因此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。对任意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ℚ</m:t>
                    </m:r>
                  </m:oMath>
                </a14:m>
                <a:r>
                  <a:rPr lang="en-US" altLang="zh-CN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是整数，从而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也是整数，因此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是对称的。对任意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ℚ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是整数，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是整数，则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也是整数，因此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是传递的，综上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是等价关系。</a:t>
                </a:r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4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对每个有理数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en-US" altLang="zh-CN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记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是不大于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的最大整数，则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 </m:t>
                        </m:r>
                        <m:d>
                          <m:dPr>
                            <m:begChr m:val="⌊"/>
                            <m:endChr m:val="⌋"/>
                            <m:ctrlPr>
                              <a:rPr lang="en-US" altLang="zh-CN" sz="1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</m:e>
                        </m:d>
                      </m:e>
                    </m:d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 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是整数，因此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sSub>
                      <m:sSubPr>
                        <m:ctrlP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  <m:r>
                              <a:rPr lang="en-US" altLang="zh-CN" sz="1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d>
                              <m:dPr>
                                <m:begChr m:val="⌊"/>
                                <m:endChr m:val="⌋"/>
                                <m:ctrlPr>
                                  <a:rPr lang="en-US" altLang="zh-CN" sz="1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𝒂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，由于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𝟎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，因此大于等于</a:t>
                </a:r>
                <a:r>
                  <a:rPr lang="en-US" altLang="zh-CN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小于</a:t>
                </a:r>
                <a:r>
                  <a:rPr lang="en-US" altLang="zh-CN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的有理数可作为每个等价类的代表，即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ℚ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/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 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𝒓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𝑹</m:t>
                            </m:r>
                          </m:sub>
                        </m:sSub>
                      </m:e>
                      <m:e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𝟎</m:t>
                        </m:r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≤</m:t>
                        </m:r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𝒓</m:t>
                        </m:r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&lt;</m:t>
                        </m:r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，而对任意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𝟎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𝒓</m:t>
                            </m:r>
                          </m:e>
                        </m:d>
                      </m:e>
                      <m:sub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sub>
                    </m:sSub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𝒓</m:t>
                        </m:r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𝒛</m:t>
                        </m:r>
                      </m:e>
                      <m:e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𝒛</m:t>
                        </m:r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∈</m:t>
                        </m:r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</m:d>
                  </m:oMath>
                </a14:m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24" y="1794012"/>
                <a:ext cx="7804141" cy="2284984"/>
              </a:xfrm>
              <a:prstGeom prst="rect">
                <a:avLst/>
              </a:prstGeom>
              <a:blipFill rotWithShape="1">
                <a:blip r:embed="rId2"/>
                <a:stretch>
                  <a:fillRect l="-8" t="-6" r="8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69924" y="4283761"/>
                <a:ext cx="7804141" cy="30777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有理数加法和乘法保持这个关系吗？即若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，是否有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，以及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𝒃𝒅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？</a:t>
                </a:r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24" y="4283761"/>
                <a:ext cx="7804141" cy="307777"/>
              </a:xfrm>
              <a:prstGeom prst="rect">
                <a:avLst/>
              </a:prstGeom>
              <a:blipFill rotWithShape="1">
                <a:blip r:embed="rId3"/>
                <a:stretch>
                  <a:fillRect l="-8" t="-17" r="8" b="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函数的基本概念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EBACECD5-D7A9-484D-BBD9-874BF714C2D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872327" y="910855"/>
                <a:ext cx="7399339" cy="65280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300"/>
                  </a:lnSpc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，是笛卡尔积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×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的子集，且满足：对任意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，都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有且只有唯一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1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1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27" y="910855"/>
                <a:ext cx="7399339" cy="652807"/>
              </a:xfrm>
              <a:prstGeom prst="rect">
                <a:avLst/>
              </a:prstGeom>
              <a:blipFill rotWithShape="1">
                <a:blip r:embed="rId1"/>
                <a:stretch>
                  <a:fillRect l="-6" t="-41" r="2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872327" y="1829165"/>
                <a:ext cx="6413056" cy="206511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对于函数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，称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定义域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，或简称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域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陪域</a:t>
                </a:r>
                <a:endParaRPr lang="en-US" altLang="zh-CN" sz="1500" b="1">
                  <a:solidFill>
                    <a:srgbClr val="C00000"/>
                  </a:solidFill>
                  <a:latin typeface="+mn-ea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⊆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下的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像集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，定义为：</a:t>
                </a:r>
                <a:endParaRPr lang="zh-CN" altLang="en-US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d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∣∃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altLang="zh-CN" sz="15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714375" lvl="1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特别地，称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为函数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值域</a:t>
                </a:r>
                <a:r>
                  <a:rPr lang="en-US" altLang="zh-CN" sz="1500" b="1">
                    <a:solidFill>
                      <a:schemeClr val="accent6">
                        <a:lumMod val="50000"/>
                      </a:schemeClr>
                    </a:solidFill>
                  </a:rPr>
                  <a:t>(range)</a:t>
                </a: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，有时也记为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𝐫𝐚𝐧</m:t>
                    </m:r>
                    <m:r>
                      <a:rPr lang="en-US" altLang="zh-CN" sz="15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5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5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500" b="1">
                  <a:solidFill>
                    <a:srgbClr val="C00000"/>
                  </a:solidFill>
                  <a:latin typeface="+mn-ea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𝑻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⊆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𝑻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下的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逆像集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，也称为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原像集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5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altLang="zh-CN" sz="15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5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5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5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sz="15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，定义为：</a:t>
                </a:r>
                <a:endParaRPr lang="zh-CN" altLang="en-US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d>
                        <m:dPr>
                          <m:ctrlP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m:rPr>
                          <m:lit/>
                        </m:rP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⊆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altLang="zh-CN" sz="1500" b="1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27" y="1829165"/>
                <a:ext cx="6413056" cy="2065117"/>
              </a:xfrm>
              <a:prstGeom prst="rect">
                <a:avLst/>
              </a:prstGeom>
              <a:blipFill rotWithShape="1">
                <a:blip r:embed="rId2"/>
                <a:stretch>
                  <a:fillRect l="-7" t="-18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872327" y="4067414"/>
                <a:ext cx="6899092" cy="32842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5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5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sz="15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500" b="1">
                    <a:solidFill>
                      <a:schemeClr val="accent2">
                        <a:lumMod val="50000"/>
                      </a:schemeClr>
                    </a:solidFill>
                  </a:rPr>
                  <a:t>是一个整体记号，对任意函数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1500" b="1">
                    <a:solidFill>
                      <a:schemeClr val="accent2">
                        <a:lumMod val="50000"/>
                      </a:schemeClr>
                    </a:solidFill>
                  </a:rPr>
                  <a:t>都适用，不意味着函数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1500" b="1">
                    <a:solidFill>
                      <a:schemeClr val="accent2">
                        <a:lumMod val="50000"/>
                      </a:schemeClr>
                    </a:solidFill>
                  </a:rPr>
                  <a:t>必然有逆函数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en-US" altLang="zh-CN" sz="15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27" y="4067414"/>
                <a:ext cx="6899092" cy="328423"/>
              </a:xfrm>
              <a:prstGeom prst="rect">
                <a:avLst/>
              </a:prstGeom>
              <a:blipFill rotWithShape="1">
                <a:blip r:embed="rId3"/>
                <a:stretch>
                  <a:fillRect l="-7" t="-73" r="4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单函数、满函数和双函数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2E66A71-0DA3-4D4F-9ED1-B8B907214104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738540" y="1005698"/>
                <a:ext cx="7666909" cy="19737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100"/>
                  </a:lnSpc>
                  <a:spcBef>
                    <a:spcPts val="300"/>
                  </a:spcBef>
                  <a:spcAft>
                    <a:spcPts val="150"/>
                  </a:spcAft>
                </a:pP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单函数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，若对任意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altLang="zh-CN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也即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∀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≠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d>
                      <m:dPr>
                        <m:ctrlPr>
                          <a:rPr lang="en-US" altLang="zh-CN" sz="1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</m:d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≠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d>
                      <m:dPr>
                        <m:ctrlPr>
                          <a:rPr lang="en-US" altLang="zh-CN" sz="1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𝒚</m:t>
                        </m:r>
                      </m:e>
                    </m:d>
                  </m:oMath>
                </a14:m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lnSpc>
                    <a:spcPts val="2100"/>
                  </a:lnSpc>
                  <a:spcBef>
                    <a:spcPts val="300"/>
                  </a:spcBef>
                  <a:spcAft>
                    <a:spcPts val="1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200" b="1">
                    <a:solidFill>
                      <a:schemeClr val="accent6">
                        <a:lumMod val="50000"/>
                      </a:schemeClr>
                    </a:solidFill>
                  </a:rPr>
                  <a:t>陪域</a:t>
                </a:r>
                <a14:m>
                  <m:oMath xmlns:m="http://schemas.openxmlformats.org/officeDocument/2006/math">
                    <m:r>
                      <a:rPr lang="en-US" altLang="zh-CN" sz="12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2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200" b="1">
                    <a:solidFill>
                      <a:srgbClr val="C00000"/>
                    </a:solidFill>
                    <a:latin typeface="+mn-ea"/>
                  </a:rPr>
                  <a:t>每个元素至多有定义域的一个元素与之对应，</a:t>
                </a:r>
                <a:r>
                  <a:rPr lang="zh-CN" altLang="en-US" sz="1200" b="1">
                    <a:solidFill>
                      <a:schemeClr val="accent6">
                        <a:lumMod val="50000"/>
                      </a:schemeClr>
                    </a:solidFill>
                  </a:rPr>
                  <a:t>单函数也称为</a:t>
                </a:r>
                <a:r>
                  <a:rPr lang="zh-CN" altLang="en-US" sz="1200" b="1">
                    <a:solidFill>
                      <a:srgbClr val="C00000"/>
                    </a:solidFill>
                    <a:latin typeface="+mn-ea"/>
                  </a:rPr>
                  <a:t>一对一</a:t>
                </a:r>
                <a:r>
                  <a:rPr lang="en-US" altLang="zh-CN" sz="1200" b="1">
                    <a:solidFill>
                      <a:schemeClr val="accent6">
                        <a:lumMod val="50000"/>
                      </a:schemeClr>
                    </a:solidFill>
                  </a:rPr>
                  <a:t>(one-to-one)</a:t>
                </a:r>
                <a:r>
                  <a:rPr lang="zh-CN" altLang="en-US" sz="1200" b="1">
                    <a:solidFill>
                      <a:schemeClr val="accent6">
                        <a:lumMod val="50000"/>
                      </a:schemeClr>
                    </a:solidFill>
                  </a:rPr>
                  <a:t>函数</a:t>
                </a:r>
                <a:endParaRPr lang="en-US" altLang="zh-CN" sz="12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lnSpc>
                    <a:spcPts val="2100"/>
                  </a:lnSpc>
                  <a:spcBef>
                    <a:spcPts val="300"/>
                  </a:spcBef>
                  <a:spcAft>
                    <a:spcPts val="150"/>
                  </a:spcAft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说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满函数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，如果对任意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，都存在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d>
                      <m:dPr>
                        <m:ctrlPr>
                          <a:rPr lang="en-US" altLang="zh-CN" sz="1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</m:d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 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，也即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𝐫𝐚𝐧</m:t>
                    </m:r>
                    <m:d>
                      <m:dPr>
                        <m:ctrlPr>
                          <a:rPr lang="en-US" altLang="zh-CN" sz="1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𝒇</m:t>
                        </m:r>
                      </m:e>
                    </m:d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 </m:t>
                    </m:r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lnSpc>
                    <a:spcPts val="2100"/>
                  </a:lnSpc>
                  <a:spcBef>
                    <a:spcPts val="300"/>
                  </a:spcBef>
                  <a:spcAft>
                    <a:spcPts val="1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200" b="1">
                    <a:solidFill>
                      <a:schemeClr val="accent6">
                        <a:lumMod val="50000"/>
                      </a:schemeClr>
                    </a:solidFill>
                  </a:rPr>
                  <a:t>陪域</a:t>
                </a:r>
                <a14:m>
                  <m:oMath xmlns:m="http://schemas.openxmlformats.org/officeDocument/2006/math">
                    <m:r>
                      <a:rPr lang="en-US" altLang="zh-CN" sz="12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2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200" b="1">
                    <a:solidFill>
                      <a:srgbClr val="C00000"/>
                    </a:solidFill>
                    <a:latin typeface="+mn-ea"/>
                  </a:rPr>
                  <a:t>每个元素至少有定义域的一个元素与之对应，</a:t>
                </a:r>
                <a:r>
                  <a:rPr lang="zh-CN" altLang="en-US" sz="1200" b="1">
                    <a:solidFill>
                      <a:schemeClr val="accent6">
                        <a:lumMod val="50000"/>
                      </a:schemeClr>
                    </a:solidFill>
                  </a:rPr>
                  <a:t>满函数也称为</a:t>
                </a:r>
                <a:r>
                  <a:rPr lang="zh-CN" altLang="en-US" sz="1200" b="1">
                    <a:solidFill>
                      <a:srgbClr val="C00000"/>
                    </a:solidFill>
                    <a:latin typeface="+mn-ea"/>
                  </a:rPr>
                  <a:t>映上</a:t>
                </a:r>
                <a:r>
                  <a:rPr lang="en-US" altLang="zh-CN" sz="1200" b="1">
                    <a:solidFill>
                      <a:schemeClr val="accent6">
                        <a:lumMod val="50000"/>
                      </a:schemeClr>
                    </a:solidFill>
                  </a:rPr>
                  <a:t>(onto)</a:t>
                </a:r>
                <a:r>
                  <a:rPr lang="zh-CN" altLang="en-US" sz="1200" b="1">
                    <a:solidFill>
                      <a:schemeClr val="accent6">
                        <a:lumMod val="50000"/>
                      </a:schemeClr>
                    </a:solidFill>
                  </a:rPr>
                  <a:t>函数</a:t>
                </a:r>
                <a:endParaRPr lang="en-US" altLang="zh-CN" sz="12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450"/>
                  </a:spcBef>
                  <a:spcAft>
                    <a:spcPts val="225"/>
                  </a:spcAft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说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是双函数，如果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既是单函数又是满函数</a:t>
                </a:r>
                <a:endParaRPr lang="zh-CN" altLang="en-US" sz="1400" b="1">
                  <a:solidFill>
                    <a:srgbClr val="C00000"/>
                  </a:solidFill>
                  <a:latin typeface="+mn-ea"/>
                </a:endParaRPr>
              </a:p>
              <a:p>
                <a:pPr marL="257175" indent="-257175">
                  <a:lnSpc>
                    <a:spcPts val="2100"/>
                  </a:lnSpc>
                  <a:spcBef>
                    <a:spcPts val="300"/>
                  </a:spcBef>
                  <a:spcAft>
                    <a:spcPts val="1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200" b="1">
                    <a:solidFill>
                      <a:schemeClr val="accent6">
                        <a:lumMod val="50000"/>
                      </a:schemeClr>
                    </a:solidFill>
                  </a:rPr>
                  <a:t>陪域</a:t>
                </a:r>
                <a14:m>
                  <m:oMath xmlns:m="http://schemas.openxmlformats.org/officeDocument/2006/math">
                    <m:r>
                      <a:rPr lang="en-US" altLang="zh-CN" sz="12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2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200" b="1">
                    <a:solidFill>
                      <a:srgbClr val="C00000"/>
                    </a:solidFill>
                    <a:latin typeface="+mn-ea"/>
                  </a:rPr>
                  <a:t>每个元素都有且有唯一的定义域元素与之对应，</a:t>
                </a:r>
                <a:r>
                  <a:rPr lang="zh-CN" altLang="en-US" sz="1200" b="1">
                    <a:solidFill>
                      <a:schemeClr val="accent6">
                        <a:lumMod val="50000"/>
                      </a:schemeClr>
                    </a:solidFill>
                  </a:rPr>
                  <a:t>双函数也称为</a:t>
                </a:r>
                <a:r>
                  <a:rPr lang="zh-CN" altLang="en-US" sz="1200" b="1">
                    <a:solidFill>
                      <a:srgbClr val="C00000"/>
                    </a:solidFill>
                    <a:latin typeface="+mn-ea"/>
                  </a:rPr>
                  <a:t>一一对应</a:t>
                </a:r>
                <a:r>
                  <a:rPr lang="en-US" altLang="zh-CN" sz="1200" b="1">
                    <a:solidFill>
                      <a:schemeClr val="accent6">
                        <a:lumMod val="50000"/>
                      </a:schemeClr>
                    </a:solidFill>
                  </a:rPr>
                  <a:t>(one-to-one correspondence)</a:t>
                </a:r>
                <a:endParaRPr lang="en-US" altLang="zh-CN" sz="12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40" y="1005698"/>
                <a:ext cx="7666909" cy="1973745"/>
              </a:xfrm>
              <a:prstGeom prst="rect">
                <a:avLst/>
              </a:prstGeom>
              <a:blipFill rotWithShape="1">
                <a:blip r:embed="rId1"/>
                <a:stretch>
                  <a:fillRect t="-25" r="8" b="-10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69923" y="3480320"/>
                <a:ext cx="7804141" cy="69570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是非空集，定义函数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→?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，对任意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，证明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是单函数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23" y="3480320"/>
                <a:ext cx="7804141" cy="695703"/>
              </a:xfrm>
              <a:prstGeom prst="rect">
                <a:avLst/>
              </a:prstGeom>
              <a:blipFill rotWithShape="1">
                <a:blip r:embed="rId2"/>
                <a:stretch>
                  <a:fillRect l="-8" t="-75" r="8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119770" y="4006747"/>
                <a:ext cx="4447761" cy="3385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根据这个函数的定义，函数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的陪域应该是什么？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770" y="4006747"/>
                <a:ext cx="4447761" cy="338554"/>
              </a:xfrm>
              <a:prstGeom prst="rect">
                <a:avLst/>
              </a:prstGeom>
              <a:blipFill rotWithShape="1">
                <a:blip r:embed="rId3"/>
                <a:stretch>
                  <a:fillRect l="-12" t="-157" r="-554" b="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函数性质的证明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C425B289-DD82-4EA4-8D2D-0B513C3DEB33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69925" y="953777"/>
                <a:ext cx="7804141" cy="69570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是非空集，定义函数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→℘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℘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，对任意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，证明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是单函数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25" y="953777"/>
                <a:ext cx="7804141" cy="695703"/>
              </a:xfrm>
              <a:prstGeom prst="rect">
                <a:avLst/>
              </a:prstGeom>
              <a:blipFill rotWithShape="1">
                <a:blip r:embed="rId1"/>
                <a:stretch>
                  <a:fillRect t="-1" r="8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69925" y="1853647"/>
                <a:ext cx="7804141" cy="253165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。这时：</a:t>
                </a:r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{{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}}={{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}, {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}}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，因此必有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，从而也有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</m:oMath>
                </a14:m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，从而也必有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，从而也必有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。从而必有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，由于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，因此必有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，总之有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</m:oMath>
                </a14:m>
                <a:endParaRPr lang="zh-CN" altLang="en-US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25" y="1853647"/>
                <a:ext cx="7804141" cy="2531655"/>
              </a:xfrm>
              <a:prstGeom prst="rect">
                <a:avLst/>
              </a:prstGeom>
              <a:blipFill rotWithShape="1">
                <a:blip r:embed="rId2"/>
                <a:stretch>
                  <a:fillRect t="-3" r="8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572000" y="1381059"/>
                <a:ext cx="3902066" cy="36907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有序对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的集合论定义就是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</m:d>
                  </m:oMath>
                </a14:m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81059"/>
                <a:ext cx="3902066" cy="369075"/>
              </a:xfrm>
              <a:prstGeom prst="rect">
                <a:avLst/>
              </a:prstGeom>
              <a:blipFill rotWithShape="1">
                <a:blip r:embed="rId3"/>
                <a:stretch>
                  <a:fillRect t="-154" r="16" b="-524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749859" y="827973"/>
                <a:ext cx="5808743" cy="14465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b="1">
                    <a:solidFill>
                      <a:srgbClr val="C00000"/>
                    </a:solidFill>
                  </a:rPr>
                  <a:t>等势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(equinumerous)</a:t>
                </a:r>
                <a:endParaRPr lang="en-US" altLang="zh-CN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若存在集合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之间的双函数，则称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等势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≈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endParaRPr lang="en-US" altLang="zh-CN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直观地说，两个集合等势表明两个集合的元素之间存在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一一对应</a:t>
                </a:r>
                <a:endParaRPr lang="zh-CN" altLang="en-US" sz="1500" b="1">
                  <a:solidFill>
                    <a:srgbClr val="C00000"/>
                  </a:solidFill>
                  <a:latin typeface="+mn-ea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集合等势具有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自反性</a:t>
                </a: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、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对称性</a:t>
                </a: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传递性</a:t>
                </a:r>
                <a:endParaRPr lang="zh-CN" altLang="en-US" sz="15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859" y="827973"/>
                <a:ext cx="5808743" cy="1446550"/>
              </a:xfrm>
              <a:prstGeom prst="rect">
                <a:avLst/>
              </a:prstGeom>
              <a:blipFill rotWithShape="1">
                <a:blip r:embed="rId1"/>
                <a:stretch>
                  <a:fillRect l="-7" t="-39" r="3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33964" y="2686329"/>
                <a:ext cx="3314410" cy="181504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b="1">
                    <a:solidFill>
                      <a:srgbClr val="C00000"/>
                    </a:solidFill>
                  </a:rPr>
                  <a:t>重要的集合等势例子</a:t>
                </a:r>
                <a:endParaRPr lang="zh-CN" altLang="en-US" b="1">
                  <a:solidFill>
                    <a:srgbClr val="C00000"/>
                  </a:solidFill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自然数集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与整数集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等势：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US" altLang="zh-CN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实数集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与开区间</a:t>
                </a:r>
                <a:r>
                  <a:rPr lang="en-US" altLang="zh-CN" sz="1500" b="1">
                    <a:solidFill>
                      <a:srgbClr val="002060"/>
                    </a:solidFill>
                    <a:latin typeface="+mn-ea"/>
                  </a:rPr>
                  <a:t>(0, 1)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等势</a:t>
                </a:r>
                <a:endParaRPr lang="zh-CN" altLang="en-US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的幂集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℘</m:t>
                    </m:r>
                    <m:d>
                      <m:d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与集合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p>
                    </m:sSup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等势</a:t>
                </a:r>
                <a:endParaRPr lang="en-US" altLang="zh-CN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CN" sz="15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p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m:rPr>
                          <m:lit/>
                        </m:rPr>
                        <a:rPr lang="en-US" altLang="zh-CN" sz="15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500" b="1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64" y="2686329"/>
                <a:ext cx="3314410" cy="1815049"/>
              </a:xfrm>
              <a:prstGeom prst="rect">
                <a:avLst/>
              </a:prstGeom>
              <a:blipFill rotWithShape="1">
                <a:blip r:embed="rId2"/>
                <a:stretch>
                  <a:fillRect l="-17" t="-15" r="8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312686" y="2475502"/>
                <a:ext cx="4297351" cy="218694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450"/>
                  </a:spcBef>
                  <a:spcAft>
                    <a:spcPts val="225"/>
                  </a:spcAft>
                </a:pPr>
                <a:r>
                  <a:rPr lang="zh-CN" altLang="en-US" b="1">
                    <a:solidFill>
                      <a:srgbClr val="C00000"/>
                    </a:solidFill>
                  </a:rPr>
                  <a:t>康托尔定理</a:t>
                </a:r>
                <a:endParaRPr lang="en-US" altLang="zh-CN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450"/>
                  </a:spcBef>
                  <a:spcAft>
                    <a:spcPts val="225"/>
                  </a:spcAft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对任意集合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，不存在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到它的幂集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℘</m:t>
                    </m:r>
                    <m:d>
                      <m:d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的满函数</a:t>
                </a:r>
                <a:endParaRPr lang="zh-CN" altLang="en-US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450"/>
                  </a:spcBef>
                  <a:spcAft>
                    <a:spcPts val="225"/>
                  </a:spcAft>
                </a:pPr>
                <a:r>
                  <a:rPr lang="en-US" altLang="zh-CN" sz="1500" b="1">
                    <a:solidFill>
                      <a:schemeClr val="accent6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证明</a:t>
                </a:r>
                <a:r>
                  <a:rPr lang="en-US" altLang="zh-CN" sz="1500" b="1">
                    <a:solidFill>
                      <a:schemeClr val="accent6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对任意函数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→℘</m:t>
                    </m:r>
                    <m:d>
                      <m:d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，定义</a:t>
                </a:r>
                <a:endParaRPr lang="en-US" altLang="zh-CN" sz="15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450"/>
                  </a:spcBef>
                  <a:spcAft>
                    <a:spcPts val="225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5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500" b="1">
                  <a:solidFill>
                    <a:srgbClr val="C00000"/>
                  </a:solidFill>
                </a:endParaRPr>
              </a:p>
              <a:p>
                <a:pPr marL="214630" indent="-214630">
                  <a:lnSpc>
                    <a:spcPts val="2100"/>
                  </a:lnSpc>
                  <a:spcBef>
                    <a:spcPts val="450"/>
                  </a:spcBef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下没有原像，因为若有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，则无论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是否属于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都会导致矛盾：</a:t>
                </a:r>
                <a:endParaRPr lang="en-US" altLang="zh-CN" sz="1350" b="1" i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450"/>
                  </a:spcBef>
                  <a:spcAft>
                    <a:spcPts val="225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5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↔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↔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altLang="zh-CN" sz="15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5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</m:oMath>
                  </m:oMathPara>
                </a14:m>
                <a:endParaRPr lang="zh-CN" altLang="en-US" sz="1500" b="1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686" y="2475502"/>
                <a:ext cx="4297351" cy="2186945"/>
              </a:xfrm>
              <a:prstGeom prst="rect">
                <a:avLst/>
              </a:prstGeom>
              <a:blipFill rotWithShape="1">
                <a:blip r:embed="rId3"/>
                <a:stretch>
                  <a:fillRect l="-9" t="-12" r="2" b="-56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集合等势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C425B289-DD82-4EA4-8D2D-0B513C3DEB33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092758" y="958387"/>
                <a:ext cx="4958482" cy="13080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450"/>
                  </a:spcBef>
                  <a:spcAft>
                    <a:spcPts val="225"/>
                  </a:spcAft>
                </a:pPr>
                <a:r>
                  <a:rPr lang="zh-CN" altLang="en-US" b="1">
                    <a:solidFill>
                      <a:srgbClr val="C00000"/>
                    </a:solidFill>
                  </a:rPr>
                  <a:t>归纳集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(inductive set)</a:t>
                </a:r>
                <a:endParaRPr lang="en-US" altLang="zh-CN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450"/>
                  </a:spcBef>
                  <a:spcAft>
                    <a:spcPts val="225"/>
                  </a:spcAft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称为归纳集，如果它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对空集和后继封闭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，即满足：</a:t>
                </a:r>
                <a:endParaRPr lang="zh-CN" altLang="en-US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，且若集合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属于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的后继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也属于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zh-CN" sz="15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600075" lvl="1" indent="-257175">
                  <a:spcBef>
                    <a:spcPts val="450"/>
                  </a:spcBef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35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这里集合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35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的后继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lit/>
                      </m:rP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m:rPr>
                        <m:lit/>
                      </m:rP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1350" b="1">
                  <a:solidFill>
                    <a:schemeClr val="tx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758" y="958387"/>
                <a:ext cx="4958482" cy="1308050"/>
              </a:xfrm>
              <a:prstGeom prst="rect">
                <a:avLst/>
              </a:prstGeom>
              <a:blipFill rotWithShape="1">
                <a:blip r:embed="rId1"/>
                <a:stretch>
                  <a:fillRect l="-9" t="-13" r="4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453911" y="2508124"/>
            <a:ext cx="4837073" cy="1918945"/>
            <a:chOff x="1040098" y="3398936"/>
            <a:chExt cx="6449430" cy="255859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2078135" y="3398936"/>
                  <a:ext cx="4452748" cy="492443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>
                      <a:solidFill>
                        <a:srgbClr val="C00000"/>
                      </a:solidFill>
                    </a:rPr>
                    <a:t>自然数集</a:t>
                  </a:r>
                  <a14:m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ℕ</m:t>
                      </m:r>
                    </m:oMath>
                  </a14:m>
                  <a:r>
                    <a:rPr lang="zh-CN" altLang="en-US" b="1">
                      <a:solidFill>
                        <a:srgbClr val="C00000"/>
                      </a:solidFill>
                    </a:rPr>
                    <a:t>定义为最小的归纳集</a:t>
                  </a:r>
                  <a:endParaRPr lang="zh-CN" alt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8135" y="3398936"/>
                  <a:ext cx="4452748" cy="492443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0098" y="3929486"/>
              <a:ext cx="6449430" cy="2028043"/>
            </a:xfrm>
            <a:prstGeom prst="rect">
              <a:avLst/>
            </a:prstGeom>
            <a:ln w="19050">
              <a:solidFill>
                <a:schemeClr val="accent2">
                  <a:lumMod val="20000"/>
                  <a:lumOff val="80000"/>
                </a:schemeClr>
              </a:solidFill>
              <a:prstDash val="solid"/>
            </a:ln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376212" y="2649659"/>
                <a:ext cx="3313877" cy="185178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从集合论的角度看，每个自然数都是集合</a:t>
                </a:r>
                <a:endParaRPr lang="zh-CN" altLang="en-US" sz="135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14630" indent="-214630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350" b="1">
                    <a:solidFill>
                      <a:schemeClr val="accent6">
                        <a:lumMod val="50000"/>
                      </a:schemeClr>
                    </a:solidFill>
                  </a:rPr>
                  <a:t>0</a:t>
                </a:r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:r>
                  <a:rPr lang="zh-CN" altLang="en-US" sz="1350" b="1">
                    <a:solidFill>
                      <a:srgbClr val="C00000"/>
                    </a:solidFill>
                  </a:rPr>
                  <a:t>空集</a:t>
                </a:r>
                <a:endParaRPr lang="en-US" altLang="zh-CN" sz="1350" b="1">
                  <a:solidFill>
                    <a:srgbClr val="C00000"/>
                  </a:solidFill>
                </a:endParaRPr>
              </a:p>
              <a:p>
                <a:pPr marL="214630" indent="-214630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350" b="1">
                    <a:solidFill>
                      <a:schemeClr val="accent6">
                        <a:lumMod val="50000"/>
                      </a:schemeClr>
                    </a:solidFill>
                  </a:rPr>
                  <a:t>1</a:t>
                </a:r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:r>
                  <a:rPr lang="zh-CN" altLang="en-US" sz="1350" b="1">
                    <a:solidFill>
                      <a:srgbClr val="C00000"/>
                    </a:solidFill>
                  </a:rPr>
                  <a:t>空集的后继</a:t>
                </a:r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</a:rPr>
                  <a:t>，包含一个元素</a:t>
                </a:r>
                <a:r>
                  <a:rPr lang="en-US" altLang="zh-CN" sz="1350" b="1">
                    <a:solidFill>
                      <a:schemeClr val="accent6">
                        <a:lumMod val="50000"/>
                      </a:schemeClr>
                    </a:solidFill>
                  </a:rPr>
                  <a:t>(</a:t>
                </a:r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</a:rPr>
                  <a:t>就是</a:t>
                </a:r>
                <a:r>
                  <a:rPr lang="en-US" altLang="zh-CN" sz="1350" b="1">
                    <a:solidFill>
                      <a:schemeClr val="accent6">
                        <a:lumMod val="50000"/>
                      </a:schemeClr>
                    </a:solidFill>
                  </a:rPr>
                  <a:t>0)</a:t>
                </a:r>
                <a:endParaRPr lang="en-US" altLang="zh-CN" sz="135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14630" indent="-214630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350" b="1">
                    <a:solidFill>
                      <a:schemeClr val="accent6">
                        <a:lumMod val="50000"/>
                      </a:schemeClr>
                    </a:solidFill>
                  </a:rPr>
                  <a:t>2</a:t>
                </a:r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:r>
                  <a:rPr lang="en-US" altLang="zh-CN" sz="1350" b="1">
                    <a:solidFill>
                      <a:srgbClr val="C00000"/>
                    </a:solidFill>
                  </a:rPr>
                  <a:t>1</a:t>
                </a:r>
                <a:r>
                  <a:rPr lang="zh-CN" altLang="en-US" sz="1350" b="1">
                    <a:solidFill>
                      <a:srgbClr val="C00000"/>
                    </a:solidFill>
                  </a:rPr>
                  <a:t>的后继</a:t>
                </a:r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</a:rPr>
                  <a:t>，包含两个元素</a:t>
                </a:r>
                <a:r>
                  <a:rPr lang="en-US" altLang="zh-CN" sz="1350" b="1">
                    <a:solidFill>
                      <a:schemeClr val="accent6">
                        <a:lumMod val="50000"/>
                      </a:schemeClr>
                    </a:solidFill>
                  </a:rPr>
                  <a:t>(</a:t>
                </a:r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</a:rPr>
                  <a:t>就是</a:t>
                </a:r>
                <a:r>
                  <a:rPr lang="en-US" altLang="zh-CN" sz="1350" b="1">
                    <a:solidFill>
                      <a:schemeClr val="accent6">
                        <a:lumMod val="50000"/>
                      </a:schemeClr>
                    </a:solidFill>
                  </a:rPr>
                  <a:t>0</a:t>
                </a:r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:r>
                  <a:rPr lang="en-US" altLang="zh-CN" sz="1350" b="1">
                    <a:solidFill>
                      <a:schemeClr val="accent6">
                        <a:lumMod val="50000"/>
                      </a:schemeClr>
                    </a:solidFill>
                  </a:rPr>
                  <a:t>1)</a:t>
                </a:r>
                <a:endParaRPr lang="en-US" altLang="zh-CN" sz="135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14630" indent="-214630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</a:rPr>
                  <a:t>自然数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35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35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35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350" b="1">
                    <a:solidFill>
                      <a:srgbClr val="C00000"/>
                    </a:solidFill>
                  </a:rPr>
                  <a:t>的后继</a:t>
                </a:r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</a:rPr>
                  <a:t>，恰好包含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</a:rPr>
                  <a:t>个元素，分别是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zh-CN" altLang="en-US" sz="135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212" y="2649659"/>
                <a:ext cx="3313877" cy="1851789"/>
              </a:xfrm>
              <a:prstGeom prst="rect">
                <a:avLst/>
              </a:prstGeom>
              <a:blipFill rotWithShape="1">
                <a:blip r:embed="rId4"/>
                <a:stretch>
                  <a:fillRect l="-9" t="-24" r="3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5" name="矩形 14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自然数集的集合论定义</a:t>
            </a:r>
            <a:endParaRPr lang="zh-CN" altLang="en-US" sz="1400"/>
          </a:p>
        </p:txBody>
      </p:sp>
      <p:sp>
        <p:nvSpPr>
          <p:cNvPr id="16" name="矩形 15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C425B289-DD82-4EA4-8D2D-0B513C3DEB33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85222" y="883388"/>
                <a:ext cx="3617064" cy="16871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b="1">
                    <a:solidFill>
                      <a:srgbClr val="C00000"/>
                    </a:solidFill>
                  </a:rPr>
                  <a:t>有穷集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(finite set)</a:t>
                </a:r>
                <a:endParaRPr lang="en-US" altLang="zh-CN" b="1">
                  <a:solidFill>
                    <a:srgbClr val="C00000"/>
                  </a:solidFill>
                </a:endParaRPr>
              </a:p>
              <a:p>
                <a:pPr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有穷集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（或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有限集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），如果它与某个自然数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等势</a:t>
                </a:r>
                <a:endParaRPr lang="zh-CN" altLang="en-US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有穷集的任意真子集是有穷集，且</a:t>
                </a: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有穷集不与它的任何真子集等势</a:t>
                </a:r>
                <a:endParaRPr lang="zh-CN" altLang="en-US" sz="15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22" y="883388"/>
                <a:ext cx="3617064" cy="1687129"/>
              </a:xfrm>
              <a:prstGeom prst="rect">
                <a:avLst/>
              </a:prstGeom>
              <a:blipFill rotWithShape="1">
                <a:blip r:embed="rId1"/>
                <a:stretch>
                  <a:fillRect l="-2" t="-6" r="4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5027555" y="883388"/>
            <a:ext cx="3431223" cy="1687129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450"/>
              </a:spcBef>
              <a:spcAft>
                <a:spcPts val="450"/>
              </a:spcAft>
            </a:pPr>
            <a:r>
              <a:rPr lang="zh-CN" altLang="en-US" b="1">
                <a:solidFill>
                  <a:srgbClr val="C00000"/>
                </a:solidFill>
              </a:rPr>
              <a:t>无穷集</a:t>
            </a:r>
            <a:r>
              <a:rPr lang="en-US" altLang="zh-CN" b="1">
                <a:solidFill>
                  <a:srgbClr val="C00000"/>
                </a:solidFill>
              </a:rPr>
              <a:t>(infinite set)</a:t>
            </a:r>
            <a:endParaRPr lang="en-US" altLang="zh-CN" b="1">
              <a:solidFill>
                <a:srgbClr val="C00000"/>
              </a:solidFill>
            </a:endParaRPr>
          </a:p>
          <a:p>
            <a:pPr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</a:pPr>
            <a:r>
              <a:rPr lang="zh-CN" altLang="en-US" sz="15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一个集合不是有穷集，则称为</a:t>
            </a:r>
            <a:r>
              <a:rPr lang="zh-CN" altLang="en-US" sz="1500" b="1">
                <a:solidFill>
                  <a:srgbClr val="C00000"/>
                </a:solidFill>
                <a:latin typeface="+mn-ea"/>
              </a:rPr>
              <a:t>无穷集</a:t>
            </a:r>
            <a:r>
              <a:rPr lang="zh-CN" altLang="en-US" sz="15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（或</a:t>
            </a:r>
            <a:r>
              <a:rPr lang="zh-CN" altLang="en-US" sz="1500" b="1">
                <a:solidFill>
                  <a:srgbClr val="C00000"/>
                </a:solidFill>
                <a:latin typeface="+mn-ea"/>
              </a:rPr>
              <a:t>无限集</a:t>
            </a:r>
            <a:r>
              <a:rPr lang="zh-CN" altLang="en-US" sz="15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15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500" b="1">
                <a:solidFill>
                  <a:schemeClr val="accent6">
                    <a:lumMod val="50000"/>
                  </a:schemeClr>
                </a:solidFill>
              </a:rPr>
              <a:t>一个集合是无穷集当且仅当</a:t>
            </a:r>
            <a:r>
              <a:rPr lang="zh-CN" altLang="en-US" sz="1500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它与它的某个真子集等势</a:t>
            </a:r>
            <a:endParaRPr lang="zh-CN" altLang="en-US" sz="1500" b="1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有穷集、无穷集、可数集与不可数集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C425B289-DD82-4EA4-8D2D-0B513C3DEB33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685219" y="2790789"/>
                <a:ext cx="7773556" cy="10874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b="1">
                    <a:solidFill>
                      <a:srgbClr val="C00000"/>
                    </a:solidFill>
                  </a:rPr>
                  <a:t>可数集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(countable set)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和不可数集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(uncountable set)</a:t>
                </a:r>
                <a:endParaRPr lang="en-US" altLang="zh-CN" b="1">
                  <a:solidFill>
                    <a:srgbClr val="C00000"/>
                  </a:solidFill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如果集合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是有穷集，或者与自然数集等势，则称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可数集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，也称为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可枚举集</a:t>
                </a:r>
                <a:endParaRPr lang="zh-CN" altLang="en-US" sz="1500" b="1">
                  <a:solidFill>
                    <a:srgbClr val="C00000"/>
                  </a:solidFill>
                  <a:latin typeface="+mn-ea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不是可数集，则称为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不可数集</a:t>
                </a:r>
                <a:endParaRPr lang="zh-CN" altLang="en-US" sz="15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19" y="2790789"/>
                <a:ext cx="7773556" cy="1087477"/>
              </a:xfrm>
              <a:prstGeom prst="rect">
                <a:avLst/>
              </a:prstGeom>
              <a:blipFill rotWithShape="1">
                <a:blip r:embed="rId2"/>
                <a:stretch>
                  <a:fillRect l="-1" t="-55" r="7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685222" y="4061047"/>
                <a:ext cx="7868546" cy="62286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14630" indent="-214630">
                  <a:lnSpc>
                    <a:spcPts val="1800"/>
                  </a:lnSpc>
                  <a:spcBef>
                    <a:spcPts val="450"/>
                  </a:spcBef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自然数集、整数集、有理数集都是可数集；正整数对的集合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，自然数对集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都是可数集</a:t>
                </a:r>
                <a:endParaRPr lang="en-US" altLang="zh-CN" sz="135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14630" indent="-214630">
                  <a:lnSpc>
                    <a:spcPts val="1800"/>
                  </a:lnSpc>
                  <a:spcBef>
                    <a:spcPts val="450"/>
                  </a:spcBef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实数集</a:t>
                </a:r>
                <a14:m>
                  <m:oMath xmlns:m="http://schemas.openxmlformats.org/officeDocument/2006/math">
                    <m:r>
                      <a:rPr lang="en-US" altLang="zh-CN" sz="135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ℝ</m:t>
                    </m:r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不是可数集</a:t>
                </a:r>
                <a:endParaRPr lang="en-US" altLang="zh-CN" sz="135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22" y="4061047"/>
                <a:ext cx="7868546" cy="622863"/>
              </a:xfrm>
              <a:prstGeom prst="rect">
                <a:avLst/>
              </a:prstGeom>
              <a:blipFill rotWithShape="1">
                <a:blip r:embed="rId3"/>
                <a:stretch>
                  <a:fillRect l="-1" t="-36" r="4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函数与等价关系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C425B289-DD82-4EA4-8D2D-0B513C3DEB33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69922" y="847371"/>
                <a:ext cx="7804141" cy="68563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6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是函数，定义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上的关系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。证明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是等价关系，并给出它的等价类和商集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22" y="847371"/>
                <a:ext cx="7804141" cy="685637"/>
              </a:xfrm>
              <a:prstGeom prst="rect">
                <a:avLst/>
              </a:prstGeom>
              <a:blipFill rotWithShape="1">
                <a:blip r:embed="rId1"/>
                <a:stretch>
                  <a:fillRect l="-8" t="-41" r="8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69922" y="1680654"/>
                <a:ext cx="7804141" cy="177292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显然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是等价关系，因为对任意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),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 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/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𝒂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𝑹</m:t>
                            </m:r>
                          </m:sub>
                        </m:sSub>
                      </m:e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∈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。实际上，对任意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𝒇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。因此若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是满函数，则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/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𝒇</m:t>
                            </m:r>
                          </m:e>
                          <m:sup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{</m:t>
                            </m:r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𝒃</m:t>
                            </m:r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}</m:t>
                            </m:r>
                          </m:e>
                        </m:d>
                      </m:e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∈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𝑩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/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中的等价类与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的元素一一对应！</a:t>
                </a:r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22" y="1680654"/>
                <a:ext cx="7804141" cy="1772921"/>
              </a:xfrm>
              <a:prstGeom prst="rect">
                <a:avLst/>
              </a:prstGeom>
              <a:blipFill rotWithShape="1">
                <a:blip r:embed="rId2"/>
                <a:stretch>
                  <a:fillRect l="-8" t="-25" r="8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669922" y="3772917"/>
                <a:ext cx="7804141" cy="72988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考虑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(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被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除的余数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)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，在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上定义关系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是什么关系？它的等价类和商集是什么？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22" y="3772917"/>
                <a:ext cx="7804141" cy="729880"/>
              </a:xfrm>
              <a:prstGeom prst="rect">
                <a:avLst/>
              </a:prstGeom>
              <a:blipFill rotWithShape="1">
                <a:blip r:embed="rId3"/>
                <a:stretch>
                  <a:fillRect l="-8" t="-52" r="8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满函数与等价关系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C425B289-DD82-4EA4-8D2D-0B513C3DEB33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782220" y="1002626"/>
                <a:ext cx="7147201" cy="16467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6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是满函数，定义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上的关系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是等价关系，且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p>
                            <m:r>
                              <a:rPr lang="en-US" altLang="zh-CN" sz="16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6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16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zh-CN" sz="16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altLang="zh-CN" sz="16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d>
                      </m:e>
                      <m:e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中的等价类与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的元素一一对应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  <a:latin typeface="+mn-ea"/>
                </a:endParaRP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对集合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上的任意等价关系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，自然映射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𝝆</m:t>
                    </m:r>
                    <m:r>
                      <a:rPr lang="en-US" altLang="zh-CN" sz="16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6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6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6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𝝆</m:t>
                    </m:r>
                    <m:d>
                      <m:dPr>
                        <m:ctrlP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16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16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是满函数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20" y="1002626"/>
                <a:ext cx="7147201" cy="1646797"/>
              </a:xfrm>
              <a:prstGeom prst="rect">
                <a:avLst/>
              </a:prstGeom>
              <a:blipFill rotWithShape="1">
                <a:blip r:embed="rId1"/>
                <a:stretch>
                  <a:fillRect l="-7" t="-36" r="2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782220" y="3086914"/>
                <a:ext cx="7579553" cy="128432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2800"/>
                  </a:lnSpc>
                  <a:defRPr sz="1600" b="1">
                    <a:solidFill>
                      <a:schemeClr val="accent2">
                        <a:lumMod val="50000"/>
                      </a:schemeClr>
                    </a:solidFill>
                  </a:defRPr>
                </a:lvl1pPr>
              </a:lstStyle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/>
                  <a:t>因此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/>
                  <a:t>上的等价关系与以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/>
                  <a:t>为定义域的满函数对应</a:t>
                </a:r>
                <a:endParaRPr lang="en-US" altLang="zh-CN"/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altLang="zh-C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上有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个等价类的等价关系个数等于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zh-C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zh-C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⋯, </m:t>
                        </m:r>
                        <m:r>
                          <a:rPr lang="en-US" altLang="zh-C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的满函数个数除以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altLang="zh-CN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的元素作为原像的所有可能排列中选一个即可！）</a:t>
                </a:r>
                <a:endParaRPr lang="zh-CN" altLang="en-US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20" y="3086914"/>
                <a:ext cx="7579553" cy="1284326"/>
              </a:xfrm>
              <a:prstGeom prst="rect">
                <a:avLst/>
              </a:prstGeom>
              <a:blipFill rotWithShape="1">
                <a:blip r:embed="rId2"/>
                <a:stretch>
                  <a:fillRect l="-7" t="-14" r="1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等价关系计数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C425B289-DD82-4EA4-8D2D-0B513C3DEB33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528772" y="814571"/>
                <a:ext cx="4269823" cy="37721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上不同的等价关系有多少个？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772" y="814571"/>
                <a:ext cx="4269823" cy="377219"/>
              </a:xfrm>
              <a:prstGeom prst="rect">
                <a:avLst/>
              </a:prstGeom>
              <a:blipFill rotWithShape="1">
                <a:blip r:embed="rId1"/>
                <a:stretch>
                  <a:fillRect l="-11" t="-133" r="13" b="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28772" y="1380400"/>
                <a:ext cx="8086449" cy="312483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上的等价关系与以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为定义域的满函数对应！</a:t>
                </a:r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上有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个等价类的等价关系个数等于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𝒁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𝒎</m:t>
                        </m:r>
                      </m:sub>
                    </m:sSub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𝟎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⋯, 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𝒎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的满函数个数除以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!</m:t>
                    </m:r>
                  </m:oMath>
                </a14:m>
                <a:r>
                  <a:rPr lang="en-US" altLang="zh-CN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的元素作为原像的所有可能排列中选一个即可！）。</a:t>
                </a:r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|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|=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en-US" altLang="zh-CN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|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|=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的满函数个数是：</a:t>
                </a:r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altLang="zh-CN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altLang="zh-CN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sSup>
                        <m:sSupPr>
                          <m:ctrlP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altLang="zh-CN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⋯+ </m:t>
                      </m:r>
                      <m:sSup>
                        <m:sSupPr>
                          <m:ctrlP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US" altLang="zh-CN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sSup>
                        <m:sSupPr>
                          <m:ctrlP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altLang="zh-CN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⋯+ </m:t>
                      </m:r>
                      <m:sSup>
                        <m:sSupPr>
                          <m:ctrlP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US" altLang="zh-C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altLang="zh-CN" sz="1600" b="1">
                  <a:solidFill>
                    <a:srgbClr val="C00000"/>
                  </a:solidFill>
                  <a:latin typeface="楷体" panose="02010609060101010101" pitchFamily="49" charset="-122"/>
                </a:endParaRPr>
              </a:p>
              <a:p>
                <a:pPr marL="342900" indent="-342900">
                  <a:lnSpc>
                    <a:spcPts val="2000"/>
                  </a:lnSpc>
                  <a:spcBef>
                    <a:spcPts val="600"/>
                  </a:spcBef>
                  <a:spcAft>
                    <a:spcPts val="1800"/>
                  </a:spcAft>
                  <a:buFont typeface="+mj-lt"/>
                  <a:buAutoNum type="arabicPeriod" startAt="4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因此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元素集合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个等价类的等价关系有：</a:t>
                </a:r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𝑩</m:t>
                      </m:r>
                      <m:r>
                        <a:rPr lang="en-US" altLang="zh-CN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𝒏</m:t>
                      </m:r>
                      <m:r>
                        <a:rPr lang="en-US" altLang="zh-CN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r>
                        <a:rPr lang="en-US" altLang="zh-CN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𝒎</m:t>
                      </m:r>
                      <m:r>
                        <a:rPr lang="en-US" altLang="zh-CN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)=</m:t>
                      </m:r>
                      <m:f>
                        <m:f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𝒌</m:t>
                              </m:r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=</m:t>
                              </m:r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𝒎</m:t>
                              </m:r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16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6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−</m:t>
                                      </m:r>
                                      <m:r>
                                        <a:rPr lang="en-US" altLang="zh-CN" sz="16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𝟏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𝒌</m:t>
                                  </m:r>
                                </m:sup>
                              </m:sSup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𝑪</m:t>
                              </m:r>
                              <m:d>
                                <m:dPr>
                                  <m:ctrlPr>
                                    <a:rPr lang="en-US" altLang="zh-CN" sz="16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𝒎</m:t>
                                  </m:r>
                                  <m:r>
                                    <a:rPr lang="en-US" altLang="zh-CN" sz="16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,</m:t>
                                  </m:r>
                                  <m:r>
                                    <a:rPr lang="en-US" altLang="zh-CN" sz="16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𝒌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CN" sz="16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6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𝒎</m:t>
                                      </m:r>
                                      <m:r>
                                        <a:rPr lang="en-US" altLang="zh-CN" sz="16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−</m:t>
                                      </m:r>
                                      <m:r>
                                        <a:rPr lang="en-US" altLang="zh-CN" sz="16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𝒌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𝒏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𝒎</m:t>
                          </m:r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 startAt="5"/>
                </a:pPr>
                <a:r>
                  <a:rPr lang="zh-CN" altLang="en-US" sz="1600" b="1">
                    <a:solidFill>
                      <a:srgbClr val="00206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从而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元素集合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上的不同等价关系个数有：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</m:e>
                    </m:d>
                    <m:r>
                      <a:rPr lang="en-US" altLang="zh-CN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𝒎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  <m:sup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</m:sup>
                      <m:e>
                        <m:f>
                          <m:fPr>
                            <m:ctrlPr>
                              <a:rPr lang="en-US" altLang="zh-CN" sz="16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sz="16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16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𝒌</m:t>
                                </m:r>
                                <m:r>
                                  <a:rPr lang="en-US" altLang="zh-CN" sz="16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=</m:t>
                                </m:r>
                                <m:r>
                                  <a:rPr lang="en-US" altLang="zh-CN" sz="16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𝟎</m:t>
                                </m:r>
                              </m:sub>
                              <m:sup>
                                <m:r>
                                  <a:rPr lang="en-US" altLang="zh-CN" sz="16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𝒎</m:t>
                                </m:r>
                                <m:r>
                                  <a:rPr lang="en-US" altLang="zh-CN" sz="16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16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𝟏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zh-CN" sz="16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1600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600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1600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𝟏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16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𝒌</m:t>
                                    </m:r>
                                  </m:sup>
                                </m:sSup>
                                <m:r>
                                  <a:rPr lang="en-US" altLang="zh-CN" sz="16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𝑪</m:t>
                                </m:r>
                                <m:d>
                                  <m:dPr>
                                    <m:ctrlPr>
                                      <a:rPr lang="en-US" altLang="zh-CN" sz="16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𝒎</m:t>
                                    </m:r>
                                    <m:r>
                                      <a:rPr lang="en-US" altLang="zh-CN" sz="16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,</m:t>
                                    </m:r>
                                    <m:r>
                                      <a:rPr lang="en-US" altLang="zh-CN" sz="16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𝒌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CN" sz="16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1600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600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𝒎</m:t>
                                        </m:r>
                                        <m:r>
                                          <a:rPr lang="en-US" altLang="zh-CN" sz="1600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1600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𝒌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16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𝒏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altLang="zh-CN" sz="16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𝒎</m:t>
                            </m:r>
                            <m:r>
                              <a:rPr lang="en-US" altLang="zh-CN" sz="16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1600" b="1">
                  <a:solidFill>
                    <a:srgbClr val="002060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772" y="1380400"/>
                <a:ext cx="8086449" cy="3124830"/>
              </a:xfrm>
              <a:prstGeom prst="rect">
                <a:avLst/>
              </a:prstGeom>
              <a:blipFill rotWithShape="1">
                <a:blip r:embed="rId2"/>
                <a:stretch>
                  <a:fillRect l="-6" t="-17" r="2" b="-38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等价关系计数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C425B289-DD82-4EA4-8D2D-0B513C3DEB33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28772" y="1401517"/>
                <a:ext cx="7859854" cy="299934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1600" b="1">
                    <a:solidFill>
                      <a:srgbClr val="002060"/>
                    </a:solidFill>
                    <a:ea typeface="楷体" panose="02010609060101010101" pitchFamily="49" charset="-122"/>
                  </a:rPr>
                  <a:t>用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元素集合上不同等价关系的个数，教材给出了如下递推关系式：</a:t>
                </a:r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𝑩</m:t>
                      </m:r>
                      <m:d>
                        <m:d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𝒏</m:t>
                          </m:r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𝟏</m:t>
                          </m:r>
                        </m:e>
                      </m:d>
                      <m:r>
                        <a:rPr lang="en-US" altLang="zh-CN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naryPr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𝒌</m:t>
                          </m:r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𝒏</m:t>
                          </m:r>
                        </m:sup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𝑪</m:t>
                          </m:r>
                          <m:d>
                            <m:dPr>
                              <m:ctrlP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𝒏</m:t>
                              </m:r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 </m:t>
                              </m:r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𝒌</m:t>
                              </m:r>
                            </m:e>
                          </m:d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𝑩</m:t>
                          </m:r>
                          <m:d>
                            <m:dPr>
                              <m:ctrlP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𝒌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这个递推关系式的理解是：对于有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元素集合（不妨假定为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𝟎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⋯, 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）的划分，按照最后一个元素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所在的划分块进行分类：</a:t>
                </a:r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不与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𝟎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⋯, 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的任意元素在一个划分块，即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单独在一个划分块，这种划分的个数就等于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𝟎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⋯, 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的划分个数，即等于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en-US" altLang="zh-CN" sz="1400" b="1">
                  <a:solidFill>
                    <a:schemeClr val="accent6">
                      <a:lumMod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marL="285750" indent="-285750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与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𝟎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⋯, 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的某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𝒋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𝒌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𝟎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⋯, 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个元素在一个划分块，则这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𝒋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个元素有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𝒋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𝒌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种选择，而每种选择的划分个数等于剩下的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</a:rPr>
                      <m:t>𝒌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个元素构成集合的划分个数，即等于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，因此有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𝒌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个划分</a:t>
                </a:r>
                <a:endParaRPr lang="en-US" altLang="zh-CN" sz="1400" b="1">
                  <a:solidFill>
                    <a:schemeClr val="accent6">
                      <a:lumMod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772" y="1401517"/>
                <a:ext cx="7859854" cy="2999347"/>
              </a:xfrm>
              <a:prstGeom prst="rect">
                <a:avLst/>
              </a:prstGeom>
              <a:blipFill rotWithShape="1">
                <a:blip r:embed="rId1"/>
                <a:stretch>
                  <a:fillRect l="-6" t="-2" r="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528772" y="814571"/>
                <a:ext cx="4269823" cy="37721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上不同的等价关系有多少个？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772" y="814571"/>
                <a:ext cx="4269823" cy="377219"/>
              </a:xfrm>
              <a:prstGeom prst="rect">
                <a:avLst/>
              </a:prstGeom>
              <a:blipFill rotWithShape="1">
                <a:blip r:embed="rId2"/>
                <a:stretch>
                  <a:fillRect l="-11" t="-133" r="13" b="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集合关系与函数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等价关系计数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第一讲  课程简介与基础知识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C425B289-DD82-4EA4-8D2D-0B513C3DEB33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28772" y="1537524"/>
                <a:ext cx="8086449" cy="279140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2000"/>
                  </a:lnSpc>
                  <a:spcBef>
                    <a:spcPts val="600"/>
                  </a:spcBef>
                  <a:spcAft>
                    <a:spcPts val="30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上的不同等价关系个数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≥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𝑩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𝟎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𝟎</m:t>
                            </m:r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𝟎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</m:oMath>
                </a14:m>
                <a:endParaRPr lang="en-US" altLang="zh-CN" sz="1600" b="1" i="1">
                  <a:solidFill>
                    <a:srgbClr val="002060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>
                  <a:lnSpc>
                    <a:spcPts val="2000"/>
                  </a:lnSpc>
                  <a:spcBef>
                    <a:spcPts val="18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𝑩</m:t>
                      </m:r>
                      <m:d>
                        <m:dPr>
                          <m:ctrlP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sz="16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naryPr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𝒎</m:t>
                          </m:r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𝒏</m:t>
                          </m:r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𝑪</m:t>
                          </m:r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𝒏</m:t>
                          </m:r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𝟏</m:t>
                          </m:r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𝒎</m:t>
                          </m:r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𝑩</m:t>
                          </m:r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𝒎</m:t>
                          </m:r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e>
                      </m:nary>
                      <m:r>
                        <a:rPr lang="en-US" altLang="zh-CN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naryPr>
                        <m:sub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𝒎</m:t>
                          </m:r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altLang="zh-CN" sz="16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6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𝒌</m:t>
                                  </m:r>
                                  <m:r>
                                    <a:rPr lang="en-US" altLang="zh-CN" sz="16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=</m:t>
                                  </m:r>
                                  <m:r>
                                    <a:rPr lang="en-US" altLang="zh-CN" sz="16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𝟎</m:t>
                                  </m:r>
                                </m:sub>
                                <m:sup>
                                  <m:r>
                                    <a:rPr lang="en-US" altLang="zh-CN" sz="16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𝒎</m:t>
                                  </m:r>
                                  <m:r>
                                    <a:rPr lang="en-US" altLang="zh-CN" sz="16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r>
                                    <a:rPr lang="en-US" altLang="zh-CN" sz="16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𝟏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16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楷体" panose="02010609060101010101" pitchFamily="49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6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楷体" panose="02010609060101010101" pitchFamily="49" charset="-122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6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楷体" panose="02010609060101010101" pitchFamily="49" charset="-122"/>
                                            </a:rPr>
                                            <m:t>𝟏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𝒌</m:t>
                                      </m:r>
                                    </m:sup>
                                  </m:sSup>
                                  <m:r>
                                    <a:rPr lang="en-US" altLang="zh-CN" sz="16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𝑪</m:t>
                                  </m:r>
                                  <m:d>
                                    <m:dPr>
                                      <m:ctrlPr>
                                        <a:rPr lang="en-US" altLang="zh-CN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𝒎</m:t>
                                      </m:r>
                                      <m:r>
                                        <a:rPr lang="en-US" altLang="zh-CN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,</m:t>
                                      </m:r>
                                      <m:r>
                                        <a:rPr lang="en-US" altLang="zh-CN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𝒌</m:t>
                                      </m:r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altLang="zh-CN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16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楷体" panose="02010609060101010101" pitchFamily="49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6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楷体" panose="02010609060101010101" pitchFamily="49" charset="-122"/>
                                            </a:rPr>
                                            <m:t>𝒎</m:t>
                                          </m:r>
                                          <m:r>
                                            <a:rPr lang="en-US" altLang="zh-CN" sz="16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楷体" panose="02010609060101010101" pitchFamily="49" charset="-122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6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楷体" panose="02010609060101010101" pitchFamily="49" charset="-122"/>
                                            </a:rPr>
                                            <m:t>𝒌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𝒏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𝒎</m:t>
                              </m:r>
                              <m: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!</m:t>
                              </m:r>
                            </m:den>
                          </m:f>
                          <m: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𝒎</m:t>
                              </m:r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=</m:t>
                              </m:r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𝑩</m:t>
                              </m:r>
                              <m: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𝒏</m:t>
                              </m:r>
                              <m: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𝒎</m:t>
                              </m:r>
                              <m: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000"/>
                  </a:lnSpc>
                  <a:spcBef>
                    <a:spcPts val="1200"/>
                  </a:spcBef>
                  <a:spcAft>
                    <a:spcPts val="600"/>
                  </a:spcAft>
                  <a:buFont typeface="+mj-lt"/>
                  <a:buAutoNum type="arabicPeriod" startAt="2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注意其中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满足递推式</a:t>
                </a:r>
                <a:r>
                  <a:rPr lang="en-US" altLang="zh-CN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𝒎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𝒎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𝒎𝑩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𝒎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（含义？）</a:t>
                </a:r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 startAt="3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上等价关系个数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)/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!+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))/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!=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𝟓</m:t>
                    </m:r>
                  </m:oMath>
                </a14:m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 startAt="3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上等价关系个数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)/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!+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))/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!+</m:t>
                    </m:r>
                    <m:sSup>
                      <m:sSupPr>
                        <m:ctrlP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e>
                      <m:sup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sup>
                    </m:sSup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sSup>
                      <m:sSupPr>
                        <m:ctrlP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e>
                      <m:sup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sup>
                    </m:sSup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))/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!=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𝟏𝟓</m:t>
                    </m:r>
                  </m:oMath>
                </a14:m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772" y="1537524"/>
                <a:ext cx="8086449" cy="2791405"/>
              </a:xfrm>
              <a:prstGeom prst="rect">
                <a:avLst/>
              </a:prstGeom>
              <a:blipFill rotWithShape="1">
                <a:blip r:embed="rId1"/>
                <a:stretch>
                  <a:fillRect l="-6" t="-7" r="-1034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528772" y="814571"/>
                <a:ext cx="4269823" cy="37721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上不同的等价关系有多少个？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772" y="814571"/>
                <a:ext cx="4269823" cy="377219"/>
              </a:xfrm>
              <a:prstGeom prst="rect">
                <a:avLst/>
              </a:prstGeom>
              <a:blipFill rotWithShape="1">
                <a:blip r:embed="rId2"/>
                <a:stretch>
                  <a:fillRect l="-11" t="-133" r="13" b="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8084</Words>
  <Application>WPS 演示</Application>
  <PresentationFormat>全屏显示(16:9)</PresentationFormat>
  <Paragraphs>418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宋体</vt:lpstr>
      <vt:lpstr>Wingdings</vt:lpstr>
      <vt:lpstr>楷体</vt:lpstr>
      <vt:lpstr>仿宋</vt:lpstr>
      <vt:lpstr>等线</vt:lpstr>
      <vt:lpstr>Cambria Math</vt:lpstr>
      <vt:lpstr>Calibri</vt:lpstr>
      <vt:lpstr>微软雅黑</vt:lpstr>
      <vt:lpstr>Arial Unicode MS</vt:lpstr>
      <vt:lpstr>等线 Light</vt:lpstr>
      <vt:lpstr>Calibri Light</vt:lpstr>
      <vt:lpstr>华文新魏</vt:lpstr>
      <vt:lpstr>MS PGothic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王泰然</cp:lastModifiedBy>
  <cp:revision>118</cp:revision>
  <dcterms:created xsi:type="dcterms:W3CDTF">2022-01-01T06:39:00Z</dcterms:created>
  <dcterms:modified xsi:type="dcterms:W3CDTF">2026-07-03T10:22:10Z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839C2E1C3224403DAA0CF98D3E069A30_12</vt:lpwstr>
  </property>
  <property fmtid="{D5CDD505-2E9C-101B-9397-08002B2CF9AE}" pid="3" name="KSOProductBuildVer">
    <vt:lpwstr>2052-12.1.0.26375</vt:lpwstr>
  </property>
</Properties>
</file>