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318" r:id="rId5"/>
    <p:sldId id="321" r:id="rId6"/>
    <p:sldId id="323" r:id="rId7"/>
    <p:sldId id="329" r:id="rId8"/>
    <p:sldId id="331" r:id="rId9"/>
    <p:sldId id="333" r:id="rId10"/>
    <p:sldId id="337" r:id="rId11"/>
    <p:sldId id="338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1EA2"/>
    <a:srgbClr val="210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第六讲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正规子群与商群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endParaRPr lang="zh-CN" altLang="en-US" sz="180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子群陪集性质回顾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03206" y="833497"/>
                <a:ext cx="2005013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06" y="833497"/>
                <a:ext cx="200501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28" t="-102" r="1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03206" y="1387496"/>
                <a:ext cx="3629026" cy="307026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的子群的充分必要条件是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𝒂𝑹𝒃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06" y="1387496"/>
                <a:ext cx="3629026" cy="3070264"/>
              </a:xfrm>
              <a:prstGeom prst="rect">
                <a:avLst/>
              </a:prstGeom>
              <a:blipFill rotWithShape="1">
                <a:blip r:embed="rId2"/>
                <a:stretch>
                  <a:fillRect l="-16" t="-1" r="16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711768" y="1378543"/>
                <a:ext cx="3629026" cy="307026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的子群的充分必要条件是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定义关系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𝒂𝑹𝒃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是等价关系，等价类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8" y="1378543"/>
                <a:ext cx="3629026" cy="3070264"/>
              </a:xfrm>
              <a:prstGeom prst="rect">
                <a:avLst/>
              </a:prstGeom>
              <a:blipFill rotWithShape="1">
                <a:blip r:embed="rId3"/>
                <a:stretch>
                  <a:fillRect l="-2" t="-19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41120" y="964095"/>
                <a:ext cx="7061753" cy="73661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的任意一个左陪集也是它的一个右陪集，则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20" y="964095"/>
                <a:ext cx="7061753" cy="736612"/>
              </a:xfrm>
              <a:prstGeom prst="rect">
                <a:avLst/>
              </a:prstGeom>
              <a:blipFill rotWithShape="1">
                <a:blip r:embed="rId1"/>
                <a:stretch>
                  <a:fillRect l="-5" t="-22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041119" y="2116561"/>
                <a:ext cx="7061753" cy="140416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的左陪集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的右陪集，即存在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，而又有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，根据陪集的性质有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19" y="2116561"/>
                <a:ext cx="7061753" cy="1404167"/>
              </a:xfrm>
              <a:prstGeom prst="rect">
                <a:avLst/>
              </a:prstGeom>
              <a:blipFill rotWithShape="1">
                <a:blip r:embed="rId2"/>
                <a:stretch>
                  <a:fillRect l="-5" t="-8" r="-137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742082" y="3810073"/>
            <a:ext cx="43607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证明中说“陪集的性质”，具体是什么性质？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正规子群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正规子群性质练习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8347" y="1058932"/>
            <a:ext cx="492442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如果一个子群只有两个陪集，则它是正规子群！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48344" y="2810679"/>
                <a:ext cx="6983688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如果群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的任意其他子群等势，则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的正规子群！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2810679"/>
                <a:ext cx="6983688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9" t="-46" r="8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48344" y="1549983"/>
                <a:ext cx="7447306" cy="9733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因为子群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如果只有两个陪集，则任选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的左陪集只有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的右陪集除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之外也只有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的右陪集，且必等于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是正规子群。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1549983"/>
                <a:ext cx="7447306" cy="973343"/>
              </a:xfrm>
              <a:prstGeom prst="rect">
                <a:avLst/>
              </a:prstGeom>
              <a:blipFill rotWithShape="1">
                <a:blip r:embed="rId2"/>
                <a:stretch>
                  <a:fillRect l="-8" t="-60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848344" y="3319899"/>
                <a:ext cx="7447306" cy="98334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因为当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的子群时，对任意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的子群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（为什么？）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等势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（为什么？），所以如果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的任意其他子群等势，则必有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𝒂𝑯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，从而根据正规子群判定定理有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的正规子群。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44" y="3319899"/>
                <a:ext cx="7447306" cy="983346"/>
              </a:xfrm>
              <a:prstGeom prst="rect">
                <a:avLst/>
              </a:prstGeom>
              <a:blipFill rotWithShape="1">
                <a:blip r:embed="rId3"/>
                <a:stretch>
                  <a:fillRect l="-8" t="-1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商群举例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62219" y="998883"/>
            <a:ext cx="7419561" cy="2907195"/>
            <a:chOff x="859735" y="1113183"/>
            <a:chExt cx="7419561" cy="2907195"/>
          </a:xfrm>
        </p:grpSpPr>
        <p:sp>
          <p:nvSpPr>
            <p:cNvPr id="4" name="矩形: 圆角 3"/>
            <p:cNvSpPr/>
            <p:nvPr/>
          </p:nvSpPr>
          <p:spPr>
            <a:xfrm>
              <a:off x="859735" y="1113183"/>
              <a:ext cx="7419561" cy="2907195"/>
            </a:xfrm>
            <a:prstGeom prst="roundRect">
              <a:avLst>
                <a:gd name="adj" fmla="val 470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14400" y="1160095"/>
              <a:ext cx="7315199" cy="2823309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862219" y="4107644"/>
            <a:ext cx="349360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这是教材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p78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例子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9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的具体版、简化版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16220" y="986818"/>
                <a:ext cx="7911553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，证明，对任意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986818"/>
                <a:ext cx="7911553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" t="-8" r="5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16220" y="1693241"/>
                <a:ext cx="7911553" cy="6849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证明思路：要与陪集拉上关系？可利用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？即要证明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在商群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有什么特殊性？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1693241"/>
                <a:ext cx="7911553" cy="684996"/>
              </a:xfrm>
              <a:prstGeom prst="rect">
                <a:avLst/>
              </a:prstGeom>
              <a:blipFill rotWithShape="1">
                <a:blip r:embed="rId2"/>
                <a:stretch>
                  <a:fillRect l="-3" t="-48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616220" y="2639995"/>
            <a:ext cx="7871797" cy="669382"/>
            <a:chOff x="616220" y="2475646"/>
            <a:chExt cx="7871797" cy="669382"/>
          </a:xfrm>
        </p:grpSpPr>
        <p:sp>
          <p:nvSpPr>
            <p:cNvPr id="5" name="矩形: 圆角 4"/>
            <p:cNvSpPr/>
            <p:nvPr/>
          </p:nvSpPr>
          <p:spPr>
            <a:xfrm>
              <a:off x="616220" y="2475646"/>
              <a:ext cx="7871797" cy="66938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371" y="2528949"/>
              <a:ext cx="7757497" cy="57919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16220" y="3624454"/>
                <a:ext cx="5774640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𝒙𝑯</m:t>
                            </m:r>
                          </m:e>
                        </m:d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是利用有限群的什么性质？为什么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𝒙𝑯</m:t>
                            </m:r>
                          </m:e>
                        </m:d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0" y="3624454"/>
                <a:ext cx="5774640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5" t="-150" r="4" b="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214186" y="2102126"/>
            <a:ext cx="6732149" cy="1008290"/>
          </a:xfrm>
          <a:prstGeom prst="roundRect">
            <a:avLst>
              <a:gd name="adj" fmla="val 976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14186" y="1043609"/>
                <a:ext cx="489005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是循环群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的子群，证明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也是循环群。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86" y="1043609"/>
                <a:ext cx="4890052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" t="-82" r="1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144500"/>
            <a:ext cx="6639339" cy="9364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商群相关的简单性质练习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056030" y="1027367"/>
                <a:ext cx="7044361" cy="71417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是交换群，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的所有阶数有限的元素构成的集合，证明：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的正规子群，且商群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只有单位元的阶数是有限的。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30" y="1027367"/>
                <a:ext cx="7044361" cy="714170"/>
              </a:xfrm>
              <a:prstGeom prst="rect">
                <a:avLst/>
              </a:prstGeom>
              <a:blipFill rotWithShape="1">
                <a:blip r:embed="rId1"/>
                <a:stretch>
                  <a:fillRect t="-80" r="5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1069779" y="2017643"/>
            <a:ext cx="7004441" cy="2171700"/>
            <a:chOff x="1095950" y="2017643"/>
            <a:chExt cx="7004441" cy="2171700"/>
          </a:xfrm>
        </p:grpSpPr>
        <p:sp>
          <p:nvSpPr>
            <p:cNvPr id="6" name="矩形: 圆角 5"/>
            <p:cNvSpPr/>
            <p:nvPr/>
          </p:nvSpPr>
          <p:spPr>
            <a:xfrm>
              <a:off x="1095950" y="2017643"/>
              <a:ext cx="7004441" cy="2171700"/>
            </a:xfrm>
            <a:prstGeom prst="roundRect">
              <a:avLst>
                <a:gd name="adj" fmla="val 4997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7971" y="2052689"/>
              <a:ext cx="6914989" cy="21057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 rotWithShape="1">
                <a:blip r:embed="rId1"/>
                <a:stretch>
                  <a:fillRect l="-2" t="-54" r="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1049816" y="1540565"/>
            <a:ext cx="5838001" cy="2777987"/>
            <a:chOff x="1049816" y="1540565"/>
            <a:chExt cx="5838001" cy="2777987"/>
          </a:xfrm>
        </p:grpSpPr>
        <p:sp>
          <p:nvSpPr>
            <p:cNvPr id="7" name="矩形: 圆角 6"/>
            <p:cNvSpPr/>
            <p:nvPr/>
          </p:nvSpPr>
          <p:spPr>
            <a:xfrm>
              <a:off x="1049816" y="1540565"/>
              <a:ext cx="5838001" cy="2777987"/>
            </a:xfrm>
            <a:prstGeom prst="roundRect">
              <a:avLst>
                <a:gd name="adj" fmla="val 486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2801" y="1578856"/>
              <a:ext cx="5735319" cy="2701120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6993787" y="1578856"/>
            <a:ext cx="1100397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bg1"/>
                </a:solidFill>
              </a:rPr>
              <a:t>证明中有哪些地方看不懂？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93787" y="2340665"/>
            <a:ext cx="110039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证明中说的数论知识是什么？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993787" y="3184262"/>
                <a:ext cx="1136422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为什么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的因子，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就不等于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787" y="3184262"/>
                <a:ext cx="1136422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47" t="-58" r="27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商群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商群相关性质练习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正规子群与商群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/33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阶有限交换群，证明：对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的任意素因子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阶元。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957793"/>
                <a:ext cx="6797127" cy="393569"/>
              </a:xfrm>
              <a:prstGeom prst="rect">
                <a:avLst/>
              </a:prstGeom>
              <a:blipFill rotWithShape="1">
                <a:blip r:embed="rId1"/>
                <a:stretch>
                  <a:fillRect l="-2" t="-54" r="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49816" y="1504692"/>
                <a:ext cx="2688534" cy="71487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阶有限交换群！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的素因子有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16" y="1504692"/>
                <a:ext cx="2688534" cy="714876"/>
              </a:xfrm>
              <a:prstGeom prst="rect">
                <a:avLst/>
              </a:prstGeom>
              <a:blipFill rotWithShape="1">
                <a:blip r:embed="rId2"/>
                <a:stretch>
                  <a:fillRect l="-6" t="-53" r="-4956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049816" y="2309213"/>
            <a:ext cx="2688534" cy="1107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元素的阶如下：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|1| = 1		|2| = 6		|4| = 3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|5| = 6		|8| = 2		|10| = 6 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|11| = 6	|13| = 2	|16| = 3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1600"/>
              </a:lnSpc>
            </a:pP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|17| = 6 	|19| = 6	|20| = 2 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876262" y="1504692"/>
                <a:ext cx="3970682" cy="67877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阶元怎样按照上面证明的归纳步中给出方式构造得到？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2" y="1504692"/>
                <a:ext cx="3970682" cy="678776"/>
              </a:xfrm>
              <a:prstGeom prst="rect">
                <a:avLst/>
              </a:prstGeom>
              <a:blipFill rotWithShape="1">
                <a:blip r:embed="rId3"/>
                <a:stretch>
                  <a:fillRect l="-6" t="-56" r="6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876262" y="2530620"/>
                <a:ext cx="3970680" cy="53681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若取元素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</a:t>
                </a:r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2" y="2530620"/>
                <a:ext cx="3970680" cy="536814"/>
              </a:xfrm>
              <a:prstGeom prst="rect">
                <a:avLst/>
              </a:prstGeom>
              <a:blipFill rotWithShape="1">
                <a:blip r:embed="rId4"/>
                <a:stretch>
                  <a:fillRect l="-6" t="-27" r="6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876262" y="3414587"/>
                <a:ext cx="3970680" cy="118994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若取元素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，考虑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（如左图），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，它的陪集有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，都是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阶元！取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阶元！实际上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阶元！</a:t>
                </a:r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2" y="3414587"/>
                <a:ext cx="3970680" cy="1189941"/>
              </a:xfrm>
              <a:prstGeom prst="rect">
                <a:avLst/>
              </a:prstGeom>
              <a:blipFill rotWithShape="1">
                <a:blip r:embed="rId5"/>
                <a:stretch>
                  <a:fillRect l="-6" t="-16" r="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816" y="3494128"/>
            <a:ext cx="2688534" cy="11160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7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2195</Words>
  <Application>WPS 演示</Application>
  <PresentationFormat>全屏显示(16:9)</PresentationFormat>
  <Paragraphs>168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81</cp:revision>
  <dcterms:created xsi:type="dcterms:W3CDTF">2022-01-01T06:39:00Z</dcterms:created>
  <dcterms:modified xsi:type="dcterms:W3CDTF">2026-07-03T06:36:57Z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0AC252AF8E404119A73FD2AD5003FA6C_12</vt:lpwstr>
  </property>
  <property fmtid="{D5CDD505-2E9C-101B-9397-08002B2CF9AE}" pid="3" name="KSOProductBuildVer">
    <vt:lpwstr>2052-12.1.0.26375</vt:lpwstr>
  </property>
</Properties>
</file>